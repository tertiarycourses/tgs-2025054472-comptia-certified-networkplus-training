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Exam weighting (%)</c:v>
                </c:pt>
              </c:strCache>
            </c:strRef>
          </c:tx>
          <c:spPr>
            <a:solidFill>
              <a:srgbClr val="1F6FEB"/>
            </a:solidFill>
          </c:spPr>
          <c:cat>
            <c:strRef>
              <c:f>Sheet1!$A$2:$A$6</c:f>
              <c:strCache>
                <c:ptCount val="5"/>
                <c:pt idx="0">
                  <c:v>Networking Concepts</c:v>
                </c:pt>
                <c:pt idx="1">
                  <c:v>Network Implementation</c:v>
                </c:pt>
                <c:pt idx="2">
                  <c:v>Network Operations</c:v>
                </c:pt>
                <c:pt idx="3">
                  <c:v>Network Security</c:v>
                </c:pt>
                <c:pt idx="4">
                  <c:v>Network Troubleshooting</c:v>
                </c:pt>
              </c:strCache>
            </c:strRef>
          </c:cat>
          <c:val>
            <c:numRef>
              <c:f>Sheet1!$B$2:$B$6</c:f>
              <c:numCache>
                <c:formatCode>0"%"</c:formatCode>
                <c:ptCount val="5"/>
                <c:pt idx="0">
                  <c:v>23</c:v>
                </c:pt>
                <c:pt idx="1">
                  <c:v>20</c:v>
                </c:pt>
                <c:pt idx="2">
                  <c:v>19</c:v>
                </c:pt>
                <c:pt idx="3">
                  <c:v>14</c:v>
                </c:pt>
                <c:pt idx="4">
                  <c:v>24</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Weight %</c:v>
                </c:pt>
              </c:strCache>
            </c:strRef>
          </c:tx>
          <c:spPr>
            <a:solidFill>
              <a:srgbClr val="1F6FEB"/>
            </a:solidFill>
          </c:spPr>
          <c:cat>
            <c:strRef>
              <c:f>Sheet1!$A$2:$A$6</c:f>
              <c:strCache>
                <c:ptCount val="5"/>
                <c:pt idx="0">
                  <c:v>1 Concepts</c:v>
                </c:pt>
                <c:pt idx="1">
                  <c:v>2 Implementation</c:v>
                </c:pt>
                <c:pt idx="2">
                  <c:v>3 Operations</c:v>
                </c:pt>
                <c:pt idx="3">
                  <c:v>4 Security</c:v>
                </c:pt>
                <c:pt idx="4">
                  <c:v>5 Troubleshooting</c:v>
                </c:pt>
              </c:strCache>
            </c:strRef>
          </c:cat>
          <c:val>
            <c:numRef>
              <c:f>Sheet1!$B$2:$B$6</c:f>
              <c:numCache>
                <c:formatCode>0</c:formatCode>
                <c:ptCount val="5"/>
                <c:pt idx="0">
                  <c:v>23</c:v>
                </c:pt>
                <c:pt idx="1">
                  <c:v>20</c:v>
                </c:pt>
                <c:pt idx="2">
                  <c:v>19</c:v>
                </c:pt>
                <c:pt idx="3">
                  <c:v>14</c:v>
                </c:pt>
                <c:pt idx="4">
                  <c:v>24</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Max PHY rate (Mbps)</c:v>
                </c:pt>
              </c:strCache>
            </c:strRef>
          </c:tx>
          <c:spPr>
            <a:solidFill>
              <a:srgbClr val="1F6FEB"/>
            </a:solidFill>
          </c:spPr>
          <c:cat>
            <c:strRef>
              <c:f>Sheet1!$A$2:$A$6</c:f>
              <c:strCache>
                <c:ptCount val="5"/>
                <c:pt idx="0">
                  <c:v>802.11b</c:v>
                </c:pt>
                <c:pt idx="1">
                  <c:v>802.11a/g</c:v>
                </c:pt>
                <c:pt idx="2">
                  <c:v>802.11n</c:v>
                </c:pt>
                <c:pt idx="3">
                  <c:v>802.11ac</c:v>
                </c:pt>
                <c:pt idx="4">
                  <c:v>802.11ax</c:v>
                </c:pt>
              </c:strCache>
            </c:strRef>
          </c:cat>
          <c:val>
            <c:numRef>
              <c:f>Sheet1!$B$2:$B$6</c:f>
              <c:numCache>
                <c:formatCode>0</c:formatCode>
                <c:ptCount val="5"/>
                <c:pt idx="0">
                  <c:v>11</c:v>
                </c:pt>
                <c:pt idx="1">
                  <c:v>54</c:v>
                </c:pt>
                <c:pt idx="2">
                  <c:v>600</c:v>
                </c:pt>
                <c:pt idx="3">
                  <c:v>6933</c:v>
                </c:pt>
                <c:pt idx="4">
                  <c:v>9608</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Downtime allowed, minutes/year</c:v>
                </c:pt>
              </c:strCache>
            </c:strRef>
          </c:tx>
          <c:spPr>
            <a:solidFill>
              <a:srgbClr val="1F6FEB"/>
            </a:solidFill>
          </c:spPr>
          <c:cat>
            <c:strRef>
              <c:f>Sheet1!$A$2:$A$5</c:f>
              <c:strCache>
                <c:ptCount val="4"/>
                <c:pt idx="0">
                  <c:v>99%</c:v>
                </c:pt>
                <c:pt idx="1">
                  <c:v>99.9%</c:v>
                </c:pt>
                <c:pt idx="2">
                  <c:v>99.99%</c:v>
                </c:pt>
                <c:pt idx="3">
                  <c:v>99.999%</c:v>
                </c:pt>
              </c:strCache>
            </c:strRef>
          </c:cat>
          <c:val>
            <c:numRef>
              <c:f>Sheet1!$B$2:$B$5</c:f>
              <c:numCache>
                <c:formatCode>0</c:formatCode>
                <c:ptCount val="4"/>
                <c:pt idx="0">
                  <c:v>5256</c:v>
                </c:pt>
                <c:pt idx="1">
                  <c:v>526</c:v>
                </c:pt>
                <c:pt idx="2">
                  <c:v>53</c:v>
                </c:pt>
                <c:pt idx="3">
                  <c:v>5</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TCP throughput (%)</c:v>
                </c:pt>
              </c:strCache>
            </c:strRef>
          </c:tx>
          <c:spPr>
            <a:solidFill>
              <a:srgbClr val="1F6FEB"/>
            </a:solidFill>
          </c:spPr>
          <c:cat>
            <c:strRef>
              <c:f>Sheet1!$A$2:$A$6</c:f>
              <c:strCache>
                <c:ptCount val="5"/>
                <c:pt idx="0">
                  <c:v>0%</c:v>
                </c:pt>
                <c:pt idx="1">
                  <c:v>0.5%</c:v>
                </c:pt>
                <c:pt idx="2">
                  <c:v>1%</c:v>
                </c:pt>
                <c:pt idx="3">
                  <c:v>2%</c:v>
                </c:pt>
                <c:pt idx="4">
                  <c:v>5%</c:v>
                </c:pt>
              </c:strCache>
            </c:strRef>
          </c:cat>
          <c:val>
            <c:numRef>
              <c:f>Sheet1!$B$2:$B$6</c:f>
              <c:numCache>
                <c:formatCode>0</c:formatCode>
                <c:ptCount val="5"/>
                <c:pt idx="0">
                  <c:v>100</c:v>
                </c:pt>
                <c:pt idx="1">
                  <c:v>62</c:v>
                </c:pt>
                <c:pt idx="2">
                  <c:v>45</c:v>
                </c:pt>
                <c:pt idx="3">
                  <c:v>28</c:v>
                </c:pt>
                <c:pt idx="4">
                  <c:v>11</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Non-overlapping 20 MHz channels</c:v>
                </c:pt>
              </c:strCache>
            </c:strRef>
          </c:tx>
          <c:spPr>
            <a:solidFill>
              <a:srgbClr val="1F6FEB"/>
            </a:solidFill>
          </c:spPr>
          <c:cat>
            <c:strRef>
              <c:f>Sheet1!$A$2:$A$4</c:f>
              <c:strCache>
                <c:ptCount val="3"/>
                <c:pt idx="0">
                  <c:v>2.4 GHz</c:v>
                </c:pt>
                <c:pt idx="1">
                  <c:v>5 GHz</c:v>
                </c:pt>
                <c:pt idx="2">
                  <c:v>6 GHz</c:v>
                </c:pt>
              </c:strCache>
            </c:strRef>
          </c:cat>
          <c:val>
            <c:numRef>
              <c:f>Sheet1!$B$2:$B$4</c:f>
              <c:numCache>
                <c:formatCode>0</c:formatCode>
                <c:ptCount val="3"/>
                <c:pt idx="0">
                  <c:v>3</c:v>
                </c:pt>
                <c:pt idx="1">
                  <c:v>24</c:v>
                </c:pt>
                <c:pt idx="2">
                  <c:v>59</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comptia-network-badge.png"/>
          <p:cNvPicPr>
            <a:picLocks noChangeAspect="1"/>
          </p:cNvPicPr>
          <p:nvPr/>
        </p:nvPicPr>
        <p:blipFill>
          <a:blip r:embed="rId3"/>
          <a:stretch>
            <a:fillRect/>
          </a:stretch>
        </p:blipFill>
        <p:spPr>
          <a:xfrm>
            <a:off x="9464040" y="548640"/>
            <a:ext cx="2011680" cy="1053737"/>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8" name="TextBox 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CompTIA Certified Network+ Training (N10-009)</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TGS-2025054472</a:t>
            </a:r>
          </a:p>
          <a:p>
            <a:pPr algn="l">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19 August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Networking, cybersecurity, cloud infrastructure, data science and AI — 20+ years of training and consulting.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CompTIA Network+, Security+, Linux+, cloud computing and applied AI.</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experience with networking, Linux or IT support (if any).</a:t>
            </a:r>
          </a:p>
          <a:p>
            <a:pPr>
              <a:spcAft>
                <a:spcPts val="1000"/>
              </a:spcAft>
            </a:pPr>
            <a:r>
              <a:rPr sz="2000" b="0">
                <a:solidFill>
                  <a:srgbClr val="161B26"/>
                </a:solidFill>
                <a:latin typeface="Arial"/>
              </a:rPr>
              <a:t>•  What network you manage or plan to build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'CompTIA Certified Network+ Training' in My Courses.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Learner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Open the lab repository on GitHub — the link is on the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 AM – 6:30 PM DAILY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 8 Hours a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1 · Networking Concepts</a:t>
            </a:r>
          </a:p>
          <a:p>
            <a:pPr algn="l">
              <a:spcAft>
                <a:spcPts val="300"/>
              </a:spcAft>
            </a:pPr>
            <a:r>
              <a:rPr sz="1100" b="0">
                <a:solidFill>
                  <a:srgbClr val="5B6372"/>
                </a:solidFill>
                <a:latin typeface="Arial"/>
              </a:rPr>
              <a:t>OSI model, appliances, cloud, ports &amp; protocols, media, topologies, IPv4/IPv6 · Labs 1–7.</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2 · Network Implementation</a:t>
            </a:r>
          </a:p>
          <a:p>
            <a:pPr algn="l">
              <a:spcAft>
                <a:spcPts val="300"/>
              </a:spcAft>
            </a:pPr>
            <a:r>
              <a:rPr sz="1100" b="0">
                <a:solidFill>
                  <a:srgbClr val="5B6372"/>
                </a:solidFill>
                <a:latin typeface="Arial"/>
              </a:rPr>
              <a:t>Routing, NAT/PAT, VLANs &amp; trunking, STP, link aggregation, wireless, installations · Labs 8–14.</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3 · Network Operations</a:t>
            </a:r>
          </a:p>
          <a:p>
            <a:pPr algn="l">
              <a:spcAft>
                <a:spcPts val="300"/>
              </a:spcAft>
            </a:pPr>
            <a:r>
              <a:rPr sz="1100" b="0">
                <a:solidFill>
                  <a:srgbClr val="5B6372"/>
                </a:solidFill>
                <a:latin typeface="Arial"/>
              </a:rPr>
              <a:t>Documentation, change &amp; configuration management, monitoring, DR, network services · Labs 15–20.</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4 · Network Security</a:t>
            </a:r>
          </a:p>
          <a:p>
            <a:pPr algn="l">
              <a:spcAft>
                <a:spcPts val="300"/>
              </a:spcAft>
            </a:pPr>
            <a:r>
              <a:rPr sz="1100" b="0">
                <a:solidFill>
                  <a:srgbClr val="5B6372"/>
                </a:solidFill>
                <a:latin typeface="Arial"/>
              </a:rPr>
              <a:t>Encryption &amp; PKI, IAM/AAA, segmentation, attacks and defence features · Labs 21–27.</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5 · Network Troubleshooting &amp; Assessment</a:t>
            </a:r>
          </a:p>
          <a:p>
            <a:pPr algn="l">
              <a:spcAft>
                <a:spcPts val="300"/>
              </a:spcAft>
            </a:pPr>
            <a:r>
              <a:rPr sz="1100" b="0">
                <a:solidFill>
                  <a:srgbClr val="5B6372"/>
                </a:solidFill>
                <a:latin typeface="Arial"/>
              </a:rPr>
              <a:t>Seven-step methodology, layer-by-layer diagnosis, performance · Labs 28–36 · Final Assessment (WA + PP).</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 · Explain networking concepts</a:t>
            </a:r>
          </a:p>
          <a:p>
            <a:pPr algn="l">
              <a:spcAft>
                <a:spcPts val="300"/>
              </a:spcAft>
            </a:pPr>
            <a:r>
              <a:rPr sz="1100" b="0">
                <a:solidFill>
                  <a:srgbClr val="5B6372"/>
                </a:solidFill>
                <a:latin typeface="Arial"/>
              </a:rPr>
              <a:t>OSI model, appliances, cloud, ports &amp; protocols, traffic types, media, topologies and IP addressing.</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 · Implement networks</a:t>
            </a:r>
          </a:p>
          <a:p>
            <a:pPr algn="l">
              <a:spcAft>
                <a:spcPts val="300"/>
              </a:spcAft>
            </a:pPr>
            <a:r>
              <a:rPr sz="1100" b="0">
                <a:solidFill>
                  <a:srgbClr val="5B6372"/>
                </a:solidFill>
                <a:latin typeface="Arial"/>
              </a:rPr>
              <a:t>Routing (BGP/EIGRP/OSPF), NAT/PAT, VLANs, STP, link aggregation, wireless and installations.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 · Operate networks</a:t>
            </a:r>
          </a:p>
          <a:p>
            <a:pPr algn="l">
              <a:spcAft>
                <a:spcPts val="300"/>
              </a:spcAft>
            </a:pPr>
            <a:r>
              <a:rPr sz="1100" b="0">
                <a:solidFill>
                  <a:srgbClr val="5B6372"/>
                </a:solidFill>
                <a:latin typeface="Arial"/>
              </a:rPr>
              <a:t>Documentation, IPAM, change management, SNMP/flow/log monitoring, DR and network services.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 · Secure networks</a:t>
            </a:r>
          </a:p>
          <a:p>
            <a:pPr algn="l">
              <a:spcAft>
                <a:spcPts val="300"/>
              </a:spcAft>
            </a:pPr>
            <a:r>
              <a:rPr sz="1100" b="0">
                <a:solidFill>
                  <a:srgbClr val="5B6372"/>
                </a:solidFill>
                <a:latin typeface="Arial"/>
              </a:rPr>
              <a:t>Encryption, PKI, IAM, AAA, segmentation, attack recognition and defence features.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 · Troubleshoot networks</a:t>
            </a:r>
          </a:p>
          <a:p>
            <a:pPr algn="l">
              <a:spcAft>
                <a:spcPts val="300"/>
              </a:spcAft>
            </a:pPr>
            <a:r>
              <a:rPr sz="1100" b="0">
                <a:solidFill>
                  <a:srgbClr val="5B6372"/>
                </a:solidFill>
                <a:latin typeface="Arial"/>
              </a:rPr>
              <a:t>The CompTIA methodology applied with the right tool at every layer.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DOMAINS · 36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the Five N10-009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1.0 · Networking Concepts · 23%</a:t>
            </a:r>
          </a:p>
          <a:p>
            <a:pPr algn="l">
              <a:spcAft>
                <a:spcPts val="300"/>
              </a:spcAft>
            </a:pPr>
            <a:r>
              <a:rPr sz="1100" b="0">
                <a:solidFill>
                  <a:srgbClr val="5B6372"/>
                </a:solidFill>
                <a:latin typeface="Arial"/>
              </a:rPr>
              <a:t>OSI, appliances, cloud, ports &amp; protocols, traffic, media, topologies, IPv4 · Labs 1–7.</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2.0 · Network Implementation · 20%</a:t>
            </a:r>
          </a:p>
          <a:p>
            <a:pPr algn="l">
              <a:spcAft>
                <a:spcPts val="300"/>
              </a:spcAft>
            </a:pPr>
            <a:r>
              <a:rPr sz="1100" b="0">
                <a:solidFill>
                  <a:srgbClr val="5B6372"/>
                </a:solidFill>
                <a:latin typeface="Arial"/>
              </a:rPr>
              <a:t>Routing, switching, wireless and physical installations · Labs 8–14.</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3.0 · Network Operations · 19%</a:t>
            </a:r>
          </a:p>
          <a:p>
            <a:pPr algn="l">
              <a:spcAft>
                <a:spcPts val="300"/>
              </a:spcAft>
            </a:pPr>
            <a:r>
              <a:rPr sz="1100" b="0">
                <a:solidFill>
                  <a:srgbClr val="5B6372"/>
                </a:solidFill>
                <a:latin typeface="Arial"/>
              </a:rPr>
              <a:t>Documentation, life-cycle, change, monitoring, DR, services, access · Labs 15–20.</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4.0 · Network Security · 14%</a:t>
            </a:r>
          </a:p>
          <a:p>
            <a:pPr algn="l">
              <a:spcAft>
                <a:spcPts val="300"/>
              </a:spcAft>
            </a:pPr>
            <a:r>
              <a:rPr sz="1100" b="0">
                <a:solidFill>
                  <a:srgbClr val="5B6372"/>
                </a:solidFill>
                <a:latin typeface="Arial"/>
              </a:rPr>
              <a:t>Logical/physical security, attacks, segmentation and defence · Labs 21–27.</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5.0 · Network Troubleshooting · 24%</a:t>
            </a:r>
          </a:p>
          <a:p>
            <a:pPr algn="l">
              <a:spcAft>
                <a:spcPts val="300"/>
              </a:spcAft>
            </a:pPr>
            <a:r>
              <a:rPr sz="1100" b="0">
                <a:solidFill>
                  <a:srgbClr val="5B6372"/>
                </a:solidFill>
                <a:latin typeface="Arial"/>
              </a:rPr>
              <a:t>Methodology, cabling, services, performance, tools · Labs 28–36.</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BLUEPRINT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N10-009 Exam Weighting by Domain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Troubleshooting (24%) and Networking Concepts (23%) carry almost half the exam — the course spends Day 1 and Day 5 on them and every lab ends with a verify step.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CERTIFICATION TARGET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CompTIA Network+ Exam (N10-009)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Format</a:t>
            </a:r>
          </a:p>
          <a:p>
            <a:pPr algn="l">
              <a:spcAft>
                <a:spcPts val="300"/>
              </a:spcAft>
            </a:pPr>
            <a:r>
              <a:rPr sz="1200" b="0">
                <a:solidFill>
                  <a:srgbClr val="5B6372"/>
                </a:solidFill>
                <a:latin typeface="Arial"/>
              </a:rPr>
              <a:t>Maximum of 90 questions — multiple-choice and performance-based — in 90 minutes.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Passing score</a:t>
            </a:r>
          </a:p>
          <a:p>
            <a:pPr algn="l">
              <a:spcAft>
                <a:spcPts val="300"/>
              </a:spcAft>
            </a:pPr>
            <a:r>
              <a:rPr sz="1200" b="0">
                <a:solidFill>
                  <a:srgbClr val="5B6372"/>
                </a:solidFill>
                <a:latin typeface="Arial"/>
              </a:rPr>
              <a:t>720 on a 100–900 scale. Book at Pearson VUE test centres or online proctoring.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prerequisites</a:t>
            </a:r>
          </a:p>
          <a:p>
            <a:pPr algn="l">
              <a:spcAft>
                <a:spcPts val="300"/>
              </a:spcAft>
            </a:pPr>
            <a:r>
              <a:rPr sz="1200" b="0">
                <a:solidFill>
                  <a:srgbClr val="5B6372"/>
                </a:solidFill>
                <a:latin typeface="Arial"/>
              </a:rPr>
              <a:t>CompTIA recommends A+ and 9–12 months of networking experience, but neither is required.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Renewal</a:t>
            </a:r>
          </a:p>
          <a:p>
            <a:pPr algn="l">
              <a:spcAft>
                <a:spcPts val="300"/>
              </a:spcAft>
            </a:pPr>
            <a:r>
              <a:rPr sz="1200" b="0">
                <a:solidFill>
                  <a:srgbClr val="5B6372"/>
                </a:solidFill>
                <a:latin typeface="Arial"/>
              </a:rPr>
              <a:t>The certification is valid for 3 years and renews through CompTIA CE credits.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FREE TOOLS USED THROUGHOUT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A free, throwaway Ubuntu VM in your browser — every Linux lab runs here. https://killercoda.com/playgrounds/scenario/ubuntu</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IP Calculator</a:t>
            </a:r>
          </a:p>
          <a:p>
            <a:pPr algn="l">
              <a:spcAft>
                <a:spcPts val="300"/>
              </a:spcAft>
            </a:pPr>
            <a:r>
              <a:rPr sz="1100" b="0">
                <a:solidFill>
                  <a:srgbClr val="5B6372"/>
                </a:solidFill>
                <a:latin typeface="Arial"/>
              </a:rPr>
              <a:t>Web subnetting tool for CIDR/VLSM planning and verification. https://alfredang.github.io/ipcalculator/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PCAP Analyzer</a:t>
            </a:r>
          </a:p>
          <a:p>
            <a:pPr algn="l">
              <a:spcAft>
                <a:spcPts val="300"/>
              </a:spcAft>
            </a:pPr>
            <a:r>
              <a:rPr sz="1100" b="0">
                <a:solidFill>
                  <a:srgbClr val="5B6372"/>
                </a:solidFill>
                <a:latin typeface="Arial"/>
              </a:rPr>
              <a:t>Upload and dissect packet captures layer by layer in the browser. https://alfredang.github.io/pcapanalyzer/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Cybersecurity Simulator</a:t>
            </a:r>
          </a:p>
          <a:p>
            <a:pPr algn="l">
              <a:spcAft>
                <a:spcPts val="300"/>
              </a:spcAft>
            </a:pPr>
            <a:r>
              <a:rPr sz="1100" b="0">
                <a:solidFill>
                  <a:srgbClr val="5B6372"/>
                </a:solidFill>
                <a:latin typeface="Arial"/>
              </a:rPr>
              <a:t>Practise recognising network attacks in a safe simulated environment. https://alfredang.github.io/cybersecuritysimulator/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Regex Generator</a:t>
            </a:r>
          </a:p>
          <a:p>
            <a:pPr algn="l">
              <a:spcAft>
                <a:spcPts val="300"/>
              </a:spcAft>
            </a:pPr>
            <a:r>
              <a:rPr sz="1100" b="0">
                <a:solidFill>
                  <a:srgbClr val="5B6372"/>
                </a:solidFill>
                <a:latin typeface="Arial"/>
              </a:rPr>
              <a:t>Build the regular expressions used to search and filter log files. https://alfredang.github.io/regexgenerator/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installs needed</a:t>
            </a:r>
          </a:p>
          <a:p>
            <a:pPr algn="l">
              <a:spcAft>
                <a:spcPts val="300"/>
              </a:spcAft>
            </a:pPr>
            <a:r>
              <a:rPr sz="1100" b="0">
                <a:solidFill>
                  <a:srgbClr val="5B6372"/>
                </a:solidFill>
                <a:latin typeface="Arial"/>
              </a:rPr>
              <a:t>Everything is browser-based; packages are pulled with apt inside the playground VM.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 · DAY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 Tests the underpinning networking knowledge.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Hands-on networking tasks · 90 minutes · open book. Tests the ability you built in the 36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60 + 90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1.0  ·  23%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 Concepts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OSI model · appliances · cloud · ports &amp; protocols · traffic types · media · transceivers &amp; connectors · topologies · IPv4 addressing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advClick="1">
    <p:push dir="l"/>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Networking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OSI Model Packet Inspection</a:t>
            </a:r>
          </a:p>
          <a:p>
            <a:pPr>
              <a:spcAft>
                <a:spcPts val="900"/>
              </a:spcAft>
            </a:pPr>
            <a:r>
              <a:rPr sz="1400" b="0">
                <a:solidFill>
                  <a:srgbClr val="161B26"/>
                </a:solidFill>
                <a:latin typeface="Arial"/>
              </a:rPr>
              <a:t>•  IPv4 Subnetting and CIDR</a:t>
            </a:r>
          </a:p>
          <a:p>
            <a:pPr>
              <a:spcAft>
                <a:spcPts val="900"/>
              </a:spcAft>
            </a:pPr>
            <a:r>
              <a:rPr sz="1400" b="0">
                <a:solidFill>
                  <a:srgbClr val="161B26"/>
                </a:solidFill>
                <a:latin typeface="Arial"/>
              </a:rPr>
              <a:t>•  IPv6 Addressing and Link-Local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Common Ports and Protocols</a:t>
            </a:r>
          </a:p>
          <a:p>
            <a:pPr>
              <a:spcAft>
                <a:spcPts val="900"/>
              </a:spcAft>
            </a:pPr>
            <a:r>
              <a:rPr sz="1400" b="0">
                <a:solidFill>
                  <a:srgbClr val="161B26"/>
                </a:solidFill>
                <a:latin typeface="Arial"/>
              </a:rPr>
              <a:t>•  DNS Record Types</a:t>
            </a:r>
          </a:p>
          <a:p>
            <a:pPr>
              <a:spcAft>
                <a:spcPts val="900"/>
              </a:spcAft>
            </a:pPr>
            <a:r>
              <a:rPr sz="1400" b="0">
                <a:solidFill>
                  <a:srgbClr val="161B26"/>
                </a:solidFill>
                <a:latin typeface="Arial"/>
              </a:rPr>
              <a:t>•  DHCP Lease Capture (DORA)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Simulating a Cloud VPC with Namespaces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1 · 23%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1 — Networking Concepts.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Seven layers, addressing, ports, media, topologies and cloud — 23% of the N10-009 exam and the foundation every other domain builds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BLUEPRINT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N10-009 Exam Domain Weights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Concepts and Troubleshooting together are nearly half the exam — and troubleshooting questions lean on the concepts you learn here.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We Model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Models simplify</a:t>
            </a:r>
          </a:p>
          <a:p>
            <a:pPr algn="l">
              <a:spcAft>
                <a:spcPts val="300"/>
              </a:spcAft>
            </a:pPr>
            <a:r>
              <a:rPr sz="1200" b="0">
                <a:solidFill>
                  <a:srgbClr val="5B6372"/>
                </a:solidFill>
                <a:latin typeface="Arial"/>
              </a:rPr>
              <a:t>A model is a basic representation that makes a complex system explainable one piece at a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Frames</a:t>
            </a:r>
          </a:p>
          <a:p>
            <a:pPr algn="l">
              <a:spcAft>
                <a:spcPts val="300"/>
              </a:spcAft>
            </a:pPr>
            <a:r>
              <a:rPr sz="1200" b="0">
                <a:solidFill>
                  <a:srgbClr val="5B6372"/>
                </a:solidFill>
                <a:latin typeface="Arial"/>
              </a:rPr>
              <a:t>Devices exchange data in discrete chunks called frames, built and destroyed inside the NIC.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1,500 bytes</a:t>
            </a:r>
          </a:p>
          <a:p>
            <a:pPr algn="l">
              <a:spcAft>
                <a:spcPts val="300"/>
              </a:spcAft>
            </a:pPr>
            <a:r>
              <a:rPr sz="1200" b="0">
                <a:solidFill>
                  <a:srgbClr val="5B6372"/>
                </a:solidFill>
                <a:latin typeface="Arial"/>
              </a:rPr>
              <a:t>The default Ethernet payload limit (MTU); jumbo frames stretch to 9,000 bytes.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OSI vs TCP/IP</a:t>
            </a:r>
          </a:p>
          <a:p>
            <a:pPr algn="l">
              <a:spcAft>
                <a:spcPts val="300"/>
              </a:spcAft>
            </a:pPr>
            <a:r>
              <a:rPr sz="1200" b="0">
                <a:solidFill>
                  <a:srgbClr val="5B6372"/>
                </a:solidFill>
                <a:latin typeface="Arial"/>
              </a:rPr>
              <a:t>OSI is the 7-layer teaching and troubleshooting model; TCP/IP is the 4-layer practical stack.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PDU</a:t>
            </a:r>
          </a:p>
          <a:p>
            <a:pPr algn="l">
              <a:spcAft>
                <a:spcPts val="300"/>
              </a:spcAft>
            </a:pPr>
            <a:r>
              <a:rPr sz="1200" b="0">
                <a:solidFill>
                  <a:srgbClr val="5B6372"/>
                </a:solidFill>
                <a:latin typeface="Arial"/>
              </a:rPr>
              <a:t>Protocol Data Unit — the name of the data chunk changes at each layer as headers are added.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Exam anchor</a:t>
            </a:r>
          </a:p>
          <a:p>
            <a:pPr algn="l">
              <a:spcAft>
                <a:spcPts val="300"/>
              </a:spcAft>
            </a:pPr>
            <a:r>
              <a:rPr sz="1200" b="0">
                <a:solidFill>
                  <a:srgbClr val="5B6372"/>
                </a:solidFill>
                <a:latin typeface="Arial"/>
              </a:rPr>
              <a:t>N10-009 expects you to place any protocol, device or symptom at its correct layer.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Seven Layers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L7 — Application</a:t>
            </a:r>
          </a:p>
          <a:p>
            <a:pPr algn="l">
              <a:spcAft>
                <a:spcPts val="300"/>
              </a:spcAft>
            </a:pPr>
            <a:r>
              <a:rPr sz="1200" b="0">
                <a:solidFill>
                  <a:srgbClr val="5B6372"/>
                </a:solidFill>
                <a:latin typeface="Arial"/>
              </a:rPr>
              <a:t>Protocols the software speaks: HTTP, FTP, SMTP, DNS. Where data is produced and consumed.</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L6 — Presentation</a:t>
            </a:r>
          </a:p>
          <a:p>
            <a:pPr algn="l">
              <a:spcAft>
                <a:spcPts val="300"/>
              </a:spcAft>
            </a:pPr>
            <a:r>
              <a:rPr sz="1200" b="0">
                <a:solidFill>
                  <a:srgbClr val="5B6372"/>
                </a:solidFill>
                <a:latin typeface="Arial"/>
              </a:rPr>
              <a:t>Formats and translates data: encryption (TLS), compression, character encoding.</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L5 — Session</a:t>
            </a:r>
          </a:p>
          <a:p>
            <a:pPr algn="l">
              <a:spcAft>
                <a:spcPts val="300"/>
              </a:spcAft>
            </a:pPr>
            <a:r>
              <a:rPr sz="1200" b="0">
                <a:solidFill>
                  <a:srgbClr val="5B6372"/>
                </a:solidFill>
                <a:latin typeface="Arial"/>
              </a:rPr>
              <a:t>Opens, manages and tears down dialogs between hosts; think RPC and API sessions.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L4 — Transport</a:t>
            </a:r>
          </a:p>
          <a:p>
            <a:pPr algn="l">
              <a:spcAft>
                <a:spcPts val="300"/>
              </a:spcAft>
            </a:pPr>
            <a:r>
              <a:rPr sz="1200" b="0">
                <a:solidFill>
                  <a:srgbClr val="5B6372"/>
                </a:solidFill>
                <a:latin typeface="Arial"/>
              </a:rPr>
              <a:t>End-to-end delivery: TCP (reliable) and UDP (best-effort), addressed by port numbers.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L3 — Network</a:t>
            </a:r>
          </a:p>
          <a:p>
            <a:pPr algn="l">
              <a:spcAft>
                <a:spcPts val="300"/>
              </a:spcAft>
            </a:pPr>
            <a:r>
              <a:rPr sz="1200" b="0">
                <a:solidFill>
                  <a:srgbClr val="5B6372"/>
                </a:solidFill>
                <a:latin typeface="Arial"/>
              </a:rPr>
              <a:t>Logical addressing and routing between networks: IP and ICMP. Routers live here.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L2 — Data Link</a:t>
            </a:r>
          </a:p>
          <a:p>
            <a:pPr algn="l">
              <a:spcAft>
                <a:spcPts val="300"/>
              </a:spcAft>
            </a:pPr>
            <a:r>
              <a:rPr sz="1200" b="0">
                <a:solidFill>
                  <a:srgbClr val="5B6372"/>
                </a:solidFill>
                <a:latin typeface="Arial"/>
              </a:rPr>
              <a:t>Frames and MAC addresses on the local link; switches forward here, FCS detects errors.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L1 — Physical</a:t>
            </a:r>
          </a:p>
          <a:p>
            <a:pPr algn="l">
              <a:spcAft>
                <a:spcPts val="300"/>
              </a:spcAft>
            </a:pPr>
            <a:r>
              <a:rPr sz="1200" b="0">
                <a:solidFill>
                  <a:srgbClr val="5B6372"/>
                </a:solidFill>
                <a:latin typeface="Arial"/>
              </a:rPr>
              <a:t>Bits on the wire or in the air: cables, connectors, transceivers, hubs, radio.</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PDUs and Devices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Layer(s)</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PDU</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devices / protocols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L5-L7 upper layers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HTTP, TLS, DNS, proxies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L4 Transport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Segment / datagram</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TCP, UDP, load balancer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L3 Network</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Packet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IP, ICMP, router, L3 switch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L2 Data Link</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Frame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Ethernet, switch, NIC, AP</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L1 Physical</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Bits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Cables, hubs, transceivers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Exam shortcut: name the PDU and you have named the layer.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Encapsulation: Data Down the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app payload</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Segment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TCP/UDP header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Packet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header added</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Frame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MAC header + FCS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Bits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onto the medium</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capture you will read shows these headers nested in exactly this order — and decapsulation reverses the sequence at the receiver.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OSI vs TCP/IP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OSI (7 layers)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TCP/IP (4 layers)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7-6-5: Application, Presentation, Session</a:t>
            </a:r>
          </a:p>
          <a:p>
            <a:pPr>
              <a:spcAft>
                <a:spcPts val="1000"/>
              </a:spcAft>
            </a:pPr>
            <a:r>
              <a:rPr sz="1600" b="0">
                <a:solidFill>
                  <a:srgbClr val="161B26"/>
                </a:solidFill>
                <a:latin typeface="Arial"/>
              </a:rPr>
              <a:t>•  4: Transport — segments, ports</a:t>
            </a:r>
          </a:p>
          <a:p>
            <a:pPr>
              <a:spcAft>
                <a:spcPts val="1000"/>
              </a:spcAft>
            </a:pPr>
            <a:r>
              <a:rPr sz="1600" b="0">
                <a:solidFill>
                  <a:srgbClr val="161B26"/>
                </a:solidFill>
                <a:latin typeface="Arial"/>
              </a:rPr>
              <a:t>•  3: Network — packets, routing</a:t>
            </a:r>
          </a:p>
          <a:p>
            <a:pPr>
              <a:spcAft>
                <a:spcPts val="1000"/>
              </a:spcAft>
            </a:pPr>
            <a:r>
              <a:rPr sz="1600" b="0">
                <a:solidFill>
                  <a:srgbClr val="161B26"/>
                </a:solidFill>
                <a:latin typeface="Arial"/>
              </a:rPr>
              <a:t>•  2-1: Data Link and Physical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Application — HTTP, DNS, SMTP, TLS</a:t>
            </a:r>
          </a:p>
          <a:p>
            <a:pPr>
              <a:spcAft>
                <a:spcPts val="1000"/>
              </a:spcAft>
            </a:pPr>
            <a:r>
              <a:rPr sz="1600" b="0">
                <a:solidFill>
                  <a:srgbClr val="161B26"/>
                </a:solidFill>
                <a:latin typeface="Arial"/>
              </a:rPr>
              <a:t>•  Transport — TCP and UDP</a:t>
            </a:r>
          </a:p>
          <a:p>
            <a:pPr>
              <a:spcAft>
                <a:spcPts val="1000"/>
              </a:spcAft>
            </a:pPr>
            <a:r>
              <a:rPr sz="1600" b="0">
                <a:solidFill>
                  <a:srgbClr val="161B26"/>
                </a:solidFill>
                <a:latin typeface="Arial"/>
              </a:rPr>
              <a:t>•  Internet — IP, ICMP, IGMP</a:t>
            </a:r>
          </a:p>
          <a:p>
            <a:pPr>
              <a:spcAft>
                <a:spcPts val="1000"/>
              </a:spcAft>
            </a:pPr>
            <a:r>
              <a:rPr sz="1600" b="0">
                <a:solidFill>
                  <a:srgbClr val="161B26"/>
                </a:solidFill>
                <a:latin typeface="Arial"/>
              </a:rPr>
              <a:t>•  Network Access — Ethernet, Wi-Fi, media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Upper Layers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Session (L5)</a:t>
            </a:r>
          </a:p>
          <a:p>
            <a:pPr algn="l">
              <a:spcAft>
                <a:spcPts val="300"/>
              </a:spcAft>
            </a:pPr>
            <a:r>
              <a:rPr sz="1200" b="0">
                <a:solidFill>
                  <a:srgbClr val="5B6372"/>
                </a:solidFill>
                <a:latin typeface="Arial"/>
              </a:rPr>
              <a:t>Establishes and resumes conversations — RPC calls, NetBIOS sessions, SQL connections.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Presentation (L6)</a:t>
            </a:r>
          </a:p>
          <a:p>
            <a:pPr algn="l">
              <a:spcAft>
                <a:spcPts val="300"/>
              </a:spcAft>
            </a:pPr>
            <a:r>
              <a:rPr sz="1200" b="0">
                <a:solidFill>
                  <a:srgbClr val="5B6372"/>
                </a:solidFill>
                <a:latin typeface="Arial"/>
              </a:rPr>
              <a:t>TLS encryption, JPEG/PNG encoding, ASCII vs Unicode — data made readable and safe.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Application (L7)</a:t>
            </a:r>
          </a:p>
          <a:p>
            <a:pPr algn="l">
              <a:spcAft>
                <a:spcPts val="300"/>
              </a:spcAft>
            </a:pPr>
            <a:r>
              <a:rPr sz="1200" b="0">
                <a:solidFill>
                  <a:srgbClr val="5B6372"/>
                </a:solidFill>
                <a:latin typeface="Arial"/>
              </a:rPr>
              <a:t>The protocol carrying user intent: a GET request, a mail submission, a DNS query.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blurs</a:t>
            </a:r>
          </a:p>
          <a:p>
            <a:pPr algn="l">
              <a:spcAft>
                <a:spcPts val="300"/>
              </a:spcAft>
            </a:pPr>
            <a:r>
              <a:rPr sz="1200" b="0">
                <a:solidFill>
                  <a:srgbClr val="5B6372"/>
                </a:solidFill>
                <a:latin typeface="Arial"/>
              </a:rPr>
              <a:t>Real stacks fold L5-L7 together — TLS spans layers — but the exam still tests the clean split.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MAC Address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48-bit physical address</a:t>
            </a:r>
          </a:p>
          <a:p>
            <a:pPr algn="l">
              <a:spcAft>
                <a:spcPts val="300"/>
              </a:spcAft>
            </a:pPr>
            <a:r>
              <a:rPr sz="1200" b="0">
                <a:solidFill>
                  <a:srgbClr val="5B6372"/>
                </a:solidFill>
                <a:latin typeface="Arial"/>
              </a:rPr>
              <a:t>Burned into every NIC: first 24 bits are the vendor OUI, last 24 the unique device ID.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Hex notation</a:t>
            </a:r>
          </a:p>
          <a:p>
            <a:pPr algn="l">
              <a:spcAft>
                <a:spcPts val="300"/>
              </a:spcAft>
            </a:pPr>
            <a:r>
              <a:rPr sz="1200" b="0">
                <a:solidFill>
                  <a:srgbClr val="5B6372"/>
                </a:solidFill>
                <a:latin typeface="Arial"/>
              </a:rPr>
              <a:t>Example 00:16:3e:4a:99:d1 — view yours with ip link (Linux) or ipconfig /all (Windows).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Destination + source</a:t>
            </a:r>
          </a:p>
          <a:p>
            <a:pPr algn="l">
              <a:spcAft>
                <a:spcPts val="300"/>
              </a:spcAft>
            </a:pPr>
            <a:r>
              <a:rPr sz="1200" b="0">
                <a:solidFill>
                  <a:srgbClr val="5B6372"/>
                </a:solidFill>
                <a:latin typeface="Arial"/>
              </a:rPr>
              <a:t>Every frame carries both; a NIC normally processes only frames addressed to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FF-FF-FF-FF-FF-FF</a:t>
            </a:r>
          </a:p>
          <a:p>
            <a:pPr algn="l">
              <a:spcAft>
                <a:spcPts val="300"/>
              </a:spcAft>
            </a:pPr>
            <a:r>
              <a:rPr sz="1200" b="0">
                <a:solidFill>
                  <a:srgbClr val="5B6372"/>
                </a:solidFill>
                <a:latin typeface="Arial"/>
              </a:rPr>
              <a:t>The broadcast MAC — every NIC in the broadcast domain must process the frame.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Duplicate MACs</a:t>
            </a:r>
          </a:p>
          <a:p>
            <a:pPr algn="l">
              <a:spcAft>
                <a:spcPts val="300"/>
              </a:spcAft>
            </a:pPr>
            <a:r>
              <a:rPr sz="1200" b="0">
                <a:solidFill>
                  <a:srgbClr val="5B6372"/>
                </a:solidFill>
                <a:latin typeface="Arial"/>
              </a:rPr>
              <a:t>Rare but real — cloned VMs are a classic source of duplicate-MAC connectivity faults.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vs logical</a:t>
            </a:r>
          </a:p>
          <a:p>
            <a:pPr algn="l">
              <a:spcAft>
                <a:spcPts val="300"/>
              </a:spcAft>
            </a:pPr>
            <a:r>
              <a:rPr sz="1200" b="0">
                <a:solidFill>
                  <a:srgbClr val="5B6372"/>
                </a:solidFill>
                <a:latin typeface="Arial"/>
              </a:rPr>
              <a:t>MAC = physical address (L2); IP = logical address (L3). ARP glues them together.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an Ethernet Frame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Preamble</a:t>
            </a:r>
          </a:p>
          <a:p>
            <a:pPr algn="l">
              <a:spcAft>
                <a:spcPts val="300"/>
              </a:spcAft>
            </a:pPr>
            <a:r>
              <a:rPr sz="1200" b="0">
                <a:solidFill>
                  <a:srgbClr val="5B6372"/>
                </a:solidFill>
                <a:latin typeface="Arial"/>
              </a:rPr>
              <a:t>7 bytes of alternating bits plus a start delimiter — lets receivers sync their clocks.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Destination + source MAC</a:t>
            </a:r>
          </a:p>
          <a:p>
            <a:pPr algn="l">
              <a:spcAft>
                <a:spcPts val="300"/>
              </a:spcAft>
            </a:pPr>
            <a:r>
              <a:rPr sz="1200" b="0">
                <a:solidFill>
                  <a:srgbClr val="5B6372"/>
                </a:solidFill>
                <a:latin typeface="Arial"/>
              </a:rPr>
              <a:t>6 bytes each — switches forward on the destination, learn from the source.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EtherType</a:t>
            </a:r>
          </a:p>
          <a:p>
            <a:pPr algn="l">
              <a:spcAft>
                <a:spcPts val="300"/>
              </a:spcAft>
            </a:pPr>
            <a:r>
              <a:rPr sz="1200" b="0">
                <a:solidFill>
                  <a:srgbClr val="5B6372"/>
                </a:solidFill>
                <a:latin typeface="Arial"/>
              </a:rPr>
              <a:t>Declares the payload protocol: 0x0800 IPv4, 0x86DD IPv6, 0x0806 ARP.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Payload</a:t>
            </a:r>
          </a:p>
          <a:p>
            <a:pPr algn="l">
              <a:spcAft>
                <a:spcPts val="300"/>
              </a:spcAft>
            </a:pPr>
            <a:r>
              <a:rPr sz="1200" b="0">
                <a:solidFill>
                  <a:srgbClr val="5B6372"/>
                </a:solidFill>
                <a:latin typeface="Arial"/>
              </a:rPr>
              <a:t>46-1,500 bytes of upper-layer data; padded if too short.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FCS</a:t>
            </a:r>
          </a:p>
          <a:p>
            <a:pPr algn="l">
              <a:spcAft>
                <a:spcPts val="300"/>
              </a:spcAft>
            </a:pPr>
            <a:r>
              <a:rPr sz="1200" b="0">
                <a:solidFill>
                  <a:srgbClr val="5B6372"/>
                </a:solidFill>
                <a:latin typeface="Arial"/>
              </a:rPr>
              <a:t>4-byte CRC checksum — corrupt frames are silently dropped, upper layers must recover.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Size range</a:t>
            </a:r>
          </a:p>
          <a:p>
            <a:pPr algn="l">
              <a:spcAft>
                <a:spcPts val="300"/>
              </a:spcAft>
            </a:pPr>
            <a:r>
              <a:rPr sz="1200" b="0">
                <a:solidFill>
                  <a:srgbClr val="5B6372"/>
                </a:solidFill>
                <a:latin typeface="Arial"/>
              </a:rPr>
              <a:t>64 to 1,522 bytes standard; jumbo frames up to 9,000 for storage and DC traffic.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TRAFFIC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Traffic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Unicast</a:t>
            </a:r>
          </a:p>
          <a:p>
            <a:pPr algn="l">
              <a:spcAft>
                <a:spcPts val="300"/>
              </a:spcAft>
            </a:pPr>
            <a:r>
              <a:rPr sz="1200" b="0">
                <a:solidFill>
                  <a:srgbClr val="5B6372"/>
                </a:solidFill>
                <a:latin typeface="Arial"/>
              </a:rPr>
              <a:t>One sender to one receiver — the vast majority of traffic, e.g. your HTTP session.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Broadcast</a:t>
            </a:r>
          </a:p>
          <a:p>
            <a:pPr algn="l">
              <a:spcAft>
                <a:spcPts val="300"/>
              </a:spcAft>
            </a:pPr>
            <a:r>
              <a:rPr sz="1200" b="0">
                <a:solidFill>
                  <a:srgbClr val="5B6372"/>
                </a:solidFill>
                <a:latin typeface="Arial"/>
              </a:rPr>
              <a:t>One to all in the broadcast domain (FF-FF... / 255.255.255.255). IPv6 abolishes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Multicast</a:t>
            </a:r>
          </a:p>
          <a:p>
            <a:pPr algn="l">
              <a:spcAft>
                <a:spcPts val="300"/>
              </a:spcAft>
            </a:pPr>
            <a:r>
              <a:rPr sz="1200" b="0">
                <a:solidFill>
                  <a:srgbClr val="5B6372"/>
                </a:solidFill>
                <a:latin typeface="Arial"/>
              </a:rPr>
              <a:t>One to a subscribed group — IPv4 224.0.0.0/4, IPv6 ff00::/8; membership managed by IGMP.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Anycast</a:t>
            </a:r>
          </a:p>
          <a:p>
            <a:pPr algn="l">
              <a:spcAft>
                <a:spcPts val="300"/>
              </a:spcAft>
            </a:pPr>
            <a:r>
              <a:rPr sz="1200" b="0">
                <a:solidFill>
                  <a:srgbClr val="5B6372"/>
                </a:solidFill>
                <a:latin typeface="Arial"/>
              </a:rPr>
              <a:t>One address advertised from many places; routing delivers to the nearest — how 8.8.8.8 scales.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Capture Layer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One tcpdump line contains headers from three layers — the payload adds the fourth.</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tcpdump -i eth0 -nn -v -c 5 'tcp port 80'</a:t>
            </a:r>
          </a:p>
          <a:p>
            <a:pPr>
              <a:spcAft>
                <a:spcPts val="200"/>
              </a:spcAft>
            </a:pPr>
            <a:r>
              <a:rPr sz="1100">
                <a:solidFill>
                  <a:srgbClr val="9CDCFE"/>
                </a:solidFill>
                <a:latin typeface="Consolas"/>
              </a:rPr>
              <a:t>IP 10.244.0.5.55512 &gt; 93.184.216.34.80:</a:t>
            </a:r>
          </a:p>
          <a:p>
            <a:pPr>
              <a:spcAft>
                <a:spcPts val="200"/>
              </a:spcAft>
            </a:pPr>
            <a:r>
              <a:rPr sz="1100">
                <a:solidFill>
                  <a:srgbClr val="9CDCFE"/>
                </a:solidFill>
                <a:latin typeface="Consolas"/>
              </a:rPr>
              <a:t>   Flags [S], seq 1287312, win 64240</a:t>
            </a:r>
          </a:p>
          <a:p>
            <a:pPr>
              <a:spcAft>
                <a:spcPts val="200"/>
              </a:spcAft>
            </a:pPr>
            <a:r>
              <a:rPr sz="1100">
                <a:solidFill>
                  <a:srgbClr val="9CDCFE"/>
                </a:solidFill>
                <a:latin typeface="Consolas"/>
              </a:rPr>
              <a:t/>
            </a:r>
          </a:p>
          <a:p>
            <a:pPr>
              <a:spcAft>
                <a:spcPts val="200"/>
              </a:spcAft>
            </a:pPr>
            <a:r>
              <a:rPr sz="1100">
                <a:solidFill>
                  <a:srgbClr val="6A9955"/>
                </a:solidFill>
                <a:latin typeface="Consolas"/>
              </a:rPr>
              <a:t># add -e for the link-layer (L2) header:</a:t>
            </a:r>
          </a:p>
          <a:p>
            <a:pPr>
              <a:spcAft>
                <a:spcPts val="200"/>
              </a:spcAft>
            </a:pPr>
            <a:r>
              <a:rPr sz="1100">
                <a:solidFill>
                  <a:srgbClr val="9CDCFE"/>
                </a:solidFill>
                <a:latin typeface="Consolas"/>
              </a:rPr>
              <a:t>00:16:3e:4a:99:d1 &gt; 52:54:00:12:35:02</a:t>
            </a:r>
          </a:p>
          <a:p>
            <a:pPr>
              <a:spcAft>
                <a:spcPts val="200"/>
              </a:spcAft>
            </a:pPr>
            <a:r>
              <a:rPr sz="1100">
                <a:solidFill>
                  <a:srgbClr val="9CDCFE"/>
                </a:solidFill>
                <a:latin typeface="Consolas"/>
              </a:rPr>
              <a:t/>
            </a:r>
          </a:p>
          <a:p>
            <a:pPr>
              <a:spcAft>
                <a:spcPts val="200"/>
              </a:spcAft>
            </a:pPr>
            <a:r>
              <a:rPr sz="1100">
                <a:solidFill>
                  <a:srgbClr val="6A9955"/>
                </a:solidFill>
                <a:latin typeface="Consolas"/>
              </a:rPr>
              <a:t># add -A for the ASCII payload (L7):</a:t>
            </a:r>
          </a:p>
          <a:p>
            <a:pPr>
              <a:spcAft>
                <a:spcPts val="200"/>
              </a:spcAft>
            </a:pPr>
            <a:r>
              <a:rPr sz="1100">
                <a:solidFill>
                  <a:srgbClr val="9CDCFE"/>
                </a:solidFill>
                <a:latin typeface="Consolas"/>
              </a:rPr>
              <a:t>GET / HTTP/1.1</a:t>
            </a:r>
          </a:p>
          <a:p>
            <a:pPr>
              <a:spcAft>
                <a:spcPts val="200"/>
              </a:spcAft>
            </a:pPr>
            <a:r>
              <a:rPr sz="1100">
                <a:solidFill>
                  <a:srgbClr val="9CDCFE"/>
                </a:solidFill>
                <a:latin typeface="Consolas"/>
              </a:rPr>
              <a:t>Host: example.com</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L2 Data Link</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MAC-to-MAC delivery on the local link — visible only with the -e flag.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L3 Network</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Source and destination IP addresses route the packet between networks.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L4 Transport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Ports 55512 &gt; 80 plus the SYN flag — a TCP connection being opened.</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L7 Application</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HTTP GET request itself — the data everything else exists to carry.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URL to Wire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Browser builds an HTTP GET (L7)</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TCP adds ports + starts handshake (L4)</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IP adds source/destination address (L3)</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NIC frames it with MACs + FCS (L2)</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Bits transmitted on the medium (L1)</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Troubleshooting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L1 first</a:t>
            </a:r>
          </a:p>
          <a:p>
            <a:pPr algn="l">
              <a:spcAft>
                <a:spcPts val="300"/>
              </a:spcAft>
            </a:pPr>
            <a:r>
              <a:rPr sz="1200" b="0">
                <a:solidFill>
                  <a:srgbClr val="5B6372"/>
                </a:solidFill>
                <a:latin typeface="Arial"/>
              </a:rPr>
              <a:t>Link lights, cables, transceivers, Wi-Fi signal — most 'network down' calls end 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L2 next</a:t>
            </a:r>
          </a:p>
          <a:p>
            <a:pPr algn="l">
              <a:spcAft>
                <a:spcPts val="300"/>
              </a:spcAft>
            </a:pPr>
            <a:r>
              <a:rPr sz="1200" b="0">
                <a:solidFill>
                  <a:srgbClr val="5B6372"/>
                </a:solidFill>
                <a:latin typeface="Arial"/>
              </a:rPr>
              <a:t>Check MAC learning, VLAN membership, ARP entries; switches misbehave at this layer.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L3 routing</a:t>
            </a:r>
          </a:p>
          <a:p>
            <a:pPr algn="l">
              <a:spcAft>
                <a:spcPts val="300"/>
              </a:spcAft>
            </a:pPr>
            <a:r>
              <a:rPr sz="1200" b="0">
                <a:solidFill>
                  <a:srgbClr val="5B6372"/>
                </a:solidFill>
                <a:latin typeface="Arial"/>
              </a:rPr>
              <a:t>ping and traceroute test addressing and routes — wrong gateway or mask lives here.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L4 ports</a:t>
            </a:r>
          </a:p>
          <a:p>
            <a:pPr algn="l">
              <a:spcAft>
                <a:spcPts val="300"/>
              </a:spcAft>
            </a:pPr>
            <a:r>
              <a:rPr sz="1200" b="0">
                <a:solidFill>
                  <a:srgbClr val="5B6372"/>
                </a:solidFill>
                <a:latin typeface="Arial"/>
              </a:rPr>
              <a:t>Service unreachable but host pings? Check listening ports and firewall rules.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L7 last</a:t>
            </a:r>
          </a:p>
          <a:p>
            <a:pPr algn="l">
              <a:spcAft>
                <a:spcPts val="300"/>
              </a:spcAft>
            </a:pPr>
            <a:r>
              <a:rPr sz="1200" b="0">
                <a:solidFill>
                  <a:srgbClr val="5B6372"/>
                </a:solidFill>
                <a:latin typeface="Arial"/>
              </a:rPr>
              <a:t>DNS answers, certificates, application errors — the top of the bottom-up method.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layer</a:t>
            </a:r>
          </a:p>
          <a:p>
            <a:pPr algn="l">
              <a:spcAft>
                <a:spcPts val="300"/>
              </a:spcAft>
            </a:pPr>
            <a:r>
              <a:rPr sz="1200" b="0">
                <a:solidFill>
                  <a:srgbClr val="5B6372"/>
                </a:solidFill>
                <a:latin typeface="Arial"/>
              </a:rPr>
              <a:t>Exam questions describe a symptom and expect the layer — practise the mapping now.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OSI Model Packet Inspection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Capture live traffic and map each protocol header to its OSI layer.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Capture HTTP traffic with tcpdump on a Killercoda Ubuntu host, generate requests with curl, and match the MAC, IP, TCP and HTTP headers you see to OSI layers 2, 3, 4 and 7.</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live capture and a saved .pcap where you can point at every header and name its OSI layer.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curl, Killercoda Ubuntu, TIS PCAP Analyzer (alfredang.github.io/pcapanalyzer)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shows SYN/ACK/GET packets and you can name the OSI layer of every header; the TIS PCAP Analyzer decodes the same layers from the downloaded osi-lab.pcap.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capture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Start a background capture of five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Map each header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Re-run with -e -A to expose L2 MACs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Stop any background captures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kill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Capture live traffic and map each protocol header to its OSI layer.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OSI Model Packet Inspection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tcpdump shows SYN/ACK/GET packets and you can name the OSI layer of every header; the TIS PCAP Analyzer decodes the same layers from the downloaded osi-lab.pcap.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packets captured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interface with ip -brief addr — capture on the interface marked UP, not lo.</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curl hangs or fails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may block port 80 — try curl -s http://neverssl.com instead.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tcpdump: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Re-run apt update &amp;&amp; apt install -y tcpdump curl — the install step may have failed.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Core Networking Appliances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Router</a:t>
            </a:r>
          </a:p>
          <a:p>
            <a:pPr algn="l">
              <a:spcAft>
                <a:spcPts val="300"/>
              </a:spcAft>
            </a:pPr>
            <a:r>
              <a:rPr sz="1200" b="0">
                <a:solidFill>
                  <a:srgbClr val="5B6372"/>
                </a:solidFill>
                <a:latin typeface="Arial"/>
              </a:rPr>
              <a:t>Connects networks and forwards packets by IP; every LAN's default gateway is a router interface.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a:t>
            </a:r>
          </a:p>
          <a:p>
            <a:pPr algn="l">
              <a:spcAft>
                <a:spcPts val="300"/>
              </a:spcAft>
            </a:pPr>
            <a:r>
              <a:rPr sz="1200" b="0">
                <a:solidFill>
                  <a:srgbClr val="5B6372"/>
                </a:solidFill>
                <a:latin typeface="Arial"/>
              </a:rPr>
              <a:t>Forwards frames by MAC using its learned MAC table; each port is its own collision domain.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Layer 3 switch</a:t>
            </a:r>
          </a:p>
          <a:p>
            <a:pPr algn="l">
              <a:spcAft>
                <a:spcPts val="300"/>
              </a:spcAft>
            </a:pPr>
            <a:r>
              <a:rPr sz="1200" b="0">
                <a:solidFill>
                  <a:srgbClr val="5B6372"/>
                </a:solidFill>
                <a:latin typeface="Arial"/>
              </a:rPr>
              <a:t>Switches inside VLANs and routes between them in hardware at wire speed.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Hub (legacy)</a:t>
            </a:r>
          </a:p>
          <a:p>
            <a:pPr algn="l">
              <a:spcAft>
                <a:spcPts val="300"/>
              </a:spcAft>
            </a:pPr>
            <a:r>
              <a:rPr sz="1200" b="0">
                <a:solidFill>
                  <a:srgbClr val="5B6372"/>
                </a:solidFill>
                <a:latin typeface="Arial"/>
              </a:rPr>
              <a:t>A multiport repeater — one shared collision domain using CSMA/CD; replaced by switches.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point</a:t>
            </a:r>
          </a:p>
          <a:p>
            <a:pPr algn="l">
              <a:spcAft>
                <a:spcPts val="300"/>
              </a:spcAft>
            </a:pPr>
            <a:r>
              <a:rPr sz="1200" b="0">
                <a:solidFill>
                  <a:srgbClr val="5B6372"/>
                </a:solidFill>
                <a:latin typeface="Arial"/>
              </a:rPr>
              <a:t>Bridges 802.11 wireless clients onto the wired LAN at Layer 2.</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Wireless controller</a:t>
            </a:r>
          </a:p>
          <a:p>
            <a:pPr algn="l">
              <a:spcAft>
                <a:spcPts val="300"/>
              </a:spcAft>
            </a:pPr>
            <a:r>
              <a:rPr sz="1200" b="0">
                <a:solidFill>
                  <a:srgbClr val="5B6372"/>
                </a:solidFill>
                <a:latin typeface="Arial"/>
              </a:rPr>
              <a:t>Centrally manages fleets of APs: channels, power, roaming and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Layer Does Each Device Read?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Device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Forwards / filters on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Hub / repeater</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L1</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Electrical signal only</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Switch, bridge, AP</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L2</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MAC addresses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Router, L3 switch</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L3</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IP addresses and routes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Load balancer</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L4-L7</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Ports, sessions, URLs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Firewall / IPS</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L3-L7</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Rules, state, signatures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device's layer tells you what information it can see — and what it can never see.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and Application Appliances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a:t>
            </a:r>
          </a:p>
          <a:p>
            <a:pPr algn="l">
              <a:spcAft>
                <a:spcPts val="300"/>
              </a:spcAft>
            </a:pPr>
            <a:r>
              <a:rPr sz="1200" b="0">
                <a:solidFill>
                  <a:srgbClr val="5B6372"/>
                </a:solidFill>
                <a:latin typeface="Arial"/>
              </a:rPr>
              <a:t>Filters traffic between zones by rule: addresses, ports, and connection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IDS</a:t>
            </a:r>
          </a:p>
          <a:p>
            <a:pPr algn="l">
              <a:spcAft>
                <a:spcPts val="300"/>
              </a:spcAft>
            </a:pPr>
            <a:r>
              <a:rPr sz="1200" b="0">
                <a:solidFill>
                  <a:srgbClr val="5B6372"/>
                </a:solidFill>
                <a:latin typeface="Arial"/>
              </a:rPr>
              <a:t>Passively inspects mirrored traffic and raises alerts on signatures or anomalies.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a:t>
            </a:r>
          </a:p>
          <a:p>
            <a:pPr algn="l">
              <a:spcAft>
                <a:spcPts val="300"/>
              </a:spcAft>
            </a:pPr>
            <a:r>
              <a:rPr sz="1200" b="0">
                <a:solidFill>
                  <a:srgbClr val="5B6372"/>
                </a:solidFill>
                <a:latin typeface="Arial"/>
              </a:rPr>
              <a:t>Sits inline in the traffic path and actively blocks malicious traffic in real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Load balancer</a:t>
            </a:r>
          </a:p>
          <a:p>
            <a:pPr algn="l">
              <a:spcAft>
                <a:spcPts val="300"/>
              </a:spcAft>
            </a:pPr>
            <a:r>
              <a:rPr sz="1200" b="0">
                <a:solidFill>
                  <a:srgbClr val="5B6372"/>
                </a:solidFill>
                <a:latin typeface="Arial"/>
              </a:rPr>
              <a:t>Distributes client sessions across a server pool and health-checks every member.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Forward proxy</a:t>
            </a:r>
          </a:p>
          <a:p>
            <a:pPr algn="l">
              <a:spcAft>
                <a:spcPts val="300"/>
              </a:spcAft>
            </a:pPr>
            <a:r>
              <a:rPr sz="1200" b="0">
                <a:solidFill>
                  <a:srgbClr val="5B6372"/>
                </a:solidFill>
                <a:latin typeface="Arial"/>
              </a:rPr>
              <a:t>Fetches web content on behalf of internal clients — filtering, caching, logging.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Reverse proxy</a:t>
            </a:r>
          </a:p>
          <a:p>
            <a:pPr algn="l">
              <a:spcAft>
                <a:spcPts val="300"/>
              </a:spcAft>
            </a:pPr>
            <a:r>
              <a:rPr sz="1200" b="0">
                <a:solidFill>
                  <a:srgbClr val="5B6372"/>
                </a:solidFill>
                <a:latin typeface="Arial"/>
              </a:rPr>
              <a:t>Fronts your servers: TLS offload, caching, and shielding the origin from the Internet.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IDS or 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Must bad traffic be
blocked automatically?</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deploy an IPS</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Place it inline so it can drop packets in real time — and accept that a false positive can block legitimate traffic.</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deploy an IDS</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Feed it a mirror/SPAN copy. It only alerts, so it can never break the network — but a human must act on the alert.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Many NGFW platforms bundle both modes — the inline-vs-passive placement decision still applies.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Forward vs Reverse Proxy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Forward proxy (protects clients)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Reverse proxy (protects servers)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Sits between your users and the Internet</a:t>
            </a:r>
          </a:p>
          <a:p>
            <a:pPr>
              <a:spcAft>
                <a:spcPts val="1000"/>
              </a:spcAft>
            </a:pPr>
            <a:r>
              <a:rPr sz="1600" b="0">
                <a:solidFill>
                  <a:srgbClr val="161B26"/>
                </a:solidFill>
                <a:latin typeface="Arial"/>
              </a:rPr>
              <a:t>•  Enforces acceptable-use and URL filtering</a:t>
            </a:r>
          </a:p>
          <a:p>
            <a:pPr>
              <a:spcAft>
                <a:spcPts val="1000"/>
              </a:spcAft>
            </a:pPr>
            <a:r>
              <a:rPr sz="1600" b="0">
                <a:solidFill>
                  <a:srgbClr val="161B26"/>
                </a:solidFill>
                <a:latin typeface="Arial"/>
              </a:rPr>
              <a:t>•  Caches popular content to save bandwidth</a:t>
            </a:r>
          </a:p>
          <a:p>
            <a:pPr>
              <a:spcAft>
                <a:spcPts val="1000"/>
              </a:spcAft>
            </a:pPr>
            <a:r>
              <a:rPr sz="1600" b="0">
                <a:solidFill>
                  <a:srgbClr val="161B26"/>
                </a:solidFill>
                <a:latin typeface="Arial"/>
              </a:rPr>
              <a:t>•  Hides internal client identities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Sits between the Internet and your servers</a:t>
            </a:r>
          </a:p>
          <a:p>
            <a:pPr>
              <a:spcAft>
                <a:spcPts val="1000"/>
              </a:spcAft>
            </a:pPr>
            <a:r>
              <a:rPr sz="1600" b="0">
                <a:solidFill>
                  <a:srgbClr val="161B26"/>
                </a:solidFill>
                <a:latin typeface="Arial"/>
              </a:rPr>
              <a:t>•  Terminates TLS and offloads encryption</a:t>
            </a:r>
          </a:p>
          <a:p>
            <a:pPr>
              <a:spcAft>
                <a:spcPts val="1000"/>
              </a:spcAft>
            </a:pPr>
            <a:r>
              <a:rPr sz="1600" b="0">
                <a:solidFill>
                  <a:srgbClr val="161B26"/>
                </a:solidFill>
                <a:latin typeface="Arial"/>
              </a:rPr>
              <a:t>•  Load-balances and caches for the backend</a:t>
            </a:r>
          </a:p>
          <a:p>
            <a:pPr>
              <a:spcAft>
                <a:spcPts val="1000"/>
              </a:spcAft>
            </a:pPr>
            <a:r>
              <a:rPr sz="1600" b="0">
                <a:solidFill>
                  <a:srgbClr val="161B26"/>
                </a:solidFill>
                <a:latin typeface="Arial"/>
              </a:rPr>
              <a:t>•  Hides and shields the origin servers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NAS vs SAN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Attribute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NAS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SAN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Access level</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File (SMB, NFS)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Block (raw volumes)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Network</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Standard Ethernet LAN</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Fibre Channel or iSCSI</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Appears as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Shared folders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Local disks to the OS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Hardware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NAS appliance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HBAs, FC switches, arrays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use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Team file shares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Databases, VM datastores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FCoE carries Fibre Channel over Ethernet; multipathing keeps SAN storage reachable through failures.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vs Virtual Appliances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Physical appliance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Virtual appliance (NFV)</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Dedicated hardware, predictable throughput</a:t>
            </a:r>
          </a:p>
          <a:p>
            <a:pPr>
              <a:spcAft>
                <a:spcPts val="1000"/>
              </a:spcAft>
            </a:pPr>
            <a:r>
              <a:rPr sz="1600" b="0">
                <a:solidFill>
                  <a:srgbClr val="161B26"/>
                </a:solidFill>
                <a:latin typeface="Arial"/>
              </a:rPr>
              <a:t>•  ASICs accelerate switching and crypto</a:t>
            </a:r>
          </a:p>
          <a:p>
            <a:pPr>
              <a:spcAft>
                <a:spcPts val="1000"/>
              </a:spcAft>
            </a:pPr>
            <a:r>
              <a:rPr sz="1600" b="0">
                <a:solidFill>
                  <a:srgbClr val="161B26"/>
                </a:solidFill>
                <a:latin typeface="Arial"/>
              </a:rPr>
              <a:t>•  Scaling means buying and racking boxes</a:t>
            </a:r>
          </a:p>
          <a:p>
            <a:pPr>
              <a:spcAft>
                <a:spcPts val="1000"/>
              </a:spcAft>
            </a:pPr>
            <a:r>
              <a:rPr sz="1600" b="0">
                <a:solidFill>
                  <a:srgbClr val="161B26"/>
                </a:solidFill>
                <a:latin typeface="Arial"/>
              </a:rPr>
              <a:t>•  Failure domain is the chassis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Router, firewall, LB run as VMs/containers</a:t>
            </a:r>
          </a:p>
          <a:p>
            <a:pPr>
              <a:spcAft>
                <a:spcPts val="1000"/>
              </a:spcAft>
            </a:pPr>
            <a:r>
              <a:rPr sz="1600" b="0">
                <a:solidFill>
                  <a:srgbClr val="161B26"/>
                </a:solidFill>
                <a:latin typeface="Arial"/>
              </a:rPr>
              <a:t>•  Deployed in minutes from an image</a:t>
            </a:r>
          </a:p>
          <a:p>
            <a:pPr>
              <a:spcAft>
                <a:spcPts val="1000"/>
              </a:spcAft>
            </a:pPr>
            <a:r>
              <a:rPr sz="1600" b="0">
                <a:solidFill>
                  <a:srgbClr val="161B26"/>
                </a:solidFill>
                <a:latin typeface="Arial"/>
              </a:rPr>
              <a:t>•  Scales out on shared compute</a:t>
            </a:r>
          </a:p>
          <a:p>
            <a:pPr>
              <a:spcAft>
                <a:spcPts val="1000"/>
              </a:spcAft>
            </a:pPr>
            <a:r>
              <a:rPr sz="1600" b="0">
                <a:solidFill>
                  <a:srgbClr val="161B26"/>
                </a:solidFill>
                <a:latin typeface="Arial"/>
              </a:rPr>
              <a:t>•  Portable across data center and cloud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Copper: Coaxial and Twinaxial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Coaxial</a:t>
            </a:r>
          </a:p>
          <a:p>
            <a:pPr algn="l">
              <a:spcAft>
                <a:spcPts val="300"/>
              </a:spcAft>
            </a:pPr>
            <a:r>
              <a:rPr sz="1200" b="0">
                <a:solidFill>
                  <a:srgbClr val="5B6372"/>
                </a:solidFill>
                <a:latin typeface="Arial"/>
              </a:rPr>
              <a:t>A single center conductor inside a shield — highly resistant to EMI; used for cable broadband.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RG-6</a:t>
            </a:r>
          </a:p>
          <a:p>
            <a:pPr algn="l">
              <a:spcAft>
                <a:spcPts val="300"/>
              </a:spcAft>
            </a:pPr>
            <a:r>
              <a:rPr sz="1200" b="0">
                <a:solidFill>
                  <a:srgbClr val="5B6372"/>
                </a:solidFill>
                <a:latin typeface="Arial"/>
              </a:rPr>
              <a:t>75-ohm coax for cable TV and DOCSIS internet; terminated with threaded F-type connectors.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BNC</a:t>
            </a:r>
          </a:p>
          <a:p>
            <a:pPr algn="l">
              <a:spcAft>
                <a:spcPts val="300"/>
              </a:spcAft>
            </a:pPr>
            <a:r>
              <a:rPr sz="1200" b="0">
                <a:solidFill>
                  <a:srgbClr val="5B6372"/>
                </a:solidFill>
                <a:latin typeface="Arial"/>
              </a:rPr>
              <a:t>Bayonet-twist coax connector found on older gear and lab equipment.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Twinax / DAC</a:t>
            </a:r>
          </a:p>
          <a:p>
            <a:pPr algn="l">
              <a:spcAft>
                <a:spcPts val="300"/>
              </a:spcAft>
            </a:pPr>
            <a:r>
              <a:rPr sz="1200" b="0">
                <a:solidFill>
                  <a:srgbClr val="5B6372"/>
                </a:solidFill>
                <a:latin typeface="Arial"/>
              </a:rPr>
              <a:t>Twin conductors; direct-attach copper links switches over short 10-100G runs, cheaper than optics.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Twisted Pair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Four twisted pairs</a:t>
            </a:r>
          </a:p>
          <a:p>
            <a:pPr algn="l">
              <a:spcAft>
                <a:spcPts val="300"/>
              </a:spcAft>
            </a:pPr>
            <a:r>
              <a:rPr sz="1200" b="0">
                <a:solidFill>
                  <a:srgbClr val="5B6372"/>
                </a:solidFill>
                <a:latin typeface="Arial"/>
              </a:rPr>
              <a:t>The twists cancel EMI and crosstalk between pairs — tighter twists, higher category.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UTP vs STP</a:t>
            </a:r>
          </a:p>
          <a:p>
            <a:pPr algn="l">
              <a:spcAft>
                <a:spcPts val="300"/>
              </a:spcAft>
            </a:pPr>
            <a:r>
              <a:rPr sz="1200" b="0">
                <a:solidFill>
                  <a:srgbClr val="5B6372"/>
                </a:solidFill>
                <a:latin typeface="Arial"/>
              </a:rPr>
              <a:t>Unshielded is the default; shielded adds foil/braid for electrically noisy environments.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100 m channel limit</a:t>
            </a:r>
          </a:p>
          <a:p>
            <a:pPr algn="l">
              <a:spcAft>
                <a:spcPts val="300"/>
              </a:spcAft>
            </a:pPr>
            <a:r>
              <a:rPr sz="1200" b="0">
                <a:solidFill>
                  <a:srgbClr val="5B6372"/>
                </a:solidFill>
                <a:latin typeface="Arial"/>
              </a:rPr>
              <a:t>The maximum twisted-pair run: 90 m horizontal plus 10 m of patch cords.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RJ45 (8P8C)</a:t>
            </a:r>
          </a:p>
          <a:p>
            <a:pPr algn="l">
              <a:spcAft>
                <a:spcPts val="300"/>
              </a:spcAft>
            </a:pPr>
            <a:r>
              <a:rPr sz="1200" b="0">
                <a:solidFill>
                  <a:srgbClr val="5B6372"/>
                </a:solidFill>
                <a:latin typeface="Arial"/>
              </a:rPr>
              <a:t>The standard data connector; RJ11 is the smaller 2-3 pair telephone jack.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T568A / T568B</a:t>
            </a:r>
          </a:p>
          <a:p>
            <a:pPr algn="l">
              <a:spcAft>
                <a:spcPts val="300"/>
              </a:spcAft>
            </a:pPr>
            <a:r>
              <a:rPr sz="1200" b="0">
                <a:solidFill>
                  <a:srgbClr val="5B6372"/>
                </a:solidFill>
                <a:latin typeface="Arial"/>
              </a:rPr>
              <a:t>The two pin-out standards — use one consistently; mixing them creates a crossover.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Solid vs stranded</a:t>
            </a:r>
          </a:p>
          <a:p>
            <a:pPr algn="l">
              <a:spcAft>
                <a:spcPts val="300"/>
              </a:spcAft>
            </a:pPr>
            <a:r>
              <a:rPr sz="1200" b="0">
                <a:solidFill>
                  <a:srgbClr val="5B6372"/>
                </a:solidFill>
                <a:latin typeface="Arial"/>
              </a:rPr>
              <a:t>Solid core for in-wall horizontal runs; stranded for flexible patch cables.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Twisted-Pair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Category</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Max speed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Bandwidth</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5e</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100 MHz</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Minimum for gigabit</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6</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 G (10 G to 55 m)</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250 MHz</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Internal separator</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6a</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 Gbps to 100 m</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500 MHz</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New-build standard</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7</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600 MHz</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Shielded, GG45/TERA</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8</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25/40 Gbps to 30 m</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2,000 MHz</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Data center ToR runs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link component — cable, jacks, patch panel — must meet the category or the link downgrades.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Fiber: Single-Mode vs Multimode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Single-mode (SMF)</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Multimode (MMF)</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Laser source, 8-10 micron core</a:t>
            </a:r>
          </a:p>
          <a:p>
            <a:pPr>
              <a:spcAft>
                <a:spcPts val="1000"/>
              </a:spcAft>
            </a:pPr>
            <a:r>
              <a:rPr sz="1600" b="0">
                <a:solidFill>
                  <a:srgbClr val="161B26"/>
                </a:solidFill>
                <a:latin typeface="Arial"/>
              </a:rPr>
              <a:t>•  Runs of tens of kilometers</a:t>
            </a:r>
          </a:p>
          <a:p>
            <a:pPr>
              <a:spcAft>
                <a:spcPts val="1000"/>
              </a:spcAft>
            </a:pPr>
            <a:r>
              <a:rPr sz="1600" b="0">
                <a:solidFill>
                  <a:srgbClr val="161B26"/>
                </a:solidFill>
                <a:latin typeface="Arial"/>
              </a:rPr>
              <a:t>•  Yellow jacket by convention</a:t>
            </a:r>
          </a:p>
          <a:p>
            <a:pPr>
              <a:spcAft>
                <a:spcPts val="1000"/>
              </a:spcAft>
            </a:pPr>
            <a:r>
              <a:rPr sz="1600" b="0">
                <a:solidFill>
                  <a:srgbClr val="161B26"/>
                </a:solidFill>
                <a:latin typeface="Arial"/>
              </a:rPr>
              <a:t>•  WAN, metro and carrier links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LED/VCSEL source, 50 or 62.5 micron core</a:t>
            </a:r>
          </a:p>
          <a:p>
            <a:pPr>
              <a:spcAft>
                <a:spcPts val="1000"/>
              </a:spcAft>
            </a:pPr>
            <a:r>
              <a:rPr sz="1600" b="0">
                <a:solidFill>
                  <a:srgbClr val="161B26"/>
                </a:solidFill>
                <a:latin typeface="Arial"/>
              </a:rPr>
              <a:t>•  Hundreds of meters (OM3/OM4/OM5)</a:t>
            </a:r>
          </a:p>
          <a:p>
            <a:pPr>
              <a:spcAft>
                <a:spcPts val="1000"/>
              </a:spcAft>
            </a:pPr>
            <a:r>
              <a:rPr sz="1600" b="0">
                <a:solidFill>
                  <a:srgbClr val="161B26"/>
                </a:solidFill>
                <a:latin typeface="Arial"/>
              </a:rPr>
              <a:t>•  Aqua or orange jacket</a:t>
            </a:r>
          </a:p>
          <a:p>
            <a:pPr>
              <a:spcAft>
                <a:spcPts val="1000"/>
              </a:spcAft>
            </a:pPr>
            <a:r>
              <a:rPr sz="1600" b="0">
                <a:solidFill>
                  <a:srgbClr val="161B26"/>
                </a:solidFill>
                <a:latin typeface="Arial"/>
              </a:rPr>
              <a:t>•  Inside buildings and data centers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Ethernet Standards to Recognise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Standard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Speed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Medium</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Distance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100BASE-TX</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Mbps</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Cat 5 UTP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1000BASE-T</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Cat 5e UTP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10GBASE-T</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Cat 6a UTP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1000BASE-SX</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Multimode fiber</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~550 m</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1000BASE-LX</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Single-mode fiber</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5-10 km</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10GBASE-SR / LR</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MMF / SMF</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400 m / 10 km</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Read the name: speed, BASE (baseband), then media hint — T twisted pair, S short fiber, L long fiber.</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1.5 · ETHERNET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Hubs, Switches and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CSMA/CD</a:t>
            </a:r>
          </a:p>
          <a:p>
            <a:pPr algn="l">
              <a:spcAft>
                <a:spcPts val="300"/>
              </a:spcAft>
            </a:pPr>
            <a:r>
              <a:rPr sz="1200" b="0">
                <a:solidFill>
                  <a:srgbClr val="5B6372"/>
                </a:solidFill>
                <a:latin typeface="Arial"/>
              </a:rPr>
              <a:t>Hub-era rule: listen before sending, detect collisions, back off and retry.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Collision domain</a:t>
            </a:r>
          </a:p>
          <a:p>
            <a:pPr algn="l">
              <a:spcAft>
                <a:spcPts val="300"/>
              </a:spcAft>
            </a:pPr>
            <a:r>
              <a:rPr sz="1200" b="0">
                <a:solidFill>
                  <a:srgbClr val="5B6372"/>
                </a:solidFill>
                <a:latin typeface="Arial"/>
              </a:rPr>
              <a:t>Where frames can collide — an entire hub, but only a single switch port.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domain</a:t>
            </a:r>
          </a:p>
          <a:p>
            <a:pPr algn="l">
              <a:spcAft>
                <a:spcPts val="300"/>
              </a:spcAft>
            </a:pPr>
            <a:r>
              <a:rPr sz="1200" b="0">
                <a:solidFill>
                  <a:srgbClr val="5B6372"/>
                </a:solidFill>
                <a:latin typeface="Arial"/>
              </a:rPr>
              <a:t>How far a broadcast reaches — the whole LAN/VLAN, bounded only by routers.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MAC address table</a:t>
            </a:r>
          </a:p>
          <a:p>
            <a:pPr algn="l">
              <a:spcAft>
                <a:spcPts val="300"/>
              </a:spcAft>
            </a:pPr>
            <a:r>
              <a:rPr sz="1200" b="0">
                <a:solidFill>
                  <a:srgbClr val="5B6372"/>
                </a:solidFill>
                <a:latin typeface="Arial"/>
              </a:rPr>
              <a:t>Switches learn source MACs per port and forward frames only where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duplex</a:t>
            </a:r>
          </a:p>
          <a:p>
            <a:pPr algn="l">
              <a:spcAft>
                <a:spcPts val="300"/>
              </a:spcAft>
            </a:pPr>
            <a:r>
              <a:rPr sz="1200" b="0">
                <a:solidFill>
                  <a:srgbClr val="5B6372"/>
                </a:solidFill>
                <a:latin typeface="Arial"/>
              </a:rPr>
              <a:t>Switched ports send and receive simultaneously — collisions disappear.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a:t>
            </a:r>
          </a:p>
          <a:p>
            <a:pPr algn="l">
              <a:spcAft>
                <a:spcPts val="300"/>
              </a:spcAft>
            </a:pPr>
            <a:r>
              <a:rPr sz="1200" b="0">
                <a:solidFill>
                  <a:srgbClr val="5B6372"/>
                </a:solidFill>
                <a:latin typeface="Arial"/>
              </a:rPr>
              <a:t>Spanning Tree Protocol blocks redundant links so switching loops cannot melt the 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Ratings and Fire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Plenum (CMP)</a:t>
            </a:r>
          </a:p>
          <a:p>
            <a:pPr algn="l">
              <a:spcAft>
                <a:spcPts val="300"/>
              </a:spcAft>
            </a:pPr>
            <a:r>
              <a:rPr sz="1200" b="0">
                <a:solidFill>
                  <a:srgbClr val="5B6372"/>
                </a:solidFill>
                <a:latin typeface="Arial"/>
              </a:rPr>
              <a:t>Fire-retardant, low-smoke jacket — required in air-handling spaces above ceilings.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Riser (CMR)</a:t>
            </a:r>
          </a:p>
          <a:p>
            <a:pPr algn="l">
              <a:spcAft>
                <a:spcPts val="300"/>
              </a:spcAft>
            </a:pPr>
            <a:r>
              <a:rPr sz="1200" b="0">
                <a:solidFill>
                  <a:srgbClr val="5B6372"/>
                </a:solidFill>
                <a:latin typeface="Arial"/>
              </a:rPr>
              <a:t>Rated for vertical runs between floors — flame-resistant but not plenum-grade.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PVC / non-plenum</a:t>
            </a:r>
          </a:p>
          <a:p>
            <a:pPr algn="l">
              <a:spcAft>
                <a:spcPts val="300"/>
              </a:spcAft>
            </a:pPr>
            <a:r>
              <a:rPr sz="1200" b="0">
                <a:solidFill>
                  <a:srgbClr val="5B6372"/>
                </a:solidFill>
                <a:latin typeface="Arial"/>
              </a:rPr>
              <a:t>General patching only — burns readily and emits toxic smoke.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Check the box</a:t>
            </a:r>
          </a:p>
          <a:p>
            <a:pPr algn="l">
              <a:spcAft>
                <a:spcPts val="300"/>
              </a:spcAft>
            </a:pPr>
            <a:r>
              <a:rPr sz="1200" b="0">
                <a:solidFill>
                  <a:srgbClr val="5B6372"/>
                </a:solidFill>
                <a:latin typeface="Arial"/>
              </a:rPr>
              <a:t>Fire rating is printed on the manufacturer's box and cable jacket — inspectors will.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STRUCTURED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Structured Cabling 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MDF</a:t>
            </a:r>
          </a:p>
          <a:p>
            <a:pPr algn="l">
              <a:spcAft>
                <a:spcPts val="300"/>
              </a:spcAft>
            </a:pPr>
            <a:r>
              <a:rPr sz="1200" b="0">
                <a:solidFill>
                  <a:srgbClr val="5B6372"/>
                </a:solidFill>
                <a:latin typeface="Arial"/>
              </a:rPr>
              <a:t>Main distribution frame — the primary equipment room where the backbone terminates.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IDF</a:t>
            </a:r>
          </a:p>
          <a:p>
            <a:pPr algn="l">
              <a:spcAft>
                <a:spcPts val="300"/>
              </a:spcAft>
            </a:pPr>
            <a:r>
              <a:rPr sz="1200" b="0">
                <a:solidFill>
                  <a:srgbClr val="5B6372"/>
                </a:solidFill>
                <a:latin typeface="Arial"/>
              </a:rPr>
              <a:t>Intermediate frames per floor/zone, uplinked back to the MDF.</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Demarc</a:t>
            </a:r>
          </a:p>
          <a:p>
            <a:pPr algn="l">
              <a:spcAft>
                <a:spcPts val="300"/>
              </a:spcAft>
            </a:pPr>
            <a:r>
              <a:rPr sz="1200" b="0">
                <a:solidFill>
                  <a:srgbClr val="5B6372"/>
                </a:solidFill>
                <a:latin typeface="Arial"/>
              </a:rPr>
              <a:t>Where the provider's responsibility ends and yours begins.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Horizontal run</a:t>
            </a:r>
          </a:p>
          <a:p>
            <a:pPr algn="l">
              <a:spcAft>
                <a:spcPts val="300"/>
              </a:spcAft>
            </a:pPr>
            <a:r>
              <a:rPr sz="1200" b="0">
                <a:solidFill>
                  <a:srgbClr val="5B6372"/>
                </a:solidFill>
                <a:latin typeface="Arial"/>
              </a:rPr>
              <a:t>Solid-core cable from the IDF patch panel to each work-area wall outlet.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 panel</a:t>
            </a:r>
          </a:p>
          <a:p>
            <a:pPr algn="l">
              <a:spcAft>
                <a:spcPts val="300"/>
              </a:spcAft>
            </a:pPr>
            <a:r>
              <a:rPr sz="1200" b="0">
                <a:solidFill>
                  <a:srgbClr val="5B6372"/>
                </a:solidFill>
                <a:latin typeface="Arial"/>
              </a:rPr>
              <a:t>110-punchdown terminations for runs; patch cables jump to switch ports.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Racks and U</a:t>
            </a:r>
          </a:p>
          <a:p>
            <a:pPr algn="l">
              <a:spcAft>
                <a:spcPts val="300"/>
              </a:spcAft>
            </a:pPr>
            <a:r>
              <a:rPr sz="1200" b="0">
                <a:solidFill>
                  <a:srgbClr val="5B6372"/>
                </a:solidFill>
                <a:latin typeface="Arial"/>
              </a:rPr>
              <a:t>Equipment racks are 19 inches wide; height is measured in 1.75-inch units (U).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Testing and Locating Cable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Wiremap tester</a:t>
            </a:r>
          </a:p>
          <a:p>
            <a:pPr algn="l">
              <a:spcAft>
                <a:spcPts val="300"/>
              </a:spcAft>
            </a:pPr>
            <a:r>
              <a:rPr sz="1200" b="0">
                <a:solidFill>
                  <a:srgbClr val="5B6372"/>
                </a:solidFill>
                <a:latin typeface="Arial"/>
              </a:rPr>
              <a:t>Verifies each pin lands on the right pin — catches opens, shorts and split pairs.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TDR / OTDR</a:t>
            </a:r>
          </a:p>
          <a:p>
            <a:pPr algn="l">
              <a:spcAft>
                <a:spcPts val="300"/>
              </a:spcAft>
            </a:pPr>
            <a:r>
              <a:rPr sz="1200" b="0">
                <a:solidFill>
                  <a:srgbClr val="5B6372"/>
                </a:solidFill>
                <a:latin typeface="Arial"/>
              </a:rPr>
              <a:t>Time-domain reflectometers measure length and locate mid-cable breaks (optical for fiber).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Toner and probe</a:t>
            </a:r>
          </a:p>
          <a:p>
            <a:pPr algn="l">
              <a:spcAft>
                <a:spcPts val="300"/>
              </a:spcAft>
            </a:pPr>
            <a:r>
              <a:rPr sz="1200" b="0">
                <a:solidFill>
                  <a:srgbClr val="5B6372"/>
                </a:solidFill>
                <a:latin typeface="Arial"/>
              </a:rPr>
              <a:t>The 'fox and hound' — a tone generator plus probe finds one cable in a bundle.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plug</a:t>
            </a:r>
          </a:p>
          <a:p>
            <a:pPr algn="l">
              <a:spcAft>
                <a:spcPts val="300"/>
              </a:spcAft>
            </a:pPr>
            <a:r>
              <a:rPr sz="1200" b="0">
                <a:solidFill>
                  <a:srgbClr val="5B6372"/>
                </a:solidFill>
                <a:latin typeface="Arial"/>
              </a:rPr>
              <a:t>Tests a NIC's ability to send and receive to itself.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Crosstalk metrics</a:t>
            </a:r>
          </a:p>
          <a:p>
            <a:pPr algn="l">
              <a:spcAft>
                <a:spcPts val="300"/>
              </a:spcAft>
            </a:pPr>
            <a:r>
              <a:rPr sz="1200" b="0">
                <a:solidFill>
                  <a:srgbClr val="5B6372"/>
                </a:solidFill>
                <a:latin typeface="Arial"/>
              </a:rPr>
              <a:t>NEXT/FEXT measurements catch poor terminations that whisper between pairs.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Attenuation</a:t>
            </a:r>
          </a:p>
          <a:p>
            <a:pPr algn="l">
              <a:spcAft>
                <a:spcPts val="300"/>
              </a:spcAft>
            </a:pPr>
            <a:r>
              <a:rPr sz="1200" b="0">
                <a:solidFill>
                  <a:srgbClr val="5B6372"/>
                </a:solidFill>
                <a:latin typeface="Arial"/>
              </a:rPr>
              <a:t>Signal loss over distance — why category ratings carry a length limit.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1.5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Media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802.11 Wi-Fi</a:t>
            </a:r>
          </a:p>
          <a:p>
            <a:pPr algn="l">
              <a:spcAft>
                <a:spcPts val="300"/>
              </a:spcAft>
            </a:pPr>
            <a:r>
              <a:rPr sz="1200" b="0">
                <a:solidFill>
                  <a:srgbClr val="5B6372"/>
                </a:solidFill>
                <a:latin typeface="Arial"/>
              </a:rPr>
              <a:t>Unlicensed 2.4/5/6 GHz radio LANs, defined by the IEEE 802.11 family.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Cellular</a:t>
            </a:r>
          </a:p>
          <a:p>
            <a:pPr algn="l">
              <a:spcAft>
                <a:spcPts val="300"/>
              </a:spcAft>
            </a:pPr>
            <a:r>
              <a:rPr sz="1200" b="0">
                <a:solidFill>
                  <a:srgbClr val="5B6372"/>
                </a:solidFill>
                <a:latin typeface="Arial"/>
              </a:rPr>
              <a:t>Carrier-licensed 4G/5G — WAN links for mobile users, IoT and branch backup.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Satellite</a:t>
            </a:r>
          </a:p>
          <a:p>
            <a:pPr algn="l">
              <a:spcAft>
                <a:spcPts val="300"/>
              </a:spcAft>
            </a:pPr>
            <a:r>
              <a:rPr sz="1200" b="0">
                <a:solidFill>
                  <a:srgbClr val="5B6372"/>
                </a:solidFill>
                <a:latin typeface="Arial"/>
              </a:rPr>
              <a:t>Coverage anywhere with sky view; GEO adds ~600 ms latency, LEO constellations far less.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trade</a:t>
            </a:r>
          </a:p>
          <a:p>
            <a:pPr algn="l">
              <a:spcAft>
                <a:spcPts val="300"/>
              </a:spcAft>
            </a:pPr>
            <a:r>
              <a:rPr sz="1200" b="0">
                <a:solidFill>
                  <a:srgbClr val="5B6372"/>
                </a:solidFill>
                <a:latin typeface="Arial"/>
              </a:rPr>
              <a:t>Wireless wins on mobility and reach — traded against interference and shared airtime.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TRANSCEIVERS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Transceiver Form Factors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Form factor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Speed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SFP</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Hot-swappable; fiber or RJ45</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SFP+</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Same cage as SFP</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QSFP</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4 x 1 G / 40 G</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Four lanes in one module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QSFP+ / QSFP28</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40 G / 100 G</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Spine and uplink ports</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Multi-source agreements (MSAs) keep modules interoperable across vendors — GBIC was the ancestor.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1.5 · CONNECTORS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Connectors to Recognise on 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LC</a:t>
            </a:r>
          </a:p>
          <a:p>
            <a:pPr algn="l">
              <a:spcAft>
                <a:spcPts val="300"/>
              </a:spcAft>
            </a:pPr>
            <a:r>
              <a:rPr sz="1200" b="0">
                <a:solidFill>
                  <a:srgbClr val="5B6372"/>
                </a:solidFill>
                <a:latin typeface="Arial"/>
              </a:rPr>
              <a:t>Small square duplex fiber connector — the default on SFP modules.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t>
            </a:r>
          </a:p>
          <a:p>
            <a:pPr algn="l">
              <a:spcAft>
                <a:spcPts val="300"/>
              </a:spcAft>
            </a:pPr>
            <a:r>
              <a:rPr sz="1200" b="0">
                <a:solidFill>
                  <a:srgbClr val="5B6372"/>
                </a:solidFill>
                <a:latin typeface="Arial"/>
              </a:rPr>
              <a:t>Larger square push-pull fiber connector — 'stick and click'.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
            </a:r>
          </a:p>
          <a:p>
            <a:pPr algn="l">
              <a:spcAft>
                <a:spcPts val="300"/>
              </a:spcAft>
            </a:pPr>
            <a:r>
              <a:rPr sz="1200" b="0">
                <a:solidFill>
                  <a:srgbClr val="5B6372"/>
                </a:solidFill>
                <a:latin typeface="Arial"/>
              </a:rPr>
              <a:t>Round bayonet-twist fiber connector on legacy multimode plants.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MPO / MTP</a:t>
            </a:r>
          </a:p>
          <a:p>
            <a:pPr algn="l">
              <a:spcAft>
                <a:spcPts val="300"/>
              </a:spcAft>
            </a:pPr>
            <a:r>
              <a:rPr sz="1200" b="0">
                <a:solidFill>
                  <a:srgbClr val="5B6372"/>
                </a:solidFill>
                <a:latin typeface="Arial"/>
              </a:rPr>
              <a:t>Multi-fiber ribbon connector feeding 40/100G parallel optics.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RJ45 and RJ11</a:t>
            </a:r>
          </a:p>
          <a:p>
            <a:pPr algn="l">
              <a:spcAft>
                <a:spcPts val="300"/>
              </a:spcAft>
            </a:pPr>
            <a:r>
              <a:rPr sz="1200" b="0">
                <a:solidFill>
                  <a:srgbClr val="5B6372"/>
                </a:solidFill>
                <a:latin typeface="Arial"/>
              </a:rPr>
              <a:t>8-pin Ethernet jack vs the smaller 4/6-pin telephone jack.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F-type and BNC</a:t>
            </a:r>
          </a:p>
          <a:p>
            <a:pPr algn="l">
              <a:spcAft>
                <a:spcPts val="300"/>
              </a:spcAft>
            </a:pPr>
            <a:r>
              <a:rPr sz="1200" b="0">
                <a:solidFill>
                  <a:srgbClr val="5B6372"/>
                </a:solidFill>
                <a:latin typeface="Arial"/>
              </a:rPr>
              <a:t>Threaded and bayonet coax connectors for broadband and lab gear.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TOPOLOGIES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Topologies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 / hub-and-spoke</a:t>
            </a:r>
          </a:p>
          <a:p>
            <a:pPr algn="l">
              <a:spcAft>
                <a:spcPts val="300"/>
              </a:spcAft>
            </a:pPr>
            <a:r>
              <a:rPr sz="1200" b="0">
                <a:solidFill>
                  <a:srgbClr val="5B6372"/>
                </a:solidFill>
                <a:latin typeface="Arial"/>
              </a:rPr>
              <a:t>All nodes home to a central device — today's standard LAN; the center is the failure point.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mesh</a:t>
            </a:r>
          </a:p>
          <a:p>
            <a:pPr algn="l">
              <a:spcAft>
                <a:spcPts val="300"/>
              </a:spcAft>
            </a:pPr>
            <a:r>
              <a:rPr sz="1200" b="0">
                <a:solidFill>
                  <a:srgbClr val="5B6372"/>
                </a:solidFill>
                <a:latin typeface="Arial"/>
              </a:rPr>
              <a:t>Every node links to every other: n(n-1)/2 links — maximum resilience, maximum cost.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Partial mesh / hybrid</a:t>
            </a:r>
          </a:p>
          <a:p>
            <a:pPr algn="l">
              <a:spcAft>
                <a:spcPts val="300"/>
              </a:spcAft>
            </a:pPr>
            <a:r>
              <a:rPr sz="1200" b="0">
                <a:solidFill>
                  <a:srgbClr val="5B6372"/>
                </a:solidFill>
                <a:latin typeface="Arial"/>
              </a:rPr>
              <a:t>Key sites meshed, others single-homed — the practical WAN compromise.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Point-to-point</a:t>
            </a:r>
          </a:p>
          <a:p>
            <a:pPr algn="l">
              <a:spcAft>
                <a:spcPts val="300"/>
              </a:spcAft>
            </a:pPr>
            <a:r>
              <a:rPr sz="1200" b="0">
                <a:solidFill>
                  <a:srgbClr val="5B6372"/>
                </a:solidFill>
                <a:latin typeface="Arial"/>
              </a:rPr>
              <a:t>One dedicated link between two endpoints — leased lines and wireless bridges.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 and ring (legacy)</a:t>
            </a:r>
          </a:p>
          <a:p>
            <a:pPr algn="l">
              <a:spcAft>
                <a:spcPts val="300"/>
              </a:spcAft>
            </a:pPr>
            <a:r>
              <a:rPr sz="1200" b="0">
                <a:solidFill>
                  <a:srgbClr val="5B6372"/>
                </a:solidFill>
                <a:latin typeface="Arial"/>
              </a:rPr>
              <a:t>Shared coax and token passing — obsolete, but the exam expects recognition.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vs logical</a:t>
            </a:r>
          </a:p>
          <a:p>
            <a:pPr algn="l">
              <a:spcAft>
                <a:spcPts val="300"/>
              </a:spcAft>
            </a:pPr>
            <a:r>
              <a:rPr sz="1200" b="0">
                <a:solidFill>
                  <a:srgbClr val="5B6372"/>
                </a:solidFill>
                <a:latin typeface="Arial"/>
              </a:rPr>
              <a:t>The cabling layout and the data flow can differ — describe both when documenting.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TOPOLOGIES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a Topology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Topology</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Resilience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Cost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Best fit</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Star</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 (center fails)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Access LANs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Full mesh</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Highest</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Highest</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Small WAN cores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Partial mesh</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Medium</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Regional WANs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Hub-and-spoke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Branch-to-HQ, SD-WAN</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Point-to-point</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Per-link</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Site interconnects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Count the links before you promise resilience — every extra path is money and management.</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ARCHITECTURES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Three-Tier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Core</a:t>
            </a:r>
          </a:p>
        </p:txBody>
      </p:sp>
      <p:sp>
        <p:nvSpPr>
          <p:cNvPr id="12" name="TextBox 11"/>
          <p:cNvSpPr txBox="1"/>
          <p:nvPr/>
        </p:nvSpPr>
        <p:spPr>
          <a:xfrm>
            <a:off x="86868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fast, resilient L3</a:t>
            </a:r>
          </a:p>
        </p:txBody>
      </p:sp>
      <p:cxnSp>
        <p:nvCxnSpPr>
          <p:cNvPr id="13" name="Connector 12"/>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Distribution</a:t>
            </a:r>
          </a:p>
        </p:txBody>
      </p:sp>
      <p:sp>
        <p:nvSpPr>
          <p:cNvPr id="19" name="TextBox 18"/>
          <p:cNvSpPr txBox="1"/>
          <p:nvPr/>
        </p:nvSpPr>
        <p:spPr>
          <a:xfrm>
            <a:off x="454152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policy + routing</a:t>
            </a:r>
          </a:p>
        </p:txBody>
      </p:sp>
      <p:cxnSp>
        <p:nvCxnSpPr>
          <p:cNvPr id="20" name="Connector 19"/>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Access</a:t>
            </a:r>
          </a:p>
        </p:txBody>
      </p:sp>
      <p:sp>
        <p:nvSpPr>
          <p:cNvPr id="26" name="TextBox 25"/>
          <p:cNvSpPr txBox="1"/>
          <p:nvPr/>
        </p:nvSpPr>
        <p:spPr>
          <a:xfrm>
            <a:off x="821436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user &amp; server ports</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Each tier has one job: access connects hosts, distribution applies policy, core moves packets fast. Collapsed core merges the top two for smaller sites.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ARCHITECTURES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Spine-and-Leaf vs Three-Tier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Three-tier (classic)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Spine-and-leaf (modern DC)</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Optimised for north-south client traffic</a:t>
            </a:r>
          </a:p>
          <a:p>
            <a:pPr>
              <a:spcAft>
                <a:spcPts val="1000"/>
              </a:spcAft>
            </a:pPr>
            <a:r>
              <a:rPr sz="1600" b="0">
                <a:solidFill>
                  <a:srgbClr val="161B26"/>
                </a:solidFill>
                <a:latin typeface="Arial"/>
              </a:rPr>
              <a:t>•  Hosts can be several hops apart</a:t>
            </a:r>
          </a:p>
          <a:p>
            <a:pPr>
              <a:spcAft>
                <a:spcPts val="1000"/>
              </a:spcAft>
            </a:pPr>
            <a:r>
              <a:rPr sz="1600" b="0">
                <a:solidFill>
                  <a:srgbClr val="161B26"/>
                </a:solidFill>
                <a:latin typeface="Arial"/>
              </a:rPr>
              <a:t>•  STP blocks redundant links</a:t>
            </a:r>
          </a:p>
          <a:p>
            <a:pPr>
              <a:spcAft>
                <a:spcPts val="1000"/>
              </a:spcAft>
            </a:pPr>
            <a:r>
              <a:rPr sz="1600" b="0">
                <a:solidFill>
                  <a:srgbClr val="161B26"/>
                </a:solidFill>
                <a:latin typeface="Arial"/>
              </a:rPr>
              <a:t>•  Scale up: buy bigger core boxes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Optimised for east-west server traffic</a:t>
            </a:r>
          </a:p>
          <a:p>
            <a:pPr>
              <a:spcAft>
                <a:spcPts val="1000"/>
              </a:spcAft>
            </a:pPr>
            <a:r>
              <a:rPr sz="1600" b="0">
                <a:solidFill>
                  <a:srgbClr val="161B26"/>
                </a:solidFill>
                <a:latin typeface="Arial"/>
              </a:rPr>
              <a:t>•  Any leaf is two hops from any leaf</a:t>
            </a:r>
          </a:p>
          <a:p>
            <a:pPr>
              <a:spcAft>
                <a:spcPts val="1000"/>
              </a:spcAft>
            </a:pPr>
            <a:r>
              <a:rPr sz="1600" b="0">
                <a:solidFill>
                  <a:srgbClr val="161B26"/>
                </a:solidFill>
                <a:latin typeface="Arial"/>
              </a:rPr>
              <a:t>•  All links active with ECMP routing</a:t>
            </a:r>
          </a:p>
          <a:p>
            <a:pPr>
              <a:spcAft>
                <a:spcPts val="1000"/>
              </a:spcAft>
            </a:pPr>
            <a:r>
              <a:rPr sz="1600" b="0">
                <a:solidFill>
                  <a:srgbClr val="161B26"/>
                </a:solidFill>
                <a:latin typeface="Arial"/>
              </a:rPr>
              <a:t>•  Scale out: add spines and leaves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1.6 · NETWORK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Traffic Flows and Network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North-south</a:t>
            </a:r>
          </a:p>
          <a:p>
            <a:pPr algn="l">
              <a:spcAft>
                <a:spcPts val="300"/>
              </a:spcAft>
            </a:pPr>
            <a:r>
              <a:rPr sz="1200" b="0">
                <a:solidFill>
                  <a:srgbClr val="5B6372"/>
                </a:solidFill>
                <a:latin typeface="Arial"/>
              </a:rPr>
              <a:t>Traffic entering or leaving the data center — client to server.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East-west</a:t>
            </a:r>
          </a:p>
          <a:p>
            <a:pPr algn="l">
              <a:spcAft>
                <a:spcPts val="300"/>
              </a:spcAft>
            </a:pPr>
            <a:r>
              <a:rPr sz="1200" b="0">
                <a:solidFill>
                  <a:srgbClr val="5B6372"/>
                </a:solidFill>
                <a:latin typeface="Arial"/>
              </a:rPr>
              <a:t>Server-to-server traffic inside the DC — dominant since virtualization and microservices.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LAN / WLAN</a:t>
            </a:r>
          </a:p>
          <a:p>
            <a:pPr algn="l">
              <a:spcAft>
                <a:spcPts val="300"/>
              </a:spcAft>
            </a:pPr>
            <a:r>
              <a:rPr sz="1200" b="0">
                <a:solidFill>
                  <a:srgbClr val="5B6372"/>
                </a:solidFill>
                <a:latin typeface="Arial"/>
              </a:rPr>
              <a:t>A single site's wired or wireless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WAN</a:t>
            </a:r>
          </a:p>
          <a:p>
            <a:pPr algn="l">
              <a:spcAft>
                <a:spcPts val="300"/>
              </a:spcAft>
            </a:pPr>
            <a:r>
              <a:rPr sz="1200" b="0">
                <a:solidFill>
                  <a:srgbClr val="5B6372"/>
                </a:solidFill>
                <a:latin typeface="Arial"/>
              </a:rPr>
              <a:t>Links sites across geography — the Internet is the biggest WAN of all.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CAN / MAN</a:t>
            </a:r>
          </a:p>
          <a:p>
            <a:pPr algn="l">
              <a:spcAft>
                <a:spcPts val="300"/>
              </a:spcAft>
            </a:pPr>
            <a:r>
              <a:rPr sz="1200" b="0">
                <a:solidFill>
                  <a:srgbClr val="5B6372"/>
                </a:solidFill>
                <a:latin typeface="Arial"/>
              </a:rPr>
              <a:t>Campus and metropolitan scale sit between LAN and WAN.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PAN</a:t>
            </a:r>
          </a:p>
          <a:p>
            <a:pPr algn="l">
              <a:spcAft>
                <a:spcPts val="300"/>
              </a:spcAft>
            </a:pPr>
            <a:r>
              <a:rPr sz="1200" b="0">
                <a:solidFill>
                  <a:srgbClr val="5B6372"/>
                </a:solidFill>
                <a:latin typeface="Arial"/>
              </a:rPr>
              <a:t>Personal-area links: Bluetooth, USB tethering, wearables.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1.6 · NETWORK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Special-Purpose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IoT devices</a:t>
            </a:r>
          </a:p>
          <a:p>
            <a:pPr algn="l">
              <a:spcAft>
                <a:spcPts val="300"/>
              </a:spcAft>
            </a:pPr>
            <a:r>
              <a:rPr sz="1200" b="0">
                <a:solidFill>
                  <a:srgbClr val="5B6372"/>
                </a:solidFill>
                <a:latin typeface="Arial"/>
              </a:rPr>
              <a:t>Sensors, cameras, controllers — isolate on their own SSID/VLAN with ACLs; patch firmware.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VoIP / UC</a:t>
            </a:r>
          </a:p>
          <a:p>
            <a:pPr algn="l">
              <a:spcAft>
                <a:spcPts val="300"/>
              </a:spcAft>
            </a:pPr>
            <a:r>
              <a:rPr sz="1200" b="0">
                <a:solidFill>
                  <a:srgbClr val="5B6372"/>
                </a:solidFill>
                <a:latin typeface="Arial"/>
              </a:rPr>
              <a:t>Voice, video and chat over IP: SIP signalling on 5060/5061, RTP media streams.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ICS / SCADA</a:t>
            </a:r>
          </a:p>
          <a:p>
            <a:pPr algn="l">
              <a:spcAft>
                <a:spcPts val="300"/>
              </a:spcAft>
            </a:pPr>
            <a:r>
              <a:rPr sz="1200" b="0">
                <a:solidFill>
                  <a:srgbClr val="5B6372"/>
                </a:solidFill>
                <a:latin typeface="Arial"/>
              </a:rPr>
              <a:t>Industrial control: PLCs, HMIs and RTUs supervised over wide areas — segment strictly from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Storage networks</a:t>
            </a:r>
          </a:p>
          <a:p>
            <a:pPr algn="l">
              <a:spcAft>
                <a:spcPts val="300"/>
              </a:spcAft>
            </a:pPr>
            <a:r>
              <a:rPr sz="1200" b="0">
                <a:solidFill>
                  <a:srgbClr val="5B6372"/>
                </a:solidFill>
                <a:latin typeface="Arial"/>
              </a:rPr>
              <a:t>NAS/SAN traffic often rides its own network for performance and isolation.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1.7 · IPv4 ADDRESSING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IP addressing is the most-rewarded skill on the exam.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router, firewall rule and cloud VPC starts with correct CIDR math — this section builds it from binary upward.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Address Anatomy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32 bits, four octets</a:t>
            </a:r>
          </a:p>
          <a:p>
            <a:pPr algn="l">
              <a:spcAft>
                <a:spcPts val="300"/>
              </a:spcAft>
            </a:pPr>
            <a:r>
              <a:rPr sz="1200" b="0">
                <a:solidFill>
                  <a:srgbClr val="5B6372"/>
                </a:solidFill>
                <a:latin typeface="Arial"/>
              </a:rPr>
              <a:t>Dotted decimal such as 192.168.4.12 — each octet ranges 0-255.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 host portions</a:t>
            </a:r>
          </a:p>
          <a:p>
            <a:pPr algn="l">
              <a:spcAft>
                <a:spcPts val="300"/>
              </a:spcAft>
            </a:pPr>
            <a:r>
              <a:rPr sz="1200" b="0">
                <a:solidFill>
                  <a:srgbClr val="5B6372"/>
                </a:solidFill>
                <a:latin typeface="Arial"/>
              </a:rPr>
              <a:t>The subnet mask draws the boundary line between the two.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Binary underneath</a:t>
            </a:r>
          </a:p>
          <a:p>
            <a:pPr algn="l">
              <a:spcAft>
                <a:spcPts val="300"/>
              </a:spcAft>
            </a:pPr>
            <a:r>
              <a:rPr sz="1200" b="0">
                <a:solidFill>
                  <a:srgbClr val="5B6372"/>
                </a:solidFill>
                <a:latin typeface="Arial"/>
              </a:rPr>
              <a:t>192 is 11000000 — subnetting is just moving the 1s/0s boundary rightward.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Subnet mask</a:t>
            </a:r>
          </a:p>
          <a:p>
            <a:pPr algn="l">
              <a:spcAft>
                <a:spcPts val="300"/>
              </a:spcAft>
            </a:pPr>
            <a:r>
              <a:rPr sz="1200" b="0">
                <a:solidFill>
                  <a:srgbClr val="5B6372"/>
                </a:solidFill>
                <a:latin typeface="Arial"/>
              </a:rPr>
              <a:t>All 1s on the left, all 0s on the right — 255.255.255.0 is written /24 in CIDR.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 gateway</a:t>
            </a:r>
          </a:p>
          <a:p>
            <a:pPr algn="l">
              <a:spcAft>
                <a:spcPts val="300"/>
              </a:spcAft>
            </a:pPr>
            <a:r>
              <a:rPr sz="1200" b="0">
                <a:solidFill>
                  <a:srgbClr val="5B6372"/>
                </a:solidFill>
                <a:latin typeface="Arial"/>
              </a:rPr>
              <a:t>The local router interface a host uses to reach remote networks.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Unique per network</a:t>
            </a:r>
          </a:p>
          <a:p>
            <a:pPr algn="l">
              <a:spcAft>
                <a:spcPts val="300"/>
              </a:spcAft>
            </a:pPr>
            <a:r>
              <a:rPr sz="1200" b="0">
                <a:solidFill>
                  <a:srgbClr val="5B6372"/>
                </a:solidFill>
                <a:latin typeface="Arial"/>
              </a:rPr>
              <a:t>Duplicate IPs break connectivity — usually a rogue static assignment.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Decimal to Binary, the Exam 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Each octet is 8 bits with place values 128 64 32 16 8 4 2 1.</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Place: 128  64  32  16   8   4   2   1</a:t>
            </a:r>
          </a:p>
          <a:p>
            <a:pPr>
              <a:spcAft>
                <a:spcPts val="200"/>
              </a:spcAft>
            </a:pPr>
            <a:r>
              <a:rPr sz="1100">
                <a:solidFill>
                  <a:srgbClr val="9CDCFE"/>
                </a:solidFill>
                <a:latin typeface="Consolas"/>
              </a:rPr>
              <a:t/>
            </a:r>
          </a:p>
          <a:p>
            <a:pPr>
              <a:spcAft>
                <a:spcPts val="200"/>
              </a:spcAft>
            </a:pPr>
            <a:r>
              <a:rPr sz="1100">
                <a:solidFill>
                  <a:srgbClr val="9CDCFE"/>
                </a:solidFill>
                <a:latin typeface="Consolas"/>
              </a:rPr>
              <a:t>171 -&gt; 128? yes (43 left)   64? no</a:t>
            </a:r>
          </a:p>
          <a:p>
            <a:pPr>
              <a:spcAft>
                <a:spcPts val="200"/>
              </a:spcAft>
            </a:pPr>
            <a:r>
              <a:rPr sz="1100">
                <a:solidFill>
                  <a:srgbClr val="9CDCFE"/>
                </a:solidFill>
                <a:latin typeface="Consolas"/>
              </a:rPr>
              <a:t>        32? yes (11 left)   16? no</a:t>
            </a:r>
          </a:p>
          <a:p>
            <a:pPr>
              <a:spcAft>
                <a:spcPts val="200"/>
              </a:spcAft>
            </a:pPr>
            <a:r>
              <a:rPr sz="1100">
                <a:solidFill>
                  <a:srgbClr val="9CDCFE"/>
                </a:solidFill>
                <a:latin typeface="Consolas"/>
              </a:rPr>
              <a:t>         8? yes (3 left)     4? no</a:t>
            </a:r>
          </a:p>
          <a:p>
            <a:pPr>
              <a:spcAft>
                <a:spcPts val="200"/>
              </a:spcAft>
            </a:pPr>
            <a:r>
              <a:rPr sz="1100">
                <a:solidFill>
                  <a:srgbClr val="9CDCFE"/>
                </a:solidFill>
                <a:latin typeface="Consolas"/>
              </a:rPr>
              <a:t>         2? yes              1? yes</a:t>
            </a:r>
          </a:p>
          <a:p>
            <a:pPr>
              <a:spcAft>
                <a:spcPts val="200"/>
              </a:spcAft>
            </a:pPr>
            <a:r>
              <a:rPr sz="1100">
                <a:solidFill>
                  <a:srgbClr val="D4D4D4"/>
                </a:solidFill>
                <a:latin typeface="Consolas"/>
              </a:rPr>
              <a:t>171  =  1 0 1 0 1 0 1 1</a:t>
            </a:r>
          </a:p>
          <a:p>
            <a:pPr>
              <a:spcAft>
                <a:spcPts val="200"/>
              </a:spcAft>
            </a:pPr>
            <a:r>
              <a:rPr sz="1100">
                <a:solidFill>
                  <a:srgbClr val="9CDCFE"/>
                </a:solidFill>
                <a:latin typeface="Consolas"/>
              </a:rPr>
              <a:t/>
            </a:r>
          </a:p>
          <a:p>
            <a:pPr>
              <a:spcAft>
                <a:spcPts val="200"/>
              </a:spcAft>
            </a:pPr>
            <a:r>
              <a:rPr sz="1100">
                <a:solidFill>
                  <a:srgbClr val="D4D4D4"/>
                </a:solidFill>
                <a:latin typeface="Consolas"/>
              </a:rPr>
              <a:t>224  =  11100000     95 = 01011111</a:t>
            </a:r>
          </a:p>
          <a:p>
            <a:pPr>
              <a:spcAft>
                <a:spcPts val="200"/>
              </a:spcAft>
            </a:pPr>
            <a:r>
              <a:rPr sz="1100">
                <a:solidFill>
                  <a:srgbClr val="D4D4D4"/>
                </a:solidFill>
                <a:latin typeface="Consolas"/>
              </a:rPr>
              <a:t>255  =  11111111      0 = 00000000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Method</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Subtract the largest place value that fits and write 1; write 0 where it does not fit.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Check</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place values you marked with 1 must sum back to the original number.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Why bother</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Masks and CIDR boundaries only make sense at the bit level — this is the foundation.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Classful Addressing (Historical)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Class</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First octet</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Default mask</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Purpose</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1-126</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/8 (255.0.0.0)</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Huge networks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128-191</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/16 (255.255.0.0)</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Medium networks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192-223</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/24 (255.255.255.0)</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Small networks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224-239</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Multicast</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240-255</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Experimental</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5B6372"/>
                </a:solidFill>
                <a:latin typeface="Arial"/>
              </a:rPr>
              <a:t>WHEN IT MATTERS  </a:t>
            </a:r>
            <a:r>
              <a:rPr sz="1200" b="0">
                <a:solidFill>
                  <a:srgbClr val="161B26"/>
                </a:solidFill>
                <a:latin typeface="Arial"/>
              </a:rPr>
              <a:t>127.x.x.x is reserved for loopback. CIDR replaced classes in 1993, but the exam still tests them.</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RFC 1918 Private Ranges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CIDR block</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Range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Addresses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10.0.0.0/8</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10.0.0.0 - 10.255.255.255</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16.7 M</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Enterprises, clouds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172.16.0.0/12</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172.16.0.0 - 172.31.255.255</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 M</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Mid-size nets, VPCs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192.168.0.0/16</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192.168.0.0 - 192.168.255.255</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65,536</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Home and SOHO</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Private addresses never route on the Internet — NAT translates them at the edge.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Special IPv4 Addresses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127.0.0.1</a:t>
            </a:r>
          </a:p>
          <a:p>
            <a:pPr algn="l">
              <a:spcAft>
                <a:spcPts val="300"/>
              </a:spcAft>
            </a:pPr>
            <a:r>
              <a:rPr sz="1200" b="0">
                <a:solidFill>
                  <a:srgbClr val="5B6372"/>
                </a:solidFill>
                <a:latin typeface="Arial"/>
              </a:rPr>
              <a:t>IPv4 loopback — the host talking to itself; IPv6 uses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169.254.x.x (APIPA)</a:t>
            </a:r>
          </a:p>
          <a:p>
            <a:pPr algn="l">
              <a:spcAft>
                <a:spcPts val="300"/>
              </a:spcAft>
            </a:pPr>
            <a:r>
              <a:rPr sz="1200" b="0">
                <a:solidFill>
                  <a:srgbClr val="5B6372"/>
                </a:solidFill>
                <a:latin typeface="Arial"/>
              </a:rPr>
              <a:t>Self-assigned when DHCP fails — a client stuck here cannot reach its DHCP server.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address</a:t>
            </a:r>
          </a:p>
          <a:p>
            <a:pPr algn="l">
              <a:spcAft>
                <a:spcPts val="300"/>
              </a:spcAft>
            </a:pPr>
            <a:r>
              <a:rPr sz="1200" b="0">
                <a:solidFill>
                  <a:srgbClr val="5B6372"/>
                </a:solidFill>
                <a:latin typeface="Arial"/>
              </a:rPr>
              <a:t>Host bits all 0 — names the subnet itself; never assignable to a host.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address</a:t>
            </a:r>
          </a:p>
          <a:p>
            <a:pPr algn="l">
              <a:spcAft>
                <a:spcPts val="300"/>
              </a:spcAft>
            </a:pPr>
            <a:r>
              <a:rPr sz="1200" b="0">
                <a:solidFill>
                  <a:srgbClr val="5B6372"/>
                </a:solidFill>
                <a:latin typeface="Arial"/>
              </a:rPr>
              <a:t>Host bits all 1 — reaches every host on the subnet.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0.0.0.0</a:t>
            </a:r>
          </a:p>
          <a:p>
            <a:pPr algn="l">
              <a:spcAft>
                <a:spcPts val="300"/>
              </a:spcAft>
            </a:pPr>
            <a:r>
              <a:rPr sz="1200" b="0">
                <a:solidFill>
                  <a:srgbClr val="5B6372"/>
                </a:solidFill>
                <a:latin typeface="Arial"/>
              </a:rPr>
              <a:t>The 'any' address — unconfigured source, or the default route 0.0.0.0/0.</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addresses</a:t>
            </a:r>
          </a:p>
          <a:p>
            <a:pPr algn="l">
              <a:spcAft>
                <a:spcPts val="300"/>
              </a:spcAft>
            </a:pPr>
            <a:r>
              <a:rPr sz="1200" b="0">
                <a:solidFill>
                  <a:srgbClr val="5B6372"/>
                </a:solidFill>
                <a:latin typeface="Arial"/>
              </a:rPr>
              <a:t>Everything routable outside private/reserved space — allocated through RIRs.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NAT Hides Private Addresses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Host 192.168.1.10 sends toward 8.8.8.8</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Edge router swaps source to its public IP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Translation recorded in the NAT table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Reply arrives at the public address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Router maps it back to the private host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ARP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Gluing Layer 3 to Layer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A host knows the destination IP, but the frame it builds needs a destination MAC.</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ARP request</a:t>
            </a:r>
          </a:p>
          <a:p>
            <a:pPr algn="l">
              <a:spcAft>
                <a:spcPts val="300"/>
              </a:spcAft>
            </a:pPr>
            <a:r>
              <a:rPr sz="1200" b="0">
                <a:solidFill>
                  <a:srgbClr val="5B6372"/>
                </a:solidFill>
                <a:latin typeface="Arial"/>
              </a:rPr>
              <a:t>Broadcast: 'Who has 192.168.1.1?' — every host in the broadcast domain hears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ARP reply</a:t>
            </a:r>
          </a:p>
          <a:p>
            <a:pPr algn="l">
              <a:spcAft>
                <a:spcPts val="300"/>
              </a:spcAft>
            </a:pPr>
            <a:r>
              <a:rPr sz="1200" b="0">
                <a:solidFill>
                  <a:srgbClr val="5B6372"/>
                </a:solidFill>
                <a:latin typeface="Arial"/>
              </a:rPr>
              <a:t>The owner answers unicast with its MAC; the mapping is cached for reuse.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arp -a / ip neigh</a:t>
            </a:r>
          </a:p>
          <a:p>
            <a:pPr algn="l">
              <a:spcAft>
                <a:spcPts val="300"/>
              </a:spcAft>
            </a:pPr>
            <a:r>
              <a:rPr sz="1200" b="0">
                <a:solidFill>
                  <a:srgbClr val="5B6372"/>
                </a:solidFill>
                <a:latin typeface="Arial"/>
              </a:rPr>
              <a:t>Inspect the cache — stale or poisoned entries cause 'unreachable' faults.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Local or Remote? The Mask Decides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AND your IP with the subnet mask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AND the destination with the same mask</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Results equal? The destination is local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Local: ARP for the destination's MAC</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Remote: ARP for the default gateway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SUBNETTING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CIDR: Splitting a /24 into /26s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Borrow 2 host bits: 2^2 = 4 subnets, 2^6 - 2 = 62 hosts each.</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192.168.10.0/24  -&gt;  four /26 blocks of 64</a:t>
            </a:r>
          </a:p>
          <a:p>
            <a:pPr>
              <a:spcAft>
                <a:spcPts val="200"/>
              </a:spcAft>
            </a:pPr>
            <a:r>
              <a:rPr sz="1100">
                <a:solidFill>
                  <a:srgbClr val="9CDCFE"/>
                </a:solidFill>
                <a:latin typeface="Consolas"/>
              </a:rPr>
              <a:t/>
            </a:r>
          </a:p>
          <a:p>
            <a:pPr>
              <a:spcAft>
                <a:spcPts val="200"/>
              </a:spcAft>
            </a:pPr>
            <a:r>
              <a:rPr sz="1100">
                <a:solidFill>
                  <a:srgbClr val="9CDCFE"/>
                </a:solidFill>
                <a:latin typeface="Consolas"/>
              </a:rPr>
              <a:t>Sub  Network         First  Last   Bcast</a:t>
            </a:r>
          </a:p>
          <a:p>
            <a:pPr>
              <a:spcAft>
                <a:spcPts val="200"/>
              </a:spcAft>
            </a:pPr>
            <a:r>
              <a:rPr sz="1100">
                <a:solidFill>
                  <a:srgbClr val="9CDCFE"/>
                </a:solidFill>
                <a:latin typeface="Consolas"/>
              </a:rPr>
              <a:t>1    192.168.10.0    .1     .62    .63</a:t>
            </a:r>
          </a:p>
          <a:p>
            <a:pPr>
              <a:spcAft>
                <a:spcPts val="200"/>
              </a:spcAft>
            </a:pPr>
            <a:r>
              <a:rPr sz="1100">
                <a:solidFill>
                  <a:srgbClr val="9CDCFE"/>
                </a:solidFill>
                <a:latin typeface="Consolas"/>
              </a:rPr>
              <a:t>2    192.168.10.64   .65    .126   .127</a:t>
            </a:r>
          </a:p>
          <a:p>
            <a:pPr>
              <a:spcAft>
                <a:spcPts val="200"/>
              </a:spcAft>
            </a:pPr>
            <a:r>
              <a:rPr sz="1100">
                <a:solidFill>
                  <a:srgbClr val="9CDCFE"/>
                </a:solidFill>
                <a:latin typeface="Consolas"/>
              </a:rPr>
              <a:t>3    192.168.10.128  .129   .190   .191</a:t>
            </a:r>
          </a:p>
          <a:p>
            <a:pPr>
              <a:spcAft>
                <a:spcPts val="200"/>
              </a:spcAft>
            </a:pPr>
            <a:r>
              <a:rPr sz="1100">
                <a:solidFill>
                  <a:srgbClr val="9CDCFE"/>
                </a:solidFill>
                <a:latin typeface="Consolas"/>
              </a:rPr>
              <a:t>4    192.168.10.192  .193   .254   .255</a:t>
            </a:r>
          </a:p>
          <a:p>
            <a:pPr>
              <a:spcAft>
                <a:spcPts val="200"/>
              </a:spcAft>
            </a:pPr>
            <a:r>
              <a:rPr sz="1100">
                <a:solidFill>
                  <a:srgbClr val="9CDCFE"/>
                </a:solidFill>
                <a:latin typeface="Consolas"/>
              </a:rPr>
              <a:t/>
            </a:r>
          </a:p>
          <a:p>
            <a:pPr>
              <a:spcAft>
                <a:spcPts val="200"/>
              </a:spcAft>
            </a:pPr>
            <a:r>
              <a:rPr sz="1100">
                <a:solidFill>
                  <a:srgbClr val="D4D4D4"/>
                </a:solidFill>
                <a:latin typeface="Consolas"/>
              </a:rPr>
              <a:t>Mask /26 = 255.255.255.192  (...11000000)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Block size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256 - 192 = 64, so subnets start every 64: .0, .64, .128, .192.</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Usable hosts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64 addresses minus network and broadcast leaves 62 per subnet.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Verify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TIS IP Calculator confirms every range — exactly what you do in Lab 2.</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SUBNETTING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CIDR Host Counts to Memorise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Prefix</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Mask</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Subnets from a /24</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Usable hosts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/25</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255.255.255.128</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126</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/26</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255.255.255.192</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62</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/27</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255.255.255.224</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30</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/28</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255.255.255.240</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16</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14</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/29</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255.255.255.248</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32</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/30</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255.255.255.252</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64</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 (P2P links)</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Pattern: each bit borrowed doubles the subnets and roughly halves the hosts.</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SUBNETTING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VLSM: Right-Sizing Subnets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idea</a:t>
            </a:r>
          </a:p>
          <a:p>
            <a:pPr algn="l">
              <a:spcAft>
                <a:spcPts val="300"/>
              </a:spcAft>
            </a:pPr>
            <a:r>
              <a:rPr sz="1200" b="0">
                <a:solidFill>
                  <a:srgbClr val="5B6372"/>
                </a:solidFill>
                <a:latin typeface="Arial"/>
              </a:rPr>
              <a:t>Carve one block into different-sized subnets matched to each segment's host count.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Largest first</a:t>
            </a:r>
          </a:p>
          <a:p>
            <a:pPr algn="l">
              <a:spcAft>
                <a:spcPts val="300"/>
              </a:spcAft>
            </a:pPr>
            <a:r>
              <a:rPr sz="1200" b="0">
                <a:solidFill>
                  <a:srgbClr val="5B6372"/>
                </a:solidFill>
                <a:latin typeface="Arial"/>
              </a:rPr>
              <a:t>Allocate the biggest requirement first, then continue at the next free boundary.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Worked example</a:t>
            </a:r>
          </a:p>
          <a:p>
            <a:pPr algn="l">
              <a:spcAft>
                <a:spcPts val="300"/>
              </a:spcAft>
            </a:pPr>
            <a:r>
              <a:rPr sz="1200" b="0">
                <a:solidFill>
                  <a:srgbClr val="5B6372"/>
                </a:solidFill>
                <a:latin typeface="Arial"/>
              </a:rPr>
              <a:t>From a /24: a /25 for 100 users, a /26 for 50 servers, /30s for router links.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No wasted space — critical in cloud VPCs, where the CIDR is fixed at creation.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Addressing: Classic Fault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Duplicate IP address — two hosts configured statically with the same address</a:t>
            </a:r>
          </a:p>
          <a:p>
            <a:pPr>
              <a:spcAft>
                <a:spcPts val="1000"/>
              </a:spcAft>
            </a:pPr>
            <a:r>
              <a:rPr sz="1800" b="0">
                <a:solidFill>
                  <a:srgbClr val="161B26"/>
                </a:solidFill>
                <a:latin typeface="Arial"/>
              </a:rPr>
              <a:t>•  Duplicate MAC address — usually cloned virtual machines</a:t>
            </a:r>
          </a:p>
          <a:p>
            <a:pPr>
              <a:spcAft>
                <a:spcPts val="1000"/>
              </a:spcAft>
            </a:pPr>
            <a:r>
              <a:rPr sz="1800" b="0">
                <a:solidFill>
                  <a:srgbClr val="161B26"/>
                </a:solidFill>
                <a:latin typeface="Arial"/>
              </a:rPr>
              <a:t>•  Wrong default gateway — local traffic works, remote traffic fails</a:t>
            </a:r>
          </a:p>
          <a:p>
            <a:pPr>
              <a:spcAft>
                <a:spcPts val="1000"/>
              </a:spcAft>
            </a:pPr>
            <a:r>
              <a:rPr sz="1800" b="0">
                <a:solidFill>
                  <a:srgbClr val="161B26"/>
                </a:solidFill>
                <a:latin typeface="Arial"/>
              </a:rPr>
              <a:t>•  Wrong subnet mask — 'random' unreachable hosts on the same LAN</a:t>
            </a:r>
          </a:p>
          <a:p>
            <a:pPr>
              <a:spcAft>
                <a:spcPts val="1000"/>
              </a:spcAft>
            </a:pPr>
            <a:r>
              <a:rPr sz="1800" b="0">
                <a:solidFill>
                  <a:srgbClr val="161B26"/>
                </a:solidFill>
                <a:latin typeface="Arial"/>
              </a:rPr>
              <a:t>•  APIPA 169.254.x.x — the DHCP server never answered</a:t>
            </a:r>
          </a:p>
          <a:p>
            <a:pPr>
              <a:spcAft>
                <a:spcPts val="1000"/>
              </a:spcAft>
            </a:pPr>
            <a:r>
              <a:rPr sz="1800" b="0">
                <a:solidFill>
                  <a:srgbClr val="161B26"/>
                </a:solidFill>
                <a:latin typeface="Arial"/>
              </a:rPr>
              <a:t>•  Expired or exhausted lease — check scope size and lease times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Subnetting and CIDR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Split a /24 into four /26 subnets and verify the math with the TIS IP Calculator.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the TIS IP Calculator to break 192.168.10.0/24 into four /26 subnets, record each network, host range and broadcast, then assign an address from subnet 2 to a Linux interface.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four-subnet plan and a Linux interface carrying 192.168.10.65/26 as a labelled secondary address.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TIS IP Calculator (alfredang.github.io/ipcalculator), iproute2,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calculator shows 62 usable hosts and unique network/broadcast per /26, and ip -4 addr show eth0 lists inet 192.168.10.65/26 on label eth0:1.</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TIS IP Calculator in a</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Calculate each /26 block</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26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Fill the subnet table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Assign an address from subnet 2 to</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 the address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Split a /24 into four /26 subnets and verify the math with the TIS IP Calculator.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Subnetting and CIDR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calculator shows 62 usable hosts and unique network/broadcast per /26, and ip -4 addr show eth0 lists inet 192.168.10.65/26 on label eth0:1.</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Calculator ranges look wrong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entered prefix /26, not /24 — the prefix length drives every boundary.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File exists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address is already assigned — remove it first with ip addr del 192.168.10.65/26 dev eth0.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Address missing after add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as root and check you used dev eth0 — Killercoda's primary NIC is eth0.</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IPv6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128-bit addresses</a:t>
            </a:r>
          </a:p>
          <a:p>
            <a:pPr algn="l">
              <a:spcAft>
                <a:spcPts val="300"/>
              </a:spcAft>
            </a:pPr>
            <a:r>
              <a:rPr sz="1200" b="0">
                <a:solidFill>
                  <a:srgbClr val="5B6372"/>
                </a:solidFill>
                <a:latin typeface="Arial"/>
              </a:rPr>
              <a:t>2^128 addresses end exhaustion — written as eight hex groups separated by colons.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Shortening rules</a:t>
            </a:r>
          </a:p>
          <a:p>
            <a:pPr algn="l">
              <a:spcAft>
                <a:spcPts val="300"/>
              </a:spcAft>
            </a:pPr>
            <a:r>
              <a:rPr sz="1200" b="0">
                <a:solidFill>
                  <a:srgbClr val="5B6372"/>
                </a:solidFill>
                <a:latin typeface="Arial"/>
              </a:rPr>
              <a:t>Drop leading zeros in each group; compress one run of zero groups with :: (once only).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broadcast</a:t>
            </a:r>
          </a:p>
          <a:p>
            <a:pPr algn="l">
              <a:spcAft>
                <a:spcPts val="300"/>
              </a:spcAft>
            </a:pPr>
            <a:r>
              <a:rPr sz="1200" b="0">
                <a:solidFill>
                  <a:srgbClr val="5B6372"/>
                </a:solidFill>
                <a:latin typeface="Arial"/>
              </a:rPr>
              <a:t>IPv6 replaces broadcast with multicast (ff02::1 = all nodes) and anycast.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NAT required</a:t>
            </a:r>
          </a:p>
          <a:p>
            <a:pPr algn="l">
              <a:spcAft>
                <a:spcPts val="300"/>
              </a:spcAft>
            </a:pPr>
            <a:r>
              <a:rPr sz="1200" b="0">
                <a:solidFill>
                  <a:srgbClr val="5B6372"/>
                </a:solidFill>
                <a:latin typeface="Arial"/>
              </a:rPr>
              <a:t>End-to-end addressing returns; firewalls, not address translation, enforce the boundary.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Efficient header</a:t>
            </a:r>
          </a:p>
          <a:p>
            <a:pPr algn="l">
              <a:spcAft>
                <a:spcPts val="300"/>
              </a:spcAft>
            </a:pPr>
            <a:r>
              <a:rPr sz="1200" b="0">
                <a:solidFill>
                  <a:srgbClr val="5B6372"/>
                </a:solidFill>
                <a:latin typeface="Arial"/>
              </a:rPr>
              <a:t>Fixed 40-byte header and no router fragmentation — faster forwarding.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2001:db8::/32</a:t>
            </a:r>
          </a:p>
          <a:p>
            <a:pPr algn="l">
              <a:spcAft>
                <a:spcPts val="300"/>
              </a:spcAft>
            </a:pPr>
            <a:r>
              <a:rPr sz="1200" b="0">
                <a:solidFill>
                  <a:srgbClr val="5B6372"/>
                </a:solidFill>
                <a:latin typeface="Arial"/>
              </a:rPr>
              <a:t>The documentation prefix — always safe for labs, examples and courseware.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Shortening an IPv6 Address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Two rules: strip leading zeros per group, and compress one zero run with ::.</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Full:</a:t>
            </a:r>
          </a:p>
          <a:p>
            <a:pPr>
              <a:spcAft>
                <a:spcPts val="200"/>
              </a:spcAft>
            </a:pPr>
            <a:r>
              <a:rPr sz="1100">
                <a:solidFill>
                  <a:srgbClr val="9CDCFE"/>
                </a:solidFill>
                <a:latin typeface="Consolas"/>
              </a:rPr>
              <a:t>2001:0db8:0000:0000:0001:0000:0000:1234</a:t>
            </a:r>
          </a:p>
          <a:p>
            <a:pPr>
              <a:spcAft>
                <a:spcPts val="200"/>
              </a:spcAft>
            </a:pPr>
            <a:r>
              <a:rPr sz="1100">
                <a:solidFill>
                  <a:srgbClr val="9CDCFE"/>
                </a:solidFill>
                <a:latin typeface="Consolas"/>
              </a:rPr>
              <a:t/>
            </a:r>
          </a:p>
          <a:p>
            <a:pPr>
              <a:spcAft>
                <a:spcPts val="200"/>
              </a:spcAft>
            </a:pPr>
            <a:r>
              <a:rPr sz="1100">
                <a:solidFill>
                  <a:srgbClr val="9CDCFE"/>
                </a:solidFill>
                <a:latin typeface="Consolas"/>
              </a:rPr>
              <a:t>Rule 1 - drop leading zeros:</a:t>
            </a:r>
          </a:p>
          <a:p>
            <a:pPr>
              <a:spcAft>
                <a:spcPts val="200"/>
              </a:spcAft>
            </a:pPr>
            <a:r>
              <a:rPr sz="1100">
                <a:solidFill>
                  <a:srgbClr val="9CDCFE"/>
                </a:solidFill>
                <a:latin typeface="Consolas"/>
              </a:rPr>
              <a:t>2001:db8:0:0:1:0:0:1234</a:t>
            </a:r>
          </a:p>
          <a:p>
            <a:pPr>
              <a:spcAft>
                <a:spcPts val="200"/>
              </a:spcAft>
            </a:pPr>
            <a:r>
              <a:rPr sz="1100">
                <a:solidFill>
                  <a:srgbClr val="9CDCFE"/>
                </a:solidFill>
                <a:latin typeface="Consolas"/>
              </a:rPr>
              <a:t/>
            </a:r>
          </a:p>
          <a:p>
            <a:pPr>
              <a:spcAft>
                <a:spcPts val="200"/>
              </a:spcAft>
            </a:pPr>
            <a:r>
              <a:rPr sz="1100">
                <a:solidFill>
                  <a:srgbClr val="9CDCFE"/>
                </a:solidFill>
                <a:latin typeface="Consolas"/>
              </a:rPr>
              <a:t>Rule 2 - compress ONE zero run:</a:t>
            </a:r>
          </a:p>
          <a:p>
            <a:pPr>
              <a:spcAft>
                <a:spcPts val="200"/>
              </a:spcAft>
            </a:pPr>
            <a:r>
              <a:rPr sz="1100">
                <a:solidFill>
                  <a:srgbClr val="9CDCFE"/>
                </a:solidFill>
                <a:latin typeface="Consolas"/>
              </a:rPr>
              <a:t>2001:db8::1:0:0:1234</a:t>
            </a:r>
          </a:p>
          <a:p>
            <a:pPr>
              <a:spcAft>
                <a:spcPts val="200"/>
              </a:spcAft>
            </a:pPr>
            <a:r>
              <a:rPr sz="1100">
                <a:solidFill>
                  <a:srgbClr val="9CDCFE"/>
                </a:solidFill>
                <a:latin typeface="Consolas"/>
              </a:rPr>
              <a:t/>
            </a:r>
          </a:p>
          <a:p>
            <a:pPr>
              <a:spcAft>
                <a:spcPts val="200"/>
              </a:spcAft>
            </a:pPr>
            <a:r>
              <a:rPr sz="1100">
                <a:solidFill>
                  <a:srgbClr val="9CDCFE"/>
                </a:solidFill>
                <a:latin typeface="Consolas"/>
              </a:rPr>
              <a:t>Wrong: 2001:db8::1::1234  (two ::)</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Only one ::</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Two compressions would be ambiguous — the parser could not count the missing groups.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Pick the longest run</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When two zero runs tie, compress the leftmost — the convention resolvers use.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Exam trap</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Expanding a shortened address back to eight groups is a favourite question.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IPv6 Address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Prefix</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Role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Global unicast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2000::/3</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Public, Internet-routable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Link-local</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fe80::/10</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Auto on every interface; one link only</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Unique local</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fc00::/7</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Private — the RFC1918 analogue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Multicast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ff00::/8</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ff02::1 all nodes, ff02::2 routers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Loopback</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::1/128</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Same role as 127.0.0.1</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Every IPv6 interface always holds a link-local address — even with no router or DHCP anywhere.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SLAAC: An Address Without a 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Link-local</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fe80:: self-made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host asks routers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RA</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prefix + gateway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Address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prefix + intf ID</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duplicate check</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v6 host configures itself from router advertisements alone — DHCPv6 is optional, used only when you need central control or extra options like DNS.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IDs and Coexistence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EUI-64</a:t>
            </a:r>
          </a:p>
          <a:p>
            <a:pPr algn="l">
              <a:spcAft>
                <a:spcPts val="300"/>
              </a:spcAft>
            </a:pPr>
            <a:r>
              <a:rPr sz="1200" b="0">
                <a:solidFill>
                  <a:srgbClr val="5B6372"/>
                </a:solidFill>
                <a:latin typeface="Arial"/>
              </a:rPr>
              <a:t>Builds the 64-bit interface ID from the MAC: split it, insert FFFE, flip bit 7.</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Privacy extensions</a:t>
            </a:r>
          </a:p>
          <a:p>
            <a:pPr algn="l">
              <a:spcAft>
                <a:spcPts val="300"/>
              </a:spcAft>
            </a:pPr>
            <a:r>
              <a:rPr sz="1200" b="0">
                <a:solidFill>
                  <a:srgbClr val="5B6372"/>
                </a:solidFill>
                <a:latin typeface="Arial"/>
              </a:rPr>
              <a:t>Random interface IDs defeat device tracking — the default on modern OSes.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Dual stack</a:t>
            </a:r>
          </a:p>
          <a:p>
            <a:pPr algn="l">
              <a:spcAft>
                <a:spcPts val="300"/>
              </a:spcAft>
            </a:pPr>
            <a:r>
              <a:rPr sz="1200" b="0">
                <a:solidFill>
                  <a:srgbClr val="5B6372"/>
                </a:solidFill>
                <a:latin typeface="Arial"/>
              </a:rPr>
              <a:t>Run IPv4 and IPv6 side by side — today's standard migration strategy.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Tunnels and NAT64</a:t>
            </a:r>
          </a:p>
          <a:p>
            <a:pPr algn="l">
              <a:spcAft>
                <a:spcPts val="300"/>
              </a:spcAft>
            </a:pPr>
            <a:r>
              <a:rPr sz="1200" b="0">
                <a:solidFill>
                  <a:srgbClr val="5B6372"/>
                </a:solidFill>
                <a:latin typeface="Arial"/>
              </a:rPr>
              <a:t>6to4/Teredo carry v6 inside v4; NAT64/DNS64 lets v6-only clients reach v4 servers.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IPv6 Subnetting Conventions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LAN is a /64</a:t>
            </a:r>
          </a:p>
          <a:p>
            <a:pPr algn="l">
              <a:spcAft>
                <a:spcPts val="300"/>
              </a:spcAft>
            </a:pPr>
            <a:r>
              <a:rPr sz="1200" b="0">
                <a:solidFill>
                  <a:srgbClr val="5B6372"/>
                </a:solidFill>
                <a:latin typeface="Arial"/>
              </a:rPr>
              <a:t>SLAAC needs 64 bits of interface ID — never subnet a LAN smaller than /64.</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site gets a /48</a:t>
            </a:r>
          </a:p>
          <a:p>
            <a:pPr algn="l">
              <a:spcAft>
                <a:spcPts val="300"/>
              </a:spcAft>
            </a:pPr>
            <a:r>
              <a:rPr sz="1200" b="0">
                <a:solidFill>
                  <a:srgbClr val="5B6372"/>
                </a:solidFill>
                <a:latin typeface="Arial"/>
              </a:rPr>
              <a:t>That is 65,536 /64 subnets — plan generously, address conservation is over.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Nibble boundaries</a:t>
            </a:r>
          </a:p>
          <a:p>
            <a:pPr algn="l">
              <a:spcAft>
                <a:spcPts val="300"/>
              </a:spcAft>
            </a:pPr>
            <a:r>
              <a:rPr sz="1200" b="0">
                <a:solidFill>
                  <a:srgbClr val="5B6372"/>
                </a:solidFill>
                <a:latin typeface="Arial"/>
              </a:rPr>
              <a:t>Subnet in 4-bit steps so prefixes stay readable in hex.</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Zone IDs</a:t>
            </a:r>
          </a:p>
          <a:p>
            <a:pPr algn="l">
              <a:spcAft>
                <a:spcPts val="300"/>
              </a:spcAft>
            </a:pPr>
            <a:r>
              <a:rPr sz="1200" b="0">
                <a:solidFill>
                  <a:srgbClr val="5B6372"/>
                </a:solidFill>
                <a:latin typeface="Arial"/>
              </a:rPr>
              <a:t>Link-local commands need %eth0 to choose the interface — exactly as in Lab 3.</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IPv6 Addressing and Link-Local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Plan an IPv6 /64, add a global address, and ping link-local using a zone ID.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Break down 2001:db8::/64 in the TIS IP Calculator's IPv6 mode, add a documentation-range global address to eth0, observe the auto-generated fe80:: link-local address, and ping across both.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interface holding both a link-local fe80:: address and a global 2001:db8::10/64, verified by ping.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TIS IP Calculator (alfredang.github.io/ipcalculator), iproute2, ping6, Killercoda</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-6 addr show eth0 lists both fe80::... and 2001:db8::10/64, and both pings reply (the ff02::1 ping needs the %eth0 zone suffix).</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IP Calculator in IPv6 mode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Inspect the existing IPv6 config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Verify both addresses are present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Ping the all-nodes multicast with 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ping6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Plan an IPv6 /64, add a global address, and ping link-local using a zone ID.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IPv6 Addressing and Link-Local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-6 addr show eth0 lists both fe80::... and 2001:db8::10/64, and both pings reply (the ff02::1 ping needs the %eth0 zone suffix).</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ping6: Invalid argument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Link-local targets need a zone — use ff02::1%eth0 so the kernel knows the egress interface.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fe80:: address on eth0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IPv6 is disabled — sysctl -w net.ipv6.conf.eth0.disable_ipv6=0, then re-check.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Global ping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add worked: ip -6 addr show eth0 must list 2001:db8::10/64 before you ping.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Numbers: The L4 Address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0-1023 well-known</a:t>
            </a:r>
          </a:p>
          <a:p>
            <a:pPr algn="l">
              <a:spcAft>
                <a:spcPts val="300"/>
              </a:spcAft>
            </a:pPr>
            <a:r>
              <a:rPr sz="1200" b="0">
                <a:solidFill>
                  <a:srgbClr val="5B6372"/>
                </a:solidFill>
                <a:latin typeface="Arial"/>
              </a:rPr>
              <a:t>Reserved for standard services — HTTP 80, SSH 22, DNS 53. Memorise these.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1024-49151 registered</a:t>
            </a:r>
          </a:p>
          <a:p>
            <a:pPr algn="l">
              <a:spcAft>
                <a:spcPts val="300"/>
              </a:spcAft>
            </a:pPr>
            <a:r>
              <a:rPr sz="1200" b="0">
                <a:solidFill>
                  <a:srgbClr val="5B6372"/>
                </a:solidFill>
                <a:latin typeface="Arial"/>
              </a:rPr>
              <a:t>Vendor-registered applications: RDP 3389, MySQL 3306, SIP 5060.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49152-65535 ephemeral</a:t>
            </a:r>
          </a:p>
          <a:p>
            <a:pPr algn="l">
              <a:spcAft>
                <a:spcPts val="300"/>
              </a:spcAft>
            </a:pPr>
            <a:r>
              <a:rPr sz="1200" b="0">
                <a:solidFill>
                  <a:srgbClr val="5B6372"/>
                </a:solidFill>
                <a:latin typeface="Arial"/>
              </a:rPr>
              <a:t>Random client-side source ports, recycled per connection.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socket pair</a:t>
            </a:r>
          </a:p>
          <a:p>
            <a:pPr algn="l">
              <a:spcAft>
                <a:spcPts val="300"/>
              </a:spcAft>
            </a:pPr>
            <a:r>
              <a:rPr sz="1200" b="0">
                <a:solidFill>
                  <a:srgbClr val="5B6372"/>
                </a:solidFill>
                <a:latin typeface="Arial"/>
              </a:rPr>
              <a:t>Source IP:port plus destination IP:port uniquely identifies every conversation.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TCP vs UDP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TCP — connection-oriented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UDP — connectionless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Three-way handshake before any data</a:t>
            </a:r>
          </a:p>
          <a:p>
            <a:pPr>
              <a:spcAft>
                <a:spcPts val="1000"/>
              </a:spcAft>
            </a:pPr>
            <a:r>
              <a:rPr sz="1600" b="0">
                <a:solidFill>
                  <a:srgbClr val="161B26"/>
                </a:solidFill>
                <a:latin typeface="Arial"/>
              </a:rPr>
              <a:t>•  Sequencing, ACKs and retransmission</a:t>
            </a:r>
          </a:p>
          <a:p>
            <a:pPr>
              <a:spcAft>
                <a:spcPts val="1000"/>
              </a:spcAft>
            </a:pPr>
            <a:r>
              <a:rPr sz="1600" b="0">
                <a:solidFill>
                  <a:srgbClr val="161B26"/>
                </a:solidFill>
                <a:latin typeface="Arial"/>
              </a:rPr>
              <a:t>•  Flow and congestion control</a:t>
            </a:r>
          </a:p>
          <a:p>
            <a:pPr>
              <a:spcAft>
                <a:spcPts val="1000"/>
              </a:spcAft>
            </a:pPr>
            <a:r>
              <a:rPr sz="1600" b="0">
                <a:solidFill>
                  <a:srgbClr val="161B26"/>
                </a:solidFill>
                <a:latin typeface="Arial"/>
              </a:rPr>
              <a:t>•  HTTP(S), SSH, SMTP, FTP, RDP</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No handshake — just send</a:t>
            </a:r>
          </a:p>
          <a:p>
            <a:pPr>
              <a:spcAft>
                <a:spcPts val="1000"/>
              </a:spcAft>
            </a:pPr>
            <a:r>
              <a:rPr sz="1600" b="0">
                <a:solidFill>
                  <a:srgbClr val="161B26"/>
                </a:solidFill>
                <a:latin typeface="Arial"/>
              </a:rPr>
              <a:t>•  No delivery guarantee, low overhead</a:t>
            </a:r>
          </a:p>
          <a:p>
            <a:pPr>
              <a:spcAft>
                <a:spcPts val="1000"/>
              </a:spcAft>
            </a:pPr>
            <a:r>
              <a:rPr sz="1600" b="0">
                <a:solidFill>
                  <a:srgbClr val="161B26"/>
                </a:solidFill>
                <a:latin typeface="Arial"/>
              </a:rPr>
              <a:t>•  Ideal for real-time and tiny queries</a:t>
            </a:r>
          </a:p>
          <a:p>
            <a:pPr>
              <a:spcAft>
                <a:spcPts val="1000"/>
              </a:spcAft>
            </a:pPr>
            <a:r>
              <a:rPr sz="1600" b="0">
                <a:solidFill>
                  <a:srgbClr val="161B26"/>
                </a:solidFill>
                <a:latin typeface="Arial"/>
              </a:rPr>
              <a:t>•  DNS, DHCP, TFTP, NTP, SNMP, RTP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TCP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TCP Three-Way Handshake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SYN</a:t>
            </a:r>
          </a:p>
        </p:txBody>
      </p:sp>
      <p:sp>
        <p:nvSpPr>
          <p:cNvPr id="12" name="TextBox 11"/>
          <p:cNvSpPr txBox="1"/>
          <p:nvPr/>
        </p:nvSpPr>
        <p:spPr>
          <a:xfrm>
            <a:off x="86868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client, seq = x</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SYN-ACK</a:t>
            </a:r>
          </a:p>
        </p:txBody>
      </p:sp>
      <p:sp>
        <p:nvSpPr>
          <p:cNvPr id="19" name="TextBox 18"/>
          <p:cNvSpPr txBox="1"/>
          <p:nvPr/>
        </p:nvSpPr>
        <p:spPr>
          <a:xfrm>
            <a:off x="454152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server, ack = x+1</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ACK</a:t>
            </a:r>
          </a:p>
        </p:txBody>
      </p:sp>
      <p:sp>
        <p:nvSpPr>
          <p:cNvPr id="26" name="TextBox 25"/>
          <p:cNvSpPr txBox="1"/>
          <p:nvPr/>
        </p:nvSpPr>
        <p:spPr>
          <a:xfrm>
            <a:off x="821436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open, data flows</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[S] flag you captured in Lab 1 is step one of this exchange — and half-open handshakes are how SYN floods and stealth scans work.</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TCP or UDP for Your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Must every byte arrive,
in order, guaranteed?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use TCP</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Pay the handshake and header overhead to gain sequencing, acknowledgements and retransmission — right for web, mail, file transfer.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use UDP</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Skip the ceremony for speed: lost packets are ignored or handled by the app — right for voice, video, DNS lookups and telemetry.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QUIC (HTTP/3) builds TCP-like reliability on top of UDP — know that it exists.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ICMP, IGMP, GRE and IPsec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ICMP</a:t>
            </a:r>
          </a:p>
          <a:p>
            <a:pPr algn="l">
              <a:spcAft>
                <a:spcPts val="300"/>
              </a:spcAft>
            </a:pPr>
            <a:r>
              <a:rPr sz="1200" b="0">
                <a:solidFill>
                  <a:srgbClr val="5B6372"/>
                </a:solidFill>
                <a:latin typeface="Arial"/>
              </a:rPr>
              <a:t>Layer 3 control messages — echo (ping), destination unreachable, TTL exceeded. No 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IGMP</a:t>
            </a:r>
          </a:p>
          <a:p>
            <a:pPr algn="l">
              <a:spcAft>
                <a:spcPts val="300"/>
              </a:spcAft>
            </a:pPr>
            <a:r>
              <a:rPr sz="1200" b="0">
                <a:solidFill>
                  <a:srgbClr val="5B6372"/>
                </a:solidFill>
                <a:latin typeface="Arial"/>
              </a:rPr>
              <a:t>Hosts join and leave IPv4 multicast groups in 224.0.0.0/4.</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GRE</a:t>
            </a:r>
          </a:p>
          <a:p>
            <a:pPr algn="l">
              <a:spcAft>
                <a:spcPts val="300"/>
              </a:spcAft>
            </a:pPr>
            <a:r>
              <a:rPr sz="1200" b="0">
                <a:solidFill>
                  <a:srgbClr val="5B6372"/>
                </a:solidFill>
                <a:latin typeface="Arial"/>
              </a:rPr>
              <a:t>A generic tunnel that wraps any protocol inside IP — no encryption of its own.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IPsec AH</a:t>
            </a:r>
          </a:p>
          <a:p>
            <a:pPr algn="l">
              <a:spcAft>
                <a:spcPts val="300"/>
              </a:spcAft>
            </a:pPr>
            <a:r>
              <a:rPr sz="1200" b="0">
                <a:solidFill>
                  <a:srgbClr val="5B6372"/>
                </a:solidFill>
                <a:latin typeface="Arial"/>
              </a:rPr>
              <a:t>Authentication Header: integrity and origin proof, but no confidentiality.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IPsec ESP</a:t>
            </a:r>
          </a:p>
          <a:p>
            <a:pPr algn="l">
              <a:spcAft>
                <a:spcPts val="300"/>
              </a:spcAft>
            </a:pPr>
            <a:r>
              <a:rPr sz="1200" b="0">
                <a:solidFill>
                  <a:srgbClr val="5B6372"/>
                </a:solidFill>
                <a:latin typeface="Arial"/>
              </a:rPr>
              <a:t>Encapsulating Security Payload: encryption — the workhorse of site-to-site VPNs.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IKE</a:t>
            </a:r>
          </a:p>
          <a:p>
            <a:pPr algn="l">
              <a:spcAft>
                <a:spcPts val="300"/>
              </a:spcAft>
            </a:pPr>
            <a:r>
              <a:rPr sz="1200" b="0">
                <a:solidFill>
                  <a:srgbClr val="5B6372"/>
                </a:solidFill>
                <a:latin typeface="Arial"/>
              </a:rPr>
              <a:t>Negotiates IPsec keys and security associations over UDP 500/4500.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Ports: File Transfer and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Transport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Security note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20/21</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FTP data / control</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Cleartext — avoid</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22</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SSH and SFTP</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Encrypted channel</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23</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Telnet</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Cleartext — use SSH</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69</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TFTP</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LAN boot/config only</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445</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SMB</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Windows file sharing</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3389</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RDP</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TLS-protected desktop</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Pairs to contrast on the exam: 21 vs 22 (SFTP), 23 vs 22 (SSH), 69 vs 21.</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Ports: Web, Mail and Name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Transport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 / 443</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HTTP / HTTPS</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443 adds TLS</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25 / 587</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SMTP / submission</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587 = STARTTLS sending</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110 / 995</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POP3 / POP3S</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Download-and-delete mail</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143 / 993</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IMAP / IMAPS</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Server-side mailboxes</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53</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DNS</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 + TCP</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 for zone transfers</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67 / 68</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DHCP</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Server 67, client 68</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Mail flows: SMTP sends between servers, POP3/IMAP retrieve to clients — the S-suffixed ports add TLS.</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Securing E-mail: The Port Story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Legacy trio</a:t>
            </a:r>
          </a:p>
          <a:p>
            <a:pPr algn="l">
              <a:spcAft>
                <a:spcPts val="300"/>
              </a:spcAft>
            </a:pPr>
            <a:r>
              <a:rPr sz="1200" b="0">
                <a:solidFill>
                  <a:srgbClr val="5B6372"/>
                </a:solidFill>
                <a:latin typeface="Arial"/>
              </a:rPr>
              <a:t>SMTP 25, POP3 110, IMAP 143 — all cleartext, all still on the exam.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Implicit TLS</a:t>
            </a:r>
          </a:p>
          <a:p>
            <a:pPr algn="l">
              <a:spcAft>
                <a:spcPts val="300"/>
              </a:spcAft>
            </a:pPr>
            <a:r>
              <a:rPr sz="1200" b="0">
                <a:solidFill>
                  <a:srgbClr val="5B6372"/>
                </a:solidFill>
                <a:latin typeface="Arial"/>
              </a:rPr>
              <a:t>Wrapped-in-TLS variants: SMTPS 465, POP3S 995, IMAPS 993.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STARTTLS on 587</a:t>
            </a:r>
          </a:p>
          <a:p>
            <a:pPr algn="l">
              <a:spcAft>
                <a:spcPts val="300"/>
              </a:spcAft>
            </a:pPr>
            <a:r>
              <a:rPr sz="1200" b="0">
                <a:solidFill>
                  <a:srgbClr val="5B6372"/>
                </a:solidFill>
                <a:latin typeface="Arial"/>
              </a:rPr>
              <a:t>The modern client-submission port: starts plain, upgrades to TLS in-band.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Anti-spoofing</a:t>
            </a:r>
          </a:p>
          <a:p>
            <a:pPr algn="l">
              <a:spcAft>
                <a:spcPts val="300"/>
              </a:spcAft>
            </a:pPr>
            <a:r>
              <a:rPr sz="1200" b="0">
                <a:solidFill>
                  <a:srgbClr val="5B6372"/>
                </a:solidFill>
                <a:latin typeface="Arial"/>
              </a:rPr>
              <a:t>SPF, DKIM and DMARC live in DNS TXT records — covered again in the DNS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Ports: Infrastructure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Transport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123</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NTP</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Clock sync, stratum tree</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161 / 162</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SNMP / traps</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Monitoring; v3 adds crypto</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389 / 636</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LDAP / LDAPS</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Directory queries</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514</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Syslog</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Central log collection</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5060 / 5061</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SIP / SIP-TLS</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UDP/TCP</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VoIP call signalling</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500 / 4500</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IKE / NAT-T</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IPsec key negotiation</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These six rows plus the previous two tables cover every port listed in objective 1.4.</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ss and nmap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Two commands cover both directions: what you expose, and what a target exposes.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ss -tulnp          (your own listeners)</a:t>
            </a:r>
          </a:p>
          <a:p>
            <a:pPr>
              <a:spcAft>
                <a:spcPts val="200"/>
              </a:spcAft>
            </a:pPr>
            <a:r>
              <a:rPr sz="1100">
                <a:solidFill>
                  <a:srgbClr val="9CDCFE"/>
                </a:solidFill>
                <a:latin typeface="Consolas"/>
              </a:rPr>
              <a:t>tcp  LISTEN  0.0.0.0:22    sshd</a:t>
            </a:r>
          </a:p>
          <a:p>
            <a:pPr>
              <a:spcAft>
                <a:spcPts val="200"/>
              </a:spcAft>
            </a:pPr>
            <a:r>
              <a:rPr sz="1100">
                <a:solidFill>
                  <a:srgbClr val="9CDCFE"/>
                </a:solidFill>
                <a:latin typeface="Consolas"/>
              </a:rPr>
              <a:t>udp  UNCONN  127.0.0.53:53 systemd-resolve</a:t>
            </a:r>
          </a:p>
          <a:p>
            <a:pPr>
              <a:spcAft>
                <a:spcPts val="200"/>
              </a:spcAft>
            </a:pPr>
            <a:r>
              <a:rPr sz="1100">
                <a:solidFill>
                  <a:srgbClr val="9CDCFE"/>
                </a:solidFill>
                <a:latin typeface="Consolas"/>
              </a:rPr>
              <a:t/>
            </a:r>
          </a:p>
          <a:p>
            <a:pPr>
              <a:spcAft>
                <a:spcPts val="200"/>
              </a:spcAft>
            </a:pPr>
            <a:r>
              <a:rPr sz="1100">
                <a:solidFill>
                  <a:srgbClr val="6A9955"/>
                </a:solidFill>
                <a:latin typeface="Consolas"/>
              </a:rPr>
              <a:t># nmap -sT -p 1-1024 scanme.nmap.org</a:t>
            </a:r>
          </a:p>
          <a:p>
            <a:pPr>
              <a:spcAft>
                <a:spcPts val="200"/>
              </a:spcAft>
            </a:pPr>
            <a:r>
              <a:rPr sz="1100">
                <a:solidFill>
                  <a:srgbClr val="9CDCFE"/>
                </a:solidFill>
                <a:latin typeface="Consolas"/>
              </a:rPr>
              <a:t>22/tcp  open      ssh</a:t>
            </a:r>
          </a:p>
          <a:p>
            <a:pPr>
              <a:spcAft>
                <a:spcPts val="200"/>
              </a:spcAft>
            </a:pPr>
            <a:r>
              <a:rPr sz="1100">
                <a:solidFill>
                  <a:srgbClr val="9CDCFE"/>
                </a:solidFill>
                <a:latin typeface="Consolas"/>
              </a:rPr>
              <a:t>80/tcp  open      http</a:t>
            </a:r>
          </a:p>
          <a:p>
            <a:pPr>
              <a:spcAft>
                <a:spcPts val="200"/>
              </a:spcAft>
            </a:pPr>
            <a:r>
              <a:rPr sz="1100">
                <a:solidFill>
                  <a:srgbClr val="9CDCFE"/>
                </a:solidFill>
                <a:latin typeface="Consolas"/>
              </a:rPr>
              <a:t>25/tcp  filtered  smtp</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LISTEN vs open</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ss shows sockets bound locally; nmap shows what a remote host answers on.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filtered</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firewall silently dropped the probe — no RST ever came back.</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Stay numeric</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-n flags keep raw port numbers visible so you learn numbers, not names.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Common Ports and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Connect protocol names to well-known port numbers using ss and nmap.</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Enumerate the listening TCP/UDP sockets on your own host with ss, scan the well-known port range of scanme.nmap.org with nmap, and map every open port you find to the N10-009 protocol list.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port-to-protocol map covering your own listeners and the remote scan results.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nmap, ss, net-tools (netstat), getent,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ss shows local listeners with numeric ports; nmap reports open ports on scanme.nmap.org (expect 22 and 80); getent services https returns 443/tcp.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nmap and net-tools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List TCP/UDP listeners on your own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Scan the well-known range on the Nmap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Map each open port to the exam list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Resolve service names to port numbers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getent · step 5</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Connect protocol names to well-known port numbers using ss and nmap.</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Common Ports and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ss shows local listeners with numeric ports; nmap reports open ports on scanme.nmap.org (expect 22 and 80); getent services https returns 443/tcp.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nmap scan returns nothing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egress with ping scanme.nmap.org — playground networks can be slow; re-run the scan.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ss: command not found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Use netstat -tulnp from net-tools instead — both list the same listening sockets.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Ports show names, not numbers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Keep the -n flag (ss -tulnp) so output stays numeric and you learn the numbers.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The Internet's Directory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FQDN</a:t>
            </a:r>
          </a:p>
          <a:p>
            <a:pPr algn="l">
              <a:spcAft>
                <a:spcPts val="300"/>
              </a:spcAft>
            </a:pPr>
            <a:r>
              <a:rPr sz="1200" b="0">
                <a:solidFill>
                  <a:srgbClr val="5B6372"/>
                </a:solidFill>
                <a:latin typeface="Arial"/>
              </a:rPr>
              <a:t>host.domain.tld — www.example.com is read right to left, ending at the root.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Root servers -&gt; TLD servers (.com, .sg) -&gt; authoritative servers for each zone.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Recursive resolver</a:t>
            </a:r>
          </a:p>
          <a:p>
            <a:pPr algn="l">
              <a:spcAft>
                <a:spcPts val="300"/>
              </a:spcAft>
            </a:pPr>
            <a:r>
              <a:rPr sz="1200" b="0">
                <a:solidFill>
                  <a:srgbClr val="5B6372"/>
                </a:solidFill>
                <a:latin typeface="Arial"/>
              </a:rPr>
              <a:t>Your configured server (e.g. 8.8.8.8) chases referrals and caches the answers.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UDP/TCP 53</a:t>
            </a:r>
          </a:p>
          <a:p>
            <a:pPr algn="l">
              <a:spcAft>
                <a:spcPts val="300"/>
              </a:spcAft>
            </a:pPr>
            <a:r>
              <a:rPr sz="1200" b="0">
                <a:solidFill>
                  <a:srgbClr val="5B6372"/>
                </a:solidFill>
                <a:latin typeface="Arial"/>
              </a:rPr>
              <a:t>Queries ride UDP 53; zone transfers and oversized answers switch to TCP 53.</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DNS Lookup,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Client asks its recursive resolver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Cache hit? Answer returns instantly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Miss: resolver asks root, then .com TLD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TLD refers to the authoritative server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 record returned and cached per TTL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Server Roles and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Authoritative</a:t>
            </a:r>
          </a:p>
          <a:p>
            <a:pPr algn="l">
              <a:spcAft>
                <a:spcPts val="300"/>
              </a:spcAft>
            </a:pPr>
            <a:r>
              <a:rPr sz="1200" b="0">
                <a:solidFill>
                  <a:srgbClr val="5B6372"/>
                </a:solidFill>
                <a:latin typeface="Arial"/>
              </a:rPr>
              <a:t>Holds the zone file and gives the definitive answer for its domains.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Recursive / caching</a:t>
            </a:r>
          </a:p>
          <a:p>
            <a:pPr algn="l">
              <a:spcAft>
                <a:spcPts val="300"/>
              </a:spcAft>
            </a:pPr>
            <a:r>
              <a:rPr sz="1200" b="0">
                <a:solidFill>
                  <a:srgbClr val="5B6372"/>
                </a:solidFill>
                <a:latin typeface="Arial"/>
              </a:rPr>
              <a:t>Resolves on behalf of clients and remembers answers for the TTL.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Internal DNS</a:t>
            </a:r>
          </a:p>
          <a:p>
            <a:pPr algn="l">
              <a:spcAft>
                <a:spcPts val="300"/>
              </a:spcAft>
            </a:pPr>
            <a:r>
              <a:rPr sz="1200" b="0">
                <a:solidFill>
                  <a:srgbClr val="5B6372"/>
                </a:solidFill>
                <a:latin typeface="Arial"/>
              </a:rPr>
              <a:t>Private zones for corp resources — split horizon keeps them invisible outside.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Dynamic DNS</a:t>
            </a:r>
          </a:p>
          <a:p>
            <a:pPr algn="l">
              <a:spcAft>
                <a:spcPts val="300"/>
              </a:spcAft>
            </a:pPr>
            <a:r>
              <a:rPr sz="1200" b="0">
                <a:solidFill>
                  <a:srgbClr val="5B6372"/>
                </a:solidFill>
                <a:latin typeface="Arial"/>
              </a:rPr>
              <a:t>Clients or DHCP update records automatically as addresses change.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 on the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Record</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Maps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 / note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 / AAAA</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-&gt; IPv4 / IPv6</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bread-and-butter records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CNAME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-&gt; another name</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 alias — never points to an IP</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MX</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Domain -&gt; mail host</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Priority number: lower wins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NS / SOA</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Zone -&gt; servers / authority</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SOA holds serial and timers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PTR</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IP -&gt; name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Reverse zones; mail server checks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TXT / SRV</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Text / service + port</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SPF and DKIM live in TXT</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Lab 5 queries every one of these with dig against live domains.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 in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dig +short strips the noise and prints only the answer — perfect for learning records.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dig +short A google.com</a:t>
            </a:r>
          </a:p>
          <a:p>
            <a:pPr>
              <a:spcAft>
                <a:spcPts val="200"/>
              </a:spcAft>
            </a:pPr>
            <a:r>
              <a:rPr sz="1100">
                <a:solidFill>
                  <a:srgbClr val="9CDCFE"/>
                </a:solidFill>
                <a:latin typeface="Consolas"/>
              </a:rPr>
              <a:t>142.250.4.100</a:t>
            </a:r>
          </a:p>
          <a:p>
            <a:pPr>
              <a:spcAft>
                <a:spcPts val="200"/>
              </a:spcAft>
            </a:pPr>
            <a:r>
              <a:rPr sz="1100">
                <a:solidFill>
                  <a:srgbClr val="9CDCFE"/>
                </a:solidFill>
                <a:latin typeface="Consolas"/>
              </a:rPr>
              <a:t/>
            </a:r>
          </a:p>
          <a:p>
            <a:pPr>
              <a:spcAft>
                <a:spcPts val="200"/>
              </a:spcAft>
            </a:pPr>
            <a:r>
              <a:rPr sz="1100">
                <a:solidFill>
                  <a:srgbClr val="9CDCFE"/>
                </a:solidFill>
                <a:latin typeface="Consolas"/>
              </a:rPr>
              <a:t>$ dig +short MX google.com</a:t>
            </a:r>
          </a:p>
          <a:p>
            <a:pPr>
              <a:spcAft>
                <a:spcPts val="200"/>
              </a:spcAft>
            </a:pPr>
            <a:r>
              <a:rPr sz="1100">
                <a:solidFill>
                  <a:srgbClr val="9CDCFE"/>
                </a:solidFill>
                <a:latin typeface="Consolas"/>
              </a:rPr>
              <a:t>10 smtp.google.com.</a:t>
            </a:r>
          </a:p>
          <a:p>
            <a:pPr>
              <a:spcAft>
                <a:spcPts val="200"/>
              </a:spcAft>
            </a:pPr>
            <a:r>
              <a:rPr sz="1100">
                <a:solidFill>
                  <a:srgbClr val="9CDCFE"/>
                </a:solidFill>
                <a:latin typeface="Consolas"/>
              </a:rPr>
              <a:t/>
            </a:r>
          </a:p>
          <a:p>
            <a:pPr>
              <a:spcAft>
                <a:spcPts val="200"/>
              </a:spcAft>
            </a:pPr>
            <a:r>
              <a:rPr sz="1100">
                <a:solidFill>
                  <a:srgbClr val="9CDCFE"/>
                </a:solidFill>
                <a:latin typeface="Consolas"/>
              </a:rPr>
              <a:t>$ dig +short -x 8.8.8.8</a:t>
            </a:r>
          </a:p>
          <a:p>
            <a:pPr>
              <a:spcAft>
                <a:spcPts val="200"/>
              </a:spcAft>
            </a:pPr>
            <a:r>
              <a:rPr sz="1100">
                <a:solidFill>
                  <a:srgbClr val="9CDCFE"/>
                </a:solidFill>
                <a:latin typeface="Consolas"/>
              </a:rPr>
              <a:t>dns.google.</a:t>
            </a:r>
          </a:p>
          <a:p>
            <a:pPr>
              <a:spcAft>
                <a:spcPts val="200"/>
              </a:spcAft>
            </a:pPr>
            <a:r>
              <a:rPr sz="1100">
                <a:solidFill>
                  <a:srgbClr val="9CDCFE"/>
                </a:solidFill>
                <a:latin typeface="Consolas"/>
              </a:rPr>
              <a:t/>
            </a:r>
          </a:p>
          <a:p>
            <a:pPr>
              <a:spcAft>
                <a:spcPts val="200"/>
              </a:spcAft>
            </a:pPr>
            <a:r>
              <a:rPr sz="1100">
                <a:solidFill>
                  <a:srgbClr val="9CDCFE"/>
                </a:solidFill>
                <a:latin typeface="Consolas"/>
              </a:rPr>
              <a:t>$ dig +short CNAME www.github.com</a:t>
            </a:r>
          </a:p>
          <a:p>
            <a:pPr>
              <a:spcAft>
                <a:spcPts val="200"/>
              </a:spcAft>
            </a:pPr>
            <a:r>
              <a:rPr sz="1100">
                <a:solidFill>
                  <a:srgbClr val="9CDCFE"/>
                </a:solidFill>
                <a:latin typeface="Consolas"/>
              </a:rPr>
              <a:t>github.com.</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MX priority</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leading 10 is the preference — lower numbers are tried first.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-x reverses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Turns 8.8.8.8 into its PTR name from the in-addr.arpa reverse zone.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CNAME chains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www.github.com is an alias for github.com — the resolver follows the chain.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Query every N10-009 DNS record type with dig and interpret the answers.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dig to query A, AAAA, MX, TXT, NS, CNAME, PTR, SOA and SRV records against live domains, reading addresses, mail priorities, aliases and zone-authority data from the answers.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worked set of dig queries — one per record type on the exam — with each answer interpreted.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dig, nslookup, host (dnsutils),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dig query returns an answer: A gives IPv4, AAAA gives IPv6, MX shows priorities, -x 8.8.8.8 returns dns.google, and the SOA lists the primary NS and serial.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dnsutils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the AAAA record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TXT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Reverse-resolve an IP to a name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Locate a service with an SRV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Query every N10-009 DNS record type with dig and interpret the answers.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dig query returns an answer: A gives IPv4, AAAA gives IPv6, MX shows priorities, -x 8.8.8.8 returns dns.google, and the SOA lists the primary NS and serial.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dig: command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the tools: apt update &amp;&amp; apt install -y dnsutils.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Empty answer for CNAME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Not every name has one — query an alias such as www.github.com, not the bare domain.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SERVFAIL or timeout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Query an explicit resolver: dig @8.8.8.8 +short A google.com to bypass the local stub.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DORA: How a Lease Happens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Discover</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bcast from 0.0.0.0</a:t>
            </a:r>
          </a:p>
        </p:txBody>
      </p:sp>
      <p:cxnSp>
        <p:nvCxnSpPr>
          <p:cNvPr id="13" name="Connector 12"/>
          <p:cNvCxnSpPr/>
          <p:nvPr/>
        </p:nvCxnSpPr>
        <p:spPr>
          <a:xfrm>
            <a:off x="320268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Offer</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server proposes IP</a:t>
            </a:r>
          </a:p>
        </p:txBody>
      </p:sp>
      <p:cxnSp>
        <p:nvCxnSpPr>
          <p:cNvPr id="20" name="Connector 19"/>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accepts one</a:t>
            </a:r>
          </a:p>
        </p:txBody>
      </p:sp>
      <p:cxnSp>
        <p:nvCxnSpPr>
          <p:cNvPr id="27" name="Connector 26"/>
          <p:cNvCxnSpPr/>
          <p:nvPr/>
        </p:nvCxnSpPr>
        <p:spPr>
          <a:xfrm>
            <a:off x="871194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Acknowledge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lease confirmed</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Discover and Request are broadcasts on UDP 67/68 — which is why every broadcast domain needs its own DHCP server or a relay pointing to one.</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Server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 / pool</a:t>
            </a:r>
          </a:p>
          <a:p>
            <a:pPr algn="l">
              <a:spcAft>
                <a:spcPts val="300"/>
              </a:spcAft>
            </a:pPr>
            <a:r>
              <a:rPr sz="1200" b="0">
                <a:solidFill>
                  <a:srgbClr val="5B6372"/>
                </a:solidFill>
                <a:latin typeface="Arial"/>
              </a:rPr>
              <a:t>The range of addresses the server may hand out on a subnet.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Lease time</a:t>
            </a:r>
          </a:p>
          <a:p>
            <a:pPr algn="l">
              <a:spcAft>
                <a:spcPts val="300"/>
              </a:spcAft>
            </a:pPr>
            <a:r>
              <a:rPr sz="1200" b="0">
                <a:solidFill>
                  <a:srgbClr val="5B6372"/>
                </a:solidFill>
                <a:latin typeface="Arial"/>
              </a:rPr>
              <a:t>Addresses are borrowed — clients try to renew at 50% of the lease.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Reservation</a:t>
            </a:r>
          </a:p>
          <a:p>
            <a:pPr algn="l">
              <a:spcAft>
                <a:spcPts val="300"/>
              </a:spcAft>
            </a:pPr>
            <a:r>
              <a:rPr sz="1200" b="0">
                <a:solidFill>
                  <a:srgbClr val="5B6372"/>
                </a:solidFill>
                <a:latin typeface="Arial"/>
              </a:rPr>
              <a:t>A fixed IP tied to a MAC address — printers and servers stay stable.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Exclusion range</a:t>
            </a:r>
          </a:p>
          <a:p>
            <a:pPr algn="l">
              <a:spcAft>
                <a:spcPts val="300"/>
              </a:spcAft>
            </a:pPr>
            <a:r>
              <a:rPr sz="1200" b="0">
                <a:solidFill>
                  <a:srgbClr val="5B6372"/>
                </a:solidFill>
                <a:latin typeface="Arial"/>
              </a:rPr>
              <a:t>Addresses inside the scope the server must never assign.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Options</a:t>
            </a:r>
          </a:p>
          <a:p>
            <a:pPr algn="l">
              <a:spcAft>
                <a:spcPts val="300"/>
              </a:spcAft>
            </a:pPr>
            <a:r>
              <a:rPr sz="1200" b="0">
                <a:solidFill>
                  <a:srgbClr val="5B6372"/>
                </a:solidFill>
                <a:latin typeface="Arial"/>
              </a:rPr>
              <a:t>The lease also carries mask, gateway, DNS servers, NTP and more.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Relay / IP helper</a:t>
            </a:r>
          </a:p>
          <a:p>
            <a:pPr algn="l">
              <a:spcAft>
                <a:spcPts val="300"/>
              </a:spcAft>
            </a:pPr>
            <a:r>
              <a:rPr sz="1200" b="0">
                <a:solidFill>
                  <a:srgbClr val="5B6372"/>
                </a:solidFill>
                <a:latin typeface="Arial"/>
              </a:rPr>
              <a:t>Forwards client broadcasts to a central DHCP server across subnets.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vs Dynamic vs APIPA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Static assignment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Manually configured per host</a:t>
            </a:r>
          </a:p>
          <a:p>
            <a:pPr>
              <a:spcAft>
                <a:spcPts val="900"/>
              </a:spcAft>
            </a:pPr>
            <a:r>
              <a:rPr sz="1400" b="0">
                <a:solidFill>
                  <a:srgbClr val="161B26"/>
                </a:solidFill>
                <a:latin typeface="Arial"/>
              </a:rPr>
              <a:t>•  For routers, servers, printers</a:t>
            </a:r>
          </a:p>
          <a:p>
            <a:pPr>
              <a:spcAft>
                <a:spcPts val="900"/>
              </a:spcAft>
            </a:pPr>
            <a:r>
              <a:rPr sz="1400" b="0">
                <a:solidFill>
                  <a:srgbClr val="161B26"/>
                </a:solidFill>
                <a:latin typeface="Arial"/>
              </a:rPr>
              <a:t>•  No dependency on DHCP</a:t>
            </a:r>
          </a:p>
          <a:p>
            <a:pPr>
              <a:spcAft>
                <a:spcPts val="900"/>
              </a:spcAft>
            </a:pPr>
            <a:r>
              <a:rPr sz="1400" b="0">
                <a:solidFill>
                  <a:srgbClr val="161B26"/>
                </a:solidFill>
                <a:latin typeface="Arial"/>
              </a:rPr>
              <a:t>•  Risk: typos, duplicates, drift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Dynamic (DHCP)</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Automatic from a scope</a:t>
            </a:r>
          </a:p>
          <a:p>
            <a:pPr>
              <a:spcAft>
                <a:spcPts val="900"/>
              </a:spcAft>
            </a:pPr>
            <a:r>
              <a:rPr sz="1400" b="0">
                <a:solidFill>
                  <a:srgbClr val="161B26"/>
                </a:solidFill>
                <a:latin typeface="Arial"/>
              </a:rPr>
              <a:t>•  Self-documenting via leases</a:t>
            </a:r>
          </a:p>
          <a:p>
            <a:pPr>
              <a:spcAft>
                <a:spcPts val="900"/>
              </a:spcAft>
            </a:pPr>
            <a:r>
              <a:rPr sz="1400" b="0">
                <a:solidFill>
                  <a:srgbClr val="161B26"/>
                </a:solidFill>
                <a:latin typeface="Arial"/>
              </a:rPr>
              <a:t>•  Scales to thousands of hosts</a:t>
            </a:r>
          </a:p>
          <a:p>
            <a:pPr>
              <a:spcAft>
                <a:spcPts val="900"/>
              </a:spcAft>
            </a:pPr>
            <a:r>
              <a:rPr sz="1400" b="0">
                <a:solidFill>
                  <a:srgbClr val="161B26"/>
                </a:solidFill>
                <a:latin typeface="Arial"/>
              </a:rPr>
              <a:t>•  One server per broadcast domain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APIPA fallback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169.254.0.0/16 self-assigned</a:t>
            </a:r>
          </a:p>
          <a:p>
            <a:pPr>
              <a:spcAft>
                <a:spcPts val="900"/>
              </a:spcAft>
            </a:pPr>
            <a:r>
              <a:rPr sz="1400" b="0">
                <a:solidFill>
                  <a:srgbClr val="161B26"/>
                </a:solidFill>
                <a:latin typeface="Arial"/>
              </a:rPr>
              <a:t>•  Means DHCP was unreachable</a:t>
            </a:r>
          </a:p>
          <a:p>
            <a:pPr>
              <a:spcAft>
                <a:spcPts val="900"/>
              </a:spcAft>
            </a:pPr>
            <a:r>
              <a:rPr sz="1400" b="0">
                <a:solidFill>
                  <a:srgbClr val="161B26"/>
                </a:solidFill>
                <a:latin typeface="Arial"/>
              </a:rPr>
              <a:t>•  Link-local talk only, no gateway</a:t>
            </a:r>
          </a:p>
          <a:p>
            <a:pPr>
              <a:spcAft>
                <a:spcPts val="900"/>
              </a:spcAft>
            </a:pPr>
            <a:r>
              <a:rPr sz="1400" b="0">
                <a:solidFill>
                  <a:srgbClr val="161B26"/>
                </a:solidFill>
                <a:latin typeface="Arial"/>
              </a:rPr>
              <a:t>•  A diagnostic clue, not a fix</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Watching DORA in tcpdump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Filter on 'port 67 or port 68' and renew a lease — all four messages appear.</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tcpdump -i eth0 -nn -v 'port 67 or port 68'</a:t>
            </a:r>
          </a:p>
          <a:p>
            <a:pPr>
              <a:spcAft>
                <a:spcPts val="200"/>
              </a:spcAft>
            </a:pPr>
            <a:r>
              <a:rPr sz="1100">
                <a:solidFill>
                  <a:srgbClr val="9CDCFE"/>
                </a:solidFill>
                <a:latin typeface="Consolas"/>
              </a:rPr>
              <a:t>0.0.0.0.68 &gt; 255.255.255.255.67:</a:t>
            </a:r>
          </a:p>
          <a:p>
            <a:pPr>
              <a:spcAft>
                <a:spcPts val="200"/>
              </a:spcAft>
            </a:pPr>
            <a:r>
              <a:rPr sz="1100">
                <a:solidFill>
                  <a:srgbClr val="9CDCFE"/>
                </a:solidFill>
                <a:latin typeface="Consolas"/>
              </a:rPr>
              <a:t>   DHCP-Message: Discover</a:t>
            </a:r>
          </a:p>
          <a:p>
            <a:pPr>
              <a:spcAft>
                <a:spcPts val="200"/>
              </a:spcAft>
            </a:pPr>
            <a:r>
              <a:rPr sz="1100">
                <a:solidFill>
                  <a:srgbClr val="9CDCFE"/>
                </a:solidFill>
                <a:latin typeface="Consolas"/>
              </a:rPr>
              <a:t>10.244.0.1.67 &gt; 255.255.255.255.68:</a:t>
            </a:r>
          </a:p>
          <a:p>
            <a:pPr>
              <a:spcAft>
                <a:spcPts val="200"/>
              </a:spcAft>
            </a:pPr>
            <a:r>
              <a:rPr sz="1100">
                <a:solidFill>
                  <a:srgbClr val="9CDCFE"/>
                </a:solidFill>
                <a:latin typeface="Consolas"/>
              </a:rPr>
              <a:t>   DHCP-Message: Offer  (your-ip 10.244.0.5)</a:t>
            </a:r>
          </a:p>
          <a:p>
            <a:pPr>
              <a:spcAft>
                <a:spcPts val="200"/>
              </a:spcAft>
            </a:pPr>
            <a:r>
              <a:rPr sz="1100">
                <a:solidFill>
                  <a:srgbClr val="9CDCFE"/>
                </a:solidFill>
                <a:latin typeface="Consolas"/>
              </a:rPr>
              <a:t>0.0.0.0.68 &gt; 255.255.255.255.67:</a:t>
            </a:r>
          </a:p>
          <a:p>
            <a:pPr>
              <a:spcAft>
                <a:spcPts val="200"/>
              </a:spcAft>
            </a:pPr>
            <a:r>
              <a:rPr sz="1100">
                <a:solidFill>
                  <a:srgbClr val="9CDCFE"/>
                </a:solidFill>
                <a:latin typeface="Consolas"/>
              </a:rPr>
              <a:t>   DHCP-Message: Request</a:t>
            </a:r>
          </a:p>
          <a:p>
            <a:pPr>
              <a:spcAft>
                <a:spcPts val="200"/>
              </a:spcAft>
            </a:pPr>
            <a:r>
              <a:rPr sz="1100">
                <a:solidFill>
                  <a:srgbClr val="9CDCFE"/>
                </a:solidFill>
                <a:latin typeface="Consolas"/>
              </a:rPr>
              <a:t>10.244.0.1.67 &gt; 255.255.255.255.68:</a:t>
            </a:r>
          </a:p>
          <a:p>
            <a:pPr>
              <a:spcAft>
                <a:spcPts val="200"/>
              </a:spcAft>
            </a:pPr>
            <a:r>
              <a:rPr sz="1100">
                <a:solidFill>
                  <a:srgbClr val="9CDCFE"/>
                </a:solidFill>
                <a:latin typeface="Consolas"/>
              </a:rPr>
              <a:t>   DHCP-Message: ACK  (lease-time 3600)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Broadcasts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client has no address yet, so Discover and Request come from 0.0.0.0.</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The Offer</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Carries the proposed IP, mask, gateway, DNS and lease time in DHCP options.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ACK seals it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Only after the ACK may the client actually use the address.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When DHCP Goes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Exhausted scope</a:t>
            </a:r>
          </a:p>
          <a:p>
            <a:pPr algn="l">
              <a:spcAft>
                <a:spcPts val="300"/>
              </a:spcAft>
            </a:pPr>
            <a:r>
              <a:rPr sz="1200" b="0">
                <a:solidFill>
                  <a:srgbClr val="5B6372"/>
                </a:solidFill>
                <a:latin typeface="Arial"/>
              </a:rPr>
              <a:t>More devices than addresses — shrink lease times or widen the scope.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Rogue DHCP server</a:t>
            </a:r>
          </a:p>
          <a:p>
            <a:pPr algn="l">
              <a:spcAft>
                <a:spcPts val="300"/>
              </a:spcAft>
            </a:pPr>
            <a:r>
              <a:rPr sz="1200" b="0">
                <a:solidFill>
                  <a:srgbClr val="5B6372"/>
                </a:solidFill>
                <a:latin typeface="Arial"/>
              </a:rPr>
              <a:t>An unauthorised server hands out bad leases — find it, then enable DHCP snooping.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Missing relay</a:t>
            </a:r>
          </a:p>
          <a:p>
            <a:pPr algn="l">
              <a:spcAft>
                <a:spcPts val="300"/>
              </a:spcAft>
            </a:pPr>
            <a:r>
              <a:rPr sz="1200" b="0">
                <a:solidFill>
                  <a:srgbClr val="5B6372"/>
                </a:solidFill>
                <a:latin typeface="Arial"/>
              </a:rPr>
              <a:t>Clients across a router never reach the server — configure an IP helper address.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IPAM</a:t>
            </a:r>
          </a:p>
          <a:p>
            <a:pPr algn="l">
              <a:spcAft>
                <a:spcPts val="300"/>
              </a:spcAft>
            </a:pPr>
            <a:r>
              <a:rPr sz="1200" b="0">
                <a:solidFill>
                  <a:srgbClr val="5B6372"/>
                </a:solidFill>
                <a:latin typeface="Arial"/>
              </a:rPr>
              <a:t>IP address management tools track scopes, leases and reservations across sites.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Lease Capture (DORA)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Capture all four DHCP DORA messages during a live lease renewal.</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Run tcpdump against UDP ports 67/68 while releasing and re-requesting your DHCP lease with dhclient, then identify the Discover, Offer, Request and Acknowledge messages in the capture.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capture showing the full DORA exchange and a freshly renewed lease on eth0.</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isc-dhcp-client (dhclient), tcpdump,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capture shows DHCPDISCOVER broadcast from 0.0.0.0 to 255.255.255.255, followed by Offer, Request and Ack; dhclient reports the address it bound.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Install the DHCP client and capture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Start a background capture on the DHCP</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Release the current lease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dhclient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 Discover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Stop the capture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kill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Capture all four DHCP DORA messages during a live lease renewal.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Lease Capture (DORA)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capture shows DHCPDISCOVER broadcast from 0.0.0.0 to 255.255.255.255, followed by Offer, Request and Ack; dhclient reports the address it bound.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Connectivity lost after release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 dhclient -v eth0 re-acquires a lease; if the session breaks, reload the playground.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DHCP packets in capture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filter is 'port 67 or port 68' and start the capture before releasing.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dhclient: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it: apt update &amp;&amp; apt install -y isc-dhcp-client.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1.3 · CLOUD</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network is now software.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Hypervisors, NFV and cloud VPCs rebuild every concept in this domain — switches, routers, firewalls, subnets — as code you can deploy in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VIRTUALIZATION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Virtualization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Type 1 hypervisor</a:t>
            </a:r>
          </a:p>
          <a:p>
            <a:pPr algn="l">
              <a:spcAft>
                <a:spcPts val="300"/>
              </a:spcAft>
            </a:pPr>
            <a:r>
              <a:rPr sz="1200" b="0">
                <a:solidFill>
                  <a:srgbClr val="5B6372"/>
                </a:solidFill>
                <a:latin typeface="Arial"/>
              </a:rPr>
              <a:t>Bare-metal: ESXi, Hyper-V, KVM — the production data center standard.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Type 2 hypervisor</a:t>
            </a:r>
          </a:p>
          <a:p>
            <a:pPr algn="l">
              <a:spcAft>
                <a:spcPts val="300"/>
              </a:spcAft>
            </a:pPr>
            <a:r>
              <a:rPr sz="1200" b="0">
                <a:solidFill>
                  <a:srgbClr val="5B6372"/>
                </a:solidFill>
                <a:latin typeface="Arial"/>
              </a:rPr>
              <a:t>Hosted on a desktop OS: VirtualBox, VMware Workstation — labs and testing.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virtualize</a:t>
            </a:r>
          </a:p>
          <a:p>
            <a:pPr algn="l">
              <a:spcAft>
                <a:spcPts val="300"/>
              </a:spcAft>
            </a:pPr>
            <a:r>
              <a:rPr sz="1200" b="0">
                <a:solidFill>
                  <a:srgbClr val="5B6372"/>
                </a:solidFill>
                <a:latin typeface="Arial"/>
              </a:rPr>
              <a:t>Consolidation, power savings, snapshots and fast recovery of whole systems.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vSwitch</a:t>
            </a:r>
          </a:p>
          <a:p>
            <a:pPr algn="l">
              <a:spcAft>
                <a:spcPts val="300"/>
              </a:spcAft>
            </a:pPr>
            <a:r>
              <a:rPr sz="1200" b="0">
                <a:solidFill>
                  <a:srgbClr val="5B6372"/>
                </a:solidFill>
                <a:latin typeface="Arial"/>
              </a:rPr>
              <a:t>A software switch connecting VM NICs — configure it like a physical switch.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Virtual disks</a:t>
            </a:r>
          </a:p>
          <a:p>
            <a:pPr algn="l">
              <a:spcAft>
                <a:spcPts val="300"/>
              </a:spcAft>
            </a:pPr>
            <a:r>
              <a:rPr sz="1200" b="0">
                <a:solidFill>
                  <a:srgbClr val="5B6372"/>
                </a:solidFill>
                <a:latin typeface="Arial"/>
              </a:rPr>
              <a:t>VHD/VHDX/VMDK files hold entire machines — portable and snapshottable.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Not emulation</a:t>
            </a:r>
          </a:p>
          <a:p>
            <a:pPr algn="l">
              <a:spcAft>
                <a:spcPts val="300"/>
              </a:spcAft>
            </a:pPr>
            <a:r>
              <a:rPr sz="1200" b="0">
                <a:solidFill>
                  <a:srgbClr val="5B6372"/>
                </a:solidFill>
                <a:latin typeface="Arial"/>
              </a:rPr>
              <a:t>Virtualization shares real CPU hardware; emulation imitates different hardware.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MODERN NETWORKS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NFV and SDN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NFV</a:t>
            </a:r>
          </a:p>
          <a:p>
            <a:pPr algn="l">
              <a:spcAft>
                <a:spcPts val="300"/>
              </a:spcAft>
            </a:pPr>
            <a:r>
              <a:rPr sz="1200" b="0">
                <a:solidFill>
                  <a:srgbClr val="5B6372"/>
                </a:solidFill>
                <a:latin typeface="Arial"/>
              </a:rPr>
              <a:t>Network functions — router, firewall, load balancer — shipped as software appliances.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SDN</a:t>
            </a:r>
          </a:p>
          <a:p>
            <a:pPr algn="l">
              <a:spcAft>
                <a:spcPts val="300"/>
              </a:spcAft>
            </a:pPr>
            <a:r>
              <a:rPr sz="1200" b="0">
                <a:solidFill>
                  <a:srgbClr val="5B6372"/>
                </a:solidFill>
                <a:latin typeface="Arial"/>
              </a:rPr>
              <a:t>Splits the control plane from the data plane; the network is programmed centrally.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planes</a:t>
            </a:r>
          </a:p>
          <a:p>
            <a:pPr algn="l">
              <a:spcAft>
                <a:spcPts val="300"/>
              </a:spcAft>
            </a:pPr>
            <a:r>
              <a:rPr sz="1200" b="0">
                <a:solidFill>
                  <a:srgbClr val="5B6372"/>
                </a:solidFill>
                <a:latin typeface="Arial"/>
              </a:rPr>
              <a:t>Data forwards packets, control decides routes, management configures it all.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Distributed switching</a:t>
            </a:r>
          </a:p>
          <a:p>
            <a:pPr algn="l">
              <a:spcAft>
                <a:spcPts val="300"/>
              </a:spcAft>
            </a:pPr>
            <a:r>
              <a:rPr sz="1200" b="0">
                <a:solidFill>
                  <a:srgbClr val="5B6372"/>
                </a:solidFill>
                <a:latin typeface="Arial"/>
              </a:rPr>
              <a:t>One logical switch spans every host — configure once, applied everywhere.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Service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Provider manages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You manage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IaaS</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Hardware, hypervisor</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OS, apps, data</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AWS EC2</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PaaS</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Up to the runtime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Code and data</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Heroku, App Service</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SaaS</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whole stack</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Usage and config</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Microsoft 365</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DaaS</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Virtual desktops</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Profiles, policy</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Windows 365</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more the provider manages, the less you control — pick per workload, not per company.</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Deployment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Who uses it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Trade-off</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Public</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Anyone, shared infrastructure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Lowest cost, least control</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Private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organisation</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Full control, full cost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Hybrid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mix of both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Flexibility + complexity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Community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shared-interest group</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Split compliance costs</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Hybrid is the enterprise norm: sensitive systems stay private, elastic workloads burst to public.</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Characteristics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Scalability</a:t>
            </a:r>
          </a:p>
          <a:p>
            <a:pPr algn="l">
              <a:spcAft>
                <a:spcPts val="300"/>
              </a:spcAft>
            </a:pPr>
            <a:r>
              <a:rPr sz="1200" b="0">
                <a:solidFill>
                  <a:srgbClr val="5B6372"/>
                </a:solidFill>
                <a:latin typeface="Arial"/>
              </a:rPr>
              <a:t>Grow capacity on demand without buying or racking hardware.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Elasticity</a:t>
            </a:r>
          </a:p>
          <a:p>
            <a:pPr algn="l">
              <a:spcAft>
                <a:spcPts val="300"/>
              </a:spcAft>
            </a:pPr>
            <a:r>
              <a:rPr sz="1200" b="0">
                <a:solidFill>
                  <a:srgbClr val="5B6372"/>
                </a:solidFill>
                <a:latin typeface="Arial"/>
              </a:rPr>
              <a:t>Grow and shrink automatically with load — pay only for what runs.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Multitenancy</a:t>
            </a:r>
          </a:p>
          <a:p>
            <a:pPr algn="l">
              <a:spcAft>
                <a:spcPts val="300"/>
              </a:spcAft>
            </a:pPr>
            <a:r>
              <a:rPr sz="1200" b="0">
                <a:solidFill>
                  <a:srgbClr val="5B6372"/>
                </a:solidFill>
                <a:latin typeface="Arial"/>
              </a:rPr>
              <a:t>Many customers share the provider's infrastructure, isolated logically.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Cloud IAM grants every identity only the access it needs — nothing more.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Inside a VPC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VPC</a:t>
            </a:r>
          </a:p>
          <a:p>
            <a:pPr algn="l">
              <a:spcAft>
                <a:spcPts val="300"/>
              </a:spcAft>
            </a:pPr>
            <a:r>
              <a:rPr sz="1200" b="0">
                <a:solidFill>
                  <a:srgbClr val="5B6372"/>
                </a:solidFill>
                <a:latin typeface="Arial"/>
              </a:rPr>
              <a:t>Your private software-defined network in a cloud region, with a CIDR block you choose.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Subnets</a:t>
            </a:r>
          </a:p>
          <a:p>
            <a:pPr algn="l">
              <a:spcAft>
                <a:spcPts val="300"/>
              </a:spcAft>
            </a:pPr>
            <a:r>
              <a:rPr sz="1200" b="0">
                <a:solidFill>
                  <a:srgbClr val="5B6372"/>
                </a:solidFill>
                <a:latin typeface="Arial"/>
              </a:rPr>
              <a:t>Carve the VPC CIDR per availability zone; public subnets route to an internet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 tables</a:t>
            </a:r>
          </a:p>
          <a:p>
            <a:pPr algn="l">
              <a:spcAft>
                <a:spcPts val="300"/>
              </a:spcAft>
            </a:pPr>
            <a:r>
              <a:rPr sz="1200" b="0">
                <a:solidFill>
                  <a:srgbClr val="5B6372"/>
                </a:solidFill>
                <a:latin typeface="Arial"/>
              </a:rPr>
              <a:t>Decide where each subnet's traffic goes — the VPC's built-in routers.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groups</a:t>
            </a:r>
          </a:p>
          <a:p>
            <a:pPr algn="l">
              <a:spcAft>
                <a:spcPts val="300"/>
              </a:spcAft>
            </a:pPr>
            <a:r>
              <a:rPr sz="1200" b="0">
                <a:solidFill>
                  <a:srgbClr val="5B6372"/>
                </a:solidFill>
                <a:latin typeface="Arial"/>
              </a:rPr>
              <a:t>Stateful per-instance firewalls — allow rules only, replies pass automatically.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ACLs</a:t>
            </a:r>
          </a:p>
          <a:p>
            <a:pPr algn="l">
              <a:spcAft>
                <a:spcPts val="300"/>
              </a:spcAft>
            </a:pPr>
            <a:r>
              <a:rPr sz="1200" b="0">
                <a:solidFill>
                  <a:srgbClr val="5B6372"/>
                </a:solidFill>
                <a:latin typeface="Arial"/>
              </a:rPr>
              <a:t>Stateless subnet-level filters supporting both allow and deny rules.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Gateways</a:t>
            </a:r>
          </a:p>
          <a:p>
            <a:pPr algn="l">
              <a:spcAft>
                <a:spcPts val="300"/>
              </a:spcAft>
            </a:pPr>
            <a:r>
              <a:rPr sz="1200" b="0">
                <a:solidFill>
                  <a:srgbClr val="5B6372"/>
                </a:solidFill>
                <a:latin typeface="Arial"/>
              </a:rPr>
              <a:t>Internet, NAT and VPN gateways connect the VPC to everything outside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Groups vs Network ACLs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Security group (instance level)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Network ACL (subnet level)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Stateful — return traffic auto-allowed</a:t>
            </a:r>
          </a:p>
          <a:p>
            <a:pPr>
              <a:spcAft>
                <a:spcPts val="1000"/>
              </a:spcAft>
            </a:pPr>
            <a:r>
              <a:rPr sz="1600" b="0">
                <a:solidFill>
                  <a:srgbClr val="161B26"/>
                </a:solidFill>
                <a:latin typeface="Arial"/>
              </a:rPr>
              <a:t>•  Allow rules only</a:t>
            </a:r>
          </a:p>
          <a:p>
            <a:pPr>
              <a:spcAft>
                <a:spcPts val="1000"/>
              </a:spcAft>
            </a:pPr>
            <a:r>
              <a:rPr sz="1600" b="0">
                <a:solidFill>
                  <a:srgbClr val="161B26"/>
                </a:solidFill>
                <a:latin typeface="Arial"/>
              </a:rPr>
              <a:t>•  Attached to instances / NICs</a:t>
            </a:r>
          </a:p>
          <a:p>
            <a:pPr>
              <a:spcAft>
                <a:spcPts val="1000"/>
              </a:spcAft>
            </a:pPr>
            <a:r>
              <a:rPr sz="1600" b="0">
                <a:solidFill>
                  <a:srgbClr val="161B26"/>
                </a:solidFill>
                <a:latin typeface="Arial"/>
              </a:rPr>
              <a:t>•  First line for app-tier isolation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Stateless — reply needs its own rule</a:t>
            </a:r>
          </a:p>
          <a:p>
            <a:pPr>
              <a:spcAft>
                <a:spcPts val="1000"/>
              </a:spcAft>
            </a:pPr>
            <a:r>
              <a:rPr sz="1600" b="0">
                <a:solidFill>
                  <a:srgbClr val="161B26"/>
                </a:solidFill>
                <a:latin typeface="Arial"/>
              </a:rPr>
              <a:t>•  Allow and deny rules, numbered</a:t>
            </a:r>
          </a:p>
          <a:p>
            <a:pPr>
              <a:spcAft>
                <a:spcPts val="1000"/>
              </a:spcAft>
            </a:pPr>
            <a:r>
              <a:rPr sz="1600" b="0">
                <a:solidFill>
                  <a:srgbClr val="161B26"/>
                </a:solidFill>
                <a:latin typeface="Arial"/>
              </a:rPr>
              <a:t>•  Applies to everything in the subnet</a:t>
            </a:r>
          </a:p>
          <a:p>
            <a:pPr>
              <a:spcAft>
                <a:spcPts val="1000"/>
              </a:spcAft>
            </a:pPr>
            <a:r>
              <a:rPr sz="1600" b="0">
                <a:solidFill>
                  <a:srgbClr val="161B26"/>
                </a:solidFill>
                <a:latin typeface="Arial"/>
              </a:rPr>
              <a:t>•  Broad guardrails and IP blacklists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Packet Leaves Your VPC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SG egress check</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Subnet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NACL evaluated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Route table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0.0.0.0/0 -&gt; GW</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Gateway</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IGW or NAT GW</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Internet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public source IP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Cloud troubleshooting is this pipeline in order: instance firewall, subnet ACL, route, gateway — the same layered thinking as the OSI model.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Connecting to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VPN over Internet</a:t>
            </a:r>
          </a:p>
          <a:p>
            <a:pPr algn="l">
              <a:spcAft>
                <a:spcPts val="300"/>
              </a:spcAft>
            </a:pPr>
            <a:r>
              <a:rPr sz="1200" b="0">
                <a:solidFill>
                  <a:srgbClr val="5B6372"/>
                </a:solidFill>
                <a:latin typeface="Arial"/>
              </a:rPr>
              <a:t>IPsec tunnels to a cloud VPN gateway — quick, cheap, encrypted.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Direct Connect</a:t>
            </a:r>
          </a:p>
          <a:p>
            <a:pPr algn="l">
              <a:spcAft>
                <a:spcPts val="300"/>
              </a:spcAft>
            </a:pPr>
            <a:r>
              <a:rPr sz="1200" b="0">
                <a:solidFill>
                  <a:srgbClr val="5B6372"/>
                </a:solidFill>
                <a:latin typeface="Arial"/>
              </a:rPr>
              <a:t>Private circuits (ExpressRoute, Direct Connect) — predictable latency and bandwidth.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Transit gateways</a:t>
            </a:r>
          </a:p>
          <a:p>
            <a:pPr algn="l">
              <a:spcAft>
                <a:spcPts val="300"/>
              </a:spcAft>
            </a:pPr>
            <a:r>
              <a:rPr sz="1200" b="0">
                <a:solidFill>
                  <a:srgbClr val="5B6372"/>
                </a:solidFill>
                <a:latin typeface="Arial"/>
              </a:rPr>
              <a:t>Hub-and-spoke interconnect for many VPCs and on-prem sites.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 gateway</a:t>
            </a:r>
          </a:p>
          <a:p>
            <a:pPr algn="l">
              <a:spcAft>
                <a:spcPts val="300"/>
              </a:spcAft>
            </a:pPr>
            <a:r>
              <a:rPr sz="1200" b="0">
                <a:solidFill>
                  <a:srgbClr val="5B6372"/>
                </a:solidFill>
                <a:latin typeface="Arial"/>
              </a:rPr>
              <a:t>Lets private subnets reach out to the Internet without being reachable inbound.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1.8 · MODERN NETWORKS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Infrastructure as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IaC</a:t>
            </a:r>
          </a:p>
          <a:p>
            <a:pPr algn="l">
              <a:spcAft>
                <a:spcPts val="300"/>
              </a:spcAft>
            </a:pPr>
            <a:r>
              <a:rPr sz="1200" b="0">
                <a:solidFill>
                  <a:srgbClr val="5B6372"/>
                </a:solidFill>
                <a:latin typeface="Arial"/>
              </a:rPr>
              <a:t>Networks described in files (Terraform, CloudFormation) — versioned like source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Automation</a:t>
            </a:r>
          </a:p>
          <a:p>
            <a:pPr algn="l">
              <a:spcAft>
                <a:spcPts val="300"/>
              </a:spcAft>
            </a:pPr>
            <a:r>
              <a:rPr sz="1200" b="0">
                <a:solidFill>
                  <a:srgbClr val="5B6372"/>
                </a:solidFill>
                <a:latin typeface="Arial"/>
              </a:rPr>
              <a:t>Provisioning without manual steps: consistent, repeatable, reviewable.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Orchestration</a:t>
            </a:r>
          </a:p>
          <a:p>
            <a:pPr algn="l">
              <a:spcAft>
                <a:spcPts val="300"/>
              </a:spcAft>
            </a:pPr>
            <a:r>
              <a:rPr sz="1200" b="0">
                <a:solidFill>
                  <a:srgbClr val="5B6372"/>
                </a:solidFill>
                <a:latin typeface="Arial"/>
              </a:rPr>
              <a:t>Chains automated tasks into whole-environment deployments.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wins</a:t>
            </a:r>
          </a:p>
          <a:p>
            <a:pPr algn="l">
              <a:spcAft>
                <a:spcPts val="300"/>
              </a:spcAft>
            </a:pPr>
            <a:r>
              <a:rPr sz="1200" b="0">
                <a:solidFill>
                  <a:srgbClr val="5B6372"/>
                </a:solidFill>
                <a:latin typeface="Arial"/>
              </a:rPr>
              <a:t>A VPC built from code can be rebuilt identically in minutes — Lab 7 does it by hand once.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Public, Private or Hybrid?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compliance or data residency
force workloads on-premises?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private or hybrid</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Keep regulated data on private infrastructure and burst stateless workloads to public cloud through a hybrid design.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public first</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Start public for elasticity and low capital cost; revisit only if scale, latency or new rules demand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Cost surprises come from egress traffic — model data flows before you commit.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a Cloud VPC with Namespaces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VPC-style virtual network from namespaces, a bridge and veth pairs.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Recreate cloud VPC building blocks on one Linux host: two network namespaces act as VMs, a Linux bridge acts as the virtual switch, and veth pairs cable them together on subnet 10.0.1.0/24.</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isolated 'VMs' (web and db) pinging each other through a Linux bridge — a working VPC subnet.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(ip netns, ip link, veth, bridge),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netns exec web ping -c2 10.0.1.20 returns two replies — two isolated hosts sharing one subnet through a bridge, with no router involved.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two namespaces to act as the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a veth 'virtual cable' for each</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Move the VM-side ends into their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Assign IPs in the same /24 and bring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VPC-style virtual network from namespaces, a bridge and veth pairs.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a Cloud VPC with Namespaces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netns exec web ping -c2 10.0.1.20 returns two replies — two isolated hosts sharing one subnet through a bridge, with no router involved.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Network is unreachable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Bring interfaces up in both namespaces, including lo, and re-check the 10.0.1.x addresses.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Destination Host Unreachable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Verify both bridge-side ends are enslaved and up: ip link set br-web master br0 (and br-db).</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find device veth-web</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end now lives inside the namespace — manage it via ip netns exec web ip link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1 Exam-Day Anchors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OSI in order</a:t>
            </a:r>
          </a:p>
          <a:p>
            <a:pPr algn="l">
              <a:spcAft>
                <a:spcPts val="300"/>
              </a:spcAft>
            </a:pPr>
            <a:r>
              <a:rPr sz="1200" b="0">
                <a:solidFill>
                  <a:srgbClr val="5B6372"/>
                </a:solidFill>
                <a:latin typeface="Arial"/>
              </a:rPr>
              <a:t>Please Do Not Throw Sausage Pizza Away — and PDUs: bits, frame, packet, segment,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table cold</a:t>
            </a:r>
          </a:p>
          <a:p>
            <a:pPr algn="l">
              <a:spcAft>
                <a:spcPts val="300"/>
              </a:spcAft>
            </a:pPr>
            <a:r>
              <a:rPr sz="1200" b="0">
                <a:solidFill>
                  <a:srgbClr val="5B6372"/>
                </a:solidFill>
                <a:latin typeface="Arial"/>
              </a:rPr>
              <a:t>FTP 21, SSH 22, DNS 53, DHCP 67/68, HTTP 80, HTTPS 443, NTP 123, RDP 3389.</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RFC1918 ranges</a:t>
            </a:r>
          </a:p>
          <a:p>
            <a:pPr algn="l">
              <a:spcAft>
                <a:spcPts val="300"/>
              </a:spcAft>
            </a:pPr>
            <a:r>
              <a:rPr sz="1200" b="0">
                <a:solidFill>
                  <a:srgbClr val="5B6372"/>
                </a:solidFill>
                <a:latin typeface="Arial"/>
              </a:rPr>
              <a:t>10/8, 172.16/12, 192.168/16 — private, NATed, never routed publicly.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Subnet math</a:t>
            </a:r>
          </a:p>
          <a:p>
            <a:pPr algn="l">
              <a:spcAft>
                <a:spcPts val="300"/>
              </a:spcAft>
            </a:pPr>
            <a:r>
              <a:rPr sz="1200" b="0">
                <a:solidFill>
                  <a:srgbClr val="5B6372"/>
                </a:solidFill>
                <a:latin typeface="Arial"/>
              </a:rPr>
              <a:t>Block size = 256 minus the mask's last octet; hosts = 2^host-bits minus 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DORA + SLAAC</a:t>
            </a:r>
          </a:p>
          <a:p>
            <a:pPr algn="l">
              <a:spcAft>
                <a:spcPts val="300"/>
              </a:spcAft>
            </a:pPr>
            <a:r>
              <a:rPr sz="1200" b="0">
                <a:solidFill>
                  <a:srgbClr val="5B6372"/>
                </a:solidFill>
                <a:latin typeface="Arial"/>
              </a:rPr>
              <a:t>DHCP is Discover-Offer-Request-Ack; IPv6 can self-configure from an RA.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layers</a:t>
            </a:r>
          </a:p>
          <a:p>
            <a:pPr algn="l">
              <a:spcAft>
                <a:spcPts val="300"/>
              </a:spcAft>
            </a:pPr>
            <a:r>
              <a:rPr sz="1200" b="0">
                <a:solidFill>
                  <a:srgbClr val="5B6372"/>
                </a:solidFill>
                <a:latin typeface="Arial"/>
              </a:rPr>
              <a:t>SG then NACL then route then gateway — the packet pipeline of every VPC.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NEXT · DOMAIN 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Concepts are the map. Everything else is the road.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2 puts these concepts to work: routing, switching, VLANs and wireless — built on the addressing and models you now own.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Networking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Capture live traffic and map each protocol header to its OSI layer.</a:t>
            </a:r>
          </a:p>
          <a:p>
            <a:pPr>
              <a:spcAft>
                <a:spcPts val="1000"/>
              </a:spcAft>
            </a:pPr>
            <a:r>
              <a:rPr sz="1600" b="0">
                <a:solidFill>
                  <a:srgbClr val="161B26"/>
                </a:solidFill>
                <a:latin typeface="Arial"/>
              </a:rPr>
              <a:t>•  You can now: Split a /24 into four /26 subnets and verify the math with the TIS IP Calculator.</a:t>
            </a:r>
          </a:p>
          <a:p>
            <a:pPr>
              <a:spcAft>
                <a:spcPts val="1000"/>
              </a:spcAft>
            </a:pPr>
            <a:r>
              <a:rPr sz="1600" b="0">
                <a:solidFill>
                  <a:srgbClr val="161B26"/>
                </a:solidFill>
                <a:latin typeface="Arial"/>
              </a:rPr>
              <a:t>•  You can now: Plan an IPv6 /64, add a global address, and ping link-local using a zone ID.</a:t>
            </a:r>
          </a:p>
          <a:p>
            <a:pPr>
              <a:spcAft>
                <a:spcPts val="1000"/>
              </a:spcAft>
            </a:pPr>
            <a:r>
              <a:rPr sz="1600" b="0">
                <a:solidFill>
                  <a:srgbClr val="161B26"/>
                </a:solidFill>
                <a:latin typeface="Arial"/>
              </a:rPr>
              <a:t>•  You can now: Connect protocol names to well-known port numbers using ss and nmap.</a:t>
            </a:r>
          </a:p>
          <a:p>
            <a:pPr>
              <a:spcAft>
                <a:spcPts val="1000"/>
              </a:spcAft>
            </a:pPr>
            <a:r>
              <a:rPr sz="1600" b="0">
                <a:solidFill>
                  <a:srgbClr val="161B26"/>
                </a:solidFill>
                <a:latin typeface="Arial"/>
              </a:rPr>
              <a:t>•  You can now: Query every N10-009 DNS record type with dig and interpret the answers.</a:t>
            </a:r>
          </a:p>
          <a:p>
            <a:pPr>
              <a:spcAft>
                <a:spcPts val="1000"/>
              </a:spcAft>
            </a:pPr>
            <a:r>
              <a:rPr sz="1600" b="0">
                <a:solidFill>
                  <a:srgbClr val="161B26"/>
                </a:solidFill>
                <a:latin typeface="Arial"/>
              </a:rPr>
              <a:t>•  You can now: Capture all four DHCP DORA messages during a live lease renewal.</a:t>
            </a:r>
          </a:p>
          <a:p>
            <a:pPr>
              <a:spcAft>
                <a:spcPts val="1000"/>
              </a:spcAft>
            </a:pPr>
            <a:r>
              <a:rPr sz="1600" b="0">
                <a:solidFill>
                  <a:srgbClr val="161B26"/>
                </a:solidFill>
                <a:latin typeface="Arial"/>
              </a:rPr>
              <a:t>•  You can now: Build a VPC-style virtual network from namespaces, a bridge and veth pairs.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2.0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Implementation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Routing technologies · switching technologies · wireless devices · physical installations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advClick="1">
    <p:push dir="l"/>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8–10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Static Routing Between Two Subnets</a:t>
            </a:r>
          </a:p>
          <a:p>
            <a:pPr>
              <a:spcAft>
                <a:spcPts val="900"/>
              </a:spcAft>
            </a:pPr>
            <a:r>
              <a:rPr sz="1400" b="0">
                <a:solidFill>
                  <a:srgbClr val="161B26"/>
                </a:solidFill>
                <a:latin typeface="Arial"/>
              </a:rPr>
              <a:t>•  802.1Q VLAN Tagging</a:t>
            </a:r>
          </a:p>
          <a:p>
            <a:pPr>
              <a:spcAft>
                <a:spcPts val="900"/>
              </a:spcAft>
            </a:pPr>
            <a:r>
              <a:rPr sz="1400" b="0">
                <a:solidFill>
                  <a:srgbClr val="161B26"/>
                </a:solidFill>
                <a:latin typeface="Arial"/>
              </a:rPr>
              <a:t>•  Link Aggregation (LACP Bond)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11–13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Wireless Concepts and Channel Survey</a:t>
            </a:r>
          </a:p>
          <a:p>
            <a:pPr>
              <a:spcAft>
                <a:spcPts val="900"/>
              </a:spcAft>
            </a:pPr>
            <a:r>
              <a:rPr sz="1400" b="0">
                <a:solidFill>
                  <a:srgbClr val="161B26"/>
                </a:solidFill>
                <a:latin typeface="Arial"/>
              </a:rPr>
              <a:t>•  NAT and PAT with iptables</a:t>
            </a:r>
          </a:p>
          <a:p>
            <a:pPr>
              <a:spcAft>
                <a:spcPts val="900"/>
              </a:spcAft>
            </a:pPr>
            <a:r>
              <a:rPr sz="1400" b="0">
                <a:solidFill>
                  <a:srgbClr val="161B26"/>
                </a:solidFill>
                <a:latin typeface="Arial"/>
              </a:rPr>
              <a:t>•  DHCP Server with isc-dhcp-server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Authoritative DNS with BIND9</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20%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2 — Network Implementation.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Routing, switching, wireless and physical installations — 20% of the N10-009 exam and the heart of the build-it job role.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Routers Connect Network IDs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Routers care about destinations</a:t>
            </a:r>
          </a:p>
          <a:p>
            <a:pPr algn="l">
              <a:spcAft>
                <a:spcPts val="300"/>
              </a:spcAft>
            </a:pPr>
            <a:r>
              <a:rPr sz="1200" b="0">
                <a:solidFill>
                  <a:srgbClr val="5B6372"/>
                </a:solidFill>
                <a:latin typeface="Arial"/>
              </a:rPr>
              <a:t>A router reads the destination network ID, looks it up in its routing table and forwards out the matching interface.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Any medium</a:t>
            </a:r>
          </a:p>
          <a:p>
            <a:pPr algn="l">
              <a:spcAft>
                <a:spcPts val="300"/>
              </a:spcAft>
            </a:pPr>
            <a:r>
              <a:rPr sz="1200" b="0">
                <a:solidFill>
                  <a:srgbClr val="5B6372"/>
                </a:solidFill>
                <a:latin typeface="Arial"/>
              </a:rPr>
              <a:t>Routing is Layer 3 — a router joins Ethernet, fiber and wireless segments because IP is independent of the link below.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router has a routing table</a:t>
            </a:r>
          </a:p>
          <a:p>
            <a:pPr algn="l">
              <a:spcAft>
                <a:spcPts val="300"/>
              </a:spcAft>
            </a:pPr>
            <a:r>
              <a:rPr sz="1200" b="0">
                <a:solidFill>
                  <a:srgbClr val="5B6372"/>
                </a:solidFill>
                <a:latin typeface="Arial"/>
              </a:rPr>
              <a:t>The table maps destination networks to a next hop or exit interface; no match and no default route means the packet is dropped.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 route</a:t>
            </a:r>
          </a:p>
          <a:p>
            <a:pPr algn="l">
              <a:spcAft>
                <a:spcPts val="300"/>
              </a:spcAft>
            </a:pPr>
            <a:r>
              <a:rPr sz="1200" b="0">
                <a:solidFill>
                  <a:srgbClr val="5B6372"/>
                </a:solidFill>
                <a:latin typeface="Arial"/>
              </a:rPr>
              <a:t>0.0.0.0/0 is the gateway of last resort — everything without a more specific match goes there, usually upstream.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Gateway router</a:t>
            </a:r>
          </a:p>
          <a:p>
            <a:pPr algn="l">
              <a:spcAft>
                <a:spcPts val="300"/>
              </a:spcAft>
            </a:pPr>
            <a:r>
              <a:rPr sz="1200" b="0">
                <a:solidFill>
                  <a:srgbClr val="5B6372"/>
                </a:solidFill>
                <a:latin typeface="Arial"/>
              </a:rPr>
              <a:t>The router end hosts point at (their default gateway); it moves traffic between the LAN and everything beyond.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Upstream router</a:t>
            </a:r>
          </a:p>
          <a:p>
            <a:pPr algn="l">
              <a:spcAft>
                <a:spcPts val="300"/>
              </a:spcAft>
            </a:pPr>
            <a:r>
              <a:rPr sz="1200" b="0">
                <a:solidFill>
                  <a:srgbClr val="5B6372"/>
                </a:solidFill>
                <a:latin typeface="Arial"/>
              </a:rPr>
              <a:t>The next router towards the ISP and Internet core — SOHO gateways simply default-route everything upstream.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Routing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Destination + prefix</a:t>
            </a:r>
          </a:p>
          <a:p>
            <a:pPr algn="l">
              <a:spcAft>
                <a:spcPts val="300"/>
              </a:spcAft>
            </a:pPr>
            <a:r>
              <a:rPr sz="1200" b="0">
                <a:solidFill>
                  <a:srgbClr val="5B6372"/>
                </a:solidFill>
                <a:latin typeface="Arial"/>
              </a:rPr>
              <a:t>The network this row matches, e.g. 10.2.2.0/24 — the prefix length says how many leading bits must match.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Next hop (via)</a:t>
            </a:r>
          </a:p>
          <a:p>
            <a:pPr algn="l">
              <a:spcAft>
                <a:spcPts val="300"/>
              </a:spcAft>
            </a:pPr>
            <a:r>
              <a:rPr sz="1200" b="0">
                <a:solidFill>
                  <a:srgbClr val="5B6372"/>
                </a:solidFill>
                <a:latin typeface="Arial"/>
              </a:rPr>
              <a:t>The neighbouring router's IP the packet is handed to; it must sit on a directly connected subnet.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Interface (dev)</a:t>
            </a:r>
          </a:p>
          <a:p>
            <a:pPr algn="l">
              <a:spcAft>
                <a:spcPts val="300"/>
              </a:spcAft>
            </a:pPr>
            <a:r>
              <a:rPr sz="1200" b="0">
                <a:solidFill>
                  <a:srgbClr val="5B6372"/>
                </a:solidFill>
                <a:latin typeface="Arial"/>
              </a:rPr>
              <a:t>Which NIC the frame leaves on; connected routes appear automatically when an IP is configured.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a:t>
            </a:r>
          </a:p>
          <a:p>
            <a:pPr algn="l">
              <a:spcAft>
                <a:spcPts val="300"/>
              </a:spcAft>
            </a:pPr>
            <a:r>
              <a:rPr sz="1200" b="0">
                <a:solidFill>
                  <a:srgbClr val="5B6372"/>
                </a:solidFill>
                <a:latin typeface="Arial"/>
              </a:rPr>
              <a:t>Tie-breaker between equal routes from the same protocol — lower wins.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See it yourself</a:t>
            </a:r>
          </a:p>
          <a:p>
            <a:pPr algn="l">
              <a:spcAft>
                <a:spcPts val="300"/>
              </a:spcAft>
            </a:pPr>
            <a:r>
              <a:rPr sz="1200" b="0">
                <a:solidFill>
                  <a:srgbClr val="5B6372"/>
                </a:solidFill>
                <a:latin typeface="Arial"/>
              </a:rPr>
              <a:t>Linux: ip route. Windows: route print or netstat -r. Cisco: show ip route.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&amp; multicast</a:t>
            </a:r>
          </a:p>
          <a:p>
            <a:pPr algn="l">
              <a:spcAft>
                <a:spcPts val="300"/>
              </a:spcAft>
            </a:pPr>
            <a:r>
              <a:rPr sz="1200" b="0">
                <a:solidFill>
                  <a:srgbClr val="5B6372"/>
                </a:solidFill>
                <a:latin typeface="Arial"/>
              </a:rPr>
              <a:t>127.0.0.0/8 stays on-box; 224.0.0.0/4 (class D) is multicast — both appear as special rows.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Metrics and Convergence — Key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Hop count</a:t>
            </a:r>
          </a:p>
          <a:p>
            <a:pPr algn="l">
              <a:spcAft>
                <a:spcPts val="300"/>
              </a:spcAft>
            </a:pPr>
            <a:r>
              <a:rPr sz="1200" b="0">
                <a:solidFill>
                  <a:srgbClr val="5B6372"/>
                </a:solidFill>
                <a:latin typeface="Arial"/>
              </a:rPr>
              <a:t>Routers crossed to reach the destination — RIP's only measure, blind to link speed.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Bandwidth / cost</a:t>
            </a:r>
          </a:p>
          <a:p>
            <a:pPr algn="l">
              <a:spcAft>
                <a:spcPts val="300"/>
              </a:spcAft>
            </a:pPr>
            <a:r>
              <a:rPr sz="1200" b="0">
                <a:solidFill>
                  <a:srgbClr val="5B6372"/>
                </a:solidFill>
                <a:latin typeface="Arial"/>
              </a:rPr>
              <a:t>OSPF derives cost from interface bandwidth, so a 3-hop 10G path beats a 1-hop 100M link.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Latency / delay</a:t>
            </a:r>
          </a:p>
          <a:p>
            <a:pPr algn="l">
              <a:spcAft>
                <a:spcPts val="300"/>
              </a:spcAft>
            </a:pPr>
            <a:r>
              <a:rPr sz="1200" b="0">
                <a:solidFill>
                  <a:srgbClr val="5B6372"/>
                </a:solidFill>
                <a:latin typeface="Arial"/>
              </a:rPr>
              <a:t>EIGRP factors delay into its composite metric; satellite links get penalised.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MTU</a:t>
            </a:r>
          </a:p>
          <a:p>
            <a:pPr algn="l">
              <a:spcAft>
                <a:spcPts val="300"/>
              </a:spcAft>
            </a:pPr>
            <a:r>
              <a:rPr sz="1200" b="0">
                <a:solidFill>
                  <a:srgbClr val="5B6372"/>
                </a:solidFill>
                <a:latin typeface="Arial"/>
              </a:rPr>
              <a:t>Maximum transmission unit per link — mismatches cause fragmentation or silent drops (Lab 33).</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Convergence</a:t>
            </a:r>
          </a:p>
          <a:p>
            <a:pPr algn="l">
              <a:spcAft>
                <a:spcPts val="300"/>
              </a:spcAft>
            </a:pPr>
            <a:r>
              <a:rPr sz="1200" b="0">
                <a:solidFill>
                  <a:srgbClr val="5B6372"/>
                </a:solidFill>
                <a:latin typeface="Arial"/>
              </a:rPr>
              <a:t>The state where every router's table reflects the current topology; faster is better.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Convergence window</a:t>
            </a:r>
          </a:p>
          <a:p>
            <a:pPr algn="l">
              <a:spcAft>
                <a:spcPts val="300"/>
              </a:spcAft>
            </a:pPr>
            <a:r>
              <a:rPr sz="1200" b="0">
                <a:solidFill>
                  <a:srgbClr val="5B6372"/>
                </a:solidFill>
                <a:latin typeface="Arial"/>
              </a:rPr>
              <a:t>Between failure and re-convergence, packets can loop or blackhole — protocols race to shrink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vs Dynamic Routing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Static routing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Dynamic routing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Admin types each route by hand — persistent until removed</a:t>
            </a:r>
          </a:p>
          <a:p>
            <a:pPr>
              <a:spcAft>
                <a:spcPts val="1000"/>
              </a:spcAft>
            </a:pPr>
            <a:r>
              <a:rPr sz="1600" b="0">
                <a:solidFill>
                  <a:srgbClr val="161B26"/>
                </a:solidFill>
                <a:latin typeface="Arial"/>
              </a:rPr>
              <a:t>•  Zero protocol overhead: no hellos, no updates, no CPU</a:t>
            </a:r>
          </a:p>
          <a:p>
            <a:pPr>
              <a:spcAft>
                <a:spcPts val="1000"/>
              </a:spcAft>
            </a:pPr>
            <a:r>
              <a:rPr sz="1600" b="0">
                <a:solidFill>
                  <a:srgbClr val="161B26"/>
                </a:solidFill>
                <a:latin typeface="Arial"/>
              </a:rPr>
              <a:t>•  Predictable and secure — nothing advertises a bad route</a:t>
            </a:r>
          </a:p>
          <a:p>
            <a:pPr>
              <a:spcAft>
                <a:spcPts val="1000"/>
              </a:spcAft>
            </a:pPr>
            <a:r>
              <a:rPr sz="1600" b="0">
                <a:solidFill>
                  <a:srgbClr val="161B26"/>
                </a:solidFill>
                <a:latin typeface="Arial"/>
              </a:rPr>
              <a:t>•  Does not adapt: a failed link means manual repair</a:t>
            </a:r>
          </a:p>
          <a:p>
            <a:pPr>
              <a:spcAft>
                <a:spcPts val="1000"/>
              </a:spcAft>
            </a:pPr>
            <a:r>
              <a:rPr sz="1600" b="0">
                <a:solidFill>
                  <a:srgbClr val="161B26"/>
                </a:solidFill>
                <a:latin typeface="Arial"/>
              </a:rPr>
              <a:t>•  Best for stubs, labs and default routes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Routers exchange reachability via a routing protocol</a:t>
            </a:r>
          </a:p>
          <a:p>
            <a:pPr>
              <a:spcAft>
                <a:spcPts val="1000"/>
              </a:spcAft>
            </a:pPr>
            <a:r>
              <a:rPr sz="1600" b="0">
                <a:solidFill>
                  <a:srgbClr val="161B26"/>
                </a:solidFill>
                <a:latin typeface="Arial"/>
              </a:rPr>
              <a:t>•  Learns new subnets and routes around failures itself</a:t>
            </a:r>
          </a:p>
          <a:p>
            <a:pPr>
              <a:spcAft>
                <a:spcPts val="1000"/>
              </a:spcAft>
            </a:pPr>
            <a:r>
              <a:rPr sz="1600" b="0">
                <a:solidFill>
                  <a:srgbClr val="161B26"/>
                </a:solidFill>
                <a:latin typeface="Arial"/>
              </a:rPr>
              <a:t>•  Costs CPU, bandwidth and a convergence window</a:t>
            </a:r>
          </a:p>
          <a:p>
            <a:pPr>
              <a:spcAft>
                <a:spcPts val="1000"/>
              </a:spcAft>
            </a:pPr>
            <a:r>
              <a:rPr sz="1600" b="0">
                <a:solidFill>
                  <a:srgbClr val="161B26"/>
                </a:solidFill>
                <a:latin typeface="Arial"/>
              </a:rPr>
              <a:t>•  Needs securing (authentication) against rogue peers</a:t>
            </a:r>
          </a:p>
          <a:p>
            <a:pPr>
              <a:spcAft>
                <a:spcPts val="1000"/>
              </a:spcAft>
            </a:pPr>
            <a:r>
              <a:rPr sz="1600" b="0">
                <a:solidFill>
                  <a:srgbClr val="161B26"/>
                </a:solidFill>
                <a:latin typeface="Arial"/>
              </a:rPr>
              <a:t>•  Best for anything beyond a handful of routers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a Routing Approach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topology change often
or span many routers?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DYNAMIC ROUTING</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Run OSPF (open) or EIGRP (Cisco); routers learn and re-converge around failures automatically. Use BGP between autonomous systems.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STATIC ROUTES</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handful of fixed routes is simpler, uses zero CPU or bandwidth and cannot be poisoned by a rogue peer — ideal for stub networks.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Most real networks mix both: dynamic in the core, static at stubs and for the default route.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IGP vs EGP — Where Protocols 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Autonomous System (AS)</a:t>
            </a:r>
          </a:p>
          <a:p>
            <a:pPr algn="l">
              <a:spcAft>
                <a:spcPts val="300"/>
              </a:spcAft>
            </a:pPr>
            <a:r>
              <a:rPr sz="1200" b="0">
                <a:solidFill>
                  <a:srgbClr val="5B6372"/>
                </a:solidFill>
                <a:latin typeface="Arial"/>
              </a:rPr>
              <a:t>One organisation's network under a single routing policy, identified by an AS number — your ISP is one, Google is another.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IGP — interior</a:t>
            </a:r>
          </a:p>
          <a:p>
            <a:pPr algn="l">
              <a:spcAft>
                <a:spcPts val="300"/>
              </a:spcAft>
            </a:pPr>
            <a:r>
              <a:rPr sz="1200" b="0">
                <a:solidFill>
                  <a:srgbClr val="5B6372"/>
                </a:solidFill>
                <a:latin typeface="Arial"/>
              </a:rPr>
              <a:t>Runs INSIDE one AS: OSPF, EIGRP, RIP, IS-IS. Optimises for fast paths and quick convergence.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EGP — exterior</a:t>
            </a:r>
          </a:p>
          <a:p>
            <a:pPr algn="l">
              <a:spcAft>
                <a:spcPts val="300"/>
              </a:spcAft>
            </a:pPr>
            <a:r>
              <a:rPr sz="1200" b="0">
                <a:solidFill>
                  <a:srgbClr val="5B6372"/>
                </a:solidFill>
                <a:latin typeface="Arial"/>
              </a:rPr>
              <a:t>Runs BETWEEN ASes. BGP is the only EGP in use — it optimises for policy and reachability, not speed.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Distance vector</a:t>
            </a:r>
          </a:p>
          <a:p>
            <a:pPr algn="l">
              <a:spcAft>
                <a:spcPts val="300"/>
              </a:spcAft>
            </a:pPr>
            <a:r>
              <a:rPr sz="1200" b="0">
                <a:solidFill>
                  <a:srgbClr val="5B6372"/>
                </a:solidFill>
                <a:latin typeface="Arial"/>
              </a:rPr>
              <a:t>Routers tell neighbours their whole table periodically ('routing by rumour') — RIP.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state</a:t>
            </a:r>
          </a:p>
          <a:p>
            <a:pPr algn="l">
              <a:spcAft>
                <a:spcPts val="300"/>
              </a:spcAft>
            </a:pPr>
            <a:r>
              <a:rPr sz="1200" b="0">
                <a:solidFill>
                  <a:srgbClr val="5B6372"/>
                </a:solidFill>
                <a:latin typeface="Arial"/>
              </a:rPr>
              <a:t>Routers flood link advertisements so everyone builds the same map, then run Dijkstra — OSPF, IS-IS.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 vector</a:t>
            </a:r>
          </a:p>
          <a:p>
            <a:pPr algn="l">
              <a:spcAft>
                <a:spcPts val="300"/>
              </a:spcAft>
            </a:pPr>
            <a:r>
              <a:rPr sz="1200" b="0">
                <a:solidFill>
                  <a:srgbClr val="5B6372"/>
                </a:solidFill>
                <a:latin typeface="Arial"/>
              </a:rPr>
              <a:t>BGP advertises the full AS path per prefix; a router seeing its own AS number detects the loop.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Administrative Distance — Who Do You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Route source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Trust level</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Connected</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0</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Directly attached — always wins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Static</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Manually configured</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eBGP</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External BGP peers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EIGRP</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90</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Cisco IGP</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OSPF</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110</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Standards-based IGP</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RIP</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120</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Legacy — least trusted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When two protocols offer the SAME prefix, the lower AD wins before any metric is compared.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Selection — The Order That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Longest prefix match</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most specific wins</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Lowest AD</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most trusted source</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Lowest metric</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best path in protocol</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Forward / balance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send the packet</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/32 static route beats an OSPF /16 every time — prefix length is compared before AD or metric, a classic exam trap.</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Protocols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9" name="Rectangle 8"/>
          <p:cNvSpPr/>
          <p:nvPr/>
        </p:nvSpPr>
        <p:spPr>
          <a:xfrm>
            <a:off x="3542202" y="1783080"/>
            <a:ext cx="1967377"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11" name="Rectangle 10"/>
          <p:cNvSpPr/>
          <p:nvPr/>
        </p:nvSpPr>
        <p:spPr>
          <a:xfrm>
            <a:off x="5509579" y="1783080"/>
            <a:ext cx="196737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7595"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13" name="Rectangle 12"/>
          <p:cNvSpPr/>
          <p:nvPr/>
        </p:nvSpPr>
        <p:spPr>
          <a:xfrm>
            <a:off x="7476956" y="1783080"/>
            <a:ext cx="1967377"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4972"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AD</a:t>
            </a:r>
          </a:p>
        </p:txBody>
      </p:sp>
      <p:sp>
        <p:nvSpPr>
          <p:cNvPr id="15" name="Rectangle 14"/>
          <p:cNvSpPr/>
          <p:nvPr/>
        </p:nvSpPr>
        <p:spPr>
          <a:xfrm>
            <a:off x="9444333" y="1783080"/>
            <a:ext cx="196737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2349"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Role</a:t>
            </a:r>
          </a:p>
        </p:txBody>
      </p:sp>
      <p:sp>
        <p:nvSpPr>
          <p:cNvPr id="17" name="Rectangle 16"/>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RIP</a:t>
            </a:r>
          </a:p>
        </p:txBody>
      </p:sp>
      <p:sp>
        <p:nvSpPr>
          <p:cNvPr id="19" name="Rectangle 18"/>
          <p:cNvSpPr/>
          <p:nvPr/>
        </p:nvSpPr>
        <p:spPr>
          <a:xfrm>
            <a:off x="3542202"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0218"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Distance vector</a:t>
            </a:r>
          </a:p>
        </p:txBody>
      </p:sp>
      <p:sp>
        <p:nvSpPr>
          <p:cNvPr id="21" name="Rectangle 20"/>
          <p:cNvSpPr/>
          <p:nvPr/>
        </p:nvSpPr>
        <p:spPr>
          <a:xfrm>
            <a:off x="5509579"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37595"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Hop count (max 15)</a:t>
            </a:r>
          </a:p>
        </p:txBody>
      </p:sp>
      <p:sp>
        <p:nvSpPr>
          <p:cNvPr id="23" name="Rectangle 22"/>
          <p:cNvSpPr/>
          <p:nvPr/>
        </p:nvSpPr>
        <p:spPr>
          <a:xfrm>
            <a:off x="7476956"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2"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120</a:t>
            </a:r>
          </a:p>
        </p:txBody>
      </p:sp>
      <p:sp>
        <p:nvSpPr>
          <p:cNvPr id="25" name="Rectangle 24"/>
          <p:cNvSpPr/>
          <p:nvPr/>
        </p:nvSpPr>
        <p:spPr>
          <a:xfrm>
            <a:off x="9444333"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72349"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Legacy small LANs</a:t>
            </a:r>
          </a:p>
        </p:txBody>
      </p:sp>
      <p:sp>
        <p:nvSpPr>
          <p:cNvPr id="27" name="Rectangle 26"/>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OSPF</a:t>
            </a:r>
          </a:p>
        </p:txBody>
      </p:sp>
      <p:sp>
        <p:nvSpPr>
          <p:cNvPr id="29" name="Rectangle 28"/>
          <p:cNvSpPr/>
          <p:nvPr/>
        </p:nvSpPr>
        <p:spPr>
          <a:xfrm>
            <a:off x="3542202"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Link state</a:t>
            </a:r>
          </a:p>
        </p:txBody>
      </p:sp>
      <p:sp>
        <p:nvSpPr>
          <p:cNvPr id="31" name="Rectangle 30"/>
          <p:cNvSpPr/>
          <p:nvPr/>
        </p:nvSpPr>
        <p:spPr>
          <a:xfrm>
            <a:off x="5509579"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37595"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Cost (bandwidth)</a:t>
            </a:r>
          </a:p>
        </p:txBody>
      </p:sp>
      <p:sp>
        <p:nvSpPr>
          <p:cNvPr id="33" name="Rectangle 32"/>
          <p:cNvSpPr/>
          <p:nvPr/>
        </p:nvSpPr>
        <p:spPr>
          <a:xfrm>
            <a:off x="7476956"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4972"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110</a:t>
            </a:r>
          </a:p>
        </p:txBody>
      </p:sp>
      <p:sp>
        <p:nvSpPr>
          <p:cNvPr id="35" name="Rectangle 34"/>
          <p:cNvSpPr/>
          <p:nvPr/>
        </p:nvSpPr>
        <p:spPr>
          <a:xfrm>
            <a:off x="9444333"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72349"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Enterprise IGP</a:t>
            </a:r>
          </a:p>
        </p:txBody>
      </p:sp>
      <p:sp>
        <p:nvSpPr>
          <p:cNvPr id="37" name="Rectangle 36"/>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EIGRP</a:t>
            </a:r>
          </a:p>
        </p:txBody>
      </p:sp>
      <p:sp>
        <p:nvSpPr>
          <p:cNvPr id="39" name="Rectangle 38"/>
          <p:cNvSpPr/>
          <p:nvPr/>
        </p:nvSpPr>
        <p:spPr>
          <a:xfrm>
            <a:off x="3542202"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Adv. distance vector</a:t>
            </a:r>
          </a:p>
        </p:txBody>
      </p:sp>
      <p:sp>
        <p:nvSpPr>
          <p:cNvPr id="41" name="Rectangle 40"/>
          <p:cNvSpPr/>
          <p:nvPr/>
        </p:nvSpPr>
        <p:spPr>
          <a:xfrm>
            <a:off x="5509579"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37595"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Bandwidth + delay</a:t>
            </a:r>
          </a:p>
        </p:txBody>
      </p:sp>
      <p:sp>
        <p:nvSpPr>
          <p:cNvPr id="43" name="Rectangle 42"/>
          <p:cNvSpPr/>
          <p:nvPr/>
        </p:nvSpPr>
        <p:spPr>
          <a:xfrm>
            <a:off x="7476956"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04972"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90</a:t>
            </a:r>
          </a:p>
        </p:txBody>
      </p:sp>
      <p:sp>
        <p:nvSpPr>
          <p:cNvPr id="45" name="Rectangle 44"/>
          <p:cNvSpPr/>
          <p:nvPr/>
        </p:nvSpPr>
        <p:spPr>
          <a:xfrm>
            <a:off x="9444333"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72349"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Cisco networks</a:t>
            </a:r>
          </a:p>
        </p:txBody>
      </p:sp>
      <p:sp>
        <p:nvSpPr>
          <p:cNvPr id="47" name="Rectangle 46"/>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BGP</a:t>
            </a:r>
          </a:p>
        </p:txBody>
      </p:sp>
      <p:sp>
        <p:nvSpPr>
          <p:cNvPr id="49" name="Rectangle 48"/>
          <p:cNvSpPr/>
          <p:nvPr/>
        </p:nvSpPr>
        <p:spPr>
          <a:xfrm>
            <a:off x="3542202"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Path vector</a:t>
            </a:r>
          </a:p>
        </p:txBody>
      </p:sp>
      <p:sp>
        <p:nvSpPr>
          <p:cNvPr id="51" name="Rectangle 50"/>
          <p:cNvSpPr/>
          <p:nvPr/>
        </p:nvSpPr>
        <p:spPr>
          <a:xfrm>
            <a:off x="5509579"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37595"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AS-path + attributes</a:t>
            </a:r>
          </a:p>
        </p:txBody>
      </p:sp>
      <p:sp>
        <p:nvSpPr>
          <p:cNvPr id="53" name="Rectangle 52"/>
          <p:cNvSpPr/>
          <p:nvPr/>
        </p:nvSpPr>
        <p:spPr>
          <a:xfrm>
            <a:off x="7476956"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2"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20 eBGP</a:t>
            </a:r>
          </a:p>
        </p:txBody>
      </p:sp>
      <p:sp>
        <p:nvSpPr>
          <p:cNvPr id="55" name="Rectangle 54"/>
          <p:cNvSpPr/>
          <p:nvPr/>
        </p:nvSpPr>
        <p:spPr>
          <a:xfrm>
            <a:off x="9444333"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72349"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The Internet's EGP</a:t>
            </a:r>
          </a:p>
        </p:txBody>
      </p:sp>
      <p:sp>
        <p:nvSpPr>
          <p:cNvPr id="57" name="Rectangle 5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Know the AD column cold — it is the most-tested fact on this slide.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RIP — Routing Information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Distance vector</a:t>
            </a:r>
          </a:p>
          <a:p>
            <a:pPr algn="l">
              <a:spcAft>
                <a:spcPts val="300"/>
              </a:spcAft>
            </a:pPr>
            <a:r>
              <a:rPr sz="1200" b="0">
                <a:solidFill>
                  <a:srgbClr val="5B6372"/>
                </a:solidFill>
                <a:latin typeface="Arial"/>
              </a:rPr>
              <a:t>Advertises its full table to neighbours every 30 seconds; routes by hop count alone.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Max 15 hops</a:t>
            </a:r>
          </a:p>
          <a:p>
            <a:pPr algn="l">
              <a:spcAft>
                <a:spcPts val="300"/>
              </a:spcAft>
            </a:pPr>
            <a:r>
              <a:rPr sz="1200" b="0">
                <a:solidFill>
                  <a:srgbClr val="5B6372"/>
                </a:solidFill>
                <a:latin typeface="Arial"/>
              </a:rPr>
              <a:t>Hop 16 means unreachable — a hard diameter limit that rules RIP out of large networks.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RIPv1 vs RIPv2</a:t>
            </a:r>
          </a:p>
          <a:p>
            <a:pPr algn="l">
              <a:spcAft>
                <a:spcPts val="300"/>
              </a:spcAft>
            </a:pPr>
            <a:r>
              <a:rPr sz="1200" b="0">
                <a:solidFill>
                  <a:srgbClr val="5B6372"/>
                </a:solidFill>
                <a:latin typeface="Arial"/>
              </a:rPr>
              <a:t>v1 was classful (no masks in updates); v2 added masks, multicast updates and authentication.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Slow convergence</a:t>
            </a:r>
          </a:p>
          <a:p>
            <a:pPr algn="l">
              <a:spcAft>
                <a:spcPts val="300"/>
              </a:spcAft>
            </a:pPr>
            <a:r>
              <a:rPr sz="1200" b="0">
                <a:solidFill>
                  <a:srgbClr val="5B6372"/>
                </a:solidFill>
                <a:latin typeface="Arial"/>
              </a:rPr>
              <a:t>Minutes to stabilise after a failure, with loop-prevention hacks (split horizon, poison reverse).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 you'll see it</a:t>
            </a:r>
          </a:p>
          <a:p>
            <a:pPr algn="l">
              <a:spcAft>
                <a:spcPts val="300"/>
              </a:spcAft>
            </a:pPr>
            <a:r>
              <a:rPr sz="1200" b="0">
                <a:solidFill>
                  <a:srgbClr val="5B6372"/>
                </a:solidFill>
                <a:latin typeface="Arial"/>
              </a:rPr>
              <a:t>Legacy gear and tiny stub networks; on the exam it is the 'AD 120, hop-count, max 15' answer.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OSPF — Open Shortest Path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state</a:t>
            </a:r>
          </a:p>
          <a:p>
            <a:pPr algn="l">
              <a:spcAft>
                <a:spcPts val="300"/>
              </a:spcAft>
            </a:pPr>
            <a:r>
              <a:rPr sz="1200" b="0">
                <a:solidFill>
                  <a:srgbClr val="5B6372"/>
                </a:solidFill>
                <a:latin typeface="Arial"/>
              </a:rPr>
              <a:t>Floods LSAs so every router shares an identical topology map, then computes shortest paths (SPF/Dijkstra).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 metric</a:t>
            </a:r>
          </a:p>
          <a:p>
            <a:pPr algn="l">
              <a:spcAft>
                <a:spcPts val="300"/>
              </a:spcAft>
            </a:pPr>
            <a:r>
              <a:rPr sz="1200" b="0">
                <a:solidFill>
                  <a:srgbClr val="5B6372"/>
                </a:solidFill>
                <a:latin typeface="Arial"/>
              </a:rPr>
              <a:t>Cost = reference bandwidth / link bandwidth — the protocol prefers fast links, not few hops.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Areas</a:t>
            </a:r>
          </a:p>
          <a:p>
            <a:pPr algn="l">
              <a:spcAft>
                <a:spcPts val="300"/>
              </a:spcAft>
            </a:pPr>
            <a:r>
              <a:rPr sz="1200" b="0">
                <a:solidFill>
                  <a:srgbClr val="5B6372"/>
                </a:solidFill>
                <a:latin typeface="Arial"/>
              </a:rPr>
              <a:t>Area 0 is the backbone; other areas attach to it, shrinking each router's database and SPF workload.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Neighbors &amp; adjacency</a:t>
            </a:r>
          </a:p>
          <a:p>
            <a:pPr algn="l">
              <a:spcAft>
                <a:spcPts val="300"/>
              </a:spcAft>
            </a:pPr>
            <a:r>
              <a:rPr sz="1200" b="0">
                <a:solidFill>
                  <a:srgbClr val="5B6372"/>
                </a:solidFill>
                <a:latin typeface="Arial"/>
              </a:rPr>
              <a:t>Routers hello on 224.0.0.5, become neighbours, then synchronise databases to reach FULL.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Fast convergence</a:t>
            </a:r>
          </a:p>
          <a:p>
            <a:pPr algn="l">
              <a:spcAft>
                <a:spcPts val="300"/>
              </a:spcAft>
            </a:pPr>
            <a:r>
              <a:rPr sz="1200" b="0">
                <a:solidFill>
                  <a:srgbClr val="5B6372"/>
                </a:solidFill>
                <a:latin typeface="Arial"/>
              </a:rPr>
              <a:t>Seconds after a change — triggered updates, no periodic full-table floods.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standard</a:t>
            </a:r>
          </a:p>
          <a:p>
            <a:pPr algn="l">
              <a:spcAft>
                <a:spcPts val="300"/>
              </a:spcAft>
            </a:pPr>
            <a:r>
              <a:rPr sz="1200" b="0">
                <a:solidFill>
                  <a:srgbClr val="5B6372"/>
                </a:solidFill>
                <a:latin typeface="Arial"/>
              </a:rPr>
              <a:t>RFC-standard, multi-vendor, AD 110 — the default enterprise IGP choice.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EIGRP — Enhanced Interior Gateway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Advanced distance vector</a:t>
            </a:r>
          </a:p>
          <a:p>
            <a:pPr algn="l">
              <a:spcAft>
                <a:spcPts val="300"/>
              </a:spcAft>
            </a:pPr>
            <a:r>
              <a:rPr sz="1200" b="0">
                <a:solidFill>
                  <a:srgbClr val="5B6372"/>
                </a:solidFill>
                <a:latin typeface="Arial"/>
              </a:rPr>
              <a:t>Cisco's hybrid: neighbour-based updates like distance vector, but fast and loop-free via DUAL.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Composite metric</a:t>
            </a:r>
          </a:p>
          <a:p>
            <a:pPr algn="l">
              <a:spcAft>
                <a:spcPts val="300"/>
              </a:spcAft>
            </a:pPr>
            <a:r>
              <a:rPr sz="1200" b="0">
                <a:solidFill>
                  <a:srgbClr val="5B6372"/>
                </a:solidFill>
                <a:latin typeface="Arial"/>
              </a:rPr>
              <a:t>Bandwidth + delay by default (load and reliability optional) — far smarter than hop count.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Feasible successor</a:t>
            </a:r>
          </a:p>
          <a:p>
            <a:pPr algn="l">
              <a:spcAft>
                <a:spcPts val="300"/>
              </a:spcAft>
            </a:pPr>
            <a:r>
              <a:rPr sz="1200" b="0">
                <a:solidFill>
                  <a:srgbClr val="5B6372"/>
                </a:solidFill>
                <a:latin typeface="Arial"/>
              </a:rPr>
              <a:t>A pre-computed backup route lets EIGRP fail over almost instantly without recomputing.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Partial updates</a:t>
            </a:r>
          </a:p>
          <a:p>
            <a:pPr algn="l">
              <a:spcAft>
                <a:spcPts val="300"/>
              </a:spcAft>
            </a:pPr>
            <a:r>
              <a:rPr sz="1200" b="0">
                <a:solidFill>
                  <a:srgbClr val="5B6372"/>
                </a:solidFill>
                <a:latin typeface="Arial"/>
              </a:rPr>
              <a:t>Sends only changes, only to affected neighbours — very low steady-state overhead.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90</a:t>
            </a:r>
          </a:p>
          <a:p>
            <a:pPr algn="l">
              <a:spcAft>
                <a:spcPts val="300"/>
              </a:spcAft>
            </a:pPr>
            <a:r>
              <a:rPr sz="1200" b="0">
                <a:solidFill>
                  <a:srgbClr val="5B6372"/>
                </a:solidFill>
                <a:latin typeface="Arial"/>
              </a:rPr>
              <a:t>More trusted than OSPF (110) on Cisco boxes; now an open RFC but still mostly Cisco shops.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BGP — The Internet's Routing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 vector EGP</a:t>
            </a:r>
          </a:p>
          <a:p>
            <a:pPr algn="l">
              <a:spcAft>
                <a:spcPts val="300"/>
              </a:spcAft>
            </a:pPr>
            <a:r>
              <a:rPr sz="1200" b="0">
                <a:solidFill>
                  <a:srgbClr val="5B6372"/>
                </a:solidFill>
                <a:latin typeface="Arial"/>
              </a:rPr>
              <a:t>The routing protocol of the Internet — every ISP exchanges reachability with BGP.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Autonomous systems</a:t>
            </a:r>
          </a:p>
          <a:p>
            <a:pPr algn="l">
              <a:spcAft>
                <a:spcPts val="300"/>
              </a:spcAft>
            </a:pPr>
            <a:r>
              <a:rPr sz="1200" b="0">
                <a:solidFill>
                  <a:srgbClr val="5B6372"/>
                </a:solidFill>
                <a:latin typeface="Arial"/>
              </a:rPr>
              <a:t>Prefixes are advertised with the full AS path; policy decides which path wins, not speed.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eBGP vs iBGP</a:t>
            </a:r>
          </a:p>
          <a:p>
            <a:pPr algn="l">
              <a:spcAft>
                <a:spcPts val="300"/>
              </a:spcAft>
            </a:pPr>
            <a:r>
              <a:rPr sz="1200" b="0">
                <a:solidFill>
                  <a:srgbClr val="5B6372"/>
                </a:solidFill>
                <a:latin typeface="Arial"/>
              </a:rPr>
              <a:t>eBGP peers between different ASes (AD 20); iBGP carries those routes inside your AS (AD 200).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Attributes over metrics</a:t>
            </a:r>
          </a:p>
          <a:p>
            <a:pPr algn="l">
              <a:spcAft>
                <a:spcPts val="300"/>
              </a:spcAft>
            </a:pPr>
            <a:r>
              <a:rPr sz="1200" b="0">
                <a:solidFill>
                  <a:srgbClr val="5B6372"/>
                </a:solidFill>
                <a:latin typeface="Arial"/>
              </a:rPr>
              <a:t>Selection walks attributes in order: weight, local preference, AS-path length, MED...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Slow and steady</a:t>
            </a:r>
          </a:p>
          <a:p>
            <a:pPr algn="l">
              <a:spcAft>
                <a:spcPts val="300"/>
              </a:spcAft>
            </a:pPr>
            <a:r>
              <a:rPr sz="1200" b="0">
                <a:solidFill>
                  <a:srgbClr val="5B6372"/>
                </a:solidFill>
                <a:latin typeface="Arial"/>
              </a:rPr>
              <a:t>Over a million Internet routes; convergence takes time — stability and policy beat speed 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TCP 179</a:t>
            </a:r>
          </a:p>
          <a:p>
            <a:pPr algn="l">
              <a:spcAft>
                <a:spcPts val="300"/>
              </a:spcAft>
            </a:pPr>
            <a:r>
              <a:rPr sz="1200" b="0">
                <a:solidFill>
                  <a:srgbClr val="5B6372"/>
                </a:solidFill>
                <a:latin typeface="Arial"/>
              </a:rPr>
              <a:t>BGP peers over a TCP session — a filter or reachability problem shows up as a dropped peering.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Checking an OSPF Neighbor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Two commands tell you whether OSPF is healthy and what it learned.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R1# show ip ospf neighbor</a:t>
            </a:r>
          </a:p>
          <a:p>
            <a:pPr>
              <a:spcAft>
                <a:spcPts val="200"/>
              </a:spcAft>
            </a:pPr>
            <a:r>
              <a:rPr sz="1100">
                <a:solidFill>
                  <a:srgbClr val="9CDCFE"/>
                </a:solidFill>
                <a:latin typeface="Consolas"/>
              </a:rPr>
              <a:t/>
            </a:r>
          </a:p>
          <a:p>
            <a:pPr>
              <a:spcAft>
                <a:spcPts val="200"/>
              </a:spcAft>
            </a:pPr>
            <a:r>
              <a:rPr sz="1100">
                <a:solidFill>
                  <a:srgbClr val="9CDCFE"/>
                </a:solidFill>
                <a:latin typeface="Consolas"/>
              </a:rPr>
              <a:t>Neighbor ID   Pri  State     Address     Interface</a:t>
            </a:r>
          </a:p>
          <a:p>
            <a:pPr>
              <a:spcAft>
                <a:spcPts val="200"/>
              </a:spcAft>
            </a:pPr>
            <a:r>
              <a:rPr sz="1100">
                <a:solidFill>
                  <a:srgbClr val="9CDCFE"/>
                </a:solidFill>
                <a:latin typeface="Consolas"/>
              </a:rPr>
              <a:t>2.2.2.2       1    FULL/DR   10.0.12.2   Gi0/0</a:t>
            </a:r>
          </a:p>
          <a:p>
            <a:pPr>
              <a:spcAft>
                <a:spcPts val="200"/>
              </a:spcAft>
            </a:pPr>
            <a:r>
              <a:rPr sz="1100">
                <a:solidFill>
                  <a:srgbClr val="9CDCFE"/>
                </a:solidFill>
                <a:latin typeface="Consolas"/>
              </a:rPr>
              <a:t>3.3.3.3       1    FULL/BDR  10.0.13.2   Gi0/1</a:t>
            </a:r>
          </a:p>
          <a:p>
            <a:pPr>
              <a:spcAft>
                <a:spcPts val="200"/>
              </a:spcAft>
            </a:pPr>
            <a:r>
              <a:rPr sz="1100">
                <a:solidFill>
                  <a:srgbClr val="9CDCFE"/>
                </a:solidFill>
                <a:latin typeface="Consolas"/>
              </a:rPr>
              <a:t/>
            </a:r>
          </a:p>
          <a:p>
            <a:pPr>
              <a:spcAft>
                <a:spcPts val="200"/>
              </a:spcAft>
            </a:pPr>
            <a:r>
              <a:rPr sz="1100">
                <a:solidFill>
                  <a:srgbClr val="9CDCFE"/>
                </a:solidFill>
                <a:latin typeface="Consolas"/>
              </a:rPr>
              <a:t>R1# show ip route ospf</a:t>
            </a:r>
          </a:p>
          <a:p>
            <a:pPr>
              <a:spcAft>
                <a:spcPts val="200"/>
              </a:spcAft>
            </a:pPr>
            <a:r>
              <a:rPr sz="1100">
                <a:solidFill>
                  <a:srgbClr val="9CDCFE"/>
                </a:solidFill>
                <a:latin typeface="Consolas"/>
              </a:rPr>
              <a:t>O  10.2.2.0/24 [110/2] via 10.0.12.2, Gi0/0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FULL state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Adjacency complete — databases synchronised; anything stuck in EXSTART or 2-WAY needs checking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DR / BDR</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 multi-access LANs routers elect a Designated Router to cut LSA flooding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[110/2]</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AD 110 (OSPF) / metric 2 — cost summed from interface bandwidths along the path</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First Hop Redundancy — VRRP &amp; HSRP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Hosts have ONE default gateway; if that router dies the whole subnet is offline while a second router sits idle.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FHRP</a:t>
            </a:r>
          </a:p>
          <a:p>
            <a:pPr algn="l">
              <a:spcAft>
                <a:spcPts val="300"/>
              </a:spcAft>
            </a:pPr>
            <a:r>
              <a:rPr sz="1200" b="0">
                <a:solidFill>
                  <a:srgbClr val="5B6372"/>
                </a:solidFill>
                <a:latin typeface="Arial"/>
              </a:rPr>
              <a:t>First Hop Redundancy Protocols let two or more routers share one virtual IP that hosts use as their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VRRP</a:t>
            </a:r>
          </a:p>
          <a:p>
            <a:pPr algn="l">
              <a:spcAft>
                <a:spcPts val="300"/>
              </a:spcAft>
            </a:pPr>
            <a:r>
              <a:rPr sz="1200" b="0">
                <a:solidFill>
                  <a:srgbClr val="5B6372"/>
                </a:solidFill>
                <a:latin typeface="Arial"/>
              </a:rPr>
              <a:t>Open standard: one master answers the VIP, backups take over on failure — election by priority.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HSRP</a:t>
            </a:r>
          </a:p>
          <a:p>
            <a:pPr algn="l">
              <a:spcAft>
                <a:spcPts val="300"/>
              </a:spcAft>
            </a:pPr>
            <a:r>
              <a:rPr sz="1200" b="0">
                <a:solidFill>
                  <a:srgbClr val="5B6372"/>
                </a:solidFill>
                <a:latin typeface="Arial"/>
              </a:rPr>
              <a:t>Cisco's equivalent: active and standby routers exchange hellos; preempt lets the preferred router reclaim.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Virtual IP + MAC</a:t>
            </a:r>
          </a:p>
          <a:p>
            <a:pPr algn="l">
              <a:spcAft>
                <a:spcPts val="300"/>
              </a:spcAft>
            </a:pPr>
            <a:r>
              <a:rPr sz="1200" b="0">
                <a:solidFill>
                  <a:srgbClr val="5B6372"/>
                </a:solidFill>
                <a:latin typeface="Arial"/>
              </a:rPr>
              <a:t>The VIP and a virtual MAC float to whichever router is active — hosts never notice the failover.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GLBP</a:t>
            </a:r>
          </a:p>
          <a:p>
            <a:pPr algn="l">
              <a:spcAft>
                <a:spcPts val="300"/>
              </a:spcAft>
            </a:pPr>
            <a:r>
              <a:rPr sz="1200" b="0">
                <a:solidFill>
                  <a:srgbClr val="5B6372"/>
                </a:solidFill>
                <a:latin typeface="Arial"/>
              </a:rPr>
              <a:t>Cisco's load-balancing FHRP — multiple gateways forward simultaneously.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SOHO vs Enterprise Routers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SOHO router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Enterprise router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Router + switch + WAP + firewall in one box</a:t>
            </a:r>
          </a:p>
          <a:p>
            <a:pPr>
              <a:spcAft>
                <a:spcPts val="1000"/>
              </a:spcAft>
            </a:pPr>
            <a:r>
              <a:rPr sz="1600" b="0">
                <a:solidFill>
                  <a:srgbClr val="161B26"/>
                </a:solidFill>
                <a:latin typeface="Arial"/>
              </a:rPr>
              <a:t>•  Web GUI; default IP, username, password — change them</a:t>
            </a:r>
          </a:p>
          <a:p>
            <a:pPr>
              <a:spcAft>
                <a:spcPts val="1000"/>
              </a:spcAft>
            </a:pPr>
            <a:r>
              <a:rPr sz="1600" b="0">
                <a:solidFill>
                  <a:srgbClr val="161B26"/>
                </a:solidFill>
                <a:latin typeface="Arial"/>
              </a:rPr>
              <a:t>•  NAT and a DHCP server enabled by default</a:t>
            </a:r>
          </a:p>
          <a:p>
            <a:pPr>
              <a:spcAft>
                <a:spcPts val="1000"/>
              </a:spcAft>
            </a:pPr>
            <a:r>
              <a:rPr sz="1600" b="0">
                <a:solidFill>
                  <a:srgbClr val="161B26"/>
                </a:solidFill>
                <a:latin typeface="Arial"/>
              </a:rPr>
              <a:t>•  WAN port is usually a DHCP client</a:t>
            </a:r>
          </a:p>
          <a:p>
            <a:pPr>
              <a:spcAft>
                <a:spcPts val="1000"/>
              </a:spcAft>
            </a:pPr>
            <a:r>
              <a:rPr sz="1600" b="0">
                <a:solidFill>
                  <a:srgbClr val="161B26"/>
                </a:solidFill>
                <a:latin typeface="Arial"/>
              </a:rPr>
              <a:t>•  Sized for a handful of devices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Dedicated routing hardware, modular interfaces</a:t>
            </a:r>
          </a:p>
          <a:p>
            <a:pPr>
              <a:spcAft>
                <a:spcPts val="1000"/>
              </a:spcAft>
            </a:pPr>
            <a:r>
              <a:rPr sz="1600" b="0">
                <a:solidFill>
                  <a:srgbClr val="161B26"/>
                </a:solidFill>
                <a:latin typeface="Arial"/>
              </a:rPr>
              <a:t>•  CLI-driven OS (e.g. Cisco IOS); config as files</a:t>
            </a:r>
          </a:p>
          <a:p>
            <a:pPr>
              <a:spcAft>
                <a:spcPts val="1000"/>
              </a:spcAft>
            </a:pPr>
            <a:r>
              <a:rPr sz="1600" b="0">
                <a:solidFill>
                  <a:srgbClr val="161B26"/>
                </a:solidFill>
                <a:latin typeface="Arial"/>
              </a:rPr>
              <a:t>•  Runs OSPF/BGP, FHRP and QoS at line rate</a:t>
            </a:r>
          </a:p>
          <a:p>
            <a:pPr>
              <a:spcAft>
                <a:spcPts val="1000"/>
              </a:spcAft>
            </a:pPr>
            <a:r>
              <a:rPr sz="1600" b="0">
                <a:solidFill>
                  <a:srgbClr val="161B26"/>
                </a:solidFill>
                <a:latin typeface="Arial"/>
              </a:rPr>
              <a:t>•  100x the throughput and connection capacity</a:t>
            </a:r>
          </a:p>
          <a:p>
            <a:pPr>
              <a:spcAft>
                <a:spcPts val="1000"/>
              </a:spcAft>
            </a:pPr>
            <a:r>
              <a:rPr sz="1600" b="0">
                <a:solidFill>
                  <a:srgbClr val="161B26"/>
                </a:solidFill>
                <a:latin typeface="Arial"/>
              </a:rPr>
              <a:t>•  Managed via SSH/console with AAA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Static Routes on Linux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exact commands Lab 8 uses to route between 10.1.1.0/24 and 10.2.2.0/24.</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on the router r1</a:t>
            </a:r>
          </a:p>
          <a:p>
            <a:pPr>
              <a:spcAft>
                <a:spcPts val="200"/>
              </a:spcAft>
            </a:pPr>
            <a:r>
              <a:rPr sz="1100">
                <a:solidFill>
                  <a:srgbClr val="D4D4D4"/>
                </a:solidFill>
                <a:latin typeface="Consolas"/>
              </a:rPr>
              <a:t>sysctl -w net.ipv4.ip_forward=1</a:t>
            </a:r>
          </a:p>
          <a:p>
            <a:pPr>
              <a:spcAft>
                <a:spcPts val="200"/>
              </a:spcAft>
            </a:pPr>
            <a:r>
              <a:rPr sz="1100">
                <a:solidFill>
                  <a:srgbClr val="9CDCFE"/>
                </a:solidFill>
                <a:latin typeface="Consolas"/>
              </a:rPr>
              <a:t/>
            </a:r>
          </a:p>
          <a:p>
            <a:pPr>
              <a:spcAft>
                <a:spcPts val="200"/>
              </a:spcAft>
            </a:pPr>
            <a:r>
              <a:rPr sz="1100">
                <a:solidFill>
                  <a:srgbClr val="6A9955"/>
                </a:solidFill>
                <a:latin typeface="Consolas"/>
              </a:rPr>
              <a:t># on host A (10.1.1.2)</a:t>
            </a:r>
          </a:p>
          <a:p>
            <a:pPr>
              <a:spcAft>
                <a:spcPts val="200"/>
              </a:spcAft>
            </a:pPr>
            <a:r>
              <a:rPr sz="1100">
                <a:solidFill>
                  <a:srgbClr val="9CDCFE"/>
                </a:solidFill>
                <a:latin typeface="Consolas"/>
              </a:rPr>
              <a:t>ip route add 10.2.2.0/24 via 10.1.1.1</a:t>
            </a:r>
          </a:p>
          <a:p>
            <a:pPr>
              <a:spcAft>
                <a:spcPts val="200"/>
              </a:spcAft>
            </a:pPr>
            <a:r>
              <a:rPr sz="1100">
                <a:solidFill>
                  <a:srgbClr val="9CDCFE"/>
                </a:solidFill>
                <a:latin typeface="Consolas"/>
              </a:rPr>
              <a:t/>
            </a:r>
          </a:p>
          <a:p>
            <a:pPr>
              <a:spcAft>
                <a:spcPts val="200"/>
              </a:spcAft>
            </a:pPr>
            <a:r>
              <a:rPr sz="1100">
                <a:solidFill>
                  <a:srgbClr val="6A9955"/>
                </a:solidFill>
                <a:latin typeface="Consolas"/>
              </a:rPr>
              <a:t># on host B (10.2.2.2)</a:t>
            </a:r>
          </a:p>
          <a:p>
            <a:pPr>
              <a:spcAft>
                <a:spcPts val="200"/>
              </a:spcAft>
            </a:pPr>
            <a:r>
              <a:rPr sz="1100">
                <a:solidFill>
                  <a:srgbClr val="9CDCFE"/>
                </a:solidFill>
                <a:latin typeface="Consolas"/>
              </a:rPr>
              <a:t>ip route add 10.1.1.0/24 via 10.2.2.1</a:t>
            </a:r>
          </a:p>
          <a:p>
            <a:pPr>
              <a:spcAft>
                <a:spcPts val="200"/>
              </a:spcAft>
            </a:pPr>
            <a:r>
              <a:rPr sz="1100">
                <a:solidFill>
                  <a:srgbClr val="9CDCFE"/>
                </a:solidFill>
                <a:latin typeface="Consolas"/>
              </a:rPr>
              <a:t/>
            </a:r>
          </a:p>
          <a:p>
            <a:pPr>
              <a:spcAft>
                <a:spcPts val="200"/>
              </a:spcAft>
            </a:pPr>
            <a:r>
              <a:rPr sz="1100">
                <a:solidFill>
                  <a:srgbClr val="9CDCFE"/>
                </a:solidFill>
                <a:latin typeface="Consolas"/>
              </a:rPr>
              <a:t>ip route        # verify the table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ip_forward</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Linux box only forwards packets between interfaces when this kernel switch is on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via 10.1.1.1</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next hop — must be on a directly connected subnet the host can already reach</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Symmetry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Both sides need a route; a one-way route gives replies no path back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Routing Between Two Subnets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two-subnet topology and route between them with static routes.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three network namespaces (host A, router R1, host B), wire them with veth pairs, enable IP forwarding on R1 and add the static routes that let 10.1.1.0/24 reach 10.2.2.0/24.</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routed path A -&gt; R1 -&gt; B with hand-written static routes on both end hosts.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ip netns, sysctl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netns exec a ping -c2 10.2.2.2 succeeds, and ip route inside namespace a shows 10.2.2.0/24 via 10.1.1.1.</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Create three namespaces; r1 is the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Move each veth end into its namespace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Bring up loopbacks and all veth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for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Enable IP forwarding on the router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with ping</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two-subnet topology and route between them with static routes.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Routing Between Two Subnets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netns exec a ping -c2 10.2.2.2 succeeds, and ip route inside namespace a shows 10.2.2.0/24 via 10.1.1.1.</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 A to B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forwarding: ip netns exec r1 sysctl net.ipv4.ip_forward must return 1</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Network is unreachable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static route is missing — re-add: ip route add 10.2.2.0/24 via 10.1.1.1</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Interface shows DOWN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Bring up BOTH ends of each veth pair with ip link set &lt;if&gt; up</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Managed Switches and Switch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Unmanaged switch</a:t>
            </a:r>
          </a:p>
          <a:p>
            <a:pPr algn="l">
              <a:spcAft>
                <a:spcPts val="300"/>
              </a:spcAft>
            </a:pPr>
            <a:r>
              <a:rPr sz="1200" b="0">
                <a:solidFill>
                  <a:srgbClr val="5B6372"/>
                </a:solidFill>
                <a:latin typeface="Arial"/>
              </a:rPr>
              <a:t>Plug and play, zero configuration, no VLANs — fine for a desk, invisible to the network team.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Managed switch</a:t>
            </a:r>
          </a:p>
          <a:p>
            <a:pPr algn="l">
              <a:spcAft>
                <a:spcPts val="300"/>
              </a:spcAft>
            </a:pPr>
            <a:r>
              <a:rPr sz="1200" b="0">
                <a:solidFill>
                  <a:srgbClr val="5B6372"/>
                </a:solidFill>
                <a:latin typeface="Arial"/>
              </a:rPr>
              <a:t>Configurable: VLANs, trunks, STP, LACP, mirroring, SNMP. Everything in this domain assumes 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Management IP / SVI</a:t>
            </a:r>
          </a:p>
          <a:p>
            <a:pPr algn="l">
              <a:spcAft>
                <a:spcPts val="300"/>
              </a:spcAft>
            </a:pPr>
            <a:r>
              <a:rPr sz="1200" b="0">
                <a:solidFill>
                  <a:srgbClr val="5B6372"/>
                </a:solidFill>
                <a:latin typeface="Arial"/>
              </a:rPr>
              <a:t>Give a management VLAN interface an address; your PC must be able to reach that subnet to manage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the defaults</a:t>
            </a:r>
          </a:p>
          <a:p>
            <a:pPr algn="l">
              <a:spcAft>
                <a:spcPts val="300"/>
              </a:spcAft>
            </a:pPr>
            <a:r>
              <a:rPr sz="1200" b="0">
                <a:solidFill>
                  <a:srgbClr val="5B6372"/>
                </a:solidFill>
                <a:latin typeface="Arial"/>
              </a:rPr>
              <a:t>Default admin passwords on switches are public knowledge — change them before the switch carries traffic.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Console access</a:t>
            </a:r>
          </a:p>
          <a:p>
            <a:pPr algn="l">
              <a:spcAft>
                <a:spcPts val="300"/>
              </a:spcAft>
            </a:pPr>
            <a:r>
              <a:rPr sz="1200" b="0">
                <a:solidFill>
                  <a:srgbClr val="5B6372"/>
                </a:solidFill>
                <a:latin typeface="Arial"/>
              </a:rPr>
              <a:t>A console/rollover cable gives CLI access with no network at all — your lifeline when config breaks.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Out-of-band mgmt</a:t>
            </a:r>
          </a:p>
          <a:p>
            <a:pPr algn="l">
              <a:spcAft>
                <a:spcPts val="300"/>
              </a:spcAft>
            </a:pPr>
            <a:r>
              <a:rPr sz="1200" b="0">
                <a:solidFill>
                  <a:srgbClr val="5B6372"/>
                </a:solidFill>
                <a:latin typeface="Arial"/>
              </a:rPr>
              <a:t>A separate management network keeps control access alive when the production LAN is down.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VLAN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a VLAN is</a:t>
            </a:r>
          </a:p>
          <a:p>
            <a:pPr algn="l">
              <a:spcAft>
                <a:spcPts val="300"/>
              </a:spcAft>
            </a:pPr>
            <a:r>
              <a:rPr sz="1200" b="0">
                <a:solidFill>
                  <a:srgbClr val="5B6372"/>
                </a:solidFill>
                <a:latin typeface="Arial"/>
              </a:rPr>
              <a:t>One physical switch split into multiple logical switches — each VLAN is its own broadcast domain.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segment</a:t>
            </a:r>
          </a:p>
          <a:p>
            <a:pPr algn="l">
              <a:spcAft>
                <a:spcPts val="300"/>
              </a:spcAft>
            </a:pPr>
            <a:r>
              <a:rPr sz="1200" b="0">
                <a:solidFill>
                  <a:srgbClr val="5B6372"/>
                </a:solidFill>
                <a:latin typeface="Arial"/>
              </a:rPr>
              <a:t>Smaller broadcast domains, failure containment, and policy boundaries between departments and device types.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VLAN ID</a:t>
            </a:r>
          </a:p>
          <a:p>
            <a:pPr algn="l">
              <a:spcAft>
                <a:spcPts val="300"/>
              </a:spcAft>
            </a:pPr>
            <a:r>
              <a:rPr sz="1200" b="0">
                <a:solidFill>
                  <a:srgbClr val="5B6372"/>
                </a:solidFill>
                <a:latin typeface="Arial"/>
              </a:rPr>
              <a:t>12-bit field: 1-4094 usable. VLAN 1 is the default everywhere — move production traffic off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VLAN</a:t>
            </a:r>
          </a:p>
          <a:p>
            <a:pPr algn="l">
              <a:spcAft>
                <a:spcPts val="300"/>
              </a:spcAft>
            </a:pPr>
            <a:r>
              <a:rPr sz="1200" b="0">
                <a:solidFill>
                  <a:srgbClr val="5B6372"/>
                </a:solidFill>
                <a:latin typeface="Arial"/>
              </a:rPr>
              <a:t>Ordinary user traffic — PCs, laptops and servers grouped by function or department.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VLAN</a:t>
            </a:r>
          </a:p>
          <a:p>
            <a:pPr algn="l">
              <a:spcAft>
                <a:spcPts val="300"/>
              </a:spcAft>
            </a:pPr>
            <a:r>
              <a:rPr sz="1200" b="0">
                <a:solidFill>
                  <a:srgbClr val="5B6372"/>
                </a:solidFill>
                <a:latin typeface="Arial"/>
              </a:rPr>
              <a:t>IP phones get their own tagged VLAN for QoS and clean troubleshooting; the PC daisy-chains through the phone.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Crossing VLANs</a:t>
            </a:r>
          </a:p>
          <a:p>
            <a:pPr algn="l">
              <a:spcAft>
                <a:spcPts val="300"/>
              </a:spcAft>
            </a:pPr>
            <a:r>
              <a:rPr sz="1200" b="0">
                <a:solidFill>
                  <a:srgbClr val="5B6372"/>
                </a:solidFill>
                <a:latin typeface="Arial"/>
              </a:rPr>
              <a:t>Traffic between VLANs must be ROUTED — a Layer 3 hop, covered two slides 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Inside the 802.1Q Tag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4-byte tag</a:t>
            </a:r>
          </a:p>
          <a:p>
            <a:pPr algn="l">
              <a:spcAft>
                <a:spcPts val="300"/>
              </a:spcAft>
            </a:pPr>
            <a:r>
              <a:rPr sz="1200" b="0">
                <a:solidFill>
                  <a:srgbClr val="5B6372"/>
                </a:solidFill>
                <a:latin typeface="Arial"/>
              </a:rPr>
              <a:t>802.1Q inserts 4 bytes into the Ethernet header after the source MAC — Lab 9 captures one live.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TPID 0x8100</a:t>
            </a:r>
          </a:p>
          <a:p>
            <a:pPr algn="l">
              <a:spcAft>
                <a:spcPts val="300"/>
              </a:spcAft>
            </a:pPr>
            <a:r>
              <a:rPr sz="1200" b="0">
                <a:solidFill>
                  <a:srgbClr val="5B6372"/>
                </a:solidFill>
                <a:latin typeface="Arial"/>
              </a:rPr>
              <a:t>The first 2 bytes announce 'this frame is tagged' so receivers parse the rest of the tag.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VLAN ID (12 bits)</a:t>
            </a:r>
          </a:p>
          <a:p>
            <a:pPr algn="l">
              <a:spcAft>
                <a:spcPts val="300"/>
              </a:spcAft>
            </a:pPr>
            <a:r>
              <a:rPr sz="1200" b="0">
                <a:solidFill>
                  <a:srgbClr val="5B6372"/>
                </a:solidFill>
                <a:latin typeface="Arial"/>
              </a:rPr>
              <a:t>Which VLAN the frame belongs to — switches use it to keep traffic separated on trunks.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PCP (3 bits)</a:t>
            </a:r>
          </a:p>
          <a:p>
            <a:pPr algn="l">
              <a:spcAft>
                <a:spcPts val="300"/>
              </a:spcAft>
            </a:pPr>
            <a:r>
              <a:rPr sz="1200" b="0">
                <a:solidFill>
                  <a:srgbClr val="5B6372"/>
                </a:solidFill>
                <a:latin typeface="Arial"/>
              </a:rPr>
              <a:t>Priority Code Point — the Class of Service marking QoS uses to prioritise voice and video.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Tag lifecycle</a:t>
            </a:r>
          </a:p>
          <a:p>
            <a:pPr algn="l">
              <a:spcAft>
                <a:spcPts val="300"/>
              </a:spcAft>
            </a:pPr>
            <a:r>
              <a:rPr sz="1200" b="0">
                <a:solidFill>
                  <a:srgbClr val="5B6372"/>
                </a:solidFill>
                <a:latin typeface="Arial"/>
              </a:rPr>
              <a:t>Added when a frame enters a trunk, stripped when it exits an access port — hosts normally never see tags.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Linux view</a:t>
            </a:r>
          </a:p>
          <a:p>
            <a:pPr algn="l">
              <a:spcAft>
                <a:spcPts val="300"/>
              </a:spcAft>
            </a:pPr>
            <a:r>
              <a:rPr sz="1200" b="0">
                <a:solidFill>
                  <a:srgbClr val="5B6372"/>
                </a:solidFill>
                <a:latin typeface="Arial"/>
              </a:rPr>
              <a:t>A sub-interface eth0.10 tags everything VID 10 on the way out — exactly how Lab 9 models a trunk.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Ports vs Trunk 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Access port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Trunk port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Carries a single VLAN, untagged</a:t>
            </a:r>
          </a:p>
          <a:p>
            <a:pPr>
              <a:spcAft>
                <a:spcPts val="1000"/>
              </a:spcAft>
            </a:pPr>
            <a:r>
              <a:rPr sz="1600" b="0">
                <a:solidFill>
                  <a:srgbClr val="161B26"/>
                </a:solidFill>
                <a:latin typeface="Arial"/>
              </a:rPr>
              <a:t>•  Connects end devices: PCs, printers, cameras</a:t>
            </a:r>
          </a:p>
          <a:p>
            <a:pPr>
              <a:spcAft>
                <a:spcPts val="1000"/>
              </a:spcAft>
            </a:pPr>
            <a:r>
              <a:rPr sz="1600" b="0">
                <a:solidFill>
                  <a:srgbClr val="161B26"/>
                </a:solidFill>
                <a:latin typeface="Arial"/>
              </a:rPr>
              <a:t>•  switchport mode access + access vlan 10</a:t>
            </a:r>
          </a:p>
          <a:p>
            <a:pPr>
              <a:spcAft>
                <a:spcPts val="1000"/>
              </a:spcAft>
            </a:pPr>
            <a:r>
              <a:rPr sz="1600" b="0">
                <a:solidFill>
                  <a:srgbClr val="161B26"/>
                </a:solidFill>
                <a:latin typeface="Arial"/>
              </a:rPr>
              <a:t>•  Voice VLAN rides alongside, tagged with CoS</a:t>
            </a:r>
          </a:p>
          <a:p>
            <a:pPr>
              <a:spcAft>
                <a:spcPts val="1000"/>
              </a:spcAft>
            </a:pPr>
            <a:r>
              <a:rPr sz="1600" b="0">
                <a:solidFill>
                  <a:srgbClr val="161B26"/>
                </a:solidFill>
                <a:latin typeface="Arial"/>
              </a:rPr>
              <a:t>•  Protect with port security and BPDU guard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Carries many VLANs between switches/routers</a:t>
            </a:r>
          </a:p>
          <a:p>
            <a:pPr>
              <a:spcAft>
                <a:spcPts val="1000"/>
              </a:spcAft>
            </a:pPr>
            <a:r>
              <a:rPr sz="1600" b="0">
                <a:solidFill>
                  <a:srgbClr val="161B26"/>
                </a:solidFill>
                <a:latin typeface="Arial"/>
              </a:rPr>
              <a:t>•  Every frame tagged 802.1Q except the native VLAN</a:t>
            </a:r>
          </a:p>
          <a:p>
            <a:pPr>
              <a:spcAft>
                <a:spcPts val="1000"/>
              </a:spcAft>
            </a:pPr>
            <a:r>
              <a:rPr sz="1600" b="0">
                <a:solidFill>
                  <a:srgbClr val="161B26"/>
                </a:solidFill>
                <a:latin typeface="Arial"/>
              </a:rPr>
              <a:t>•  switchport mode trunk + allowed vlan list</a:t>
            </a:r>
          </a:p>
          <a:p>
            <a:pPr>
              <a:spcAft>
                <a:spcPts val="1000"/>
              </a:spcAft>
            </a:pPr>
            <a:r>
              <a:rPr sz="1600" b="0">
                <a:solidFill>
                  <a:srgbClr val="161B26"/>
                </a:solidFill>
                <a:latin typeface="Arial"/>
              </a:rPr>
              <a:t>•  Native VLAN must match both ends (not VLAN 1)</a:t>
            </a:r>
          </a:p>
          <a:p>
            <a:pPr>
              <a:spcAft>
                <a:spcPts val="1000"/>
              </a:spcAft>
            </a:pPr>
            <a:r>
              <a:rPr sz="1600" b="0">
                <a:solidFill>
                  <a:srgbClr val="161B26"/>
                </a:solidFill>
                <a:latin typeface="Arial"/>
              </a:rPr>
              <a:t>•  Linux models it as eth0.&lt;id&gt; sub-interfaces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Native VLAN, Voice VLAN and VTP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Native VLAN</a:t>
            </a:r>
          </a:p>
          <a:p>
            <a:pPr algn="l">
              <a:spcAft>
                <a:spcPts val="300"/>
              </a:spcAft>
            </a:pPr>
            <a:r>
              <a:rPr sz="1200" b="0">
                <a:solidFill>
                  <a:srgbClr val="5B6372"/>
                </a:solidFill>
                <a:latin typeface="Arial"/>
              </a:rPr>
              <a:t>The one VLAN a trunk carries UNTAGGED. Frames arriving untagged on the trunk land 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Mismatch danger</a:t>
            </a:r>
          </a:p>
          <a:p>
            <a:pPr algn="l">
              <a:spcAft>
                <a:spcPts val="300"/>
              </a:spcAft>
            </a:pPr>
            <a:r>
              <a:rPr sz="1200" b="0">
                <a:solidFill>
                  <a:srgbClr val="5B6372"/>
                </a:solidFill>
                <a:latin typeface="Arial"/>
              </a:rPr>
              <a:t>If the two ends disagree on the native VLAN, frames silently leak between VLANs — CDP/LLDP will warn.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Best practice</a:t>
            </a:r>
          </a:p>
          <a:p>
            <a:pPr algn="l">
              <a:spcAft>
                <a:spcPts val="300"/>
              </a:spcAft>
            </a:pPr>
            <a:r>
              <a:rPr sz="1200" b="0">
                <a:solidFill>
                  <a:srgbClr val="5B6372"/>
                </a:solidFill>
                <a:latin typeface="Arial"/>
              </a:rPr>
              <a:t>Set the native VLAN to an unused ID (not 1) with no user traffic — blunts VLAN-hopping attacks.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VLAN config</a:t>
            </a:r>
          </a:p>
          <a:p>
            <a:pPr algn="l">
              <a:spcAft>
                <a:spcPts val="300"/>
              </a:spcAft>
            </a:pPr>
            <a:r>
              <a:rPr sz="1200" b="0">
                <a:solidFill>
                  <a:srgbClr val="5B6372"/>
                </a:solidFill>
                <a:latin typeface="Arial"/>
              </a:rPr>
              <a:t>switchport voice vlan 20: phone traffic tagged with CoS; the PC behind the phone stays untagged.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VTP</a:t>
            </a:r>
          </a:p>
          <a:p>
            <a:pPr algn="l">
              <a:spcAft>
                <a:spcPts val="300"/>
              </a:spcAft>
            </a:pPr>
            <a:r>
              <a:rPr sz="1200" b="0">
                <a:solidFill>
                  <a:srgbClr val="5B6372"/>
                </a:solidFill>
                <a:latin typeface="Arial"/>
              </a:rPr>
              <a:t>Cisco's VLAN Trunking Protocol syncs the VLAN database between switches — convenient, and dangerous if a stale switch joins.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InterVLAN Routing — Three Designs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needed</a:t>
            </a:r>
          </a:p>
          <a:p>
            <a:pPr algn="l">
              <a:spcAft>
                <a:spcPts val="300"/>
              </a:spcAft>
            </a:pPr>
            <a:r>
              <a:rPr sz="1200" b="0">
                <a:solidFill>
                  <a:srgbClr val="5B6372"/>
                </a:solidFill>
                <a:latin typeface="Arial"/>
              </a:rPr>
              <a:t>VLANs are separate broadcast domains — without a router, SALES can never reach the printer in OPS.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Router-on-a-stick</a:t>
            </a:r>
          </a:p>
          <a:p>
            <a:pPr algn="l">
              <a:spcAft>
                <a:spcPts val="300"/>
              </a:spcAft>
            </a:pPr>
            <a:r>
              <a:rPr sz="1200" b="0">
                <a:solidFill>
                  <a:srgbClr val="5B6372"/>
                </a:solidFill>
                <a:latin typeface="Arial"/>
              </a:rPr>
              <a:t>One router interface split into 802.1Q subinterfaces (g0/0.10, g0/0.20) — one per VLAN, each that VLAN's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Subinterface config</a:t>
            </a:r>
          </a:p>
          <a:p>
            <a:pPr algn="l">
              <a:spcAft>
                <a:spcPts val="300"/>
              </a:spcAft>
            </a:pPr>
            <a:r>
              <a:rPr sz="1200" b="0">
                <a:solidFill>
                  <a:srgbClr val="5B6372"/>
                </a:solidFill>
                <a:latin typeface="Arial"/>
              </a:rPr>
              <a:t>encapsulation dot1q 10 plus an IP in VLAN 10's subnet — logical interfaces on one trunk cable.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SVI</a:t>
            </a:r>
          </a:p>
          <a:p>
            <a:pPr algn="l">
              <a:spcAft>
                <a:spcPts val="300"/>
              </a:spcAft>
            </a:pPr>
            <a:r>
              <a:rPr sz="1200" b="0">
                <a:solidFill>
                  <a:srgbClr val="5B6372"/>
                </a:solidFill>
                <a:latin typeface="Arial"/>
              </a:rPr>
              <a:t>On a Layer 3 switch, 'interface vlan 10' is a virtual routed interface — no external router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Layer 3 switch</a:t>
            </a:r>
          </a:p>
          <a:p>
            <a:pPr algn="l">
              <a:spcAft>
                <a:spcPts val="300"/>
              </a:spcAft>
            </a:pPr>
            <a:r>
              <a:rPr sz="1200" b="0">
                <a:solidFill>
                  <a:srgbClr val="5B6372"/>
                </a:solidFill>
                <a:latin typeface="Arial"/>
              </a:rPr>
              <a:t>Routes between SVIs in hardware at wire speed — the standard enterprise design.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Which to pick</a:t>
            </a:r>
          </a:p>
          <a:p>
            <a:pPr algn="l">
              <a:spcAft>
                <a:spcPts val="300"/>
              </a:spcAft>
            </a:pPr>
            <a:r>
              <a:rPr sz="1200" b="0">
                <a:solidFill>
                  <a:srgbClr val="5B6372"/>
                </a:solidFill>
                <a:latin typeface="Arial"/>
              </a:rPr>
              <a:t>Router-on-a-stick for labs and small sites (the one cable is the bottleneck); SVIs everywhere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VLAN + Trunk on Cisco 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Reading the config that puts a PC in VLAN 10 and uplinks over a trunk.</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Switch(config)# vlan 10</a:t>
            </a:r>
          </a:p>
          <a:p>
            <a:pPr>
              <a:spcAft>
                <a:spcPts val="200"/>
              </a:spcAft>
            </a:pPr>
            <a:r>
              <a:rPr sz="1100">
                <a:solidFill>
                  <a:srgbClr val="9CDCFE"/>
                </a:solidFill>
                <a:latin typeface="Consolas"/>
              </a:rPr>
              <a:t>Switch(config-vlan)# name SALES</a:t>
            </a:r>
          </a:p>
          <a:p>
            <a:pPr>
              <a:spcAft>
                <a:spcPts val="200"/>
              </a:spcAft>
            </a:pPr>
            <a:r>
              <a:rPr sz="1100">
                <a:solidFill>
                  <a:srgbClr val="9CDCFE"/>
                </a:solidFill>
                <a:latin typeface="Consolas"/>
              </a:rPr>
              <a:t>Switch(config)# interface gi0/1</a:t>
            </a:r>
          </a:p>
          <a:p>
            <a:pPr>
              <a:spcAft>
                <a:spcPts val="200"/>
              </a:spcAft>
            </a:pPr>
            <a:r>
              <a:rPr sz="1100">
                <a:solidFill>
                  <a:srgbClr val="9CDCFE"/>
                </a:solidFill>
                <a:latin typeface="Consolas"/>
              </a:rPr>
              <a:t>Switch(config-if)# switchport mode access</a:t>
            </a:r>
          </a:p>
          <a:p>
            <a:pPr>
              <a:spcAft>
                <a:spcPts val="200"/>
              </a:spcAft>
            </a:pPr>
            <a:r>
              <a:rPr sz="1100">
                <a:solidFill>
                  <a:srgbClr val="9CDCFE"/>
                </a:solidFill>
                <a:latin typeface="Consolas"/>
              </a:rPr>
              <a:t>Switch(config-if)# switchport access vlan 10</a:t>
            </a:r>
          </a:p>
          <a:p>
            <a:pPr>
              <a:spcAft>
                <a:spcPts val="200"/>
              </a:spcAft>
            </a:pPr>
            <a:r>
              <a:rPr sz="1100">
                <a:solidFill>
                  <a:srgbClr val="9CDCFE"/>
                </a:solidFill>
                <a:latin typeface="Consolas"/>
              </a:rPr>
              <a:t>Switch(config)# interface gi0/24</a:t>
            </a:r>
          </a:p>
          <a:p>
            <a:pPr>
              <a:spcAft>
                <a:spcPts val="200"/>
              </a:spcAft>
            </a:pPr>
            <a:r>
              <a:rPr sz="1100">
                <a:solidFill>
                  <a:srgbClr val="9CDCFE"/>
                </a:solidFill>
                <a:latin typeface="Consolas"/>
              </a:rPr>
              <a:t>Switch(config-if)# switchport mode trunk</a:t>
            </a:r>
          </a:p>
          <a:p>
            <a:pPr>
              <a:spcAft>
                <a:spcPts val="200"/>
              </a:spcAft>
            </a:pPr>
            <a:r>
              <a:rPr sz="1100">
                <a:solidFill>
                  <a:srgbClr val="9CDCFE"/>
                </a:solidFill>
                <a:latin typeface="Consolas"/>
              </a:rPr>
              <a:t>Switch(config-if)# switchport trunk native vlan 99</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access vlan 10</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End-device ports carry one untagged VLAN; the PC never sees a tag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mode trunk</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uplink carries every VLAN, each frame tagged 802.1Q with its VLAN ID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native vlan 99</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Untagged trunk frames fall into the native VLAN — move it off VLAN 1 for security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Configuration: Speed &amp; Duplex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&amp; duplex</a:t>
            </a:r>
          </a:p>
          <a:p>
            <a:pPr algn="l">
              <a:spcAft>
                <a:spcPts val="300"/>
              </a:spcAft>
            </a:pPr>
            <a:r>
              <a:rPr sz="1200" b="0">
                <a:solidFill>
                  <a:srgbClr val="5B6372"/>
                </a:solidFill>
                <a:latin typeface="Arial"/>
              </a:rPr>
              <a:t>Modern ports autonegotiate 10/100/1000/10G full duplex; hard-coding only one side breaks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Duplex mismatch</a:t>
            </a:r>
          </a:p>
          <a:p>
            <a:pPr algn="l">
              <a:spcAft>
                <a:spcPts val="300"/>
              </a:spcAft>
            </a:pPr>
            <a:r>
              <a:rPr sz="1200" b="0">
                <a:solidFill>
                  <a:srgbClr val="5B6372"/>
                </a:solidFill>
                <a:latin typeface="Arial"/>
              </a:rPr>
              <a:t>One side full, one half: late collisions, CRC errors, terrible throughput — a classic exam symptom.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Autonegotiation rule</a:t>
            </a:r>
          </a:p>
          <a:p>
            <a:pPr algn="l">
              <a:spcAft>
                <a:spcPts val="300"/>
              </a:spcAft>
            </a:pPr>
            <a:r>
              <a:rPr sz="1200" b="0">
                <a:solidFill>
                  <a:srgbClr val="5B6372"/>
                </a:solidFill>
                <a:latin typeface="Arial"/>
              </a:rPr>
              <a:t>Both sides auto, or both sides forced identically — never mixed.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Runts &amp; giants</a:t>
            </a:r>
          </a:p>
          <a:p>
            <a:pPr algn="l">
              <a:spcAft>
                <a:spcPts val="300"/>
              </a:spcAft>
            </a:pPr>
            <a:r>
              <a:rPr sz="1200" b="0">
                <a:solidFill>
                  <a:srgbClr val="5B6372"/>
                </a:solidFill>
                <a:latin typeface="Arial"/>
              </a:rPr>
              <a:t>Frames under 64 bytes (runts) or oversize (giants) usually signal duplex, cable or MTU faults.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show interface</a:t>
            </a:r>
          </a:p>
          <a:p>
            <a:pPr algn="l">
              <a:spcAft>
                <a:spcPts val="300"/>
              </a:spcAft>
            </a:pPr>
            <a:r>
              <a:rPr sz="1200" b="0">
                <a:solidFill>
                  <a:srgbClr val="5B6372"/>
                </a:solidFill>
                <a:latin typeface="Arial"/>
              </a:rPr>
              <a:t>Errors, drops, and the speed/duplex actually negotiated — first stop for a slow-port complaint.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Err-disabled</a:t>
            </a:r>
          </a:p>
          <a:p>
            <a:pPr algn="l">
              <a:spcAft>
                <a:spcPts val="300"/>
              </a:spcAft>
            </a:pPr>
            <a:r>
              <a:rPr sz="1200" b="0">
                <a:solidFill>
                  <a:srgbClr val="5B6372"/>
                </a:solidFill>
                <a:latin typeface="Arial"/>
              </a:rPr>
              <a:t>Violations (port security, BPDU guard) shut the port to err-disabled; it stays down until recovered.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and Jumbo Frames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MTU 1500</a:t>
            </a:r>
          </a:p>
          <a:p>
            <a:pPr algn="l">
              <a:spcAft>
                <a:spcPts val="300"/>
              </a:spcAft>
            </a:pPr>
            <a:r>
              <a:rPr sz="1200" b="0">
                <a:solidFill>
                  <a:srgbClr val="5B6372"/>
                </a:solidFill>
                <a:latin typeface="Arial"/>
              </a:rPr>
              <a:t>The Ethernet default payload size — every hop must handle a packet's size or fragment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Jumbo frames</a:t>
            </a:r>
          </a:p>
          <a:p>
            <a:pPr algn="l">
              <a:spcAft>
                <a:spcPts val="300"/>
              </a:spcAft>
            </a:pPr>
            <a:r>
              <a:rPr sz="1200" b="0">
                <a:solidFill>
                  <a:srgbClr val="5B6372"/>
                </a:solidFill>
                <a:latin typeface="Arial"/>
              </a:rPr>
              <a:t>MTU up to ~9000 bytes: fewer frames per gigabyte and less CPU — used on storage and backup networks.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End-to-end rule</a:t>
            </a:r>
          </a:p>
          <a:p>
            <a:pPr algn="l">
              <a:spcAft>
                <a:spcPts val="300"/>
              </a:spcAft>
            </a:pPr>
            <a:r>
              <a:rPr sz="1200" b="0">
                <a:solidFill>
                  <a:srgbClr val="5B6372"/>
                </a:solidFill>
                <a:latin typeface="Arial"/>
              </a:rPr>
              <a:t>EVERY device in the path (switches and both hosts) must agree on jumbo MTU or traffic mysteriously fails.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Fragmentation</a:t>
            </a:r>
          </a:p>
          <a:p>
            <a:pPr algn="l">
              <a:spcAft>
                <a:spcPts val="300"/>
              </a:spcAft>
            </a:pPr>
            <a:r>
              <a:rPr sz="1200" b="0">
                <a:solidFill>
                  <a:srgbClr val="5B6372"/>
                </a:solidFill>
                <a:latin typeface="Arial"/>
              </a:rPr>
              <a:t>Routers fragment oversized IPv4 packets unless DF is set; IPv6 never fragments in transit.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Black holes</a:t>
            </a:r>
          </a:p>
          <a:p>
            <a:pPr algn="l">
              <a:spcAft>
                <a:spcPts val="300"/>
              </a:spcAft>
            </a:pPr>
            <a:r>
              <a:rPr sz="1200" b="0">
                <a:solidFill>
                  <a:srgbClr val="5B6372"/>
                </a:solidFill>
                <a:latin typeface="Arial"/>
              </a:rPr>
              <a:t>If DF is set and ICMP 'frag needed' is filtered, big packets vanish silently — Lab 33 reproduces this.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802.1Q VLAN Tagging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Create 802.1Q VLAN sub-interfaces and capture a tagged frame.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Load the 8021q kernel module, create eth0.10 and eth0.20 sub-interfaces each with its own subnet, verify the VLAN IDs with ip -d link, then capture a live tagged frame with tcpdump -e.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VLAN sub-interfaces on one NIC — a Linux model of a trunk port — plus a captured 802.1Q tag.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8021q module, tcpdump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-d link show eth0.10 reports 'vlan id 10', and the tcpdump output shows the 802.1Q tag (vlan 10) in the Ethernet header.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Load the 802.1Q kernel module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modprobe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Create the VLAN 20 sub-interface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Verify the VLAN ID with detailed link</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Start a capture that prints Ethernet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Create 802.1Q VLAN sub-interfaces and capture a tagged frame.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802.1Q VLAN Tagging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-d link show eth0.10 reports 'vlan id 10', and the tcpdump output shows the 802.1Q tag (vlan 10) in the Ethernet header.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modprobe: module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apt update first; the 8021q module ships with standard Ubuntu kernels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vlan tag in tcpdump output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Capture on the parent eth0 with -e; tags are already stripped on the sub-interface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File exists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sub-interface already exists — ip link del eth0.10, then recreate 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Storms and Spanning Tree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loop problem</a:t>
            </a:r>
          </a:p>
          <a:p>
            <a:pPr algn="l">
              <a:spcAft>
                <a:spcPts val="300"/>
              </a:spcAft>
            </a:pPr>
            <a:r>
              <a:rPr sz="1200" b="0">
                <a:solidFill>
                  <a:srgbClr val="5B6372"/>
                </a:solidFill>
                <a:latin typeface="Arial"/>
              </a:rPr>
              <a:t>Ethernet frames have no TTL — two links between switches and one broadcast circulates forever.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storm</a:t>
            </a:r>
          </a:p>
          <a:p>
            <a:pPr algn="l">
              <a:spcAft>
                <a:spcPts val="300"/>
              </a:spcAft>
            </a:pPr>
            <a:r>
              <a:rPr sz="1200" b="0">
                <a:solidFill>
                  <a:srgbClr val="5B6372"/>
                </a:solidFill>
                <a:latin typeface="Arial"/>
              </a:rPr>
              <a:t>The loop amplifies every broadcast; CPU and links saturate and the LAN 'melts' until a cable is pulled.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MAC flapping</a:t>
            </a:r>
          </a:p>
          <a:p>
            <a:pPr algn="l">
              <a:spcAft>
                <a:spcPts val="300"/>
              </a:spcAft>
            </a:pPr>
            <a:r>
              <a:rPr sz="1200" b="0">
                <a:solidFill>
                  <a:srgbClr val="5B6372"/>
                </a:solidFill>
                <a:latin typeface="Arial"/>
              </a:rPr>
              <a:t>The same source MAC arrives on two ports alternately; the MAC table thrashes and delivery breaks.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 (802.1D)</a:t>
            </a:r>
          </a:p>
          <a:p>
            <a:pPr algn="l">
              <a:spcAft>
                <a:spcPts val="300"/>
              </a:spcAft>
            </a:pPr>
            <a:r>
              <a:rPr sz="1200" b="0">
                <a:solidFill>
                  <a:srgbClr val="5B6372"/>
                </a:solidFill>
                <a:latin typeface="Arial"/>
              </a:rPr>
              <a:t>Switches elect a root bridge and block redundant ports, pruning the mesh into a loop-free logical tree.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BPDU</a:t>
            </a:r>
          </a:p>
          <a:p>
            <a:pPr algn="l">
              <a:spcAft>
                <a:spcPts val="300"/>
              </a:spcAft>
            </a:pPr>
            <a:r>
              <a:rPr sz="1200" b="0">
                <a:solidFill>
                  <a:srgbClr val="5B6372"/>
                </a:solidFill>
                <a:latin typeface="Arial"/>
              </a:rPr>
              <a:t>Bridge Protocol Data Units — hello frames exchanged every 2 s to build and maintain the tree.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Bridge ID</a:t>
            </a:r>
          </a:p>
          <a:p>
            <a:pPr algn="l">
              <a:spcAft>
                <a:spcPts val="300"/>
              </a:spcAft>
            </a:pPr>
            <a:r>
              <a:rPr sz="1200" b="0">
                <a:solidFill>
                  <a:srgbClr val="5B6372"/>
                </a:solidFill>
                <a:latin typeface="Arial"/>
              </a:rPr>
              <a:t>Priority + MAC; lowest wins root. Set priority so YOUR core is root, not a random access switch.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Spanning Tree Converges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Elect root bridge</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lowest bridge ID wins</a:t>
            </a:r>
          </a:p>
        </p:txBody>
      </p:sp>
      <p:cxnSp>
        <p:nvCxnSpPr>
          <p:cNvPr id="13" name="Connector 12"/>
          <p:cNvCxnSpPr/>
          <p:nvPr/>
        </p:nvCxnSpPr>
        <p:spPr>
          <a:xfrm>
            <a:off x="320268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Pick root ports</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cheapest path to root</a:t>
            </a:r>
          </a:p>
        </p:txBody>
      </p:sp>
      <p:cxnSp>
        <p:nvCxnSpPr>
          <p:cNvPr id="20" name="Connector 19"/>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Pick designated ports</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one per segment</a:t>
            </a:r>
          </a:p>
        </p:txBody>
      </p:sp>
      <p:cxnSp>
        <p:nvCxnSpPr>
          <p:cNvPr id="27" name="Connector 26"/>
          <p:cNvCxnSpPr/>
          <p:nvPr/>
        </p:nvCxnSpPr>
        <p:spPr>
          <a:xfrm>
            <a:off x="871194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Block the rest</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loops broken</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One logical tree, no loops: a cabling mistake no longer melts the LAN in a broadcast storm — and RSTP re-converges in about a second.</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STP Port States — 802.1D vs RSTP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802.1D state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Learns MACs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Forwards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RSTP (802.1w)</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Blocking</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Discarding (alt/backup)</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Listening</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Discarding</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Learning</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Learning</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Forwarding</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Forwarding</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Legacy STP takes 30-50 s to converge; RSTP cuts it to about a second — always prefer RSTP/MSTP.</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Protecting Switch 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security</a:t>
            </a:r>
          </a:p>
          <a:p>
            <a:pPr algn="l">
              <a:spcAft>
                <a:spcPts val="300"/>
              </a:spcAft>
            </a:pPr>
            <a:r>
              <a:rPr sz="1200" b="0">
                <a:solidFill>
                  <a:srgbClr val="5B6372"/>
                </a:solidFill>
                <a:latin typeface="Arial"/>
              </a:rPr>
              <a:t>Limit which and how many MACs may use an access port; violations err-disable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BPDU guard</a:t>
            </a:r>
          </a:p>
          <a:p>
            <a:pPr algn="l">
              <a:spcAft>
                <a:spcPts val="300"/>
              </a:spcAft>
            </a:pPr>
            <a:r>
              <a:rPr sz="1200" b="0">
                <a:solidFill>
                  <a:srgbClr val="5B6372"/>
                </a:solidFill>
                <a:latin typeface="Arial"/>
              </a:rPr>
              <a:t>Access ports should never receive BPDUs — if one arrives (rogue switch!), kill the port.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guard</a:t>
            </a:r>
          </a:p>
          <a:p>
            <a:pPr algn="l">
              <a:spcAft>
                <a:spcPts val="300"/>
              </a:spcAft>
            </a:pPr>
            <a:r>
              <a:rPr sz="1200" b="0">
                <a:solidFill>
                  <a:srgbClr val="5B6372"/>
                </a:solidFill>
                <a:latin typeface="Arial"/>
              </a:rPr>
              <a:t>Stops a downstream switch from hijacking the root role — protects your tree design.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 guard</a:t>
            </a:r>
          </a:p>
          <a:p>
            <a:pPr algn="l">
              <a:spcAft>
                <a:spcPts val="300"/>
              </a:spcAft>
            </a:pPr>
            <a:r>
              <a:rPr sz="1200" b="0">
                <a:solidFill>
                  <a:srgbClr val="5B6372"/>
                </a:solidFill>
                <a:latin typeface="Arial"/>
              </a:rPr>
              <a:t>Blocks a port that stops hearing BPDUs instead of trusting it — belt and braces against loops.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DHCP snooping</a:t>
            </a:r>
          </a:p>
          <a:p>
            <a:pPr algn="l">
              <a:spcAft>
                <a:spcPts val="300"/>
              </a:spcAft>
            </a:pPr>
            <a:r>
              <a:rPr sz="1200" b="0">
                <a:solidFill>
                  <a:srgbClr val="5B6372"/>
                </a:solidFill>
                <a:latin typeface="Arial"/>
              </a:rPr>
              <a:t>The switch tracks legit DHCP servers per port; rogue OFFERs from untrusted ports are dropped.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Dynamic ARP inspection</a:t>
            </a:r>
          </a:p>
          <a:p>
            <a:pPr algn="l">
              <a:spcAft>
                <a:spcPts val="300"/>
              </a:spcAft>
            </a:pPr>
            <a:r>
              <a:rPr sz="1200" b="0">
                <a:solidFill>
                  <a:srgbClr val="5B6372"/>
                </a:solidFill>
                <a:latin typeface="Arial"/>
              </a:rPr>
              <a:t>Uses the snooping table to drop spoofed ARP replies — kills on-LAN man-in-the-middle.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Link Aggregation and LACP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bonding / aggregation</a:t>
            </a:r>
          </a:p>
          <a:p>
            <a:pPr algn="l">
              <a:spcAft>
                <a:spcPts val="300"/>
              </a:spcAft>
            </a:pPr>
            <a:r>
              <a:rPr sz="1200" b="0">
                <a:solidFill>
                  <a:srgbClr val="5B6372"/>
                </a:solidFill>
                <a:latin typeface="Arial"/>
              </a:rPr>
              <a:t>Bundle 2-8 physical links into one logical port-channel — more bandwidth AND redundancy.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LACP (802.3ad / 802.1AX)</a:t>
            </a:r>
          </a:p>
          <a:p>
            <a:pPr algn="l">
              <a:spcAft>
                <a:spcPts val="300"/>
              </a:spcAft>
            </a:pPr>
            <a:r>
              <a:rPr sz="1200" b="0">
                <a:solidFill>
                  <a:srgbClr val="5B6372"/>
                </a:solidFill>
                <a:latin typeface="Arial"/>
              </a:rPr>
              <a:t>The standard negotiation protocol: both ends agree the bundle — mismatches stay down safely.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Modes</a:t>
            </a:r>
          </a:p>
          <a:p>
            <a:pPr algn="l">
              <a:spcAft>
                <a:spcPts val="300"/>
              </a:spcAft>
            </a:pPr>
            <a:r>
              <a:rPr sz="1200" b="0">
                <a:solidFill>
                  <a:srgbClr val="5B6372"/>
                </a:solidFill>
                <a:latin typeface="Arial"/>
              </a:rPr>
              <a:t>active/active and active/passive form a channel; passive/passive never negotiates — exam favourite.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Hashing, not magic</a:t>
            </a:r>
          </a:p>
          <a:p>
            <a:pPr algn="l">
              <a:spcAft>
                <a:spcPts val="300"/>
              </a:spcAft>
            </a:pPr>
            <a:r>
              <a:rPr sz="1200" b="0">
                <a:solidFill>
                  <a:srgbClr val="5B6372"/>
                </a:solidFill>
                <a:latin typeface="Arial"/>
              </a:rPr>
              <a:t>Each flow hashes onto ONE member link — a single big transfer never exceeds one link's speed.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NIC teaming</a:t>
            </a:r>
          </a:p>
          <a:p>
            <a:pPr algn="l">
              <a:spcAft>
                <a:spcPts val="300"/>
              </a:spcAft>
            </a:pPr>
            <a:r>
              <a:rPr sz="1200" b="0">
                <a:solidFill>
                  <a:srgbClr val="5B6372"/>
                </a:solidFill>
                <a:latin typeface="Arial"/>
              </a:rPr>
              <a:t>The server-side twin: bond NICs for redundancy (active-backup) or throughput (802.3ad to the switch).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Linux bonding</a:t>
            </a:r>
          </a:p>
          <a:p>
            <a:pPr algn="l">
              <a:spcAft>
                <a:spcPts val="300"/>
              </a:spcAft>
            </a:pPr>
            <a:r>
              <a:rPr sz="1200" b="0">
                <a:solidFill>
                  <a:srgbClr val="5B6372"/>
                </a:solidFill>
                <a:latin typeface="Arial"/>
              </a:rPr>
              <a:t>modprobe bonding mode=802.3ad — /proc/net/bonding/bond0 shows partner and slave state (Lab 10).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Mirroring (SPAN)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SPAN / port mirror</a:t>
            </a:r>
          </a:p>
          <a:p>
            <a:pPr algn="l">
              <a:spcAft>
                <a:spcPts val="300"/>
              </a:spcAft>
            </a:pPr>
            <a:r>
              <a:rPr sz="1200" b="0">
                <a:solidFill>
                  <a:srgbClr val="5B6372"/>
                </a:solidFill>
                <a:latin typeface="Arial"/>
              </a:rPr>
              <a:t>The switch copies frames from source ports or a VLAN to a destination port for analysis.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a:t>
            </a:r>
          </a:p>
          <a:p>
            <a:pPr algn="l">
              <a:spcAft>
                <a:spcPts val="300"/>
              </a:spcAft>
            </a:pPr>
            <a:r>
              <a:rPr sz="1200" b="0">
                <a:solidFill>
                  <a:srgbClr val="5B6372"/>
                </a:solidFill>
                <a:latin typeface="Arial"/>
              </a:rPr>
              <a:t>Switches deliver frames only to their destination — without a mirror your sniffer sees almost nothing.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Setup</a:t>
            </a:r>
          </a:p>
          <a:p>
            <a:pPr algn="l">
              <a:spcAft>
                <a:spcPts val="300"/>
              </a:spcAft>
            </a:pPr>
            <a:r>
              <a:rPr sz="1200" b="0">
                <a:solidFill>
                  <a:srgbClr val="5B6372"/>
                </a:solidFill>
                <a:latin typeface="Arial"/>
              </a:rPr>
              <a:t>Choose the source (port or VLAN; rx, tx or both) and the destination port where Wireshark or an IDS listens.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Remote SPAN</a:t>
            </a:r>
          </a:p>
          <a:p>
            <a:pPr algn="l">
              <a:spcAft>
                <a:spcPts val="300"/>
              </a:spcAft>
            </a:pPr>
            <a:r>
              <a:rPr sz="1200" b="0">
                <a:solidFill>
                  <a:srgbClr val="5B6372"/>
                </a:solidFill>
                <a:latin typeface="Arial"/>
              </a:rPr>
              <a:t>RSPAN carries the mirror across a dedicated VLAN to a sniffer on another switch.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TAP alternative</a:t>
            </a:r>
          </a:p>
          <a:p>
            <a:pPr algn="l">
              <a:spcAft>
                <a:spcPts val="300"/>
              </a:spcAft>
            </a:pPr>
            <a:r>
              <a:rPr sz="1200" b="0">
                <a:solidFill>
                  <a:srgbClr val="5B6372"/>
                </a:solidFill>
                <a:latin typeface="Arial"/>
              </a:rPr>
              <a:t>A hardware test access point copies traffic passively — no switch CPU load, no drops under load.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Link Aggregation (LACP Bond)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Bundle interfaces into an LACP (802.3ad) bond and inspect its state.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ifenslave, load the bonding driver in 802.3ad mode, create bond0, enslave a NIC and read the LACP aggregator, partner MAC and per-slave link state from /proc/net/bonding/bond0.</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bond0 interface running LACP with aggregator and slave state visible in /proc/net/bonding/bond0.</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ifenslave, bonding module, iproute2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cat /proc/net/bonding/bond0 shows 'Bonding Mode: IEEE 802.3ad Dynamic link aggregation' plus the slave's MII status and aggregator ID.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ifenslave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 the bond interface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Enslave the NIC</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Bring up the slave and the bond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Bundle interfaces into an LACP (802.3ad) bond and inspect its state.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Link Aggregation (LACP Bond)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cat /proc/net/bonding/bond0 shows 'Bonding Mode: IEEE 802.3ad Dynamic link aggregation' plus the slave's MII status and aggregator ID.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Playground disconnects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Enslaving the only NIC drops Killercoda — rebuild the playground or use a multi-NIC VM</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bond0 shows no partner MAC</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peer must speak LACP too; without an 802.3ad partner the aggregator stays down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enslave eth0</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the interface down first (ip link set eth0 down), then set master bond0</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Quality of Service and Traffic Shaping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QoS</a:t>
            </a:r>
          </a:p>
          <a:p>
            <a:pPr algn="l">
              <a:spcAft>
                <a:spcPts val="300"/>
              </a:spcAft>
            </a:pPr>
            <a:r>
              <a:rPr sz="1200" b="0">
                <a:solidFill>
                  <a:srgbClr val="5B6372"/>
                </a:solidFill>
                <a:latin typeface="Arial"/>
              </a:rPr>
              <a:t>When a link congests something must be dropped — QoS decides what suffers so voice and video do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Classify &amp; mark</a:t>
            </a:r>
          </a:p>
          <a:p>
            <a:pPr algn="l">
              <a:spcAft>
                <a:spcPts val="300"/>
              </a:spcAft>
            </a:pPr>
            <a:r>
              <a:rPr sz="1200" b="0">
                <a:solidFill>
                  <a:srgbClr val="5B6372"/>
                </a:solidFill>
                <a:latin typeface="Arial"/>
              </a:rPr>
              <a:t>Traffic is identified and marked (802.1p CoS at L2, DSCP at L3) so every hop honours the same policy.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Queuing</a:t>
            </a:r>
          </a:p>
          <a:p>
            <a:pPr algn="l">
              <a:spcAft>
                <a:spcPts val="300"/>
              </a:spcAft>
            </a:pPr>
            <a:r>
              <a:rPr sz="1200" b="0">
                <a:solidFill>
                  <a:srgbClr val="5B6372"/>
                </a:solidFill>
                <a:latin typeface="Arial"/>
              </a:rPr>
              <a:t>Priority queues drain first — a VoIP packet jumps the line ahead of a backup transfer.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Traffic shaping</a:t>
            </a:r>
          </a:p>
          <a:p>
            <a:pPr algn="l">
              <a:spcAft>
                <a:spcPts val="300"/>
              </a:spcAft>
            </a:pPr>
            <a:r>
              <a:rPr sz="1200" b="0">
                <a:solidFill>
                  <a:srgbClr val="5B6372"/>
                </a:solidFill>
                <a:latin typeface="Arial"/>
              </a:rPr>
              <a:t>Buffers and smooths traffic to a target rate; policing simply drops the excess.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SOHO QoS</a:t>
            </a:r>
          </a:p>
          <a:p>
            <a:pPr algn="l">
              <a:spcAft>
                <a:spcPts val="300"/>
              </a:spcAft>
            </a:pPr>
            <a:r>
              <a:rPr sz="1200" b="0">
                <a:solidFill>
                  <a:srgbClr val="5B6372"/>
                </a:solidFill>
                <a:latin typeface="Arial"/>
              </a:rPr>
              <a:t>Home routers offer simple per-protocol or per-device priorities — the same idea, one checkbox.</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IDS vs 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IDS — detect and alert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IPS — detect and act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Out-of-band: watches a COPY (port mirror or TAP)</a:t>
            </a:r>
          </a:p>
          <a:p>
            <a:pPr>
              <a:spcAft>
                <a:spcPts val="1000"/>
              </a:spcAft>
            </a:pPr>
            <a:r>
              <a:rPr sz="1600" b="0">
                <a:solidFill>
                  <a:srgbClr val="161B26"/>
                </a:solidFill>
                <a:latin typeface="Arial"/>
              </a:rPr>
              <a:t>•  Detects and alerts; humans respond</a:t>
            </a:r>
          </a:p>
          <a:p>
            <a:pPr>
              <a:spcAft>
                <a:spcPts val="1000"/>
              </a:spcAft>
            </a:pPr>
            <a:r>
              <a:rPr sz="1600" b="0">
                <a:solidFill>
                  <a:srgbClr val="161B26"/>
                </a:solidFill>
                <a:latin typeface="Arial"/>
              </a:rPr>
              <a:t>•  Cannot block, so it cannot break traffic</a:t>
            </a:r>
          </a:p>
          <a:p>
            <a:pPr>
              <a:spcAft>
                <a:spcPts val="1000"/>
              </a:spcAft>
            </a:pPr>
            <a:r>
              <a:rPr sz="1600" b="0">
                <a:solidFill>
                  <a:srgbClr val="161B26"/>
                </a:solidFill>
                <a:latin typeface="Arial"/>
              </a:rPr>
              <a:t>•  False positives cost analyst time only</a:t>
            </a:r>
          </a:p>
          <a:p>
            <a:pPr>
              <a:spcAft>
                <a:spcPts val="1000"/>
              </a:spcAft>
            </a:pPr>
            <a:r>
              <a:rPr sz="1600" b="0">
                <a:solidFill>
                  <a:srgbClr val="161B26"/>
                </a:solidFill>
                <a:latin typeface="Arial"/>
              </a:rPr>
              <a:t>•  Example: Suricata in IDS mode (Lab 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In-band (inline): real traffic flows through it</a:t>
            </a:r>
          </a:p>
          <a:p>
            <a:pPr>
              <a:spcAft>
                <a:spcPts val="1000"/>
              </a:spcAft>
            </a:pPr>
            <a:r>
              <a:rPr sz="1600" b="0">
                <a:solidFill>
                  <a:srgbClr val="161B26"/>
                </a:solidFill>
                <a:latin typeface="Arial"/>
              </a:rPr>
              <a:t>•  Drops or resets malicious flows automatically</a:t>
            </a:r>
          </a:p>
          <a:p>
            <a:pPr>
              <a:spcAft>
                <a:spcPts val="1000"/>
              </a:spcAft>
            </a:pPr>
            <a:r>
              <a:rPr sz="1600" b="0">
                <a:solidFill>
                  <a:srgbClr val="161B26"/>
                </a:solidFill>
                <a:latin typeface="Arial"/>
              </a:rPr>
              <a:t>•  A false positive can block good traffic</a:t>
            </a:r>
          </a:p>
          <a:p>
            <a:pPr>
              <a:spcAft>
                <a:spcPts val="1000"/>
              </a:spcAft>
            </a:pPr>
            <a:r>
              <a:rPr sz="1600" b="0">
                <a:solidFill>
                  <a:srgbClr val="161B26"/>
                </a:solidFill>
                <a:latin typeface="Arial"/>
              </a:rPr>
              <a:t>•  Needs throughput matching the link</a:t>
            </a:r>
          </a:p>
          <a:p>
            <a:pPr>
              <a:spcAft>
                <a:spcPts val="1000"/>
              </a:spcAft>
            </a:pPr>
            <a:r>
              <a:rPr sz="1600" b="0">
                <a:solidFill>
                  <a:srgbClr val="161B26"/>
                </a:solidFill>
                <a:latin typeface="Arial"/>
              </a:rPr>
              <a:t>•  A firewall filters, an IDS notifies, an IPS acts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Proxy Servers — Three Flavours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Forward proxy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Sits in front of clients</a:t>
            </a:r>
          </a:p>
          <a:p>
            <a:pPr>
              <a:spcAft>
                <a:spcPts val="900"/>
              </a:spcAft>
            </a:pPr>
            <a:r>
              <a:rPr sz="1400" b="0">
                <a:solidFill>
                  <a:srgbClr val="161B26"/>
                </a:solidFill>
                <a:latin typeface="Arial"/>
              </a:rPr>
              <a:t>•  Caching and content filtering</a:t>
            </a:r>
          </a:p>
          <a:p>
            <a:pPr>
              <a:spcAft>
                <a:spcPts val="900"/>
              </a:spcAft>
            </a:pPr>
            <a:r>
              <a:rPr sz="1400" b="0">
                <a:solidFill>
                  <a:srgbClr val="161B26"/>
                </a:solidFill>
                <a:latin typeface="Arial"/>
              </a:rPr>
              <a:t>•  Hides clients from servers</a:t>
            </a:r>
          </a:p>
          <a:p>
            <a:pPr>
              <a:spcAft>
                <a:spcPts val="900"/>
              </a:spcAft>
            </a:pPr>
            <a:r>
              <a:rPr sz="1400" b="0">
                <a:solidFill>
                  <a:srgbClr val="161B26"/>
                </a:solidFill>
                <a:latin typeface="Arial"/>
              </a:rPr>
              <a:t>•  Common in schools and offices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Transparent proxy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No client configuration</a:t>
            </a:r>
          </a:p>
          <a:p>
            <a:pPr>
              <a:spcAft>
                <a:spcPts val="900"/>
              </a:spcAft>
            </a:pPr>
            <a:r>
              <a:rPr sz="1400" b="0">
                <a:solidFill>
                  <a:srgbClr val="161B26"/>
                </a:solidFill>
                <a:latin typeface="Arial"/>
              </a:rPr>
              <a:t>•  Must sit inline in the path</a:t>
            </a:r>
          </a:p>
          <a:p>
            <a:pPr>
              <a:spcAft>
                <a:spcPts val="900"/>
              </a:spcAft>
            </a:pPr>
            <a:r>
              <a:rPr sz="1400" b="0">
                <a:solidFill>
                  <a:srgbClr val="161B26"/>
                </a:solidFill>
                <a:latin typeface="Arial"/>
              </a:rPr>
              <a:t>•  Intercepts traffic silently</a:t>
            </a:r>
          </a:p>
          <a:p>
            <a:pPr>
              <a:spcAft>
                <a:spcPts val="900"/>
              </a:spcAft>
            </a:pPr>
            <a:r>
              <a:rPr sz="1400" b="0">
                <a:solidFill>
                  <a:srgbClr val="161B26"/>
                </a:solidFill>
                <a:latin typeface="Arial"/>
              </a:rPr>
              <a:t>•  Often at the network edge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Reverse proxy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Sits in front of servers</a:t>
            </a:r>
          </a:p>
          <a:p>
            <a:pPr>
              <a:spcAft>
                <a:spcPts val="900"/>
              </a:spcAft>
            </a:pPr>
            <a:r>
              <a:rPr sz="1400" b="0">
                <a:solidFill>
                  <a:srgbClr val="161B26"/>
                </a:solidFill>
                <a:latin typeface="Arial"/>
              </a:rPr>
              <a:t>•  Load balancing plus caching</a:t>
            </a:r>
          </a:p>
          <a:p>
            <a:pPr>
              <a:spcAft>
                <a:spcPts val="900"/>
              </a:spcAft>
            </a:pPr>
            <a:r>
              <a:rPr sz="1400" b="0">
                <a:solidFill>
                  <a:srgbClr val="161B26"/>
                </a:solidFill>
                <a:latin typeface="Arial"/>
              </a:rPr>
              <a:t>•  TLS offload / crypto acceleration</a:t>
            </a:r>
          </a:p>
          <a:p>
            <a:pPr>
              <a:spcAft>
                <a:spcPts val="900"/>
              </a:spcAft>
            </a:pPr>
            <a:r>
              <a:rPr sz="1400" b="0">
                <a:solidFill>
                  <a:srgbClr val="161B26"/>
                </a:solidFill>
                <a:latin typeface="Arial"/>
              </a:rPr>
              <a:t>•  Absorbs DoS attacks</a:t>
            </a:r>
          </a:p>
          <a:p>
            <a:pPr>
              <a:spcAft>
                <a:spcPts val="900"/>
              </a:spcAft>
            </a:pPr>
            <a:r>
              <a:rPr sz="1400" b="0">
                <a:solidFill>
                  <a:srgbClr val="161B26"/>
                </a:solidFill>
                <a:latin typeface="Arial"/>
              </a:rPr>
              <a:t>•  Hides the server fleet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it does</a:t>
            </a:r>
          </a:p>
          <a:p>
            <a:pPr algn="l">
              <a:spcAft>
                <a:spcPts val="300"/>
              </a:spcAft>
            </a:pPr>
            <a:r>
              <a:rPr sz="1200" b="0">
                <a:solidFill>
                  <a:srgbClr val="5B6372"/>
                </a:solidFill>
                <a:latin typeface="Arial"/>
              </a:rPr>
              <a:t>Spreads client requests across a pool of servers — capacity AND availability behind one VIP.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Round robin</a:t>
            </a:r>
          </a:p>
          <a:p>
            <a:pPr algn="l">
              <a:spcAft>
                <a:spcPts val="300"/>
              </a:spcAft>
            </a:pPr>
            <a:r>
              <a:rPr sz="1200" b="0">
                <a:solidFill>
                  <a:srgbClr val="5B6372"/>
                </a:solidFill>
                <a:latin typeface="Arial"/>
              </a:rPr>
              <a:t>Each request goes to the next server in the list; DNS round robin is the zero-hardware version.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 connections</a:t>
            </a:r>
          </a:p>
          <a:p>
            <a:pPr algn="l">
              <a:spcAft>
                <a:spcPts val="300"/>
              </a:spcAft>
            </a:pPr>
            <a:r>
              <a:rPr sz="1200" b="0">
                <a:solidFill>
                  <a:srgbClr val="5B6372"/>
                </a:solidFill>
                <a:latin typeface="Arial"/>
              </a:rPr>
              <a:t>Smarter schedulers send work to the server that is actually least busy right now.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Health checks</a:t>
            </a:r>
          </a:p>
          <a:p>
            <a:pPr algn="l">
              <a:spcAft>
                <a:spcPts val="300"/>
              </a:spcAft>
            </a:pPr>
            <a:r>
              <a:rPr sz="1200" b="0">
                <a:solidFill>
                  <a:srgbClr val="5B6372"/>
                </a:solidFill>
                <a:latin typeface="Arial"/>
              </a:rPr>
              <a:t>Dead servers are pulled from rotation automatically — users never see the failure.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Persistence</a:t>
            </a:r>
          </a:p>
          <a:p>
            <a:pPr algn="l">
              <a:spcAft>
                <a:spcPts val="300"/>
              </a:spcAft>
            </a:pPr>
            <a:r>
              <a:rPr sz="1200" b="0">
                <a:solidFill>
                  <a:srgbClr val="5B6372"/>
                </a:solidFill>
                <a:latin typeface="Arial"/>
              </a:rPr>
              <a:t>Sticky sessions pin a client to one backend when the application keeps state locally.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 it lives</a:t>
            </a:r>
          </a:p>
          <a:p>
            <a:pPr algn="l">
              <a:spcAft>
                <a:spcPts val="300"/>
              </a:spcAft>
            </a:pPr>
            <a:r>
              <a:rPr sz="1200" b="0">
                <a:solidFill>
                  <a:srgbClr val="5B6372"/>
                </a:solidFill>
                <a:latin typeface="Arial"/>
              </a:rPr>
              <a:t>Dedicated appliances, reverse proxies (nginx, HAProxy) or cloud load-balancer services.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Device Placement — Edge to 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Screened subnet (DMZ)</a:t>
            </a:r>
          </a:p>
          <a:p>
            <a:pPr algn="l">
              <a:spcAft>
                <a:spcPts val="300"/>
              </a:spcAft>
            </a:pPr>
            <a:r>
              <a:rPr sz="1200" b="0">
                <a:solidFill>
                  <a:srgbClr val="5B6372"/>
                </a:solidFill>
                <a:latin typeface="Arial"/>
              </a:rPr>
              <a:t>Public-facing servers live in an isolated zone between two firewall layers — a breach there stays there.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Edge firewall</a:t>
            </a:r>
          </a:p>
          <a:p>
            <a:pPr algn="l">
              <a:spcAft>
                <a:spcPts val="300"/>
              </a:spcAft>
            </a:pPr>
            <a:r>
              <a:rPr sz="1200" b="0">
                <a:solidFill>
                  <a:srgbClr val="5B6372"/>
                </a:solidFill>
                <a:latin typeface="Arial"/>
              </a:rPr>
              <a:t>Faces the Internet: allows unsolicited traffic only to published screened-subnet services.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Interior firewall</a:t>
            </a:r>
          </a:p>
          <a:p>
            <a:pPr algn="l">
              <a:spcAft>
                <a:spcPts val="300"/>
              </a:spcAft>
            </a:pPr>
            <a:r>
              <a:rPr sz="1200" b="0">
                <a:solidFill>
                  <a:srgbClr val="5B6372"/>
                </a:solidFill>
                <a:latin typeface="Arial"/>
              </a:rPr>
              <a:t>Second layer between the DMZ and LAN — nothing from the DMZ initiates into the private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Inline IPS</a:t>
            </a:r>
          </a:p>
          <a:p>
            <a:pPr algn="l">
              <a:spcAft>
                <a:spcPts val="300"/>
              </a:spcAft>
            </a:pPr>
            <a:r>
              <a:rPr sz="1200" b="0">
                <a:solidFill>
                  <a:srgbClr val="5B6372"/>
                </a:solidFill>
                <a:latin typeface="Arial"/>
              </a:rPr>
              <a:t>Sits in-band just inside the edge so it can act on attacks before they spread.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Internal segmentation</a:t>
            </a:r>
          </a:p>
          <a:p>
            <a:pPr algn="l">
              <a:spcAft>
                <a:spcPts val="300"/>
              </a:spcAft>
            </a:pPr>
            <a:r>
              <a:rPr sz="1200" b="0">
                <a:solidFill>
                  <a:srgbClr val="5B6372"/>
                </a:solidFill>
                <a:latin typeface="Arial"/>
              </a:rPr>
              <a:t>Extra firewalls and ACLs around HR, finance and OT — blast-radius control inside the domain.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SOHO 'DMZ host'</a:t>
            </a:r>
          </a:p>
          <a:p>
            <a:pPr algn="l">
              <a:spcAft>
                <a:spcPts val="300"/>
              </a:spcAft>
            </a:pPr>
            <a:r>
              <a:rPr sz="1200" b="0">
                <a:solidFill>
                  <a:srgbClr val="5B6372"/>
                </a:solidFill>
                <a:latin typeface="Arial"/>
              </a:rPr>
              <a:t>A home router's DMZ setting forwards ALL ports to one host — outside protection, not a real DMZ.</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2.3 · WIRELESS DEVICES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No cables. Same rules.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Wireless swaps copper for radio — but VLANs, DHCP, security and troubleshooting all still apply on the far side of the access point.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802.11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point (WAP)</a:t>
            </a:r>
          </a:p>
          <a:p>
            <a:pPr algn="l">
              <a:spcAft>
                <a:spcPts val="300"/>
              </a:spcAft>
            </a:pPr>
            <a:r>
              <a:rPr sz="1200" b="0">
                <a:solidFill>
                  <a:srgbClr val="5B6372"/>
                </a:solidFill>
                <a:latin typeface="Arial"/>
              </a:rPr>
              <a:t>A Layer 2 bridge between 802.11 radio and 802.3 Ethernet — wireless clients join the wired LAN through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SSID</a:t>
            </a:r>
          </a:p>
          <a:p>
            <a:pPr algn="l">
              <a:spcAft>
                <a:spcPts val="300"/>
              </a:spcAft>
            </a:pPr>
            <a:r>
              <a:rPr sz="1200" b="0">
                <a:solidFill>
                  <a:srgbClr val="5B6372"/>
                </a:solidFill>
                <a:latin typeface="Arial"/>
              </a:rPr>
              <a:t>The network name a human selects — a word or phrase up to 32 bytes.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BSSID</a:t>
            </a:r>
          </a:p>
          <a:p>
            <a:pPr algn="l">
              <a:spcAft>
                <a:spcPts val="300"/>
              </a:spcAft>
            </a:pPr>
            <a:r>
              <a:rPr sz="1200" b="0">
                <a:solidFill>
                  <a:srgbClr val="5B6372"/>
                </a:solidFill>
                <a:latin typeface="Arial"/>
              </a:rPr>
              <a:t>The MAC address of one AP's radio — the identifier your NIC actually associates with.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ESSID</a:t>
            </a:r>
          </a:p>
          <a:p>
            <a:pPr algn="l">
              <a:spcAft>
                <a:spcPts val="300"/>
              </a:spcAft>
            </a:pPr>
            <a:r>
              <a:rPr sz="1200" b="0">
                <a:solidFill>
                  <a:srgbClr val="5B6372"/>
                </a:solidFill>
                <a:latin typeface="Arial"/>
              </a:rPr>
              <a:t>Several APs sharing one SSID form an Extended Service Set — clients roam between BSSIDs seamlessly.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CSMA/CA</a:t>
            </a:r>
          </a:p>
          <a:p>
            <a:pPr algn="l">
              <a:spcAft>
                <a:spcPts val="300"/>
              </a:spcAft>
            </a:pPr>
            <a:r>
              <a:rPr sz="1200" b="0">
                <a:solidFill>
                  <a:srgbClr val="5B6372"/>
                </a:solidFill>
                <a:latin typeface="Arial"/>
              </a:rPr>
              <a:t>Radios cannot detect collisions, so they AVOID them: listen first, back off randomly, then transmit.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Half duplex on air</a:t>
            </a:r>
          </a:p>
          <a:p>
            <a:pPr algn="l">
              <a:spcAft>
                <a:spcPts val="300"/>
              </a:spcAft>
            </a:pPr>
            <a:r>
              <a:rPr sz="1200" b="0">
                <a:solidFill>
                  <a:srgbClr val="5B6372"/>
                </a:solidFill>
                <a:latin typeface="Arial"/>
              </a:rPr>
              <a:t>Only one station talks per channel at a time — airtime is the shared resource to protect.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Network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Infrastructure</a:t>
            </a:r>
          </a:p>
          <a:p>
            <a:pPr algn="l">
              <a:spcAft>
                <a:spcPts val="300"/>
              </a:spcAft>
            </a:pPr>
            <a:r>
              <a:rPr sz="1200" b="0">
                <a:solidFill>
                  <a:srgbClr val="5B6372"/>
                </a:solidFill>
                <a:latin typeface="Arial"/>
              </a:rPr>
              <a:t>Clients talk through an AP wired into the LAN — the normal enterprise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hoc (IBSS)</a:t>
            </a:r>
          </a:p>
          <a:p>
            <a:pPr algn="l">
              <a:spcAft>
                <a:spcPts val="300"/>
              </a:spcAft>
            </a:pPr>
            <a:r>
              <a:rPr sz="1200" b="0">
                <a:solidFill>
                  <a:srgbClr val="5B6372"/>
                </a:solidFill>
                <a:latin typeface="Arial"/>
              </a:rPr>
              <a:t>Client-to-client with no AP — a quick file share between two laptops, nothing more.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Mesh</a:t>
            </a:r>
          </a:p>
          <a:p>
            <a:pPr algn="l">
              <a:spcAft>
                <a:spcPts val="300"/>
              </a:spcAft>
            </a:pPr>
            <a:r>
              <a:rPr sz="1200" b="0">
                <a:solidFill>
                  <a:srgbClr val="5B6372"/>
                </a:solidFill>
                <a:latin typeface="Arial"/>
              </a:rPr>
              <a:t>APs relay traffic wirelessly to each other — coverage without pulling cable to every node.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Point-to-point</a:t>
            </a:r>
          </a:p>
          <a:p>
            <a:pPr algn="l">
              <a:spcAft>
                <a:spcPts val="300"/>
              </a:spcAft>
            </a:pPr>
            <a:r>
              <a:rPr sz="1200" b="0">
                <a:solidFill>
                  <a:srgbClr val="5B6372"/>
                </a:solidFill>
                <a:latin typeface="Arial"/>
              </a:rPr>
              <a:t>Two directional antennas bridge buildings — a wireless leased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Wireless bridge</a:t>
            </a:r>
          </a:p>
          <a:p>
            <a:pPr algn="l">
              <a:spcAft>
                <a:spcPts val="300"/>
              </a:spcAft>
            </a:pPr>
            <a:r>
              <a:rPr sz="1200" b="0">
                <a:solidFill>
                  <a:srgbClr val="5B6372"/>
                </a:solidFill>
                <a:latin typeface="Arial"/>
              </a:rPr>
              <a:t>Joins two wired segments over radio — often the role at each end of a point-to-point link.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802.11 Standards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Standard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Wi-Fi name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Band</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Max PHY rate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802.11b</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GHz</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11 Mbps</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802.11a</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 GHz</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54 Mbps</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802.11g</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GHz</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54 Mbps</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802.11n</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Wi-Fi 4</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 5 GHz</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600 Mbps (MIMO)</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802.11ac</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Wi-Fi 5</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 GHz</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6.9 Gbps (MU-MIMO)</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802.11ax</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Wi-Fi 6 / 6E</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 5 / 6 GHz</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9.6 Gbps (OFDMA)</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 introduced MIMO; ac added MU-MIMO; ax adds OFDMA and, as 6E, the 6 GHz band.</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Ceilings by Generation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Each generation multiplies the ceiling — nearly 900x from b to ax. Real throughput is roughly half the PHY rate; airtime and interference decide the rest.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Frequency Bands: 2.4 vs 5 vs 6 GHz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Band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Clean channels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Widths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2.4 GHz</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 6, 11 only</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20 MHz</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Long range; congested</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5 GHz</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36-165 (DFS mid)</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20/40/80/160</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More channels; radar DFS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6 GHz (6E)</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PSC channels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20-160+</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WPA3 mandatory; short range</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Lower frequency travels further and penetrates better; higher frequency carries more data over less distance.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Channels and Channel Width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Channel</a:t>
            </a:r>
          </a:p>
          <a:p>
            <a:pPr algn="l">
              <a:spcAft>
                <a:spcPts val="300"/>
              </a:spcAft>
            </a:pPr>
            <a:r>
              <a:rPr sz="1200" b="0">
                <a:solidFill>
                  <a:srgbClr val="5B6372"/>
                </a:solidFill>
                <a:latin typeface="Arial"/>
              </a:rPr>
              <a:t>The slice of the band an AP transmits on — neighbouring APs must use different, non-overlapping channels.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2.4 GHz reality</a:t>
            </a:r>
          </a:p>
          <a:p>
            <a:pPr algn="l">
              <a:spcAft>
                <a:spcPts val="300"/>
              </a:spcAft>
            </a:pPr>
            <a:r>
              <a:rPr sz="1200" b="0">
                <a:solidFill>
                  <a:srgbClr val="5B6372"/>
                </a:solidFill>
                <a:latin typeface="Arial"/>
              </a:rPr>
              <a:t>Channels overlap heavily; only 1, 6 and 11 are clean of each other — the classic honeycomb plan.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Channel width</a:t>
            </a:r>
          </a:p>
          <a:p>
            <a:pPr algn="l">
              <a:spcAft>
                <a:spcPts val="300"/>
              </a:spcAft>
            </a:pPr>
            <a:r>
              <a:rPr sz="1200" b="0">
                <a:solidFill>
                  <a:srgbClr val="5B6372"/>
                </a:solidFill>
                <a:latin typeface="Arial"/>
              </a:rPr>
              <a:t>20 MHz standard; 40/80/160 MHz bond channels for speed but eat spectrum and invite interference.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DFS</a:t>
            </a:r>
          </a:p>
          <a:p>
            <a:pPr algn="l">
              <a:spcAft>
                <a:spcPts val="300"/>
              </a:spcAft>
            </a:pPr>
            <a:r>
              <a:rPr sz="1200" b="0">
                <a:solidFill>
                  <a:srgbClr val="5B6372"/>
                </a:solidFill>
                <a:latin typeface="Arial"/>
              </a:rPr>
              <a:t>Dynamic Frequency Selection: mid-band 5 GHz shares with radar — the AP must vacate on detection.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GHz PSC</a:t>
            </a:r>
          </a:p>
          <a:p>
            <a:pPr algn="l">
              <a:spcAft>
                <a:spcPts val="300"/>
              </a:spcAft>
            </a:pPr>
            <a:r>
              <a:rPr sz="1200" b="0">
                <a:solidFill>
                  <a:srgbClr val="5B6372"/>
                </a:solidFill>
                <a:latin typeface="Arial"/>
              </a:rPr>
              <a:t>Preferred Scanning Channels help clients discover 6E networks in the huge new band.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Wider is not better</a:t>
            </a:r>
          </a:p>
          <a:p>
            <a:pPr algn="l">
              <a:spcAft>
                <a:spcPts val="300"/>
              </a:spcAft>
            </a:pPr>
            <a:r>
              <a:rPr sz="1200" b="0">
                <a:solidFill>
                  <a:srgbClr val="5B6372"/>
                </a:solidFill>
                <a:latin typeface="Arial"/>
              </a:rPr>
              <a:t>In dense offices many 20/40 MHz cells beat a few 160 MHz cells — airtime reuse wins.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Antenna Types and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Antenna</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Pattern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Gain</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Omni / dipole</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360-degree doughnut</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Ceiling APs, open offices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Patch</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Half-sphere from a wall</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Medium</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Exterior walls, corridors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Yagi</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Narrow directional beam</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High</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Long halls, building links</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Parabolic</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Very narrow beam</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Very high</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Point-to-point bridges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Gain (dBi) trades coverage width for reach — match the radiation pattern to the room, not the other way round.</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over Ethernet Standards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Standard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Name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Power (PSE)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Typically powers</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802.3af</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15.4 W</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VoIP phones, basic WAPs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802.3at</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30 W</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Wi-Fi 6 WAPs, PTZ cameras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802.3bt</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60-90 W</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Displays, laptops, kiosks</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Power comes from a PoE switch or a midspan injector — no mains socket needed at the AP's ceiling mount.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Security: WEP to WPA3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Encryption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Key exchange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WEP</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RC4, static keys</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Broken — never use</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TKIP (RC4)</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PSK 4-way</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Stopgap; deprecated</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WPA2-PSK</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AES-CCMP</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4-way handshake</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PMKID/offline attacks</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WPA2-Enterprise</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AES-CCMP</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802.1X / RADIUS</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Per-user credentials</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WPA3-SAE</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AES-CCMP/GCMP</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SAE (Dragonfly)</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Forward secrecy</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WPA3-Ent 192-bit</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GCMP-256</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802.1X</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Government grade</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Deploy WPA3 where clients allow; WPA2/WPA3 transition mode bridges the gap. Wi-Fi 6E mandates WPA3.</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PSK or Enterprise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 users need individual
credentials and revocation?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WPA3-ENTERPRISE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802.1X with RADIUS (EAP-TLS or PEAP): per-user authentication, per-session keys, revoke one account without touching the rest.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WPA3-SAE (PSK)</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One shared passphrase, zero infrastructure. SAE resists offline guessing — but anyone with the phrase gets in; rotate on staff exit.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Guest traffic belongs on its own SSID with client isolation and a captive portal.</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802.1X — Who Does What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Supplicant</a:t>
            </a:r>
          </a:p>
          <a:p>
            <a:pPr algn="l">
              <a:spcAft>
                <a:spcPts val="300"/>
              </a:spcAft>
            </a:pPr>
            <a:r>
              <a:rPr sz="1200" b="0">
                <a:solidFill>
                  <a:srgbClr val="5B6372"/>
                </a:solidFill>
                <a:latin typeface="Arial"/>
              </a:rPr>
              <a:t>The client software asking to join — built into every modern OS.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Authenticator</a:t>
            </a:r>
          </a:p>
          <a:p>
            <a:pPr algn="l">
              <a:spcAft>
                <a:spcPts val="300"/>
              </a:spcAft>
            </a:pPr>
            <a:r>
              <a:rPr sz="1200" b="0">
                <a:solidFill>
                  <a:srgbClr val="5B6372"/>
                </a:solidFill>
                <a:latin typeface="Arial"/>
              </a:rPr>
              <a:t>The AP (or switch) that relays credentials; it never sees the password itself.</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RADIUS server</a:t>
            </a:r>
          </a:p>
          <a:p>
            <a:pPr algn="l">
              <a:spcAft>
                <a:spcPts val="300"/>
              </a:spcAft>
            </a:pPr>
            <a:r>
              <a:rPr sz="1200" b="0">
                <a:solidFill>
                  <a:srgbClr val="5B6372"/>
                </a:solidFill>
                <a:latin typeface="Arial"/>
              </a:rPr>
              <a:t>Checks credentials against AD/LDAP and returns accept or reject plus keying material (UDP 1812).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 methods</a:t>
            </a:r>
          </a:p>
          <a:p>
            <a:pPr algn="l">
              <a:spcAft>
                <a:spcPts val="300"/>
              </a:spcAft>
            </a:pPr>
            <a:r>
              <a:rPr sz="1200" b="0">
                <a:solidFill>
                  <a:srgbClr val="5B6372"/>
                </a:solidFill>
                <a:latin typeface="Arial"/>
              </a:rPr>
              <a:t>EAP-TLS (certificates, strongest) and PEAP/MS-CHAPv2 (username + password) are the common choices.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Per-session keys</a:t>
            </a:r>
          </a:p>
          <a:p>
            <a:pPr algn="l">
              <a:spcAft>
                <a:spcPts val="300"/>
              </a:spcAft>
            </a:pPr>
            <a:r>
              <a:rPr sz="1200" b="0">
                <a:solidFill>
                  <a:srgbClr val="5B6372"/>
                </a:solidFill>
                <a:latin typeface="Arial"/>
              </a:rPr>
              <a:t>Every user gets unique encryption keys — one compromised laptop never exposes others' traffic.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Same on wires</a:t>
            </a:r>
          </a:p>
          <a:p>
            <a:pPr algn="l">
              <a:spcAft>
                <a:spcPts val="300"/>
              </a:spcAft>
            </a:pPr>
            <a:r>
              <a:rPr sz="1200" b="0">
                <a:solidFill>
                  <a:srgbClr val="5B6372"/>
                </a:solidFill>
                <a:latin typeface="Arial"/>
              </a:rPr>
              <a:t>802.1X also gates Ethernet ports — network access control for the whole access layer.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Guest Networks and Captive Portals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Separate SSID</a:t>
            </a:r>
          </a:p>
          <a:p>
            <a:pPr algn="l">
              <a:spcAft>
                <a:spcPts val="300"/>
              </a:spcAft>
            </a:pPr>
            <a:r>
              <a:rPr sz="1200" b="0">
                <a:solidFill>
                  <a:srgbClr val="5B6372"/>
                </a:solidFill>
                <a:latin typeface="Arial"/>
              </a:rPr>
              <a:t>Guests get their own SSID mapped to its own VLAN — never the corporate network.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Captive portal</a:t>
            </a:r>
          </a:p>
          <a:p>
            <a:pPr algn="l">
              <a:spcAft>
                <a:spcPts val="300"/>
              </a:spcAft>
            </a:pPr>
            <a:r>
              <a:rPr sz="1200" b="0">
                <a:solidFill>
                  <a:srgbClr val="5B6372"/>
                </a:solidFill>
                <a:latin typeface="Arial"/>
              </a:rPr>
              <a:t>A web page intercepts the first request: accept terms, enter a voucher or log in before Internet access.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Client isolation</a:t>
            </a:r>
          </a:p>
          <a:p>
            <a:pPr algn="l">
              <a:spcAft>
                <a:spcPts val="300"/>
              </a:spcAft>
            </a:pPr>
            <a:r>
              <a:rPr sz="1200" b="0">
                <a:solidFill>
                  <a:srgbClr val="5B6372"/>
                </a:solidFill>
                <a:latin typeface="Arial"/>
              </a:rPr>
              <a:t>Guests cannot see each other's devices — blocks lateral snooping inside the hotspot.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Internet-only ACL</a:t>
            </a:r>
          </a:p>
          <a:p>
            <a:pPr algn="l">
              <a:spcAft>
                <a:spcPts val="300"/>
              </a:spcAft>
            </a:pPr>
            <a:r>
              <a:rPr sz="1200" b="0">
                <a:solidFill>
                  <a:srgbClr val="5B6372"/>
                </a:solidFill>
                <a:latin typeface="Arial"/>
              </a:rPr>
              <a:t>The guest VLAN routes to the Internet and NOTHING internal — enforced at the firewall.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Bandwidth limits</a:t>
            </a:r>
          </a:p>
          <a:p>
            <a:pPr algn="l">
              <a:spcAft>
                <a:spcPts val="300"/>
              </a:spcAft>
            </a:pPr>
            <a:r>
              <a:rPr sz="1200" b="0">
                <a:solidFill>
                  <a:srgbClr val="5B6372"/>
                </a:solidFill>
                <a:latin typeface="Arial"/>
              </a:rPr>
              <a:t>Rate-limit the guest SSID so visitors cannot starve production airtime.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Hardening the WLAN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defaults</a:t>
            </a:r>
          </a:p>
          <a:p>
            <a:pPr algn="l">
              <a:spcAft>
                <a:spcPts val="300"/>
              </a:spcAft>
            </a:pPr>
            <a:r>
              <a:rPr sz="1200" b="0">
                <a:solidFill>
                  <a:srgbClr val="5B6372"/>
                </a:solidFill>
                <a:latin typeface="Arial"/>
              </a:rPr>
              <a:t>Default admin credentials and IPs are in every manual online — the first thing an attacker tries.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WPS</a:t>
            </a:r>
          </a:p>
          <a:p>
            <a:pPr algn="l">
              <a:spcAft>
                <a:spcPts val="300"/>
              </a:spcAft>
            </a:pPr>
            <a:r>
              <a:rPr sz="1200" b="0">
                <a:solidFill>
                  <a:srgbClr val="5B6372"/>
                </a:solidFill>
                <a:latin typeface="Arial"/>
              </a:rPr>
              <a:t>The 8-digit PIN brute-forces in hours; turn WPS off everywhere.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Management access</a:t>
            </a:r>
          </a:p>
          <a:p>
            <a:pPr algn="l">
              <a:spcAft>
                <a:spcPts val="300"/>
              </a:spcAft>
            </a:pPr>
            <a:r>
              <a:rPr sz="1200" b="0">
                <a:solidFill>
                  <a:srgbClr val="5B6372"/>
                </a:solidFill>
                <a:latin typeface="Arial"/>
              </a:rPr>
              <a:t>Disable remote/WAN management; administer APs from a wired admin VLAN over HTTPS or SSH.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SSID hiding &amp; MAC filters</a:t>
            </a:r>
          </a:p>
          <a:p>
            <a:pPr algn="l">
              <a:spcAft>
                <a:spcPts val="300"/>
              </a:spcAft>
            </a:pPr>
            <a:r>
              <a:rPr sz="1200" b="0">
                <a:solidFill>
                  <a:srgbClr val="5B6372"/>
                </a:solidFill>
                <a:latin typeface="Arial"/>
              </a:rPr>
              <a:t>Both are trivially sniffed — they stop only casual users; treat as tidiness, not security.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Firmware updates</a:t>
            </a:r>
          </a:p>
          <a:p>
            <a:pPr algn="l">
              <a:spcAft>
                <a:spcPts val="300"/>
              </a:spcAft>
            </a:pPr>
            <a:r>
              <a:rPr sz="1200" b="0">
                <a:solidFill>
                  <a:srgbClr val="5B6372"/>
                </a:solidFill>
                <a:latin typeface="Arial"/>
              </a:rPr>
              <a:t>AP vulnerabilities (KRACK and friends) are fixed in firmware — patch APs like servers.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Strong passphrase</a:t>
            </a:r>
          </a:p>
          <a:p>
            <a:pPr algn="l">
              <a:spcAft>
                <a:spcPts val="300"/>
              </a:spcAft>
            </a:pPr>
            <a:r>
              <a:rPr sz="1200" b="0">
                <a:solidFill>
                  <a:srgbClr val="5B6372"/>
                </a:solidFill>
                <a:latin typeface="Arial"/>
              </a:rPr>
              <a:t>For PSK networks a long random passphrase resists offline cracking; rotate on staff exit.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Threats to Your Wireless Network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AP</a:t>
            </a:r>
          </a:p>
          <a:p>
            <a:pPr algn="l">
              <a:spcAft>
                <a:spcPts val="300"/>
              </a:spcAft>
            </a:pPr>
            <a:r>
              <a:rPr sz="1200" b="0">
                <a:solidFill>
                  <a:srgbClr val="5B6372"/>
                </a:solidFill>
                <a:latin typeface="Arial"/>
              </a:rPr>
              <a:t>An unauthorised AP on your LAN — often an employee's convenience — punches a hole in the perimeter.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Evil twin</a:t>
            </a:r>
          </a:p>
          <a:p>
            <a:pPr algn="l">
              <a:spcAft>
                <a:spcPts val="300"/>
              </a:spcAft>
            </a:pPr>
            <a:r>
              <a:rPr sz="1200" b="0">
                <a:solidFill>
                  <a:srgbClr val="5B6372"/>
                </a:solidFill>
                <a:latin typeface="Arial"/>
              </a:rPr>
              <a:t>An attacker clones your SSID with a stronger signal; victims associate and hand over their traffic.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Deauth attack</a:t>
            </a:r>
          </a:p>
          <a:p>
            <a:pPr algn="l">
              <a:spcAft>
                <a:spcPts val="300"/>
              </a:spcAft>
            </a:pPr>
            <a:r>
              <a:rPr sz="1200" b="0">
                <a:solidFill>
                  <a:srgbClr val="5B6372"/>
                </a:solidFill>
                <a:latin typeface="Arial"/>
              </a:rPr>
              <a:t>Spoofed deauthentication frames kick clients off — DoS, or bait for the evil twin. 802.11w (PMF) blocks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Jamming</a:t>
            </a:r>
          </a:p>
          <a:p>
            <a:pPr algn="l">
              <a:spcAft>
                <a:spcPts val="300"/>
              </a:spcAft>
            </a:pPr>
            <a:r>
              <a:rPr sz="1200" b="0">
                <a:solidFill>
                  <a:srgbClr val="5B6372"/>
                </a:solidFill>
                <a:latin typeface="Arial"/>
              </a:rPr>
              <a:t>Illegal RF noise floods the band — nothing associates until the source is found with a spectrum analyser.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Wardriving</a:t>
            </a:r>
          </a:p>
          <a:p>
            <a:pPr algn="l">
              <a:spcAft>
                <a:spcPts val="300"/>
              </a:spcAft>
            </a:pPr>
            <a:r>
              <a:rPr sz="1200" b="0">
                <a:solidFill>
                  <a:srgbClr val="5B6372"/>
                </a:solidFill>
                <a:latin typeface="Arial"/>
              </a:rPr>
              <a:t>Attackers map weak networks in bulk — WPA3 and monitoring make you a poor target.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WIPS</a:t>
            </a:r>
          </a:p>
          <a:p>
            <a:pPr algn="l">
              <a:spcAft>
                <a:spcPts val="300"/>
              </a:spcAft>
            </a:pPr>
            <a:r>
              <a:rPr sz="1200" b="0">
                <a:solidFill>
                  <a:srgbClr val="5B6372"/>
                </a:solidFill>
                <a:latin typeface="Arial"/>
              </a:rPr>
              <a:t>Wireless IPS sensors detect rogues, twins and deauth floods — and can contain them automatically.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Enterprise Wireless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Autonomous AP</a:t>
            </a:r>
          </a:p>
          <a:p>
            <a:pPr algn="l">
              <a:spcAft>
                <a:spcPts val="300"/>
              </a:spcAft>
            </a:pPr>
            <a:r>
              <a:rPr sz="1200" b="0">
                <a:solidFill>
                  <a:srgbClr val="5B6372"/>
                </a:solidFill>
                <a:latin typeface="Arial"/>
              </a:rPr>
              <a:t>Each AP configured on its own — fine for a handful, unmanageable at fifty.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Lightweight AP</a:t>
            </a:r>
          </a:p>
          <a:p>
            <a:pPr algn="l">
              <a:spcAft>
                <a:spcPts val="300"/>
              </a:spcAft>
            </a:pPr>
            <a:r>
              <a:rPr sz="1200" b="0">
                <a:solidFill>
                  <a:srgbClr val="5B6372"/>
                </a:solidFill>
                <a:latin typeface="Arial"/>
              </a:rPr>
              <a:t>A thin AP pulls config and firmware from a controller and tunnels traffic to it (CAPWAP).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WLC</a:t>
            </a:r>
          </a:p>
          <a:p>
            <a:pPr algn="l">
              <a:spcAft>
                <a:spcPts val="300"/>
              </a:spcAft>
            </a:pPr>
            <a:r>
              <a:rPr sz="1200" b="0">
                <a:solidFill>
                  <a:srgbClr val="5B6372"/>
                </a:solidFill>
                <a:latin typeface="Arial"/>
              </a:rPr>
              <a:t>The Wireless LAN Controller pushes SSIDs, channels, power and security to every AP centrally.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Cloud-managed</a:t>
            </a:r>
          </a:p>
          <a:p>
            <a:pPr algn="l">
              <a:spcAft>
                <a:spcPts val="300"/>
              </a:spcAft>
            </a:pPr>
            <a:r>
              <a:rPr sz="1200" b="0">
                <a:solidFill>
                  <a:srgbClr val="5B6372"/>
                </a:solidFill>
                <a:latin typeface="Arial"/>
              </a:rPr>
              <a:t>Controller-in-the-cloud (Meraki-style) — the same model with a dashboard instead of an on-prem box.</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Roaming</a:t>
            </a:r>
          </a:p>
          <a:p>
            <a:pPr algn="l">
              <a:spcAft>
                <a:spcPts val="300"/>
              </a:spcAft>
            </a:pPr>
            <a:r>
              <a:rPr sz="1200" b="0">
                <a:solidFill>
                  <a:srgbClr val="5B6372"/>
                </a:solidFill>
                <a:latin typeface="Arial"/>
              </a:rPr>
              <a:t>Controllers coordinate fast handoff (802.11r) so a VoIP call survives a walk between APs.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RF management</a:t>
            </a:r>
          </a:p>
          <a:p>
            <a:pPr algn="l">
              <a:spcAft>
                <a:spcPts val="300"/>
              </a:spcAft>
            </a:pPr>
            <a:r>
              <a:rPr sz="1200" b="0">
                <a:solidFill>
                  <a:srgbClr val="5B6372"/>
                </a:solidFill>
                <a:latin typeface="Arial"/>
              </a:rPr>
              <a:t>The controller auto-tunes channels and power across APs to minimise co-channel interference.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Site Surveys and AP Placement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 survey</a:t>
            </a:r>
          </a:p>
          <a:p>
            <a:pPr algn="l">
              <a:spcAft>
                <a:spcPts val="300"/>
              </a:spcAft>
            </a:pPr>
            <a:r>
              <a:rPr sz="1200" b="0">
                <a:solidFill>
                  <a:srgbClr val="5B6372"/>
                </a:solidFill>
                <a:latin typeface="Arial"/>
              </a:rPr>
              <a:t>Walk the space with a Wi-Fi analyser: map coverage, noise and neighbours BEFORE and after installing.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Interference</a:t>
            </a:r>
          </a:p>
          <a:p>
            <a:pPr algn="l">
              <a:spcAft>
                <a:spcPts val="300"/>
              </a:spcAft>
            </a:pPr>
            <a:r>
              <a:rPr sz="1200" b="0">
                <a:solidFill>
                  <a:srgbClr val="5B6372"/>
                </a:solidFill>
                <a:latin typeface="Arial"/>
              </a:rPr>
              <a:t>Microwaves, wireless peripherals, neighbouring APs — 2.4 GHz suffers most; prefer 5 or 6 GHz.</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Absorption &amp; reflection</a:t>
            </a:r>
          </a:p>
          <a:p>
            <a:pPr algn="l">
              <a:spcAft>
                <a:spcPts val="300"/>
              </a:spcAft>
            </a:pPr>
            <a:r>
              <a:rPr sz="1200" b="0">
                <a:solidFill>
                  <a:srgbClr val="5B6372"/>
                </a:solidFill>
                <a:latin typeface="Arial"/>
              </a:rPr>
              <a:t>Concrete, metal and water absorb or bounce signal; glass reflects — placement is physics.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SNR</a:t>
            </a:r>
          </a:p>
          <a:p>
            <a:pPr algn="l">
              <a:spcAft>
                <a:spcPts val="300"/>
              </a:spcAft>
            </a:pPr>
            <a:r>
              <a:rPr sz="1200" b="0">
                <a:solidFill>
                  <a:srgbClr val="5B6372"/>
                </a:solidFill>
                <a:latin typeface="Arial"/>
              </a:rPr>
              <a:t>Signal-to-noise ratio matters more than raw signal: aim for 25 dB or better, more for voice.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 placement</a:t>
            </a:r>
          </a:p>
          <a:p>
            <a:pPr algn="l">
              <a:spcAft>
                <a:spcPts val="300"/>
              </a:spcAft>
            </a:pPr>
            <a:r>
              <a:rPr sz="1200" b="0">
                <a:solidFill>
                  <a:srgbClr val="5B6372"/>
                </a:solidFill>
                <a:latin typeface="Arial"/>
              </a:rPr>
              <a:t>Central, ceiling-mounted, away from metal; match the antenna pattern to the room's shape.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and iterate</a:t>
            </a:r>
          </a:p>
          <a:p>
            <a:pPr algn="l">
              <a:spcAft>
                <a:spcPts val="300"/>
              </a:spcAft>
            </a:pPr>
            <a:r>
              <a:rPr sz="1200" b="0">
                <a:solidFill>
                  <a:srgbClr val="5B6372"/>
                </a:solidFill>
                <a:latin typeface="Arial"/>
              </a:rPr>
              <a:t>Antenna placement is part art — measure, adjust, re-measure. Lab 11 is your first survey.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Concepts and Channel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Survey nearby wireless networks and map channels, bands and security modes.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iw on a wireless laptop (or WiFi Analyzer / Wireless Diagnostics) to scan nearby APs, recording each SSID's channel, signal and security mode, then map channels to bands and compare WEP through WPA3.</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site-survey table of nearby APs: SSID, band, channel, signal (dBm) and security mode.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iw, wavemon, WiFi Analyzer (Windows), Wireless Diagnostics (macOS)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scan output lists SSIDs with freq, signal and RSN/WPA details, and you can explain why 1, 6 and 11 are the only non-overlapping 2.4 GHz channels.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On a wireless laptop</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iw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Scan nearby APs for SSID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iw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Record each AP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6</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Compare security modes from WEP to</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Quiz</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Survey nearby wireless networks and map channels, bands and security modes.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Concepts and Channel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scan output lists SSIDs with freq, signal and RSN/WPA details, and you can explain why 1, 6 and 11 are the only non-overlapping 2.4 GHz channels.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iw: command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apt install iw wavemon on Linux; on Windows/macOS use the free analyzer apps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Scan returns nothing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as root, check the interface name with iw dev, and rfkill unblock wifi</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6 GHz networks visible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adapter must support Wi-Fi 6E; older NICs only report 2.4/5 GHz BSSs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 Comes in Three Flavours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Static NAT (SNAT)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private IP to one public IP</a:t>
            </a:r>
          </a:p>
          <a:p>
            <a:pPr>
              <a:spcAft>
                <a:spcPts val="900"/>
              </a:spcAft>
            </a:pPr>
            <a:r>
              <a:rPr sz="1400" b="0">
                <a:solidFill>
                  <a:srgbClr val="161B26"/>
                </a:solidFill>
                <a:latin typeface="Arial"/>
              </a:rPr>
              <a:t>•  The mapping never changes</a:t>
            </a:r>
          </a:p>
          <a:p>
            <a:pPr>
              <a:spcAft>
                <a:spcPts val="900"/>
              </a:spcAft>
            </a:pPr>
            <a:r>
              <a:rPr sz="1400" b="0">
                <a:solidFill>
                  <a:srgbClr val="161B26"/>
                </a:solidFill>
                <a:latin typeface="Arial"/>
              </a:rPr>
              <a:t>•  Publishes inside servers</a:t>
            </a:r>
          </a:p>
          <a:p>
            <a:pPr>
              <a:spcAft>
                <a:spcPts val="900"/>
              </a:spcAft>
            </a:pPr>
            <a:r>
              <a:rPr sz="1400" b="0">
                <a:solidFill>
                  <a:srgbClr val="161B26"/>
                </a:solidFill>
                <a:latin typeface="Arial"/>
              </a:rPr>
              <a:t>•  Wastes public addresses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Dynamic NAT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Pool of public addresses</a:t>
            </a:r>
          </a:p>
          <a:p>
            <a:pPr>
              <a:spcAft>
                <a:spcPts val="900"/>
              </a:spcAft>
            </a:pPr>
            <a:r>
              <a:rPr sz="1400" b="0">
                <a:solidFill>
                  <a:srgbClr val="161B26"/>
                </a:solidFill>
                <a:latin typeface="Arial"/>
              </a:rPr>
              <a:t>•  First come, first mapped</a:t>
            </a:r>
          </a:p>
          <a:p>
            <a:pPr>
              <a:spcAft>
                <a:spcPts val="900"/>
              </a:spcAft>
            </a:pPr>
            <a:r>
              <a:rPr sz="1400" b="0">
                <a:solidFill>
                  <a:srgbClr val="161B26"/>
                </a:solidFill>
                <a:latin typeface="Arial"/>
              </a:rPr>
              <a:t>•  Pool exhausts under load</a:t>
            </a:r>
          </a:p>
          <a:p>
            <a:pPr>
              <a:spcAft>
                <a:spcPts val="900"/>
              </a:spcAft>
            </a:pPr>
            <a:r>
              <a:rPr sz="1400" b="0">
                <a:solidFill>
                  <a:srgbClr val="161B26"/>
                </a:solidFill>
                <a:latin typeface="Arial"/>
              </a:rPr>
              <a:t>•  Still 1-to-1 while held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PAT / NAT overload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Many private to ONE public IP</a:t>
            </a:r>
          </a:p>
          <a:p>
            <a:pPr>
              <a:spcAft>
                <a:spcPts val="900"/>
              </a:spcAft>
            </a:pPr>
            <a:r>
              <a:rPr sz="1400" b="0">
                <a:solidFill>
                  <a:srgbClr val="161B26"/>
                </a:solidFill>
                <a:latin typeface="Arial"/>
              </a:rPr>
              <a:t>•  Tracks flows by source port</a:t>
            </a:r>
          </a:p>
          <a:p>
            <a:pPr>
              <a:spcAft>
                <a:spcPts val="900"/>
              </a:spcAft>
            </a:pPr>
            <a:r>
              <a:rPr sz="1400" b="0">
                <a:solidFill>
                  <a:srgbClr val="161B26"/>
                </a:solidFill>
                <a:latin typeface="Arial"/>
              </a:rPr>
              <a:t>•  What every SOHO router does</a:t>
            </a:r>
          </a:p>
          <a:p>
            <a:pPr>
              <a:spcAft>
                <a:spcPts val="900"/>
              </a:spcAft>
            </a:pPr>
            <a:r>
              <a:rPr sz="1400" b="0">
                <a:solidFill>
                  <a:srgbClr val="161B26"/>
                </a:solidFill>
                <a:latin typeface="Arial"/>
              </a:rPr>
              <a:t>•  Linux: iptables MASQUERADE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PAT Translates a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Host sends packet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src 10.1.1.2:41712</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Router rewrites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src = public IP:port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Track in table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conntrack entry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Reply returns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dst = public:port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Reverse lookup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back to 10.1.1.2</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Thousands of private hosts share one public IPv4 address — PAT is why IPv4 survives, and why unsolicited inbound needs port forwarding.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Forwarding, Triggering and DMZ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forwarding</a:t>
            </a:r>
          </a:p>
          <a:p>
            <a:pPr algn="l">
              <a:spcAft>
                <a:spcPts val="300"/>
              </a:spcAft>
            </a:pPr>
            <a:r>
              <a:rPr sz="1200" b="0">
                <a:solidFill>
                  <a:srgbClr val="5B6372"/>
                </a:solidFill>
                <a:latin typeface="Arial"/>
              </a:rPr>
              <a:t>The router maps inbound public:port to a chosen inside host:port — how a NATed server goes public.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range forwarding</a:t>
            </a:r>
          </a:p>
          <a:p>
            <a:pPr algn="l">
              <a:spcAft>
                <a:spcPts val="300"/>
              </a:spcAft>
            </a:pPr>
            <a:r>
              <a:rPr sz="1200" b="0">
                <a:solidFill>
                  <a:srgbClr val="5B6372"/>
                </a:solidFill>
                <a:latin typeface="Arial"/>
              </a:rPr>
              <a:t>Forward a whole span of ports at once for applications that need many.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triggering</a:t>
            </a:r>
          </a:p>
          <a:p>
            <a:pPr algn="l">
              <a:spcAft>
                <a:spcPts val="300"/>
              </a:spcAft>
            </a:pPr>
            <a:r>
              <a:rPr sz="1200" b="0">
                <a:solidFill>
                  <a:srgbClr val="5B6372"/>
                </a:solidFill>
                <a:latin typeface="Arial"/>
              </a:rPr>
              <a:t>An outbound connection on the trigger port opens a temporary inbound port — classic for active FTP.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SOHO DMZ host</a:t>
            </a:r>
          </a:p>
          <a:p>
            <a:pPr algn="l">
              <a:spcAft>
                <a:spcPts val="300"/>
              </a:spcAft>
            </a:pPr>
            <a:r>
              <a:rPr sz="1200" b="0">
                <a:solidFill>
                  <a:srgbClr val="5B6372"/>
                </a:solidFill>
                <a:latin typeface="Arial"/>
              </a:rPr>
              <a:t>Forwards EVERYTHING to one host — that machine now lives outside the router's protection. Avoid.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NAT and servers</a:t>
            </a:r>
          </a:p>
          <a:p>
            <a:pPr algn="l">
              <a:spcAft>
                <a:spcPts val="300"/>
              </a:spcAft>
            </a:pPr>
            <a:r>
              <a:rPr sz="1200" b="0">
                <a:solidFill>
                  <a:srgbClr val="5B6372"/>
                </a:solidFill>
                <a:latin typeface="Arial"/>
              </a:rPr>
              <a:t>Without a forward rule PAT has no mapping for unsolicited inbound — connections die at the router.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Reading a MASQUERADE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one iptables line behind Lab 12, and the conntrack evidence it leaves.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iptables -t nat -A POSTROUTING \</a:t>
            </a:r>
          </a:p>
          <a:p>
            <a:pPr>
              <a:spcAft>
                <a:spcPts val="200"/>
              </a:spcAft>
            </a:pPr>
            <a:r>
              <a:rPr sz="1100">
                <a:solidFill>
                  <a:srgbClr val="9CDCFE"/>
                </a:solidFill>
                <a:latin typeface="Consolas"/>
              </a:rPr>
              <a:t>  -s 10.1.1.0/24 -o eth0 -j MASQUERADE</a:t>
            </a:r>
          </a:p>
          <a:p>
            <a:pPr>
              <a:spcAft>
                <a:spcPts val="200"/>
              </a:spcAft>
            </a:pPr>
            <a:r>
              <a:rPr sz="1100">
                <a:solidFill>
                  <a:srgbClr val="9CDCFE"/>
                </a:solidFill>
                <a:latin typeface="Consolas"/>
              </a:rPr>
              <a:t/>
            </a:r>
          </a:p>
          <a:p>
            <a:pPr>
              <a:spcAft>
                <a:spcPts val="200"/>
              </a:spcAft>
            </a:pPr>
            <a:r>
              <a:rPr sz="1100">
                <a:solidFill>
                  <a:srgbClr val="6A9955"/>
                </a:solidFill>
                <a:latin typeface="Consolas"/>
              </a:rPr>
              <a:t># live translation table</a:t>
            </a:r>
          </a:p>
          <a:p>
            <a:pPr>
              <a:spcAft>
                <a:spcPts val="200"/>
              </a:spcAft>
            </a:pPr>
            <a:r>
              <a:rPr sz="1100">
                <a:solidFill>
                  <a:srgbClr val="9CDCFE"/>
                </a:solidFill>
                <a:latin typeface="Consolas"/>
              </a:rPr>
              <a:t>conntrack -L | head -2</a:t>
            </a:r>
          </a:p>
          <a:p>
            <a:pPr>
              <a:spcAft>
                <a:spcPts val="200"/>
              </a:spcAft>
            </a:pPr>
            <a:r>
              <a:rPr sz="1100">
                <a:solidFill>
                  <a:srgbClr val="D4D4D4"/>
                </a:solidFill>
                <a:latin typeface="Consolas"/>
              </a:rPr>
              <a:t>tcp ... src=10.1.1.2 dst=8.8.8.8 sport=41712</a:t>
            </a:r>
          </a:p>
          <a:p>
            <a:pPr>
              <a:spcAft>
                <a:spcPts val="200"/>
              </a:spcAft>
            </a:pPr>
            <a:r>
              <a:rPr sz="1100">
                <a:solidFill>
                  <a:srgbClr val="D4D4D4"/>
                </a:solidFill>
                <a:latin typeface="Consolas"/>
              </a:rPr>
              <a:t>        src=8.8.8.8 dst=&lt;public-ip&gt; dport=41712</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POSTROUTING</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Source NAT happens after the routing decision, just before the packet leaves eth0</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MASQUERADE</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Dynamic SNAT that always uses the outgoing interface's current address — ideal for DHCP WANs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sport tracking</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PAT maps each inside flow to a unique public port so replies find their way back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 and PAT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PAT with iptables MASQUERADE and verify live translations in conntrack.</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Rebuild a namespace client behind the host, enable forwarding, add a MASQUERADE rule on eth0, prove the source address is rewritten with curl ifconfig.me, and inspect the live translation table with conntrack -L.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namespace reaching the Internet through the host's IP — many-to-one PAT exactly as a SOHO router does it.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iptables, conntrack, iproute2, curl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-s ifconfig.me from inside the namespace prints the host's public IP, not 10.1.1.2, and conntrack -L shows the translated flow with its ports.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namespace a wired to the host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Enable IP forwarding on the host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sysctl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Add the MASQUERADE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PAT with iptables MASQUERADE and verify live translations in conntrack.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 and PAT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curl -s ifconfig.me from inside the namespace prints the host's public IP, not 10.1.1.2, and conntrack -L shows the translated flow with its ports.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 8.8.8.8 fails from namespace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ip_forward=1 and that the default route inside a points at 10.1.1.1</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curl still shows 10.1.1.2</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MASQUERADE rule missing or wrong -o interface; list with iptables -t nat -L -v</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conntrack: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apt install -y conntrack, then rerun conntrack -L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3.5 · REMOTE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 Tunneling and VPNs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Tunneling</a:t>
            </a:r>
          </a:p>
          <a:p>
            <a:pPr algn="l">
              <a:spcAft>
                <a:spcPts val="300"/>
              </a:spcAft>
            </a:pPr>
            <a:r>
              <a:rPr sz="1200" b="0">
                <a:solidFill>
                  <a:srgbClr val="5B6372"/>
                </a:solidFill>
                <a:latin typeface="Arial"/>
              </a:rPr>
              <a:t>Encapsulate one protocol inside another — usually to carry unencrypted traffic through an encrypted channel.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VPN</a:t>
            </a:r>
          </a:p>
          <a:p>
            <a:pPr algn="l">
              <a:spcAft>
                <a:spcPts val="300"/>
              </a:spcAft>
            </a:pPr>
            <a:r>
              <a:rPr sz="1200" b="0">
                <a:solidFill>
                  <a:srgbClr val="5B6372"/>
                </a:solidFill>
                <a:latin typeface="Arial"/>
              </a:rPr>
              <a:t>A tunnel that makes a remote machine or site behave as part of the local network.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Client-to-site</a:t>
            </a:r>
          </a:p>
          <a:p>
            <a:pPr algn="l">
              <a:spcAft>
                <a:spcPts val="300"/>
              </a:spcAft>
            </a:pPr>
            <a:r>
              <a:rPr sz="1200" b="0">
                <a:solidFill>
                  <a:srgbClr val="5B6372"/>
                </a:solidFill>
                <a:latin typeface="Arial"/>
              </a:rPr>
              <a:t>A laptop VPNs into HQ — remote-access VPN terminated on a concentrator or headend at the edge.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Site-to-site</a:t>
            </a:r>
          </a:p>
          <a:p>
            <a:pPr algn="l">
              <a:spcAft>
                <a:spcPts val="300"/>
              </a:spcAft>
            </a:pPr>
            <a:r>
              <a:rPr sz="1200" b="0">
                <a:solidFill>
                  <a:srgbClr val="5B6372"/>
                </a:solidFill>
                <a:latin typeface="Arial"/>
              </a:rPr>
              <a:t>Two offices' routers keep a permanent tunnel — one logical network across the Internet.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Protocols</a:t>
            </a:r>
          </a:p>
          <a:p>
            <a:pPr algn="l">
              <a:spcAft>
                <a:spcPts val="300"/>
              </a:spcAft>
            </a:pPr>
            <a:r>
              <a:rPr sz="1200" b="0">
                <a:solidFill>
                  <a:srgbClr val="5B6372"/>
                </a:solidFill>
                <a:latin typeface="Arial"/>
              </a:rPr>
              <a:t>IPsec/IKEv2 and WireGuard dominate today; OpenVPN where TLS-friendliness matters; GRE tunnels without encryption.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Split vs full tunnel</a:t>
            </a:r>
          </a:p>
          <a:p>
            <a:pPr algn="l">
              <a:spcAft>
                <a:spcPts val="300"/>
              </a:spcAft>
            </a:pPr>
            <a:r>
              <a:rPr sz="1200" b="0">
                <a:solidFill>
                  <a:srgbClr val="5B6372"/>
                </a:solidFill>
                <a:latin typeface="Arial"/>
              </a:rPr>
              <a:t>Full sends ALL traffic via HQ; split sends only corporate subnets — bandwidth vs inspection trade-off.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WAN CONNECTIVITY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WAN Technologies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Technology</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Medium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Speed class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DSL / VDSL</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Phone line (RJ-11)</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To ~100 Mbps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Asymmetric; needs filters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Cable (DOCSIS)</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Coax, F-type</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To ~1 Gbps</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Shared neighbourhood node</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Fiber / Metro</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Single-mode fiber</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1-100 Gbps</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DWDM multiplies capacity</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Satellite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RG-6 to dish</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25-220 Mbps</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 latency (GEO)</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Cellular 5G</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Licensed radio</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0.1-10 Gbps</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Low/mid/high bands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Match the technology to latency and symmetry needs, not just headline speed — satellite latency kills VoIP.</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WAN CONNECTIVITY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MPLS, SD-WAN and Metro Ethernet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MPLS</a:t>
            </a:r>
          </a:p>
          <a:p>
            <a:pPr algn="l">
              <a:spcAft>
                <a:spcPts val="300"/>
              </a:spcAft>
            </a:pPr>
            <a:r>
              <a:rPr sz="1200" b="0">
                <a:solidFill>
                  <a:srgbClr val="5B6372"/>
                </a:solidFill>
                <a:latin typeface="Arial"/>
              </a:rPr>
              <a:t>Provider routers switch on short labels instead of IP lookups — predictable performance, traffic engineering.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 edge</a:t>
            </a:r>
          </a:p>
          <a:p>
            <a:pPr algn="l">
              <a:spcAft>
                <a:spcPts val="300"/>
              </a:spcAft>
            </a:pPr>
            <a:r>
              <a:rPr sz="1200" b="0">
                <a:solidFill>
                  <a:srgbClr val="5B6372"/>
                </a:solidFill>
                <a:latin typeface="Arial"/>
              </a:rPr>
              <a:t>The provider edge pushes and pops labels; your traffic rides a private label-switched path, not the raw Internet.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SD-WAN</a:t>
            </a:r>
          </a:p>
          <a:p>
            <a:pPr algn="l">
              <a:spcAft>
                <a:spcPts val="300"/>
              </a:spcAft>
            </a:pPr>
            <a:r>
              <a:rPr sz="1200" b="0">
                <a:solidFill>
                  <a:srgbClr val="5B6372"/>
                </a:solidFill>
                <a:latin typeface="Arial"/>
              </a:rPr>
              <a:t>Software steers many transports (MPLS + broadband + LTE) as one WAN — app-aware paths, central policy.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SD-WAN won</a:t>
            </a:r>
          </a:p>
          <a:p>
            <a:pPr algn="l">
              <a:spcAft>
                <a:spcPts val="300"/>
              </a:spcAft>
            </a:pPr>
            <a:r>
              <a:rPr sz="1200" b="0">
                <a:solidFill>
                  <a:srgbClr val="5B6372"/>
                </a:solidFill>
                <a:latin typeface="Arial"/>
              </a:rPr>
              <a:t>Commodity Internet links at a fraction of MPLS cost, with encryption and failover built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Metro Ethernet</a:t>
            </a:r>
          </a:p>
          <a:p>
            <a:pPr algn="l">
              <a:spcAft>
                <a:spcPts val="300"/>
              </a:spcAft>
            </a:pPr>
            <a:r>
              <a:rPr sz="1200" b="0">
                <a:solidFill>
                  <a:srgbClr val="5B6372"/>
                </a:solidFill>
                <a:latin typeface="Arial"/>
              </a:rPr>
              <a:t>Carrier Ethernet across a city — a simple Layer 2 handoff at each site.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mGRE / DMVPN</a:t>
            </a:r>
          </a:p>
          <a:p>
            <a:pPr algn="l">
              <a:spcAft>
                <a:spcPts val="300"/>
              </a:spcAft>
            </a:pPr>
            <a:r>
              <a:rPr sz="1200" b="0">
                <a:solidFill>
                  <a:srgbClr val="5B6372"/>
                </a:solidFill>
                <a:latin typeface="Arial"/>
              </a:rPr>
              <a:t>Dynamic multipoint tunnels build a site mesh from one hub configuration.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3.5 · REMOTE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Remote Access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RDP</a:t>
            </a:r>
          </a:p>
          <a:p>
            <a:pPr algn="l">
              <a:spcAft>
                <a:spcPts val="300"/>
              </a:spcAft>
            </a:pPr>
            <a:r>
              <a:rPr sz="1200" b="0">
                <a:solidFill>
                  <a:srgbClr val="5B6372"/>
                </a:solidFill>
                <a:latin typeface="Arial"/>
              </a:rPr>
              <a:t>Microsoft Remote Desktop Protocol, TCP 3389 — a full graphical session; never expose it raw to the Internet.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VNC</a:t>
            </a:r>
          </a:p>
          <a:p>
            <a:pPr algn="l">
              <a:spcAft>
                <a:spcPts val="300"/>
              </a:spcAft>
            </a:pPr>
            <a:r>
              <a:rPr sz="1200" b="0">
                <a:solidFill>
                  <a:srgbClr val="5B6372"/>
                </a:solidFill>
                <a:latin typeface="Arial"/>
              </a:rPr>
              <a:t>Cross-platform desktop sharing on TCP 5900 — weakly protected alone, so tunnel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SSH</a:t>
            </a:r>
          </a:p>
          <a:p>
            <a:pPr algn="l">
              <a:spcAft>
                <a:spcPts val="300"/>
              </a:spcAft>
            </a:pPr>
            <a:r>
              <a:rPr sz="1200" b="0">
                <a:solidFill>
                  <a:srgbClr val="5B6372"/>
                </a:solidFill>
                <a:latin typeface="Arial"/>
              </a:rPr>
              <a:t>Secure Shell, TCP 22 — encrypted CLI, file transfer (SFTP) and port tunnels; keys beat passwords (Lab 23).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Jump box / bastion</a:t>
            </a:r>
          </a:p>
          <a:p>
            <a:pPr algn="l">
              <a:spcAft>
                <a:spcPts val="300"/>
              </a:spcAft>
            </a:pPr>
            <a:r>
              <a:rPr sz="1200" b="0">
                <a:solidFill>
                  <a:srgbClr val="5B6372"/>
                </a:solidFill>
                <a:latin typeface="Arial"/>
              </a:rPr>
              <a:t>One hardened, audited entry host placed in front of all management interfaces.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In-band vs out-of-band</a:t>
            </a:r>
          </a:p>
          <a:p>
            <a:pPr algn="l">
              <a:spcAft>
                <a:spcPts val="300"/>
              </a:spcAft>
            </a:pPr>
            <a:r>
              <a:rPr sz="1200" b="0">
                <a:solidFill>
                  <a:srgbClr val="5B6372"/>
                </a:solidFill>
                <a:latin typeface="Arial"/>
              </a:rPr>
              <a:t>Manage over the production network, or over a dedicated path or console that survives outages.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DORA — How a Lease Happens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Discover</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broadcast</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Offer</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server proposes IP</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accepts one</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Acknowledge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lease confirmed</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first messages are broadcast because the client has no address yet — which is why remote subnets need a DHCP relay (IP helper).</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Designing a DHCP Scope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 / pool</a:t>
            </a:r>
          </a:p>
          <a:p>
            <a:pPr algn="l">
              <a:spcAft>
                <a:spcPts val="300"/>
              </a:spcAft>
            </a:pPr>
            <a:r>
              <a:rPr sz="1200" b="0">
                <a:solidFill>
                  <a:srgbClr val="5B6372"/>
                </a:solidFill>
                <a:latin typeface="Arial"/>
              </a:rPr>
              <a:t>The subnet plus the range of leasable addresses — keep infrastructure IPs outside the range.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Options</a:t>
            </a:r>
          </a:p>
          <a:p>
            <a:pPr algn="l">
              <a:spcAft>
                <a:spcPts val="300"/>
              </a:spcAft>
            </a:pPr>
            <a:r>
              <a:rPr sz="1200" b="0">
                <a:solidFill>
                  <a:srgbClr val="5B6372"/>
                </a:solidFill>
                <a:latin typeface="Arial"/>
              </a:rPr>
              <a:t>Alongside the lease the server hands out router (gateway), DNS servers and domain — one wrong option breaks every client.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Lease times</a:t>
            </a:r>
          </a:p>
          <a:p>
            <a:pPr algn="l">
              <a:spcAft>
                <a:spcPts val="300"/>
              </a:spcAft>
            </a:pPr>
            <a:r>
              <a:rPr sz="1200" b="0">
                <a:solidFill>
                  <a:srgbClr val="5B6372"/>
                </a:solidFill>
                <a:latin typeface="Arial"/>
              </a:rPr>
              <a:t>Short leases (minutes) suit guest churn; long leases (days) suit stable LANs — Lab 13 uses 600/7200 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Reservations</a:t>
            </a:r>
          </a:p>
          <a:p>
            <a:pPr algn="l">
              <a:spcAft>
                <a:spcPts val="300"/>
              </a:spcAft>
            </a:pPr>
            <a:r>
              <a:rPr sz="1200" b="0">
                <a:solidFill>
                  <a:srgbClr val="5B6372"/>
                </a:solidFill>
                <a:latin typeface="Arial"/>
              </a:rPr>
              <a:t>Pin a MAC to a fixed IP centrally — printers get stable addresses without static config.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Relay / IP helper</a:t>
            </a:r>
          </a:p>
          <a:p>
            <a:pPr algn="l">
              <a:spcAft>
                <a:spcPts val="300"/>
              </a:spcAft>
            </a:pPr>
            <a:r>
              <a:rPr sz="1200" b="0">
                <a:solidFill>
                  <a:srgbClr val="5B6372"/>
                </a:solidFill>
                <a:latin typeface="Arial"/>
              </a:rPr>
              <a:t>DHCP broadcasts do not cross routers; a relay on each subnet unicasts to the central server.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DHCP</a:t>
            </a:r>
          </a:p>
          <a:p>
            <a:pPr algn="l">
              <a:spcAft>
                <a:spcPts val="300"/>
              </a:spcAft>
            </a:pPr>
            <a:r>
              <a:rPr sz="1200" b="0">
                <a:solidFill>
                  <a:srgbClr val="5B6372"/>
                </a:solidFill>
                <a:latin typeface="Arial"/>
              </a:rPr>
              <a:t>A second server handing out bad gateways breaks a subnet — DHCP snooping is the defence.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Reading dhcpd.conf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exact scope Lab 13 serves on dum0 — every line has a job.</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default-lease-time 600;</a:t>
            </a:r>
          </a:p>
          <a:p>
            <a:pPr>
              <a:spcAft>
                <a:spcPts val="200"/>
              </a:spcAft>
            </a:pPr>
            <a:r>
              <a:rPr sz="1100">
                <a:solidFill>
                  <a:srgbClr val="9CDCFE"/>
                </a:solidFill>
                <a:latin typeface="Consolas"/>
              </a:rPr>
              <a:t>max-lease-time 7200;</a:t>
            </a:r>
          </a:p>
          <a:p>
            <a:pPr>
              <a:spcAft>
                <a:spcPts val="200"/>
              </a:spcAft>
            </a:pPr>
            <a:r>
              <a:rPr sz="1100">
                <a:solidFill>
                  <a:srgbClr val="9CDCFE"/>
                </a:solidFill>
                <a:latin typeface="Consolas"/>
              </a:rPr>
              <a:t>authoritative;</a:t>
            </a:r>
          </a:p>
          <a:p>
            <a:pPr>
              <a:spcAft>
                <a:spcPts val="200"/>
              </a:spcAft>
            </a:pPr>
            <a:r>
              <a:rPr sz="1100">
                <a:solidFill>
                  <a:srgbClr val="9CDCFE"/>
                </a:solidFill>
                <a:latin typeface="Consolas"/>
              </a:rPr>
              <a:t/>
            </a:r>
          </a:p>
          <a:p>
            <a:pPr>
              <a:spcAft>
                <a:spcPts val="200"/>
              </a:spcAft>
            </a:pPr>
            <a:r>
              <a:rPr sz="1100">
                <a:solidFill>
                  <a:srgbClr val="9CDCFE"/>
                </a:solidFill>
                <a:latin typeface="Consolas"/>
              </a:rPr>
              <a:t>subnet 10.50.0.0 netmask 255.255.255.0 {</a:t>
            </a:r>
          </a:p>
          <a:p>
            <a:pPr>
              <a:spcAft>
                <a:spcPts val="200"/>
              </a:spcAft>
            </a:pPr>
            <a:r>
              <a:rPr sz="1100">
                <a:solidFill>
                  <a:srgbClr val="9CDCFE"/>
                </a:solidFill>
                <a:latin typeface="Consolas"/>
              </a:rPr>
              <a:t>  range 10.50.0.100 10.50.0.150;</a:t>
            </a:r>
          </a:p>
          <a:p>
            <a:pPr>
              <a:spcAft>
                <a:spcPts val="200"/>
              </a:spcAft>
            </a:pPr>
            <a:r>
              <a:rPr sz="1100">
                <a:solidFill>
                  <a:srgbClr val="9CDCFE"/>
                </a:solidFill>
                <a:latin typeface="Consolas"/>
              </a:rPr>
              <a:t>  option routers 10.50.0.1;</a:t>
            </a:r>
          </a:p>
          <a:p>
            <a:pPr>
              <a:spcAft>
                <a:spcPts val="200"/>
              </a:spcAft>
            </a:pPr>
            <a:r>
              <a:rPr sz="1100">
                <a:solidFill>
                  <a:srgbClr val="9CDCFE"/>
                </a:solidFill>
                <a:latin typeface="Consolas"/>
              </a:rPr>
              <a:t>  option domain-name-servers 1.1.1.1, 8.8.8.8;</a:t>
            </a:r>
          </a:p>
          <a:p>
            <a:pPr>
              <a:spcAft>
                <a:spcPts val="200"/>
              </a:spcAft>
            </a:pPr>
            <a:r>
              <a:rPr sz="1100">
                <a:solidFill>
                  <a:srgbClr val="9CDCFE"/>
                </a:solidFill>
                <a:latin typeface="Consolas"/>
              </a:rPr>
              <a:t>  option broadcast-address 10.50.0.255;</a:t>
            </a:r>
          </a:p>
          <a:p>
            <a:pPr>
              <a:spcAft>
                <a:spcPts val="200"/>
              </a:spcAft>
            </a:pPr>
            <a:r>
              <a:rPr sz="1100">
                <a:solidFill>
                  <a:srgbClr val="9CDCFE"/>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range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pool the server may lease from — keep static servers outside 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option routers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Becomes each client's default gateway; a wrong value strands every client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authoritative</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server NAKs bogus lease requests instead of staying silent — one authority per subnet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Server with isc-dhcp-server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isc-dhcp-server to lease addresses on a private subnet.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isc-dhcp-server, create a dummy interface at 10.50.0.1/24, write a scope with range, router, DNS and lease-time options, bind the daemon to dum0 only, start it and inspect the leases file.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running authoritative DHCP server scoped to 10.50.0.100-150 on dum0, leaving eth0 untouched.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isc-dhcp-server, iproute2, systemd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systemctl status isc-dhcp-server shows active (running) bound to dum0, and /var/lib/dhcp/dhcpd.leases exists, ready to record client leases.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Install the ISC DHCP server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Bring the dummy interface up</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Bind the daemon to dum0 only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sed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Restart and check the service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isc-dhcp-server to lease addresses on a private subnet.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Server with isc-dhcp-server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systemctl status isc-dhcp-server shows active (running) bound to dum0, and /var/lib/dhcp/dhcpd.leases exists, ready to record client leases.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Service fails to start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Syntax-check with dhcpd -t; every option line in dhcpd.conf must end with a semicolon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Daemon not listening on dum0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INTERFACESv4="dum0" in /etc/default/isc-dhcp-server, then restart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Leases file is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Normal until a client DISCOVERs on 10.50.0.0/24; leases are appended as granted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Running Authoritative DNS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Authoritative server</a:t>
            </a:r>
          </a:p>
          <a:p>
            <a:pPr algn="l">
              <a:spcAft>
                <a:spcPts val="300"/>
              </a:spcAft>
            </a:pPr>
            <a:r>
              <a:rPr sz="1200" b="0">
                <a:solidFill>
                  <a:srgbClr val="5B6372"/>
                </a:solidFill>
                <a:latin typeface="Arial"/>
              </a:rPr>
              <a:t>Holds the zone's actual records and answers with authority — what Lab 14 builds with BIND9.</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Recursive resolver</a:t>
            </a:r>
          </a:p>
          <a:p>
            <a:pPr algn="l">
              <a:spcAft>
                <a:spcPts val="300"/>
              </a:spcAft>
            </a:pPr>
            <a:r>
              <a:rPr sz="1200" b="0">
                <a:solidFill>
                  <a:srgbClr val="5B6372"/>
                </a:solidFill>
                <a:latin typeface="Arial"/>
              </a:rPr>
              <a:t>Chases referrals from root to TLD to authoritative on behalf of clients — the other half of DNS.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Zone</a:t>
            </a:r>
          </a:p>
          <a:p>
            <a:pPr algn="l">
              <a:spcAft>
                <a:spcPts val="300"/>
              </a:spcAft>
            </a:pPr>
            <a:r>
              <a:rPr sz="1200" b="0">
                <a:solidFill>
                  <a:srgbClr val="5B6372"/>
                </a:solidFill>
                <a:latin typeface="Arial"/>
              </a:rPr>
              <a:t>A delegated slice of the namespace (lab.local) stored as resource records in a zone file.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 secondary</a:t>
            </a:r>
          </a:p>
          <a:p>
            <a:pPr algn="l">
              <a:spcAft>
                <a:spcPts val="300"/>
              </a:spcAft>
            </a:pPr>
            <a:r>
              <a:rPr sz="1200" b="0">
                <a:solidFill>
                  <a:srgbClr val="5B6372"/>
                </a:solidFill>
                <a:latin typeface="Arial"/>
              </a:rPr>
              <a:t>The primary holds the writable zone; secondaries pull copies (AXFR) whenever the serial rises.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named.conf</a:t>
            </a:r>
          </a:p>
          <a:p>
            <a:pPr algn="l">
              <a:spcAft>
                <a:spcPts val="300"/>
              </a:spcAft>
            </a:pPr>
            <a:r>
              <a:rPr sz="1200" b="0">
                <a:solidFill>
                  <a:srgbClr val="5B6372"/>
                </a:solidFill>
                <a:latin typeface="Arial"/>
              </a:rPr>
              <a:t>BIND's configuration: each zone block names the zone, its type (master/slave) and its file.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named-checkzone</a:t>
            </a:r>
          </a:p>
          <a:p>
            <a:pPr algn="l">
              <a:spcAft>
                <a:spcPts val="300"/>
              </a:spcAft>
            </a:pPr>
            <a:r>
              <a:rPr sz="1200" b="0">
                <a:solidFill>
                  <a:srgbClr val="5B6372"/>
                </a:solidFill>
                <a:latin typeface="Arial"/>
              </a:rPr>
              <a:t>Validate syntax BEFORE reloading — a broken zone otherwise takes your whole domain offline.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the SOA Record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SOA field</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Lab 14 value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Serial</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2026051001</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Zone version — bump on every edit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Refresh</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3600</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Secondary re-check interval (s)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Retry</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1800</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Re-poll after a failed refresh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Expire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604800</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Secondary gives up after this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Minimum</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86400</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Negative-caching TTL</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Forget to bump the serial and your secondaries keep serving the OLD zone — a classic silent DNS failure.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Reading a BIND Zone File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db.lab.local file from Lab 14, line by line.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$TTL 86400</a:t>
            </a:r>
          </a:p>
          <a:p>
            <a:pPr>
              <a:spcAft>
                <a:spcPts val="200"/>
              </a:spcAft>
            </a:pPr>
            <a:r>
              <a:rPr sz="1100">
                <a:solidFill>
                  <a:srgbClr val="9CDCFE"/>
                </a:solidFill>
                <a:latin typeface="Consolas"/>
              </a:rPr>
              <a:t>@   IN  SOA ns.lab.local. admin.lab.local. (</a:t>
            </a:r>
          </a:p>
          <a:p>
            <a:pPr>
              <a:spcAft>
                <a:spcPts val="200"/>
              </a:spcAft>
            </a:pPr>
            <a:r>
              <a:rPr sz="1100">
                <a:solidFill>
                  <a:srgbClr val="9CDCFE"/>
                </a:solidFill>
                <a:latin typeface="Consolas"/>
              </a:rPr>
              <a:t>        2026051001 ; serial</a:t>
            </a:r>
          </a:p>
          <a:p>
            <a:pPr>
              <a:spcAft>
                <a:spcPts val="200"/>
              </a:spcAft>
            </a:pPr>
            <a:r>
              <a:rPr sz="1100">
                <a:solidFill>
                  <a:srgbClr val="9CDCFE"/>
                </a:solidFill>
                <a:latin typeface="Consolas"/>
              </a:rPr>
              <a:t>        3600 1800 604800 86400 )</a:t>
            </a:r>
          </a:p>
          <a:p>
            <a:pPr>
              <a:spcAft>
                <a:spcPts val="200"/>
              </a:spcAft>
            </a:pPr>
            <a:r>
              <a:rPr sz="1100">
                <a:solidFill>
                  <a:srgbClr val="9CDCFE"/>
                </a:solidFill>
                <a:latin typeface="Consolas"/>
              </a:rPr>
              <a:t>@       IN  NS    ns.lab.local.</a:t>
            </a:r>
          </a:p>
          <a:p>
            <a:pPr>
              <a:spcAft>
                <a:spcPts val="200"/>
              </a:spcAft>
            </a:pPr>
            <a:r>
              <a:rPr sz="1100">
                <a:solidFill>
                  <a:srgbClr val="9CDCFE"/>
                </a:solidFill>
                <a:latin typeface="Consolas"/>
              </a:rPr>
              <a:t>ns      IN  A     127.0.0.1</a:t>
            </a:r>
          </a:p>
          <a:p>
            <a:pPr>
              <a:spcAft>
                <a:spcPts val="200"/>
              </a:spcAft>
            </a:pPr>
            <a:r>
              <a:rPr sz="1100">
                <a:solidFill>
                  <a:srgbClr val="9CDCFE"/>
                </a:solidFill>
                <a:latin typeface="Consolas"/>
              </a:rPr>
              <a:t>www     IN  A     10.0.0.10</a:t>
            </a:r>
          </a:p>
          <a:p>
            <a:pPr>
              <a:spcAft>
                <a:spcPts val="200"/>
              </a:spcAft>
            </a:pPr>
            <a:r>
              <a:rPr sz="1100">
                <a:solidFill>
                  <a:srgbClr val="9CDCFE"/>
                </a:solidFill>
                <a:latin typeface="Consolas"/>
              </a:rPr>
              <a:t>@       IN  MX 10 mail.lab.local.</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Trailing dot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ns.lab.local. is absolute; omit the dot and BIND appends the zone name again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Serial</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Secondaries only transfer the zone when the serial increases — bump it on every edit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MX 10</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preference number — lower wins when several mail exchangers exist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Authoritative DNS with BIND9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Host an authoritative DNS zone in BIND9 and query it with dig.</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bind9, write a zone file for lab.local with SOA, NS, A and MX records, register the zone in named.conf.local, validate the syntax with named-checkzone and query your own server with dig @127.0.0.1.</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local BIND9 server answering authoritatively for lab.local, with validated zone syntax.</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bind9, dnsutils (dig), named-checkzone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dig @127.0.0.1 www.lab.local returns A 10.0.0.10 with the aa (authoritative answer) flag, and dig @127.0.0.1 MX lab.local returns 'MX 10 mail.lab.local.'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BIND9 and dig</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Register zone lab.local as type master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cat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Validate the zone syntax before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named-checkzone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Restart BIND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Host an authoritative DNS zone in BIND9 and query it with dig.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Authoritative DNS with BIND9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dig @127.0.0.1 www.lab.local returns A 10.0.0.10 with the aa (authoritative answer) flag, and dig @127.0.0.1 MX lab.local returns 'MX 10 mail.lab.local.'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named-checkzone reports errors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SOA parentheses and the trailing dots on FQDNs like ns.lab.local.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dig times out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BIND is not running — systemctl status bind9; verify config with named-checkconf</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SERVFAIL for lab.local</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zone failed to load; journalctl -u named shows the parse error — fix, restart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MDF, IDF and the Rack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MDF</a:t>
            </a:r>
          </a:p>
          <a:p>
            <a:pPr algn="l">
              <a:spcAft>
                <a:spcPts val="300"/>
              </a:spcAft>
            </a:pPr>
            <a:r>
              <a:rPr sz="1200" b="0">
                <a:solidFill>
                  <a:srgbClr val="5B6372"/>
                </a:solidFill>
                <a:latin typeface="Arial"/>
              </a:rPr>
              <a:t>Main Distribution Frame — the building's core room: WAN handoff, core switches, routers, servers.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IDF</a:t>
            </a:r>
          </a:p>
          <a:p>
            <a:pPr algn="l">
              <a:spcAft>
                <a:spcPts val="300"/>
              </a:spcAft>
            </a:pPr>
            <a:r>
              <a:rPr sz="1200" b="0">
                <a:solidFill>
                  <a:srgbClr val="5B6372"/>
                </a:solidFill>
                <a:latin typeface="Arial"/>
              </a:rPr>
              <a:t>Intermediate Distribution Frames per floor or area — access switches within 90 m of their users.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Demarc</a:t>
            </a:r>
          </a:p>
          <a:p>
            <a:pPr algn="l">
              <a:spcAft>
                <a:spcPts val="300"/>
              </a:spcAft>
            </a:pPr>
            <a:r>
              <a:rPr sz="1200" b="0">
                <a:solidFill>
                  <a:srgbClr val="5B6372"/>
                </a:solidFill>
                <a:latin typeface="Arial"/>
              </a:rPr>
              <a:t>Where the carrier's responsibility ends and yours begins — the demarcation point, usually in the MDF.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Rack units</a:t>
            </a:r>
          </a:p>
          <a:p>
            <a:pPr algn="l">
              <a:spcAft>
                <a:spcPts val="300"/>
              </a:spcAft>
            </a:pPr>
            <a:r>
              <a:rPr sz="1200" b="0">
                <a:solidFill>
                  <a:srgbClr val="5B6372"/>
                </a:solidFill>
                <a:latin typeface="Arial"/>
              </a:rPr>
              <a:t>Equipment is measured in U (1U = 1.75 in); plan space, airflow and growth before install 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 panels</a:t>
            </a:r>
          </a:p>
          <a:p>
            <a:pPr algn="l">
              <a:spcAft>
                <a:spcPts val="300"/>
              </a:spcAft>
            </a:pPr>
            <a:r>
              <a:rPr sz="1200" b="0">
                <a:solidFill>
                  <a:srgbClr val="5B6372"/>
                </a:solidFill>
                <a:latin typeface="Arial"/>
              </a:rPr>
              <a:t>Horizontal runs terminate on panels; short patch leads jump to switch ports — never re-terminate walls.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Locked &amp; dedicated</a:t>
            </a:r>
          </a:p>
          <a:p>
            <a:pPr algn="l">
              <a:spcAft>
                <a:spcPts val="300"/>
              </a:spcAft>
            </a:pPr>
            <a:r>
              <a:rPr sz="1200" b="0">
                <a:solidFill>
                  <a:srgbClr val="5B6372"/>
                </a:solidFill>
                <a:latin typeface="Arial"/>
              </a:rPr>
              <a:t>Distribution rooms are locked and badge-controlled, free of storage and water pipes — security at layer 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Management Done Right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 pathways</a:t>
            </a:r>
          </a:p>
          <a:p>
            <a:pPr algn="l">
              <a:spcAft>
                <a:spcPts val="300"/>
              </a:spcAft>
            </a:pPr>
            <a:r>
              <a:rPr sz="1200" b="0">
                <a:solidFill>
                  <a:srgbClr val="5B6372"/>
                </a:solidFill>
                <a:latin typeface="Arial"/>
              </a:rPr>
              <a:t>Ladder racks, trays and vertical managers — no cable stress, no spaghetti, airflow preserved.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 everything</a:t>
            </a:r>
          </a:p>
          <a:p>
            <a:pPr algn="l">
              <a:spcAft>
                <a:spcPts val="300"/>
              </a:spcAft>
            </a:pPr>
            <a:r>
              <a:rPr sz="1200" b="0">
                <a:solidFill>
                  <a:srgbClr val="5B6372"/>
                </a:solidFill>
                <a:latin typeface="Arial"/>
              </a:rPr>
              <a:t>Both ends of every cable, every panel port, every drop — future-you troubleshoots at 2 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Bend radius &amp; slack</a:t>
            </a:r>
          </a:p>
          <a:p>
            <a:pPr algn="l">
              <a:spcAft>
                <a:spcPts val="300"/>
              </a:spcAft>
            </a:pPr>
            <a:r>
              <a:rPr sz="1200" b="0">
                <a:solidFill>
                  <a:srgbClr val="5B6372"/>
                </a:solidFill>
                <a:latin typeface="Arial"/>
              </a:rPr>
              <a:t>Respect the minimum bend radius (especially fiber); service loops allow moves without re-pulls.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Separation</a:t>
            </a:r>
          </a:p>
          <a:p>
            <a:pPr algn="l">
              <a:spcAft>
                <a:spcPts val="300"/>
              </a:spcAft>
            </a:pPr>
            <a:r>
              <a:rPr sz="1200" b="0">
                <a:solidFill>
                  <a:srgbClr val="5B6372"/>
                </a:solidFill>
                <a:latin typeface="Arial"/>
              </a:rPr>
              <a:t>Keep UTP away from fluorescent lights, motors and power runs — EMI is a Layer 1 gremlin.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Velcro, not zip ties</a:t>
            </a:r>
          </a:p>
          <a:p>
            <a:pPr algn="l">
              <a:spcAft>
                <a:spcPts val="300"/>
              </a:spcAft>
            </a:pPr>
            <a:r>
              <a:rPr sz="1200" b="0">
                <a:solidFill>
                  <a:srgbClr val="5B6372"/>
                </a:solidFill>
                <a:latin typeface="Arial"/>
              </a:rPr>
              <a:t>Over-tightened ties crush pairs and change cable geometry — velcro wraps are the standard.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Documentation</a:t>
            </a:r>
          </a:p>
          <a:p>
            <a:pPr algn="l">
              <a:spcAft>
                <a:spcPts val="300"/>
              </a:spcAft>
            </a:pPr>
            <a:r>
              <a:rPr sz="1200" b="0">
                <a:solidFill>
                  <a:srgbClr val="5B6372"/>
                </a:solidFill>
                <a:latin typeface="Arial"/>
              </a:rPr>
              <a:t>Port maps and as-built diagrams live with the rack — updated with every change.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UPS, PDU, Load and Voltage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UPS</a:t>
            </a:r>
          </a:p>
          <a:p>
            <a:pPr algn="l">
              <a:spcAft>
                <a:spcPts val="300"/>
              </a:spcAft>
            </a:pPr>
            <a:r>
              <a:rPr sz="1200" b="0">
                <a:solidFill>
                  <a:srgbClr val="5B6372"/>
                </a:solidFill>
                <a:latin typeface="Arial"/>
              </a:rPr>
              <a:t>The battery bridge over outages and brownouts — line-interactive, or online double-conversion for clean power.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Runtime vs capacity</a:t>
            </a:r>
          </a:p>
          <a:p>
            <a:pPr algn="l">
              <a:spcAft>
                <a:spcPts val="300"/>
              </a:spcAft>
            </a:pPr>
            <a:r>
              <a:rPr sz="1200" b="0">
                <a:solidFill>
                  <a:srgbClr val="5B6372"/>
                </a:solidFill>
                <a:latin typeface="Arial"/>
              </a:rPr>
              <a:t>Size the UPS in VA/watts for the load, then check minutes of runtime at that load — both matter.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PDU</a:t>
            </a:r>
          </a:p>
          <a:p>
            <a:pPr algn="l">
              <a:spcAft>
                <a:spcPts val="300"/>
              </a:spcAft>
            </a:pPr>
            <a:r>
              <a:rPr sz="1200" b="0">
                <a:solidFill>
                  <a:srgbClr val="5B6372"/>
                </a:solidFill>
                <a:latin typeface="Arial"/>
              </a:rPr>
              <a:t>Rack power distribution — metered and switched PDUs report draw and can remote-cycle an outlet.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Dual feeds</a:t>
            </a:r>
          </a:p>
          <a:p>
            <a:pPr algn="l">
              <a:spcAft>
                <a:spcPts val="300"/>
              </a:spcAft>
            </a:pPr>
            <a:r>
              <a:rPr sz="1200" b="0">
                <a:solidFill>
                  <a:srgbClr val="5B6372"/>
                </a:solidFill>
                <a:latin typeface="Arial"/>
              </a:rPr>
              <a:t>Dual power supplies on separate circuits and PDUs (A + B feeds) survive a tripped breaker.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Voltage &amp; circuits</a:t>
            </a:r>
          </a:p>
          <a:p>
            <a:pPr algn="l">
              <a:spcAft>
                <a:spcPts val="300"/>
              </a:spcAft>
            </a:pPr>
            <a:r>
              <a:rPr sz="1200" b="0">
                <a:solidFill>
                  <a:srgbClr val="5B6372"/>
                </a:solidFill>
                <a:latin typeface="Arial"/>
              </a:rPr>
              <a:t>Match equipment to the circuit (230 V in Singapore); dedicated circuits per rack, no daisy-chained strips.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Generator</a:t>
            </a:r>
          </a:p>
          <a:p>
            <a:pPr algn="l">
              <a:spcAft>
                <a:spcPts val="300"/>
              </a:spcAft>
            </a:pPr>
            <a:r>
              <a:rPr sz="1200" b="0">
                <a:solidFill>
                  <a:srgbClr val="5B6372"/>
                </a:solidFill>
                <a:latin typeface="Arial"/>
              </a:rPr>
              <a:t>For real continuity a generator backs the UPS: battery rides the seconds, diesel rides the hours.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Environment: HVAC, Humidity, Fire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HVAC</a:t>
            </a:r>
          </a:p>
          <a:p>
            <a:pPr algn="l">
              <a:spcAft>
                <a:spcPts val="300"/>
              </a:spcAft>
            </a:pPr>
            <a:r>
              <a:rPr sz="1200" b="0">
                <a:solidFill>
                  <a:srgbClr val="5B6372"/>
                </a:solidFill>
                <a:latin typeface="Arial"/>
              </a:rPr>
              <a:t>Racks emit constant heat; dedicated cooling with hot/cold-aisle layouts keeps intake air cold.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Temperature</a:t>
            </a:r>
          </a:p>
          <a:p>
            <a:pPr algn="l">
              <a:spcAft>
                <a:spcPts val="300"/>
              </a:spcAft>
            </a:pPr>
            <a:r>
              <a:rPr sz="1200" b="0">
                <a:solidFill>
                  <a:srgbClr val="5B6372"/>
                </a:solidFill>
                <a:latin typeface="Arial"/>
              </a:rPr>
              <a:t>Target roughly 18-27 C at the equipment intake; monitor per rack, not per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Humidity</a:t>
            </a:r>
          </a:p>
          <a:p>
            <a:pPr algn="l">
              <a:spcAft>
                <a:spcPts val="300"/>
              </a:spcAft>
            </a:pPr>
            <a:r>
              <a:rPr sz="1200" b="0">
                <a:solidFill>
                  <a:srgbClr val="5B6372"/>
                </a:solidFill>
                <a:latin typeface="Arial"/>
              </a:rPr>
              <a:t>40-60% relative humidity — too dry invites static discharge, too damp invites condensation and corrosion.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 suppression</a:t>
            </a:r>
          </a:p>
          <a:p>
            <a:pPr algn="l">
              <a:spcAft>
                <a:spcPts val="300"/>
              </a:spcAft>
            </a:pPr>
            <a:r>
              <a:rPr sz="1200" b="0">
                <a:solidFill>
                  <a:srgbClr val="5B6372"/>
                </a:solidFill>
                <a:latin typeface="Arial"/>
              </a:rPr>
              <a:t>Clean-agent gas (FM-200, Novec) or pre-action sprinklers — water and live electronics do not mix.</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Sensors</a:t>
            </a:r>
          </a:p>
          <a:p>
            <a:pPr algn="l">
              <a:spcAft>
                <a:spcPts val="300"/>
              </a:spcAft>
            </a:pPr>
            <a:r>
              <a:rPr sz="1200" b="0">
                <a:solidFill>
                  <a:srgbClr val="5B6372"/>
                </a:solidFill>
                <a:latin typeface="Arial"/>
              </a:rPr>
              <a:t>Temperature, humidity, leak and door sensors feed monitoring — alerts before hardware cooks.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Grounding</a:t>
            </a:r>
          </a:p>
          <a:p>
            <a:pPr algn="l">
              <a:spcAft>
                <a:spcPts val="300"/>
              </a:spcAft>
            </a:pPr>
            <a:r>
              <a:rPr sz="1200" b="0">
                <a:solidFill>
                  <a:srgbClr val="5B6372"/>
                </a:solidFill>
                <a:latin typeface="Arial"/>
              </a:rPr>
              <a:t>Bond racks to earth ground and use ESD straps on boards — invisible damage kills gear later.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Physical Installation, Start to Finish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Site survey and requirements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MDF/IDF, pathways, power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Rack, label and cable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and validate every link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Document and baseline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NEXT: NETWORK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built the network. Now run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3 turns to operations: monitoring, documentation and the disaster-recovery numbers that keep what you just built alive.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2.0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Build a two-subnet topology and route between them with static routes.</a:t>
            </a:r>
          </a:p>
          <a:p>
            <a:pPr>
              <a:spcAft>
                <a:spcPts val="1000"/>
              </a:spcAft>
            </a:pPr>
            <a:r>
              <a:rPr sz="1600" b="0">
                <a:solidFill>
                  <a:srgbClr val="161B26"/>
                </a:solidFill>
                <a:latin typeface="Arial"/>
              </a:rPr>
              <a:t>•  You can now: Create 802.1Q VLAN sub-interfaces and capture a tagged frame.</a:t>
            </a:r>
          </a:p>
          <a:p>
            <a:pPr>
              <a:spcAft>
                <a:spcPts val="1000"/>
              </a:spcAft>
            </a:pPr>
            <a:r>
              <a:rPr sz="1600" b="0">
                <a:solidFill>
                  <a:srgbClr val="161B26"/>
                </a:solidFill>
                <a:latin typeface="Arial"/>
              </a:rPr>
              <a:t>•  You can now: Bundle interfaces into an LACP (802.3ad) bond and inspect its state.</a:t>
            </a:r>
          </a:p>
          <a:p>
            <a:pPr>
              <a:spcAft>
                <a:spcPts val="1000"/>
              </a:spcAft>
            </a:pPr>
            <a:r>
              <a:rPr sz="1600" b="0">
                <a:solidFill>
                  <a:srgbClr val="161B26"/>
                </a:solidFill>
                <a:latin typeface="Arial"/>
              </a:rPr>
              <a:t>•  You can now: Survey nearby wireless networks and map channels, bands and security modes.</a:t>
            </a:r>
          </a:p>
          <a:p>
            <a:pPr>
              <a:spcAft>
                <a:spcPts val="1000"/>
              </a:spcAft>
            </a:pPr>
            <a:r>
              <a:rPr sz="1600" b="0">
                <a:solidFill>
                  <a:srgbClr val="161B26"/>
                </a:solidFill>
                <a:latin typeface="Arial"/>
              </a:rPr>
              <a:t>•  You can now: Configure PAT with iptables MASQUERADE and verify live translations in conntrack.</a:t>
            </a:r>
          </a:p>
          <a:p>
            <a:pPr>
              <a:spcAft>
                <a:spcPts val="1000"/>
              </a:spcAft>
            </a:pPr>
            <a:r>
              <a:rPr sz="1600" b="0">
                <a:solidFill>
                  <a:srgbClr val="161B26"/>
                </a:solidFill>
                <a:latin typeface="Arial"/>
              </a:rPr>
              <a:t>•  You can now: Configure isc-dhcp-server to lease addresses on a private subnet.</a:t>
            </a:r>
          </a:p>
          <a:p>
            <a:pPr>
              <a:spcAft>
                <a:spcPts val="1000"/>
              </a:spcAft>
            </a:pPr>
            <a:r>
              <a:rPr sz="1600" b="0">
                <a:solidFill>
                  <a:srgbClr val="161B26"/>
                </a:solidFill>
                <a:latin typeface="Arial"/>
              </a:rPr>
              <a:t>•  You can now: Host an authoritative DNS zone in BIND9 and query it with dig.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3.0  ·  19%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Operations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Documentation · life-cycle · change &amp; configuration management · monitoring · DR · network services · access &amp; management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med" advClick="1">
    <p:push dir="l"/>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SNMP Monitoring</a:t>
            </a:r>
          </a:p>
          <a:p>
            <a:pPr>
              <a:spcAft>
                <a:spcPts val="900"/>
              </a:spcAft>
            </a:pPr>
            <a:r>
              <a:rPr sz="1400" b="0">
                <a:solidFill>
                  <a:srgbClr val="161B26"/>
                </a:solidFill>
                <a:latin typeface="Arial"/>
              </a:rPr>
              <a:t>•  NetFlow Analysis with nfdump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17–18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Centralised Logging with Rsyslog</a:t>
            </a:r>
          </a:p>
          <a:p>
            <a:pPr>
              <a:spcAft>
                <a:spcPts val="900"/>
              </a:spcAft>
            </a:pPr>
            <a:r>
              <a:rPr sz="1400" b="0">
                <a:solidFill>
                  <a:srgbClr val="161B26"/>
                </a:solidFill>
                <a:latin typeface="Arial"/>
              </a:rPr>
              <a:t>•  Time Synchronisation with Chrony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19–20</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Configuration Backup with Git</a:t>
            </a:r>
          </a:p>
          <a:p>
            <a:pPr>
              <a:spcAft>
                <a:spcPts val="900"/>
              </a:spcAft>
            </a:pPr>
            <a:r>
              <a:rPr sz="1400" b="0">
                <a:solidFill>
                  <a:srgbClr val="161B26"/>
                </a:solidFill>
                <a:latin typeface="Arial"/>
              </a:rPr>
              <a:t>•  Performance Baseline with iperf3</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fast" advClick="1">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19%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3 — Network Operations.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19% of the N10-009 exam: documentation, monitoring, disaster recovery, the network services everyone depends on, and secure access to your own infrastructure.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fast" advClick="1">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N10-009 · DOMAIN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3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3.1 — Documentation &amp; processes</a:t>
            </a:r>
          </a:p>
          <a:p>
            <a:pPr algn="l">
              <a:spcAft>
                <a:spcPts val="300"/>
              </a:spcAft>
            </a:pPr>
            <a:r>
              <a:rPr sz="1200" b="0">
                <a:solidFill>
                  <a:srgbClr val="5B6372"/>
                </a:solidFill>
                <a:latin typeface="Arial"/>
              </a:rPr>
              <a:t>Physical and logical diagrams, rack diagrams, IPAM, asset inventory, life-cycle, change and configuration management.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3.2 — Network monitoring</a:t>
            </a:r>
          </a:p>
          <a:p>
            <a:pPr algn="l">
              <a:spcAft>
                <a:spcPts val="300"/>
              </a:spcAft>
            </a:pPr>
            <a:r>
              <a:rPr sz="1200" b="0">
                <a:solidFill>
                  <a:srgbClr val="5B6372"/>
                </a:solidFill>
                <a:latin typeface="Arial"/>
              </a:rPr>
              <a:t>SNMP, flow data, packet capture, baselines, log aggregation and SIEM — knowing what the network is doing.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3.3 — Disaster recovery</a:t>
            </a:r>
          </a:p>
          <a:p>
            <a:pPr algn="l">
              <a:spcAft>
                <a:spcPts val="300"/>
              </a:spcAft>
            </a:pPr>
            <a:r>
              <a:rPr sz="1200" b="0">
                <a:solidFill>
                  <a:srgbClr val="5B6372"/>
                </a:solidFill>
                <a:latin typeface="Arial"/>
              </a:rPr>
              <a:t>RPO/RTO, MTTR/MTBF, cold/warm/hot sites, active-active vs active-passive, and testing the plan.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3.4 — Network services</a:t>
            </a:r>
          </a:p>
          <a:p>
            <a:pPr algn="l">
              <a:spcAft>
                <a:spcPts val="300"/>
              </a:spcAft>
            </a:pPr>
            <a:r>
              <a:rPr sz="1200" b="0">
                <a:solidFill>
                  <a:srgbClr val="5B6372"/>
                </a:solidFill>
                <a:latin typeface="Arial"/>
              </a:rPr>
              <a:t>DHCP, SLAAC, DNS and time services (NTP, PTP, NTS) — the quiet plumbing every network leans 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3.5 — Access &amp; management</a:t>
            </a:r>
          </a:p>
          <a:p>
            <a:pPr algn="l">
              <a:spcAft>
                <a:spcPts val="300"/>
              </a:spcAft>
            </a:pPr>
            <a:r>
              <a:rPr sz="1200" b="0">
                <a:solidFill>
                  <a:srgbClr val="5B6372"/>
                </a:solidFill>
                <a:latin typeface="Arial"/>
              </a:rPr>
              <a:t>Site-to-site and client VPNs, SSH, APIs, console, out-of-band and jump boxes.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3.1 · DOCUMENTATION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Documentation is the network's memory.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network that exists is the one in production; the network you can repair at 3 a.m. is the one in the documentation. Keeping them identical is an operations discipline.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Documenting the Network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diagram</a:t>
            </a:r>
          </a:p>
          <a:p>
            <a:pPr algn="l">
              <a:spcAft>
                <a:spcPts val="300"/>
              </a:spcAft>
            </a:pPr>
            <a:r>
              <a:rPr sz="1200" b="0">
                <a:solidFill>
                  <a:srgbClr val="5B6372"/>
                </a:solidFill>
                <a:latin typeface="Arial"/>
              </a:rPr>
              <a:t>Where things ARE — rooms, racks, cable runs, patch panels. Follows the actual hardware and wiring.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Logical diagram</a:t>
            </a:r>
          </a:p>
          <a:p>
            <a:pPr algn="l">
              <a:spcAft>
                <a:spcPts val="300"/>
              </a:spcAft>
            </a:pPr>
            <a:r>
              <a:rPr sz="1200" b="0">
                <a:solidFill>
                  <a:srgbClr val="5B6372"/>
                </a:solidFill>
                <a:latin typeface="Arial"/>
              </a:rPr>
              <a:t>How data FLOWS — subnets, VLANs, routing paths, firewall zones. Independent of physical location.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Rack diagram</a:t>
            </a:r>
          </a:p>
          <a:p>
            <a:pPr algn="l">
              <a:spcAft>
                <a:spcPts val="300"/>
              </a:spcAft>
            </a:pPr>
            <a:r>
              <a:rPr sz="1200" b="0">
                <a:solidFill>
                  <a:srgbClr val="5B6372"/>
                </a:solidFill>
                <a:latin typeface="Arial"/>
              </a:rPr>
              <a:t>Elevation view of one rack: every rack unit numbered, each device drawn at its mounted position.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map</a:t>
            </a:r>
          </a:p>
          <a:p>
            <a:pPr algn="l">
              <a:spcAft>
                <a:spcPts val="300"/>
              </a:spcAft>
            </a:pPr>
            <a:r>
              <a:rPr sz="1200" b="0">
                <a:solidFill>
                  <a:srgbClr val="5B6372"/>
                </a:solidFill>
                <a:latin typeface="Arial"/>
              </a:rPr>
              <a:t>Maps each patch-panel port to its wall jack and switch port so a tech can trace any link in seconds.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Asset inventory</a:t>
            </a:r>
          </a:p>
          <a:p>
            <a:pPr algn="l">
              <a:spcAft>
                <a:spcPts val="300"/>
              </a:spcAft>
            </a:pPr>
            <a:r>
              <a:rPr sz="1200" b="0">
                <a:solidFill>
                  <a:srgbClr val="5B6372"/>
                </a:solidFill>
                <a:latin typeface="Arial"/>
              </a:rPr>
              <a:t>Hardware, software, licensing and warranty per device — what you own, what it runs, when support ends.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IPAM</a:t>
            </a:r>
          </a:p>
          <a:p>
            <a:pPr algn="l">
              <a:spcAft>
                <a:spcPts val="300"/>
              </a:spcAft>
            </a:pPr>
            <a:r>
              <a:rPr sz="1200" b="0">
                <a:solidFill>
                  <a:srgbClr val="5B6372"/>
                </a:solidFill>
                <a:latin typeface="Arial"/>
              </a:rPr>
              <a:t>IP address management — tracks every subnet, assignment and DHCP scope so no address is allocated twice.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fast" advClick="1">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vs Logical Diagrams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Physical (Layer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Logical (Layer 2/3)</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Rooms, racks, cable runs, patch panels</a:t>
            </a:r>
          </a:p>
          <a:p>
            <a:pPr>
              <a:spcAft>
                <a:spcPts val="1000"/>
              </a:spcAft>
            </a:pPr>
            <a:r>
              <a:rPr sz="1600" b="0">
                <a:solidFill>
                  <a:srgbClr val="161B26"/>
                </a:solidFill>
                <a:latin typeface="Arial"/>
              </a:rPr>
              <a:t>•  MDF and IDF locations and wiring</a:t>
            </a:r>
          </a:p>
          <a:p>
            <a:pPr>
              <a:spcAft>
                <a:spcPts val="1000"/>
              </a:spcAft>
            </a:pPr>
            <a:r>
              <a:rPr sz="1600" b="0">
                <a:solidFill>
                  <a:srgbClr val="161B26"/>
                </a:solidFill>
                <a:latin typeface="Arial"/>
              </a:rPr>
              <a:t>•  Follows the copper and the fibre</a:t>
            </a:r>
          </a:p>
          <a:p>
            <a:pPr>
              <a:spcAft>
                <a:spcPts val="1000"/>
              </a:spcAft>
            </a:pPr>
            <a:r>
              <a:rPr sz="1600" b="0">
                <a:solidFill>
                  <a:srgbClr val="161B26"/>
                </a:solidFill>
                <a:latin typeface="Arial"/>
              </a:rPr>
              <a:t>•  Used for moves, adds, changes, repairs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Subnets, VLANs and IP addressing</a:t>
            </a:r>
          </a:p>
          <a:p>
            <a:pPr>
              <a:spcAft>
                <a:spcPts val="1000"/>
              </a:spcAft>
            </a:pPr>
            <a:r>
              <a:rPr sz="1600" b="0">
                <a:solidFill>
                  <a:srgbClr val="161B26"/>
                </a:solidFill>
                <a:latin typeface="Arial"/>
              </a:rPr>
              <a:t>•  Routing paths and firewall zones</a:t>
            </a:r>
          </a:p>
          <a:p>
            <a:pPr>
              <a:spcAft>
                <a:spcPts val="1000"/>
              </a:spcAft>
            </a:pPr>
            <a:r>
              <a:rPr sz="1600" b="0">
                <a:solidFill>
                  <a:srgbClr val="161B26"/>
                </a:solidFill>
                <a:latin typeface="Arial"/>
              </a:rPr>
              <a:t>•  Follows the traffic flow</a:t>
            </a:r>
          </a:p>
          <a:p>
            <a:pPr>
              <a:spcAft>
                <a:spcPts val="1000"/>
              </a:spcAft>
            </a:pPr>
            <a:r>
              <a:rPr sz="1600" b="0">
                <a:solidFill>
                  <a:srgbClr val="161B26"/>
                </a:solidFill>
                <a:latin typeface="Arial"/>
              </a:rPr>
              <a:t>•  Used for design and troubleshooting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fast" advClick="1">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Diagrams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Layer 1 — physical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Cables, ports and patch panels</a:t>
            </a:r>
          </a:p>
          <a:p>
            <a:pPr>
              <a:spcAft>
                <a:spcPts val="900"/>
              </a:spcAft>
            </a:pPr>
            <a:r>
              <a:rPr sz="1400" b="0">
                <a:solidFill>
                  <a:srgbClr val="161B26"/>
                </a:solidFill>
                <a:latin typeface="Arial"/>
              </a:rPr>
              <a:t>•  Rack elevations and RU positions</a:t>
            </a:r>
          </a:p>
          <a:p>
            <a:pPr>
              <a:spcAft>
                <a:spcPts val="900"/>
              </a:spcAft>
            </a:pPr>
            <a:r>
              <a:rPr sz="1400" b="0">
                <a:solidFill>
                  <a:srgbClr val="161B26"/>
                </a:solidFill>
                <a:latin typeface="Arial"/>
              </a:rPr>
              <a:t>•  Media types and cable labels</a:t>
            </a:r>
          </a:p>
          <a:p>
            <a:pPr>
              <a:spcAft>
                <a:spcPts val="900"/>
              </a:spcAft>
            </a:pPr>
            <a:r>
              <a:rPr sz="1400" b="0">
                <a:solidFill>
                  <a:srgbClr val="161B26"/>
                </a:solidFill>
                <a:latin typeface="Arial"/>
              </a:rPr>
              <a:t>•  TAP and mirror points marked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Layer 2 — switching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Switches, VLANs and trunks</a:t>
            </a:r>
          </a:p>
          <a:p>
            <a:pPr>
              <a:spcAft>
                <a:spcPts val="900"/>
              </a:spcAft>
            </a:pPr>
            <a:r>
              <a:rPr sz="1400" b="0">
                <a:solidFill>
                  <a:srgbClr val="161B26"/>
                </a:solidFill>
                <a:latin typeface="Arial"/>
              </a:rPr>
              <a:t>•  STP topology and port channels</a:t>
            </a:r>
          </a:p>
          <a:p>
            <a:pPr>
              <a:spcAft>
                <a:spcPts val="900"/>
              </a:spcAft>
            </a:pPr>
            <a:r>
              <a:rPr sz="1400" b="0">
                <a:solidFill>
                  <a:srgbClr val="161B26"/>
                </a:solidFill>
                <a:latin typeface="Arial"/>
              </a:rPr>
              <a:t>•  MAC-level adjacencies</a:t>
            </a:r>
          </a:p>
          <a:p>
            <a:pPr>
              <a:spcAft>
                <a:spcPts val="900"/>
              </a:spcAft>
            </a:pPr>
            <a:r>
              <a:rPr sz="1400" b="0">
                <a:solidFill>
                  <a:srgbClr val="161B26"/>
                </a:solidFill>
                <a:latin typeface="Arial"/>
              </a:rPr>
              <a:t>•  Link speeds and duplex</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Layer 3 — routing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Subnets and IP addressing</a:t>
            </a:r>
          </a:p>
          <a:p>
            <a:pPr>
              <a:spcAft>
                <a:spcPts val="900"/>
              </a:spcAft>
            </a:pPr>
            <a:r>
              <a:rPr sz="1400" b="0">
                <a:solidFill>
                  <a:srgbClr val="161B26"/>
                </a:solidFill>
                <a:latin typeface="Arial"/>
              </a:rPr>
              <a:t>•  Routers, SVIs and firewalls</a:t>
            </a:r>
          </a:p>
          <a:p>
            <a:pPr>
              <a:spcAft>
                <a:spcPts val="900"/>
              </a:spcAft>
            </a:pPr>
            <a:r>
              <a:rPr sz="1400" b="0">
                <a:solidFill>
                  <a:srgbClr val="161B26"/>
                </a:solidFill>
                <a:latin typeface="Arial"/>
              </a:rPr>
              <a:t>•  Routing protocols and next hops</a:t>
            </a:r>
          </a:p>
          <a:p>
            <a:pPr>
              <a:spcAft>
                <a:spcPts val="900"/>
              </a:spcAft>
            </a:pPr>
            <a:r>
              <a:rPr sz="1400" b="0">
                <a:solidFill>
                  <a:srgbClr val="161B26"/>
                </a:solidFill>
                <a:latin typeface="Arial"/>
              </a:rPr>
              <a:t>•  NAT boundaries and VPN tunnels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fast" advClick="1">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MDF, IDF and the Rack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MDF</a:t>
            </a:r>
          </a:p>
          <a:p>
            <a:pPr algn="l">
              <a:spcAft>
                <a:spcPts val="300"/>
              </a:spcAft>
            </a:pPr>
            <a:r>
              <a:rPr sz="1200" b="0">
                <a:solidFill>
                  <a:srgbClr val="5B6372"/>
                </a:solidFill>
                <a:latin typeface="Arial"/>
              </a:rPr>
              <a:t>Main distribution frame — the primary wiring hub where WAN circuits land and core equipment lives.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IDF</a:t>
            </a:r>
          </a:p>
          <a:p>
            <a:pPr algn="l">
              <a:spcAft>
                <a:spcPts val="300"/>
              </a:spcAft>
            </a:pPr>
            <a:r>
              <a:rPr sz="1200" b="0">
                <a:solidFill>
                  <a:srgbClr val="5B6372"/>
                </a:solidFill>
                <a:latin typeface="Arial"/>
              </a:rPr>
              <a:t>Intermediate distribution frame — the per-floor closet linking local drops back to the MDF.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Rack diagram</a:t>
            </a:r>
          </a:p>
          <a:p>
            <a:pPr algn="l">
              <a:spcAft>
                <a:spcPts val="300"/>
              </a:spcAft>
            </a:pPr>
            <a:r>
              <a:rPr sz="1200" b="0">
                <a:solidFill>
                  <a:srgbClr val="5B6372"/>
                </a:solidFill>
                <a:latin typeface="Arial"/>
              </a:rPr>
              <a:t>One column per rack, numbered in rack units (1U = 1.75 in); shows exactly what is mounted where.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 maps</a:t>
            </a:r>
          </a:p>
          <a:p>
            <a:pPr algn="l">
              <a:spcAft>
                <a:spcPts val="300"/>
              </a:spcAft>
            </a:pPr>
            <a:r>
              <a:rPr sz="1200" b="0">
                <a:solidFill>
                  <a:srgbClr val="5B6372"/>
                </a:solidFill>
                <a:latin typeface="Arial"/>
              </a:rPr>
              <a:t>Patch panel and switch port labelling ties every user drop to its IDF termination — no more toning cables.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fast" advClick="1">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Documentation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Document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Shows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Used when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Floor plan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Rooms, racks, aisles, outlets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Planning space and power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Rack diagram</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Devices by rack unit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Installing or replacing gear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Wiring diagram</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Terminations, runs, standards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Tracing a faulty link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Logical diagram</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Subnets, VLANs, routing</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Design and troubleshooting</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Heat map</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Wi-Fi coverage by colour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Fixing dead zones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Exam questions give a task — pick the document that answers it: physical for 'where', logical for 'how it flows'.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Asset Inventory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Hardware</a:t>
            </a:r>
          </a:p>
          <a:p>
            <a:pPr algn="l">
              <a:spcAft>
                <a:spcPts val="300"/>
              </a:spcAft>
            </a:pPr>
            <a:r>
              <a:rPr sz="1200" b="0">
                <a:solidFill>
                  <a:srgbClr val="5B6372"/>
                </a:solidFill>
                <a:latin typeface="Arial"/>
              </a:rPr>
              <a:t>Make, model, serial, location and owner for every device — the base record for audits and refresh planning.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Software</a:t>
            </a:r>
          </a:p>
          <a:p>
            <a:pPr algn="l">
              <a:spcAft>
                <a:spcPts val="300"/>
              </a:spcAft>
            </a:pPr>
            <a:r>
              <a:rPr sz="1200" b="0">
                <a:solidFill>
                  <a:srgbClr val="5B6372"/>
                </a:solidFill>
                <a:latin typeface="Arial"/>
              </a:rPr>
              <a:t>Installed OS and application versions per host — the record patch management works from.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Licensing</a:t>
            </a:r>
          </a:p>
          <a:p>
            <a:pPr algn="l">
              <a:spcAft>
                <a:spcPts val="300"/>
              </a:spcAft>
            </a:pPr>
            <a:r>
              <a:rPr sz="1200" b="0">
                <a:solidFill>
                  <a:srgbClr val="5B6372"/>
                </a:solidFill>
                <a:latin typeface="Arial"/>
              </a:rPr>
              <a:t>Which licences you hold, what they cover, when they renew — non-compliance is a legal and audit risk.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Warranty &amp; support</a:t>
            </a:r>
          </a:p>
          <a:p>
            <a:pPr algn="l">
              <a:spcAft>
                <a:spcPts val="300"/>
              </a:spcAft>
            </a:pPr>
            <a:r>
              <a:rPr sz="1200" b="0">
                <a:solidFill>
                  <a:srgbClr val="5B6372"/>
                </a:solidFill>
                <a:latin typeface="Arial"/>
              </a:rPr>
              <a:t>Contract and warranty end dates drive refresh budgets and flag devices approaching end of support.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IPAM — IP Address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Subnet tracking</a:t>
            </a:r>
          </a:p>
          <a:p>
            <a:pPr algn="l">
              <a:spcAft>
                <a:spcPts val="300"/>
              </a:spcAft>
            </a:pPr>
            <a:r>
              <a:rPr sz="1200" b="0">
                <a:solidFill>
                  <a:srgbClr val="5B6372"/>
                </a:solidFill>
                <a:latin typeface="Arial"/>
              </a:rPr>
              <a:t>Every prefix with its VLAN, gateway and purpose in one authoritative database — not a spreadsheet.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Assignment records</a:t>
            </a:r>
          </a:p>
          <a:p>
            <a:pPr algn="l">
              <a:spcAft>
                <a:spcPts val="300"/>
              </a:spcAft>
            </a:pPr>
            <a:r>
              <a:rPr sz="1200" b="0">
                <a:solidFill>
                  <a:srgbClr val="5B6372"/>
                </a:solidFill>
                <a:latin typeface="Arial"/>
              </a:rPr>
              <a:t>Static assignments and DHCP scopes recorded together so no address is ever allocated twice.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Discovery &amp; reconciliation</a:t>
            </a:r>
          </a:p>
          <a:p>
            <a:pPr algn="l">
              <a:spcAft>
                <a:spcPts val="300"/>
              </a:spcAft>
            </a:pPr>
            <a:r>
              <a:rPr sz="1200" b="0">
                <a:solidFill>
                  <a:srgbClr val="5B6372"/>
                </a:solidFill>
                <a:latin typeface="Arial"/>
              </a:rPr>
              <a:t>IPAM tools scan the network and reconcile what is actually on the wire against the plan.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DDI integration</a:t>
            </a:r>
          </a:p>
          <a:p>
            <a:pPr algn="l">
              <a:spcAft>
                <a:spcPts val="300"/>
              </a:spcAft>
            </a:pPr>
            <a:r>
              <a:rPr sz="1200" b="0">
                <a:solidFill>
                  <a:srgbClr val="5B6372"/>
                </a:solidFill>
                <a:latin typeface="Arial"/>
              </a:rPr>
              <a:t>DNS + DHCP + IPAM suites keep records, scopes and leases in sync automatically.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Surveys &amp; Heat Maps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Predictive survey</a:t>
            </a:r>
          </a:p>
          <a:p>
            <a:pPr algn="l">
              <a:spcAft>
                <a:spcPts val="300"/>
              </a:spcAft>
            </a:pPr>
            <a:r>
              <a:rPr sz="1200" b="0">
                <a:solidFill>
                  <a:srgbClr val="5B6372"/>
                </a:solidFill>
                <a:latin typeface="Arial"/>
              </a:rPr>
              <a:t>Software models coverage from floor plans and wall materials before a single AP is mounted.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On-site survey</a:t>
            </a:r>
          </a:p>
          <a:p>
            <a:pPr algn="l">
              <a:spcAft>
                <a:spcPts val="300"/>
              </a:spcAft>
            </a:pPr>
            <a:r>
              <a:rPr sz="1200" b="0">
                <a:solidFill>
                  <a:srgbClr val="5B6372"/>
                </a:solidFill>
                <a:latin typeface="Arial"/>
              </a:rPr>
              <a:t>Walk the site measuring real signal, interference and attenuation with the actual AP placement.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Heat map</a:t>
            </a:r>
          </a:p>
          <a:p>
            <a:pPr algn="l">
              <a:spcAft>
                <a:spcPts val="300"/>
              </a:spcAft>
            </a:pPr>
            <a:r>
              <a:rPr sz="1200" b="0">
                <a:solidFill>
                  <a:srgbClr val="5B6372"/>
                </a:solidFill>
                <a:latin typeface="Arial"/>
              </a:rPr>
              <a:t>Colour-coded floor plan of signal strength — dead zones and channel overlap visible at a glance.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Validation survey</a:t>
            </a:r>
          </a:p>
          <a:p>
            <a:pPr algn="l">
              <a:spcAft>
                <a:spcPts val="300"/>
              </a:spcAft>
            </a:pPr>
            <a:r>
              <a:rPr sz="1200" b="0">
                <a:solidFill>
                  <a:srgbClr val="5B6372"/>
                </a:solidFill>
                <a:latin typeface="Arial"/>
              </a:rPr>
              <a:t>Repeat after deployment to prove the design targets (RSSI, SNR, throughput) are actually met.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Business Documents — SLA, MOU, SOW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Document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Parties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defines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SLA</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Provider + customer</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Service scope, uptime targets, penalties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MOU</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Two partners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Agreed duties where a contract is premature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SOW</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Vendor + customer</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Deliverables, timeline, milestones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NDA</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Org + staff / vendor</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Keeps sensitive information confidential</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AUP</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Org + users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users may do on org systems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SLA's uptime figure drives your redundancy design — 99.99% cannot be met with single points of failure.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Life-cycle Milestones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Milestone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Vendor stops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Your action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End of sale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Selling the product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Stop new purchases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End of life (EOL)</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Feature development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Plan and budget replacement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End of support (EOS)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Patches, fixes, RMA</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Decommission by this date</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EOS is the hard deadline: gear past EOS gets no security patches, so every CVE against it stays open forever.</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EOL vs EOS — Why the Difference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End of Life (EOL)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End of Support (EOS)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Vendor stops selling / developing</a:t>
            </a:r>
          </a:p>
          <a:p>
            <a:pPr>
              <a:spcAft>
                <a:spcPts val="1000"/>
              </a:spcAft>
            </a:pPr>
            <a:r>
              <a:rPr sz="1600" b="0">
                <a:solidFill>
                  <a:srgbClr val="161B26"/>
                </a:solidFill>
                <a:latin typeface="Arial"/>
              </a:rPr>
              <a:t>•  Existing units keep receiving fixes</a:t>
            </a:r>
          </a:p>
          <a:p>
            <a:pPr>
              <a:spcAft>
                <a:spcPts val="1000"/>
              </a:spcAft>
            </a:pPr>
            <a:r>
              <a:rPr sz="1600" b="0">
                <a:solidFill>
                  <a:srgbClr val="161B26"/>
                </a:solidFill>
                <a:latin typeface="Arial"/>
              </a:rPr>
              <a:t>•  Trigger to plan the replacement</a:t>
            </a:r>
          </a:p>
          <a:p>
            <a:pPr>
              <a:spcAft>
                <a:spcPts val="1000"/>
              </a:spcAft>
            </a:pPr>
            <a:r>
              <a:rPr sz="1600" b="0">
                <a:solidFill>
                  <a:srgbClr val="161B26"/>
                </a:solidFill>
                <a:latin typeface="Arial"/>
              </a:rPr>
              <a:t>•  Often years before EOS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No more patches — even for CVEs</a:t>
            </a:r>
          </a:p>
          <a:p>
            <a:pPr>
              <a:spcAft>
                <a:spcPts val="1000"/>
              </a:spcAft>
            </a:pPr>
            <a:r>
              <a:rPr sz="1600" b="0">
                <a:solidFill>
                  <a:srgbClr val="161B26"/>
                </a:solidFill>
                <a:latin typeface="Arial"/>
              </a:rPr>
              <a:t>•  Failing units cannot be RMA'd</a:t>
            </a:r>
          </a:p>
          <a:p>
            <a:pPr>
              <a:spcAft>
                <a:spcPts val="1000"/>
              </a:spcAft>
            </a:pPr>
            <a:r>
              <a:rPr sz="1600" b="0">
                <a:solidFill>
                  <a:srgbClr val="161B26"/>
                </a:solidFill>
                <a:latin typeface="Arial"/>
              </a:rPr>
              <a:t>•  Unpatched gear = standing audit finding</a:t>
            </a:r>
          </a:p>
          <a:p>
            <a:pPr>
              <a:spcAft>
                <a:spcPts val="1000"/>
              </a:spcAft>
            </a:pPr>
            <a:r>
              <a:rPr sz="1600" b="0">
                <a:solidFill>
                  <a:srgbClr val="161B26"/>
                </a:solidFill>
                <a:latin typeface="Arial"/>
              </a:rPr>
              <a:t>•  Hard deadline to decommission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Software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OS updates</a:t>
            </a:r>
          </a:p>
          <a:p>
            <a:pPr algn="l">
              <a:spcAft>
                <a:spcPts val="300"/>
              </a:spcAft>
            </a:pPr>
            <a:r>
              <a:rPr sz="1200" b="0">
                <a:solidFill>
                  <a:srgbClr val="5B6372"/>
                </a:solidFill>
                <a:latin typeface="Arial"/>
              </a:rPr>
              <a:t>The most frequent patch type — schedule through change management, never ad hoc on network gear.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Firmware</a:t>
            </a:r>
          </a:p>
          <a:p>
            <a:pPr algn="l">
              <a:spcAft>
                <a:spcPts val="300"/>
              </a:spcAft>
            </a:pPr>
            <a:r>
              <a:rPr sz="1200" b="0">
                <a:solidFill>
                  <a:srgbClr val="5B6372"/>
                </a:solidFill>
                <a:latin typeface="Arial"/>
              </a:rPr>
              <a:t>Low-level device code; fixes hardware bugs and vulnerabilities — verify the image checksum before flashing.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Patch discipline</a:t>
            </a:r>
          </a:p>
          <a:p>
            <a:pPr algn="l">
              <a:spcAft>
                <a:spcPts val="300"/>
              </a:spcAft>
            </a:pPr>
            <a:r>
              <a:rPr sz="1200" b="0">
                <a:solidFill>
                  <a:srgbClr val="5B6372"/>
                </a:solidFill>
                <a:latin typeface="Arial"/>
              </a:rPr>
              <a:t>Research the release notes, test in a lab, back up the config, then deploy in a maintenance window.</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Rollback plan</a:t>
            </a:r>
          </a:p>
          <a:p>
            <a:pPr algn="l">
              <a:spcAft>
                <a:spcPts val="300"/>
              </a:spcAft>
            </a:pPr>
            <a:r>
              <a:rPr sz="1200" b="0">
                <a:solidFill>
                  <a:srgbClr val="5B6372"/>
                </a:solidFill>
                <a:latin typeface="Arial"/>
              </a:rPr>
              <a:t>Every update ships with a tested path back — keep the previous image and config within reach.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Decommissioning a Device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Remove from production</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drain traffic first</a:t>
            </a:r>
          </a:p>
        </p:txBody>
      </p:sp>
      <p:cxnSp>
        <p:nvCxnSpPr>
          <p:cNvPr id="13" name="Connector 12"/>
          <p:cNvCxnSpPr/>
          <p:nvPr/>
        </p:nvCxnSpPr>
        <p:spPr>
          <a:xfrm>
            <a:off x="320268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Wipe configuration</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secrets, keys, configs</a:t>
            </a:r>
          </a:p>
        </p:txBody>
      </p:sp>
      <p:cxnSp>
        <p:nvCxnSpPr>
          <p:cNvPr id="20" name="Connector 19"/>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Update the records</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inventory, IPAM, diagrams</a:t>
            </a:r>
          </a:p>
        </p:txBody>
      </p:sp>
      <p:cxnSp>
        <p:nvCxnSpPr>
          <p:cNvPr id="27" name="Connector 26"/>
          <p:cNvCxnSpPr/>
          <p:nvPr/>
        </p:nvCxnSpPr>
        <p:spPr>
          <a:xfrm>
            <a:off x="871194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Dispose or redeploy</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per asset policy</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decommissioned switch with its config intact is a free map of your network — and its credentials — for whoever buys it second-hand.</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request</a:t>
            </a:r>
          </a:p>
          <a:p>
            <a:pPr algn="l">
              <a:spcAft>
                <a:spcPts val="300"/>
              </a:spcAft>
            </a:pPr>
            <a:r>
              <a:rPr sz="1200" b="0">
                <a:solidFill>
                  <a:srgbClr val="5B6372"/>
                </a:solidFill>
                <a:latin typeface="Arial"/>
              </a:rPr>
              <a:t>Every change starts as a tracked ticket — who wants what, why, and by when.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Impact assessment</a:t>
            </a:r>
          </a:p>
          <a:p>
            <a:pPr algn="l">
              <a:spcAft>
                <a:spcPts val="300"/>
              </a:spcAft>
            </a:pPr>
            <a:r>
              <a:rPr sz="1200" b="0">
                <a:solidFill>
                  <a:srgbClr val="5B6372"/>
                </a:solidFill>
                <a:latin typeface="Arial"/>
              </a:rPr>
              <a:t>What breaks if this goes wrong? Which users, which services, which SLAs are exposed?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a:t>
            </a:r>
          </a:p>
          <a:p>
            <a:pPr algn="l">
              <a:spcAft>
                <a:spcPts val="300"/>
              </a:spcAft>
            </a:pPr>
            <a:r>
              <a:rPr sz="1200" b="0">
                <a:solidFill>
                  <a:srgbClr val="5B6372"/>
                </a:solidFill>
                <a:latin typeface="Arial"/>
              </a:rPr>
              <a:t>A change advisory board weighs risk against benefit before any window is booked.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Maintenance window</a:t>
            </a:r>
          </a:p>
          <a:p>
            <a:pPr algn="l">
              <a:spcAft>
                <a:spcPts val="300"/>
              </a:spcAft>
            </a:pPr>
            <a:r>
              <a:rPr sz="1200" b="0">
                <a:solidFill>
                  <a:srgbClr val="5B6372"/>
                </a:solidFill>
                <a:latin typeface="Arial"/>
              </a:rPr>
              <a:t>Changes land in agreed low-impact hours, announced to stakeholders in advance.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Rollback plan</a:t>
            </a:r>
          </a:p>
          <a:p>
            <a:pPr algn="l">
              <a:spcAft>
                <a:spcPts val="300"/>
              </a:spcAft>
            </a:pPr>
            <a:r>
              <a:rPr sz="1200" b="0">
                <a:solidFill>
                  <a:srgbClr val="5B6372"/>
                </a:solidFill>
                <a:latin typeface="Arial"/>
              </a:rPr>
              <a:t>Written before the change: the exact steps that restore the last known-good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Documentation</a:t>
            </a:r>
          </a:p>
          <a:p>
            <a:pPr algn="l">
              <a:spcAft>
                <a:spcPts val="300"/>
              </a:spcAft>
            </a:pPr>
            <a:r>
              <a:rPr sz="1200" b="0">
                <a:solidFill>
                  <a:srgbClr val="5B6372"/>
                </a:solidFill>
                <a:latin typeface="Arial"/>
              </a:rPr>
              <a:t>The final step — diagrams, configs and the ticket updated to match the new reality.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Change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ticket + justification</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 &amp; approve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CAB weighs the risk</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Schedule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maintenance window</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Implement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rollback plan ready</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&amp; document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update every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Most outages are self-inflicted — change management turns risky edits into reviewed, reversible, documented events.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Standard vs Emergency Changes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Standard change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Emergency change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Pre-approved, low-risk, repeatable</a:t>
            </a:r>
          </a:p>
          <a:p>
            <a:pPr>
              <a:spcAft>
                <a:spcPts val="1000"/>
              </a:spcAft>
            </a:pPr>
            <a:r>
              <a:rPr sz="1600" b="0">
                <a:solidFill>
                  <a:srgbClr val="161B26"/>
                </a:solidFill>
                <a:latin typeface="Arial"/>
              </a:rPr>
              <a:t>•  Follows the full request workflow</a:t>
            </a:r>
          </a:p>
          <a:p>
            <a:pPr>
              <a:spcAft>
                <a:spcPts val="1000"/>
              </a:spcAft>
            </a:pPr>
            <a:r>
              <a:rPr sz="1600" b="0">
                <a:solidFill>
                  <a:srgbClr val="161B26"/>
                </a:solidFill>
                <a:latin typeface="Arial"/>
              </a:rPr>
              <a:t>•  Lands in a planned window</a:t>
            </a:r>
          </a:p>
          <a:p>
            <a:pPr>
              <a:spcAft>
                <a:spcPts val="1000"/>
              </a:spcAft>
            </a:pPr>
            <a:r>
              <a:rPr sz="1600" b="0">
                <a:solidFill>
                  <a:srgbClr val="161B26"/>
                </a:solidFill>
                <a:latin typeface="Arial"/>
              </a:rPr>
              <a:t>•  Example: adding a VLAN to a trunk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Fixes an active outage or exploit</a:t>
            </a:r>
          </a:p>
          <a:p>
            <a:pPr>
              <a:spcAft>
                <a:spcPts val="1000"/>
              </a:spcAft>
            </a:pPr>
            <a:r>
              <a:rPr sz="1600" b="0">
                <a:solidFill>
                  <a:srgbClr val="161B26"/>
                </a:solidFill>
                <a:latin typeface="Arial"/>
              </a:rPr>
              <a:t>•  Approval fast-tracked, never skipped</a:t>
            </a:r>
          </a:p>
          <a:p>
            <a:pPr>
              <a:spcAft>
                <a:spcPts val="1000"/>
              </a:spcAft>
            </a:pPr>
            <a:r>
              <a:rPr sz="1600" b="0">
                <a:solidFill>
                  <a:srgbClr val="161B26"/>
                </a:solidFill>
                <a:latin typeface="Arial"/>
              </a:rPr>
              <a:t>•  Implemented immediately</a:t>
            </a:r>
          </a:p>
          <a:p>
            <a:pPr>
              <a:spcAft>
                <a:spcPts val="1000"/>
              </a:spcAft>
            </a:pPr>
            <a:r>
              <a:rPr sz="1600" b="0">
                <a:solidFill>
                  <a:srgbClr val="161B26"/>
                </a:solidFill>
                <a:latin typeface="Arial"/>
              </a:rPr>
              <a:t>•  Documented retrospectively — always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Post-Change Verification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change verify clean
within the maintenance window?</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close the ticket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Record the result, update diagrams, configs and baselines, and communicate completion to stakeholders.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roll back</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Execute the pre-written rollback to the last known-good configuration; never troubleshoot past the window's end.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The rollback trigger is agreed before the change starts — not negotiated at 2 a.m.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3.2 · NETWORK MONITORING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you cannot see it, you cannot manage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Network monitoring layers device polling (SNMP), traffic summaries (flow data), full packet capture and centralised logs into one operational picture.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NETWORK MONITORING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Monitoring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SNMP polling</a:t>
            </a:r>
          </a:p>
          <a:p>
            <a:pPr algn="l">
              <a:spcAft>
                <a:spcPts val="300"/>
              </a:spcAft>
            </a:pPr>
            <a:r>
              <a:rPr sz="1200" b="0">
                <a:solidFill>
                  <a:srgbClr val="5B6372"/>
                </a:solidFill>
                <a:latin typeface="Arial"/>
              </a:rPr>
              <a:t>The NMS asks each device for counters on a schedule — CPU, memory, interface octets, errors.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SNMP traps</a:t>
            </a:r>
          </a:p>
          <a:p>
            <a:pPr algn="l">
              <a:spcAft>
                <a:spcPts val="300"/>
              </a:spcAft>
            </a:pPr>
            <a:r>
              <a:rPr sz="1200" b="0">
                <a:solidFill>
                  <a:srgbClr val="5B6372"/>
                </a:solidFill>
                <a:latin typeface="Arial"/>
              </a:rPr>
              <a:t>The device pushes an alert the moment something happens — no waiting for the next poll.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Flow data</a:t>
            </a:r>
          </a:p>
          <a:p>
            <a:pPr algn="l">
              <a:spcAft>
                <a:spcPts val="300"/>
              </a:spcAft>
            </a:pPr>
            <a:r>
              <a:rPr sz="1200" b="0">
                <a:solidFill>
                  <a:srgbClr val="5B6372"/>
                </a:solidFill>
                <a:latin typeface="Arial"/>
              </a:rPr>
              <a:t>Routers export per-conversation summaries (NetFlow/IPFIX) — who talked to whom, and how much.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Packet capture</a:t>
            </a:r>
          </a:p>
          <a:p>
            <a:pPr algn="l">
              <a:spcAft>
                <a:spcPts val="300"/>
              </a:spcAft>
            </a:pPr>
            <a:r>
              <a:rPr sz="1200" b="0">
                <a:solidFill>
                  <a:srgbClr val="5B6372"/>
                </a:solidFill>
                <a:latin typeface="Arial"/>
              </a:rPr>
              <a:t>The full contents of every frame — the deepest view, used surgically via port mirroring.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aggregation</a:t>
            </a:r>
          </a:p>
          <a:p>
            <a:pPr algn="l">
              <a:spcAft>
                <a:spcPts val="300"/>
              </a:spcAft>
            </a:pPr>
            <a:r>
              <a:rPr sz="1200" b="0">
                <a:solidFill>
                  <a:srgbClr val="5B6372"/>
                </a:solidFill>
                <a:latin typeface="Arial"/>
              </a:rPr>
              <a:t>Syslog from every device lands on one collector for searching and correlation.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 integration</a:t>
            </a:r>
          </a:p>
          <a:p>
            <a:pPr algn="l">
              <a:spcAft>
                <a:spcPts val="300"/>
              </a:spcAft>
            </a:pPr>
            <a:r>
              <a:rPr sz="1200" b="0">
                <a:solidFill>
                  <a:srgbClr val="5B6372"/>
                </a:solidFill>
                <a:latin typeface="Arial"/>
              </a:rPr>
              <a:t>Modern gear exposes REST APIs — monitoring pulls structured JSON instead of screen-scraping CLIs.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a:t>
            </a:r>
          </a:p>
          <a:p>
            <a:pPr algn="l">
              <a:spcAft>
                <a:spcPts val="300"/>
              </a:spcAft>
            </a:pPr>
            <a:r>
              <a:rPr sz="1200" b="0">
                <a:solidFill>
                  <a:srgbClr val="5B6372"/>
                </a:solidFill>
                <a:latin typeface="Arial"/>
              </a:rPr>
              <a:t>Runs on the managed device, listens on UDP/161 and answers reads from the manager.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NMS / manager</a:t>
            </a:r>
          </a:p>
          <a:p>
            <a:pPr algn="l">
              <a:spcAft>
                <a:spcPts val="300"/>
              </a:spcAft>
            </a:pPr>
            <a:r>
              <a:rPr sz="1200" b="0">
                <a:solidFill>
                  <a:srgbClr val="5B6372"/>
                </a:solidFill>
                <a:latin typeface="Arial"/>
              </a:rPr>
              <a:t>The monitoring station — Zabbix, LibreNMS, PRTG — that polls agents and graphs the results.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MIB</a:t>
            </a:r>
          </a:p>
          <a:p>
            <a:pPr algn="l">
              <a:spcAft>
                <a:spcPts val="300"/>
              </a:spcAft>
            </a:pPr>
            <a:r>
              <a:rPr sz="1200" b="0">
                <a:solidFill>
                  <a:srgbClr val="5B6372"/>
                </a:solidFill>
                <a:latin typeface="Arial"/>
              </a:rPr>
              <a:t>Management Information Base — the tree-structured schema of everything a device can report.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OID</a:t>
            </a:r>
          </a:p>
          <a:p>
            <a:pPr algn="l">
              <a:spcAft>
                <a:spcPts val="300"/>
              </a:spcAft>
            </a:pPr>
            <a:r>
              <a:rPr sz="1200" b="0">
                <a:solidFill>
                  <a:srgbClr val="5B6372"/>
                </a:solidFill>
                <a:latin typeface="Arial"/>
              </a:rPr>
              <a:t>Object identifier — a dotted path into the MIB; 1.3.6.1.2.1.1.3.0 is sysUpTime.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GET vs WALK</a:t>
            </a:r>
          </a:p>
          <a:p>
            <a:pPr algn="l">
              <a:spcAft>
                <a:spcPts val="300"/>
              </a:spcAft>
            </a:pPr>
            <a:r>
              <a:rPr sz="1200" b="0">
                <a:solidFill>
                  <a:srgbClr val="5B6372"/>
                </a:solidFill>
                <a:latin typeface="Arial"/>
              </a:rPr>
              <a:t>snmpget reads one OID; snmpwalk traverses an entire subtree of related objects.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Trap (UDP/162)</a:t>
            </a:r>
          </a:p>
          <a:p>
            <a:pPr algn="l">
              <a:spcAft>
                <a:spcPts val="300"/>
              </a:spcAft>
            </a:pPr>
            <a:r>
              <a:rPr sz="1200" b="0">
                <a:solidFill>
                  <a:srgbClr val="5B6372"/>
                </a:solidFill>
                <a:latin typeface="Arial"/>
              </a:rPr>
              <a:t>Unsolicited notification from agent to manager when a threshold or event fires.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Versions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Version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Security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Verdict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v1</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Community string, cleartext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Legacy — do not use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v2c</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Community string, cleartext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Adds bulk gets; still unauthenticated</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v3</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User auth + encryption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only choice for production</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Exam favourite: a community string is a password sent in cleartext — v3 (authPriv) adds real authentication and privacy.</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fast" advClick="1">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SNMPv3 Security Levels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Authentication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Encryption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noAuthNoPriv</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Username only</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authNoPriv</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SHA/MD5 digest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authPriv</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SHA/MD5 digest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AES/DES — full privacy</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authPriv is the deployment target: the manager is authenticated and the polled data is encrypted in transit.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Traps vs Polls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Polling (GET, UDP/161)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Traps (UDP/162)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Manager pulls on a fixed schedule</a:t>
            </a:r>
          </a:p>
          <a:p>
            <a:pPr>
              <a:spcAft>
                <a:spcPts val="1000"/>
              </a:spcAft>
            </a:pPr>
            <a:r>
              <a:rPr sz="1600" b="0">
                <a:solidFill>
                  <a:srgbClr val="161B26"/>
                </a:solidFill>
                <a:latin typeface="Arial"/>
              </a:rPr>
              <a:t>•  Regular series — ideal for graphs</a:t>
            </a:r>
          </a:p>
          <a:p>
            <a:pPr>
              <a:spcAft>
                <a:spcPts val="1000"/>
              </a:spcAft>
            </a:pPr>
            <a:r>
              <a:rPr sz="1600" b="0">
                <a:solidFill>
                  <a:srgbClr val="161B26"/>
                </a:solidFill>
                <a:latin typeface="Arial"/>
              </a:rPr>
              <a:t>•  Misses events between polls</a:t>
            </a:r>
          </a:p>
          <a:p>
            <a:pPr>
              <a:spcAft>
                <a:spcPts val="1000"/>
              </a:spcAft>
            </a:pPr>
            <a:r>
              <a:rPr sz="1600" b="0">
                <a:solidFill>
                  <a:srgbClr val="161B26"/>
                </a:solidFill>
                <a:latin typeface="Arial"/>
              </a:rPr>
              <a:t>•  Predictable load on devices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Device pushes the moment events fire</a:t>
            </a:r>
          </a:p>
          <a:p>
            <a:pPr>
              <a:spcAft>
                <a:spcPts val="1000"/>
              </a:spcAft>
            </a:pPr>
            <a:r>
              <a:rPr sz="1600" b="0">
                <a:solidFill>
                  <a:srgbClr val="161B26"/>
                </a:solidFill>
                <a:latin typeface="Arial"/>
              </a:rPr>
              <a:t>•  Instant notification of failures</a:t>
            </a:r>
          </a:p>
          <a:p>
            <a:pPr>
              <a:spcAft>
                <a:spcPts val="1000"/>
              </a:spcAft>
            </a:pPr>
            <a:r>
              <a:rPr sz="1600" b="0">
                <a:solidFill>
                  <a:srgbClr val="161B26"/>
                </a:solidFill>
                <a:latin typeface="Arial"/>
              </a:rPr>
              <a:t>•  Fire-and-forget — can be lost</a:t>
            </a:r>
          </a:p>
          <a:p>
            <a:pPr>
              <a:spcAft>
                <a:spcPts val="1000"/>
              </a:spcAft>
            </a:pPr>
            <a:r>
              <a:rPr sz="1600" b="0">
                <a:solidFill>
                  <a:srgbClr val="161B26"/>
                </a:solidFill>
                <a:latin typeface="Arial"/>
              </a:rPr>
              <a:t>•  Informs add acknowledgement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snmpwalk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A v2c walk of the system subtree against the lab agent.</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snmpwalk -v2c -c public 127.0.0.1 system</a:t>
            </a:r>
          </a:p>
          <a:p>
            <a:pPr>
              <a:spcAft>
                <a:spcPts val="200"/>
              </a:spcAft>
            </a:pPr>
            <a:r>
              <a:rPr sz="1100">
                <a:solidFill>
                  <a:srgbClr val="D4D4D4"/>
                </a:solidFill>
                <a:latin typeface="Consolas"/>
              </a:rPr>
              <a:t>SNMPv2-MIB::sysDescr.0 = STRING: Linux ubuntu</a:t>
            </a:r>
          </a:p>
          <a:p>
            <a:pPr>
              <a:spcAft>
                <a:spcPts val="200"/>
              </a:spcAft>
            </a:pPr>
            <a:r>
              <a:rPr sz="1100">
                <a:solidFill>
                  <a:srgbClr val="9CDCFE"/>
                </a:solidFill>
                <a:latin typeface="Consolas"/>
              </a:rPr>
              <a:t>    5.15.0-91-generic x86_64</a:t>
            </a:r>
          </a:p>
          <a:p>
            <a:pPr>
              <a:spcAft>
                <a:spcPts val="200"/>
              </a:spcAft>
            </a:pPr>
            <a:r>
              <a:rPr sz="1100">
                <a:solidFill>
                  <a:srgbClr val="D4D4D4"/>
                </a:solidFill>
                <a:latin typeface="Consolas"/>
              </a:rPr>
              <a:t>SNMPv2-MIB::sysObjectID.0 = OID:</a:t>
            </a:r>
          </a:p>
          <a:p>
            <a:pPr>
              <a:spcAft>
                <a:spcPts val="200"/>
              </a:spcAft>
            </a:pPr>
            <a:r>
              <a:rPr sz="1100">
                <a:solidFill>
                  <a:srgbClr val="9CDCFE"/>
                </a:solidFill>
                <a:latin typeface="Consolas"/>
              </a:rPr>
              <a:t>    NET-SNMP-MIB::netSnmpAgentOIDs.10</a:t>
            </a:r>
          </a:p>
          <a:p>
            <a:pPr>
              <a:spcAft>
                <a:spcPts val="200"/>
              </a:spcAft>
            </a:pPr>
            <a:r>
              <a:rPr sz="1100">
                <a:solidFill>
                  <a:srgbClr val="D4D4D4"/>
                </a:solidFill>
                <a:latin typeface="Consolas"/>
              </a:rPr>
              <a:t>DISMAN-EVENT-MIB::sysUpTimeInstance =</a:t>
            </a:r>
          </a:p>
          <a:p>
            <a:pPr>
              <a:spcAft>
                <a:spcPts val="200"/>
              </a:spcAft>
            </a:pPr>
            <a:r>
              <a:rPr sz="1100">
                <a:solidFill>
                  <a:srgbClr val="9CDCFE"/>
                </a:solidFill>
                <a:latin typeface="Consolas"/>
              </a:rPr>
              <a:t>    Timeticks: (8642100) 1 day, 0:00:21.00</a:t>
            </a:r>
          </a:p>
          <a:p>
            <a:pPr>
              <a:spcAft>
                <a:spcPts val="200"/>
              </a:spcAft>
            </a:pPr>
            <a:r>
              <a:rPr sz="1100">
                <a:solidFill>
                  <a:srgbClr val="D4D4D4"/>
                </a:solidFill>
                <a:latin typeface="Consolas"/>
              </a:rPr>
              <a:t>SNMPv2-MIB::sysContact.0 = STRING: root@lab</a:t>
            </a:r>
          </a:p>
          <a:p>
            <a:pPr>
              <a:spcAft>
                <a:spcPts val="200"/>
              </a:spcAft>
            </a:pPr>
            <a:r>
              <a:rPr sz="1100">
                <a:solidFill>
                  <a:srgbClr val="D4D4D4"/>
                </a:solidFill>
                <a:latin typeface="Consolas"/>
              </a:rPr>
              <a:t>SNMPv2-MIB::sysName.0 = STRING: ubuntu</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-v2c -c public</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Version 2c with community 'public' — the credential, and it crosses the wire in cleartext.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MIB::name.0</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With MIBs installed, numeric OIDs render as names — sysDescr.0 instead of 1.3.6.1.2.1.1.1.0.</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Timeticks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sysUpTime counts hundredths of a second — a sudden reset here means the device rebooted.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 SNMP agent and poll MIB objects with snmpwalk and snmpget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snmpd on Ubuntu, configure a read-only v2c community string, then walk the system and IF-MIB subtrees to read uptime, interface names and live traffic counters — the raw data every NMS graphs.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polling-ready SNMP agent on UDP/161 answering v2c queries, plus walked system and interface OIDs.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snmpd, snmpwalk, snmpget, snmp-mibs-downloader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snmpwalk returns sysDescr/sysUpTime values and IF-MIB::ifInOctets shows a rising octet counter per interface — rerun it and watch the numbers grow.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Install the SNMP agent and client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a read-only community for loopback</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Restart the agent to load the new</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Fetch a single OID with snmpget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snmpget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Walk the per-interface traffic</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snmpwalk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 SNMP agent and poll MIB objects with snmpwalk and snmpget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snmpwalk returns sysDescr/sysUpTime values and IF-MIB::ifInOctets shows a rising octet counter per interface — rerun it and watch the numbers grow.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Timeout: No Response from 127.0.0.1</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Restart snmpd and confirm agentaddress in snmpd.conf includes udp:127.0.0.1:161.</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Output shows numeric OIDs only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snmp-mibs-downloader and comment out the 'mibs :' line in /etc/snmp/snmp.conf.</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Authentication/community failure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Community mismatch — use -c public and confirm the rocommunity line was appended to snmpd.conf.</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ransition spd="fast" advClick="1">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FLOW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Flow Data — NetFlow &amp; IPFIX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a flow is</a:t>
            </a:r>
          </a:p>
          <a:p>
            <a:pPr algn="l">
              <a:spcAft>
                <a:spcPts val="300"/>
              </a:spcAft>
            </a:pPr>
            <a:r>
              <a:rPr sz="1200" b="0">
                <a:solidFill>
                  <a:srgbClr val="5B6372"/>
                </a:solidFill>
                <a:latin typeface="Arial"/>
              </a:rPr>
              <a:t>One record per conversation: the 5-tuple plus byte, packet and duration counters — metadata, no payload.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Exporter</a:t>
            </a:r>
          </a:p>
          <a:p>
            <a:pPr algn="l">
              <a:spcAft>
                <a:spcPts val="300"/>
              </a:spcAft>
            </a:pPr>
            <a:r>
              <a:rPr sz="1200" b="0">
                <a:solidFill>
                  <a:srgbClr val="5B6372"/>
                </a:solidFill>
                <a:latin typeface="Arial"/>
              </a:rPr>
              <a:t>The router, switch or probe (fprobe in the lab) that watches traffic and emits flow records.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Collector</a:t>
            </a:r>
          </a:p>
          <a:p>
            <a:pPr algn="l">
              <a:spcAft>
                <a:spcPts val="300"/>
              </a:spcAft>
            </a:pPr>
            <a:r>
              <a:rPr sz="1200" b="0">
                <a:solidFill>
                  <a:srgbClr val="5B6372"/>
                </a:solidFill>
                <a:latin typeface="Arial"/>
              </a:rPr>
              <a:t>Receives and stores the records — nfcapd listening on UDP/9995 in the lab.</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Analyser</a:t>
            </a:r>
          </a:p>
          <a:p>
            <a:pPr algn="l">
              <a:spcAft>
                <a:spcPts val="300"/>
              </a:spcAft>
            </a:pPr>
            <a:r>
              <a:rPr sz="1200" b="0">
                <a:solidFill>
                  <a:srgbClr val="5B6372"/>
                </a:solidFill>
                <a:latin typeface="Arial"/>
              </a:rPr>
              <a:t>nfdump, ntopng or a SIEM turns stored flows into top-talker and capacity reports.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Versions</a:t>
            </a:r>
          </a:p>
          <a:p>
            <a:pPr algn="l">
              <a:spcAft>
                <a:spcPts val="300"/>
              </a:spcAft>
            </a:pPr>
            <a:r>
              <a:rPr sz="1200" b="0">
                <a:solidFill>
                  <a:srgbClr val="5B6372"/>
                </a:solidFill>
                <a:latin typeface="Arial"/>
              </a:rPr>
              <a:t>NetFlow v5 (fixed fields), v9 (templates), IPFIX (the IETF standard), sFlow (packet sampling).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vs packet capture</a:t>
            </a:r>
          </a:p>
          <a:p>
            <a:pPr algn="l">
              <a:spcAft>
                <a:spcPts val="300"/>
              </a:spcAft>
            </a:pPr>
            <a:r>
              <a:rPr sz="1200" b="0">
                <a:solidFill>
                  <a:srgbClr val="5B6372"/>
                </a:solidFill>
                <a:latin typeface="Arial"/>
              </a:rPr>
              <a:t>Flows are tiny to store and keep weeks of history; capture keeps payloads but only for minutes.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spd="fast" advClick="1">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FLOW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an nfdump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Top source IPs summarised from the lab collector's stored flows.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nfdump -R /tmp/flows -s srcip -n 3</a:t>
            </a:r>
          </a:p>
          <a:p>
            <a:pPr>
              <a:spcAft>
                <a:spcPts val="200"/>
              </a:spcAft>
            </a:pPr>
            <a:r>
              <a:rPr sz="1100">
                <a:solidFill>
                  <a:srgbClr val="9CDCFE"/>
                </a:solidFill>
                <a:latin typeface="Consolas"/>
              </a:rPr>
              <a:t>Top 3 Src IP Addr ordered by flows:</a:t>
            </a:r>
          </a:p>
          <a:p>
            <a:pPr>
              <a:spcAft>
                <a:spcPts val="200"/>
              </a:spcAft>
            </a:pPr>
            <a:r>
              <a:rPr sz="1100">
                <a:solidFill>
                  <a:srgbClr val="9CDCFE"/>
                </a:solidFill>
                <a:latin typeface="Consolas"/>
              </a:rPr>
              <a:t>Date first seen    Src IP Addr  Flows  Bytes</a:t>
            </a:r>
          </a:p>
          <a:p>
            <a:pPr>
              <a:spcAft>
                <a:spcPts val="200"/>
              </a:spcAft>
            </a:pPr>
            <a:r>
              <a:rPr sz="1100">
                <a:solidFill>
                  <a:srgbClr val="9CDCFE"/>
                </a:solidFill>
                <a:latin typeface="Consolas"/>
              </a:rPr>
              <a:t>09:12:04 2026      10.0.0.15      142  8.1 M</a:t>
            </a:r>
          </a:p>
          <a:p>
            <a:pPr>
              <a:spcAft>
                <a:spcPts val="200"/>
              </a:spcAft>
            </a:pPr>
            <a:r>
              <a:rPr sz="1100">
                <a:solidFill>
                  <a:srgbClr val="9CDCFE"/>
                </a:solidFill>
                <a:latin typeface="Consolas"/>
              </a:rPr>
              <a:t>09:12:31 2026      10.0.0.22       57  1.2 M</a:t>
            </a:r>
          </a:p>
          <a:p>
            <a:pPr>
              <a:spcAft>
                <a:spcPts val="200"/>
              </a:spcAft>
            </a:pPr>
            <a:r>
              <a:rPr sz="1100">
                <a:solidFill>
                  <a:srgbClr val="9CDCFE"/>
                </a:solidFill>
                <a:latin typeface="Consolas"/>
              </a:rPr>
              <a:t>09:13:02 2026      8.8.8.8         12   4560</a:t>
            </a:r>
          </a:p>
          <a:p>
            <a:pPr>
              <a:spcAft>
                <a:spcPts val="200"/>
              </a:spcAft>
            </a:pPr>
            <a:r>
              <a:rPr sz="1100">
                <a:solidFill>
                  <a:srgbClr val="9CDCFE"/>
                </a:solidFill>
                <a:latin typeface="Consolas"/>
              </a:rPr>
              <a:t>Summary: total flows: 211, bytes: 9.4 M</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 srcip</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Aggregate by source IP — an instant top-talkers list for capacity or incident work.</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Flows vs Bytes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Many flows with few bytes suggests scanning; few flows with huge bytes means bulk transfer.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 /tmp/flows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Reads every rolled capture file in the directory — flow history is just files on disk.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PACKET CAPTURE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Packet Capture &amp; Port Mirroring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 mirroring (SPAN)</a:t>
            </a:r>
          </a:p>
          <a:p>
            <a:pPr algn="l">
              <a:spcAft>
                <a:spcPts val="300"/>
              </a:spcAft>
            </a:pPr>
            <a:r>
              <a:rPr sz="1200" b="0">
                <a:solidFill>
                  <a:srgbClr val="5B6372"/>
                </a:solidFill>
                <a:latin typeface="Arial"/>
              </a:rPr>
              <a:t>The switch copies frames from chosen ports or VLANs to an analyser port — capture without touching the path.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Network TAP</a:t>
            </a:r>
          </a:p>
          <a:p>
            <a:pPr algn="l">
              <a:spcAft>
                <a:spcPts val="300"/>
              </a:spcAft>
            </a:pPr>
            <a:r>
              <a:rPr sz="1200" b="0">
                <a:solidFill>
                  <a:srgbClr val="5B6372"/>
                </a:solidFill>
                <a:latin typeface="Arial"/>
              </a:rPr>
              <a:t>Inline hardware splits the signal to a monitor port — sees every bit, including errors SPAN may drop.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Full capture</a:t>
            </a:r>
          </a:p>
          <a:p>
            <a:pPr algn="l">
              <a:spcAft>
                <a:spcPts val="300"/>
              </a:spcAft>
            </a:pPr>
            <a:r>
              <a:rPr sz="1200" b="0">
                <a:solidFill>
                  <a:srgbClr val="5B6372"/>
                </a:solidFill>
                <a:latin typeface="Arial"/>
              </a:rPr>
              <a:t>tcpdump and Wireshark record whole packets, payloads included — storage-hungry, deepest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Choosing the tool</a:t>
            </a:r>
          </a:p>
          <a:p>
            <a:pPr algn="l">
              <a:spcAft>
                <a:spcPts val="300"/>
              </a:spcAft>
            </a:pPr>
            <a:r>
              <a:rPr sz="1200" b="0">
                <a:solidFill>
                  <a:srgbClr val="5B6372"/>
                </a:solidFill>
                <a:latin typeface="Arial"/>
              </a:rPr>
              <a:t>Flows for trends and history, capture for deep dives — mirror only what you must, only as long as you must.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fast" advClick="1">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NetFlow Analysis with nfdump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Export, collect and analyse flow data to find top talkers and busiest ports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Run a flow exporter (fprobe) and collector (nfcapd) on one VM, generate web and ICMP traffic, then use nfdump to build top-talker and destination-port reports from the captured flow records.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exporter-to-collector NetFlow v5 pipeline with nfdump top-N reports of your own traffic.</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fprobe, nfcapd, nfdump, curl, ping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nfdump -R /tmp/flows -s srcip lists your VM as a top talker and -s dstport shows ports 443 and ICMP traffic from the curl and ping you generated.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spd="fast" advClick="1">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Install the flow collector and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Start fprobe exporting NetFlow v5</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fprobe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web and ICMP traffic to</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curl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Wait for the collector to roll a file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sleep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Stop the exporter and collector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pkill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Export, collect and analyse flow data to find top talkers and busiest ports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NetFlow Analysis with nfdump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nfdump -R /tmp/flows -s srcip lists your VM as a top talker and -s dstport shows ports 443 and ICMP traffic from the curl and ping you generated.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nfdump: no matched flows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Wait the full 60 s — nfcapd only rolls a readable file every rotation interval.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Collector directory is empty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fprobe points at 127.0.0.1:9995 and nfcapd is running with -p 9995 (check with ps).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fprobe: no such device eth0</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List interfaces with ip link and start fprobe against the VM's actual NIC name.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transition spd="fast" advClick="1">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LOG AGGREGATION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Aggregation with Syslog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centralise</a:t>
            </a:r>
          </a:p>
          <a:p>
            <a:pPr algn="l">
              <a:spcAft>
                <a:spcPts val="300"/>
              </a:spcAft>
            </a:pPr>
            <a:r>
              <a:rPr sz="1200" b="0">
                <a:solidFill>
                  <a:srgbClr val="5B6372"/>
                </a:solidFill>
                <a:latin typeface="Arial"/>
              </a:rPr>
              <a:t>Logs on a failed or compromised device are gone; on a collector they survive and can be correlated.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Syslog transport</a:t>
            </a:r>
          </a:p>
          <a:p>
            <a:pPr algn="l">
              <a:spcAft>
                <a:spcPts val="300"/>
              </a:spcAft>
            </a:pPr>
            <a:r>
              <a:rPr sz="1200" b="0">
                <a:solidFill>
                  <a:srgbClr val="5B6372"/>
                </a:solidFill>
                <a:latin typeface="Arial"/>
              </a:rPr>
              <a:t>UDP/514 classic, TCP/514 for reliable delivery, TLS on TCP/6514 for confidentiality.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Facility.severity</a:t>
            </a:r>
          </a:p>
          <a:p>
            <a:pPr algn="l">
              <a:spcAft>
                <a:spcPts val="300"/>
              </a:spcAft>
            </a:pPr>
            <a:r>
              <a:rPr sz="1200" b="0">
                <a:solidFill>
                  <a:srgbClr val="5B6372"/>
                </a:solidFill>
                <a:latin typeface="Arial"/>
              </a:rPr>
              <a:t>Every message carries both tags — auth.warning, local0.info — and selectors route on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Collector</a:t>
            </a:r>
          </a:p>
          <a:p>
            <a:pPr algn="l">
              <a:spcAft>
                <a:spcPts val="300"/>
              </a:spcAft>
            </a:pPr>
            <a:r>
              <a:rPr sz="1200" b="0">
                <a:solidFill>
                  <a:srgbClr val="5B6372"/>
                </a:solidFill>
                <a:latin typeface="Arial"/>
              </a:rPr>
              <a:t>rsyslog or syslog-ng receives, filters and stores; the SIEM ingests from there.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Retention &amp; WORM</a:t>
            </a:r>
          </a:p>
          <a:p>
            <a:pPr algn="l">
              <a:spcAft>
                <a:spcPts val="300"/>
              </a:spcAft>
            </a:pPr>
            <a:r>
              <a:rPr sz="1200" b="0">
                <a:solidFill>
                  <a:srgbClr val="5B6372"/>
                </a:solidFill>
                <a:latin typeface="Arial"/>
              </a:rPr>
              <a:t>Keep logs long enough for compliance and incident timelines; write-once storage resists tampering.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the pipeline</a:t>
            </a:r>
          </a:p>
          <a:p>
            <a:pPr algn="l">
              <a:spcAft>
                <a:spcPts val="300"/>
              </a:spcAft>
            </a:pPr>
            <a:r>
              <a:rPr sz="1200" b="0">
                <a:solidFill>
                  <a:srgbClr val="5B6372"/>
                </a:solidFill>
                <a:latin typeface="Arial"/>
              </a:rPr>
              <a:t>logger injects an event end-to-end — prove forwarding works before an incident depends on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transition spd="fast" advClick="1">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LOG AGGREGATION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Syslog Severity Levels 0-7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Keyword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0</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emergency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System unusable — all hands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2</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alert / critical</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Act immediately / critical fault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4</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error / warning</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Failures and conditions to review</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6</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notice / info</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Significant-but-normal / routine events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7</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debug</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Verbose troubleshooting output</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Lower number = more severe. Logging 'at level 4' collects 0-4; debug is switched on only while you troubleshoot.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transition spd="fast" advClick="1">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3.2 · SIEM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SIEM — Aggregate, Correlate, Alert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Aggregation</a:t>
            </a:r>
          </a:p>
          <a:p>
            <a:pPr algn="l">
              <a:spcAft>
                <a:spcPts val="300"/>
              </a:spcAft>
            </a:pPr>
            <a:r>
              <a:rPr sz="1200" b="0">
                <a:solidFill>
                  <a:srgbClr val="5B6372"/>
                </a:solidFill>
                <a:latin typeface="Arial"/>
              </a:rPr>
              <a:t>One searchable store for logs, flows and alerts from every source in the estate.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Correlation</a:t>
            </a:r>
          </a:p>
          <a:p>
            <a:pPr algn="l">
              <a:spcAft>
                <a:spcPts val="300"/>
              </a:spcAft>
            </a:pPr>
            <a:r>
              <a:rPr sz="1200" b="0">
                <a:solidFill>
                  <a:srgbClr val="5B6372"/>
                </a:solidFill>
                <a:latin typeface="Arial"/>
              </a:rPr>
              <a:t>Links related events across systems — one failed login is noise; 500 across 20 hosts is an attack.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Alerting</a:t>
            </a:r>
          </a:p>
          <a:p>
            <a:pPr algn="l">
              <a:spcAft>
                <a:spcPts val="300"/>
              </a:spcAft>
            </a:pPr>
            <a:r>
              <a:rPr sz="1200" b="0">
                <a:solidFill>
                  <a:srgbClr val="5B6372"/>
                </a:solidFill>
                <a:latin typeface="Arial"/>
              </a:rPr>
              <a:t>Configurable triggers and thresholds notify the on-call the moment a pattern fires.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WORM storage</a:t>
            </a:r>
          </a:p>
          <a:p>
            <a:pPr algn="l">
              <a:spcAft>
                <a:spcPts val="300"/>
              </a:spcAft>
            </a:pPr>
            <a:r>
              <a:rPr sz="1200" b="0">
                <a:solidFill>
                  <a:srgbClr val="5B6372"/>
                </a:solidFill>
                <a:latin typeface="Arial"/>
              </a:rPr>
              <a:t>Write once, read many — evidence-grade log storage that cannot be quietly edited.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transition spd="fast" advClick="1">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LOG AGGREGATION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Working the Aggregated 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grep / grep -E</a:t>
            </a:r>
          </a:p>
          <a:p>
            <a:pPr algn="l">
              <a:spcAft>
                <a:spcPts val="300"/>
              </a:spcAft>
            </a:pPr>
            <a:r>
              <a:rPr sz="1200" b="0">
                <a:solidFill>
                  <a:srgbClr val="5B6372"/>
                </a:solidFill>
                <a:latin typeface="Arial"/>
              </a:rPr>
              <a:t>First-line analysis — filter the collector's log by host, tag, severity or pattern.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Regular expressions</a:t>
            </a:r>
          </a:p>
          <a:p>
            <a:pPr algn="l">
              <a:spcAft>
                <a:spcPts val="300"/>
              </a:spcAft>
            </a:pPr>
            <a:r>
              <a:rPr sz="1200" b="0">
                <a:solidFill>
                  <a:srgbClr val="5B6372"/>
                </a:solidFill>
                <a:latin typeface="Arial"/>
              </a:rPr>
              <a:t>Match classes of events, not single strings — build and test them in the TIS Regex Generator, then run with grep -E.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logger</a:t>
            </a:r>
          </a:p>
          <a:p>
            <a:pPr algn="l">
              <a:spcAft>
                <a:spcPts val="300"/>
              </a:spcAft>
            </a:pPr>
            <a:r>
              <a:rPr sz="1200" b="0">
                <a:solidFill>
                  <a:srgbClr val="5B6372"/>
                </a:solidFill>
                <a:latin typeface="Arial"/>
              </a:rPr>
              <a:t>Injects labelled test events (-p local0.info) so you can verify routing rules safely.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Structured logging</a:t>
            </a:r>
          </a:p>
          <a:p>
            <a:pPr algn="l">
              <a:spcAft>
                <a:spcPts val="300"/>
              </a:spcAft>
            </a:pPr>
            <a:r>
              <a:rPr sz="1200" b="0">
                <a:solidFill>
                  <a:srgbClr val="5B6372"/>
                </a:solidFill>
                <a:latin typeface="Arial"/>
              </a:rPr>
              <a:t>JSON output and APIs feed parsers directly, replacing fragile text scraping.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transition spd="fast" advClick="1">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Centralised Logging with Rsyslog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syslog forwarding pipeline and filter aggregated events by severity and pattern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Configure rsyslog to receive on TCP/514 and forward to itself over loopback, inject test events with logger, then verify and filter the aggregated log — including a regex built in the TIS Regex Generator.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send-and-receive rsyslog collector on TCP/514 with verified test events and regex-filtered output.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rsyslog, logger, ss, grep -E, TIS Regex Generator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ss shows rsyslog listening on :514, grep finds the injected 'Network+ Lab 17 test event' in /var/log/syslog, and your grep -E regex from the TIS Regex Generator matches it too.</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transition spd="fast" advClick="1">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Enable the imtcp receiver module in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sed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Forward every event to the collector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Restart rsyslog and confirm the 514</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Inject a test event with an explicit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logger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Build a regex in the TIS Regex</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grep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syslog forwarding pipeline and filter aggregated events by severity and pattern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Centralised Logging with Rsyslog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ss shows rsyslog listening on :514, grep finds the injected 'Network+ Lab 17 test event' in /var/log/syslog, and your grep -E regex from the TIS Regex Generator matches it too.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listening on port 514</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Both sed edits must apply — recheck rsyslog.conf uncommented imtcp lines, then restart rsyslog.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event missing from syslog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logger without -p first; then check /etc/rsyslog.d/50-forward.conf uses @@127.0.0.1:514.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grep -E returns no matches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Test the regex in the TIS Regex Generator against a pasted log line before using it with grep.</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transition spd="fast" advClick="1">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3.4 · NETWORK SERVICES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quiet services every network leans 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DHCP hands out addresses, DNS resolves names, NTP keeps every clock honest — and when any of them wobbles, everything else looks broken.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transition spd="fast" advClick="1">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The pool of addresses the server may lease on one subnet, minus any exclusions.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Lease</a:t>
            </a:r>
          </a:p>
          <a:p>
            <a:pPr algn="l">
              <a:spcAft>
                <a:spcPts val="300"/>
              </a:spcAft>
            </a:pPr>
            <a:r>
              <a:rPr sz="1200" b="0">
                <a:solidFill>
                  <a:srgbClr val="5B6372"/>
                </a:solidFill>
                <a:latin typeface="Arial"/>
              </a:rPr>
              <a:t>An address is borrowed, not owned — the client renews at 50% of the lease time.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Reservation</a:t>
            </a:r>
          </a:p>
          <a:p>
            <a:pPr algn="l">
              <a:spcAft>
                <a:spcPts val="300"/>
              </a:spcAft>
            </a:pPr>
            <a:r>
              <a:rPr sz="1200" b="0">
                <a:solidFill>
                  <a:srgbClr val="5B6372"/>
                </a:solidFill>
                <a:latin typeface="Arial"/>
              </a:rPr>
              <a:t>A fixed IP bound to a MAC address — printers and servers get the same address every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Options</a:t>
            </a:r>
          </a:p>
          <a:p>
            <a:pPr algn="l">
              <a:spcAft>
                <a:spcPts val="300"/>
              </a:spcAft>
            </a:pPr>
            <a:r>
              <a:rPr sz="1200" b="0">
                <a:solidFill>
                  <a:srgbClr val="5B6372"/>
                </a:solidFill>
                <a:latin typeface="Arial"/>
              </a:rPr>
              <a:t>Extras pushed with the lease: router (3), DNS (6), domain name (15), TFTP for phones (66).</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Relay / IP helper</a:t>
            </a:r>
          </a:p>
          <a:p>
            <a:pPr algn="l">
              <a:spcAft>
                <a:spcPts val="300"/>
              </a:spcAft>
            </a:pPr>
            <a:r>
              <a:rPr sz="1200" b="0">
                <a:solidFill>
                  <a:srgbClr val="5B6372"/>
                </a:solidFill>
                <a:latin typeface="Arial"/>
              </a:rPr>
              <a:t>A router forwards the local DHCP broadcast as unicast to a central server on another subnet.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Exclusions</a:t>
            </a:r>
          </a:p>
          <a:p>
            <a:pPr algn="l">
              <a:spcAft>
                <a:spcPts val="300"/>
              </a:spcAft>
            </a:pPr>
            <a:r>
              <a:rPr sz="1200" b="0">
                <a:solidFill>
                  <a:srgbClr val="5B6372"/>
                </a:solidFill>
                <a:latin typeface="Arial"/>
              </a:rPr>
              <a:t>Addresses inside the range the server must never hand out — statics live here.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transition spd="fast" advClick="1">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DORA — the DHCP Handshake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Discover</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broadcasts</a:t>
            </a:r>
          </a:p>
        </p:txBody>
      </p:sp>
      <p:cxnSp>
        <p:nvCxnSpPr>
          <p:cNvPr id="13" name="Connector 12"/>
          <p:cNvCxnSpPr/>
          <p:nvPr/>
        </p:nvCxnSpPr>
        <p:spPr>
          <a:xfrm>
            <a:off x="3202686"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Offer</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server proposes an IP</a:t>
            </a:r>
          </a:p>
        </p:txBody>
      </p:sp>
      <p:cxnSp>
        <p:nvCxnSpPr>
          <p:cNvPr id="20" name="Connector 19"/>
          <p:cNvCxnSpPr/>
          <p:nvPr/>
        </p:nvCxnSpPr>
        <p:spPr>
          <a:xfrm>
            <a:off x="5957316"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accepts one</a:t>
            </a:r>
          </a:p>
        </p:txBody>
      </p:sp>
      <p:cxnSp>
        <p:nvCxnSpPr>
          <p:cNvPr id="27" name="Connector 26"/>
          <p:cNvCxnSpPr/>
          <p:nvPr/>
        </p:nvCxnSpPr>
        <p:spPr>
          <a:xfrm>
            <a:off x="8711946"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Acknowledge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lease confirmed</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DORA runs as broadcast — without a relay agent (IP helper) it can never cross a router to reach a centralised DHCP server.</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dhcpd.conf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A minimal ISC DHCP scope with one reservation.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subnet 192.168.10.0 netmask 255.255.255.0 {</a:t>
            </a:r>
          </a:p>
          <a:p>
            <a:pPr>
              <a:spcAft>
                <a:spcPts val="200"/>
              </a:spcAft>
            </a:pPr>
            <a:r>
              <a:rPr sz="1100">
                <a:solidFill>
                  <a:srgbClr val="9CDCFE"/>
                </a:solidFill>
                <a:latin typeface="Consolas"/>
              </a:rPr>
              <a:t>  range 192.168.10.100 192.168.10.199;</a:t>
            </a:r>
          </a:p>
          <a:p>
            <a:pPr>
              <a:spcAft>
                <a:spcPts val="200"/>
              </a:spcAft>
            </a:pPr>
            <a:r>
              <a:rPr sz="1100">
                <a:solidFill>
                  <a:srgbClr val="9CDCFE"/>
                </a:solidFill>
                <a:latin typeface="Consolas"/>
              </a:rPr>
              <a:t>  option routers 192.168.10.1;</a:t>
            </a:r>
          </a:p>
          <a:p>
            <a:pPr>
              <a:spcAft>
                <a:spcPts val="200"/>
              </a:spcAft>
            </a:pPr>
            <a:r>
              <a:rPr sz="1100">
                <a:solidFill>
                  <a:srgbClr val="9CDCFE"/>
                </a:solidFill>
                <a:latin typeface="Consolas"/>
              </a:rPr>
              <a:t>  option domain-name-servers 9.9.9.9;</a:t>
            </a:r>
          </a:p>
          <a:p>
            <a:pPr>
              <a:spcAft>
                <a:spcPts val="200"/>
              </a:spcAft>
            </a:pPr>
            <a:r>
              <a:rPr sz="1100">
                <a:solidFill>
                  <a:srgbClr val="9CDCFE"/>
                </a:solidFill>
                <a:latin typeface="Consolas"/>
              </a:rPr>
              <a:t>  default-lease-time 86400;</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host printer1 {</a:t>
            </a:r>
          </a:p>
          <a:p>
            <a:pPr>
              <a:spcAft>
                <a:spcPts val="200"/>
              </a:spcAft>
            </a:pPr>
            <a:r>
              <a:rPr sz="1100">
                <a:solidFill>
                  <a:srgbClr val="9CDCFE"/>
                </a:solidFill>
                <a:latin typeface="Consolas"/>
              </a:rPr>
              <a:t>  hardware ethernet 00:11:22:33:44:55;</a:t>
            </a:r>
          </a:p>
          <a:p>
            <a:pPr>
              <a:spcAft>
                <a:spcPts val="200"/>
              </a:spcAft>
            </a:pPr>
            <a:r>
              <a:rPr sz="1100">
                <a:solidFill>
                  <a:srgbClr val="9CDCFE"/>
                </a:solidFill>
                <a:latin typeface="Consolas"/>
              </a:rPr>
              <a:t>  fixed-address 192.168.10.50;</a:t>
            </a:r>
          </a:p>
          <a:p>
            <a:pPr>
              <a:spcAft>
                <a:spcPts val="200"/>
              </a:spcAft>
            </a:pPr>
            <a:r>
              <a:rPr sz="1100">
                <a:solidFill>
                  <a:srgbClr val="9CDCFE"/>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range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scope: only .100-.199 are leased; .2-.99 stay free for statics and reservations.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option lines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DHCP options 3 and 6 — the default gateway and DNS server pushed with every lease.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host block</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reservation: the client with this MAC always receives 192.168.10.50.</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transition spd="fast" advClick="1">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Reservation vs Static Assignment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DHCP reservation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Static configuration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Configured centrally on the server</a:t>
            </a:r>
          </a:p>
          <a:p>
            <a:pPr>
              <a:spcAft>
                <a:spcPts val="1000"/>
              </a:spcAft>
            </a:pPr>
            <a:r>
              <a:rPr sz="1600" b="0">
                <a:solidFill>
                  <a:srgbClr val="161B26"/>
                </a:solidFill>
                <a:latin typeface="Arial"/>
              </a:rPr>
              <a:t>•  Device still runs plain DHCP</a:t>
            </a:r>
          </a:p>
          <a:p>
            <a:pPr>
              <a:spcAft>
                <a:spcPts val="1000"/>
              </a:spcAft>
            </a:pPr>
            <a:r>
              <a:rPr sz="1600" b="0">
                <a:solidFill>
                  <a:srgbClr val="161B26"/>
                </a:solidFill>
                <a:latin typeface="Arial"/>
              </a:rPr>
              <a:t>•  Options update from one place</a:t>
            </a:r>
          </a:p>
          <a:p>
            <a:pPr>
              <a:spcAft>
                <a:spcPts val="1000"/>
              </a:spcAft>
            </a:pPr>
            <a:r>
              <a:rPr sz="1600" b="0">
                <a:solidFill>
                  <a:srgbClr val="161B26"/>
                </a:solidFill>
                <a:latin typeface="Arial"/>
              </a:rPr>
              <a:t>•  Survives device re-imaging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Typed into the device itself</a:t>
            </a:r>
          </a:p>
          <a:p>
            <a:pPr>
              <a:spcAft>
                <a:spcPts val="1000"/>
              </a:spcAft>
            </a:pPr>
            <a:r>
              <a:rPr sz="1600" b="0">
                <a:solidFill>
                  <a:srgbClr val="161B26"/>
                </a:solidFill>
                <a:latin typeface="Arial"/>
              </a:rPr>
              <a:t>•  Works with no DHCP server at all</a:t>
            </a:r>
          </a:p>
          <a:p>
            <a:pPr>
              <a:spcAft>
                <a:spcPts val="1000"/>
              </a:spcAft>
            </a:pPr>
            <a:r>
              <a:rPr sz="1600" b="0">
                <a:solidFill>
                  <a:srgbClr val="161B26"/>
                </a:solidFill>
                <a:latin typeface="Arial"/>
              </a:rPr>
              <a:t>•  Every change is a device visit</a:t>
            </a:r>
          </a:p>
          <a:p>
            <a:pPr>
              <a:spcAft>
                <a:spcPts val="1000"/>
              </a:spcAft>
            </a:pPr>
            <a:r>
              <a:rPr sz="1600" b="0">
                <a:solidFill>
                  <a:srgbClr val="161B26"/>
                </a:solidFill>
                <a:latin typeface="Arial"/>
              </a:rPr>
              <a:t>•  Right for routers, core switches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transition spd="fast" advClick="1">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SLAAC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SLAAC — Addressing Without a 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Router Advertisement</a:t>
            </a:r>
          </a:p>
          <a:p>
            <a:pPr algn="l">
              <a:spcAft>
                <a:spcPts val="300"/>
              </a:spcAft>
            </a:pPr>
            <a:r>
              <a:rPr sz="1200" b="0">
                <a:solidFill>
                  <a:srgbClr val="5B6372"/>
                </a:solidFill>
                <a:latin typeface="Arial"/>
              </a:rPr>
              <a:t>IPv6 routers advertise the /64 prefix; hosts solicit and listen for RAs at startup.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Self-generated address</a:t>
            </a:r>
          </a:p>
          <a:p>
            <a:pPr algn="l">
              <a:spcAft>
                <a:spcPts val="300"/>
              </a:spcAft>
            </a:pPr>
            <a:r>
              <a:rPr sz="1200" b="0">
                <a:solidFill>
                  <a:srgbClr val="5B6372"/>
                </a:solidFill>
                <a:latin typeface="Arial"/>
              </a:rPr>
              <a:t>The host builds its own address from the prefix plus EUI-64 or a random identifier.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DAD</a:t>
            </a:r>
          </a:p>
          <a:p>
            <a:pPr algn="l">
              <a:spcAft>
                <a:spcPts val="300"/>
              </a:spcAft>
            </a:pPr>
            <a:r>
              <a:rPr sz="1200" b="0">
                <a:solidFill>
                  <a:srgbClr val="5B6372"/>
                </a:solidFill>
                <a:latin typeface="Arial"/>
              </a:rPr>
              <a:t>Duplicate Address Detection confirms no other node already holds the address.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DHCPv6 still exists</a:t>
            </a:r>
          </a:p>
          <a:p>
            <a:pPr algn="l">
              <a:spcAft>
                <a:spcPts val="300"/>
              </a:spcAft>
            </a:pPr>
            <a:r>
              <a:rPr sz="1200" b="0">
                <a:solidFill>
                  <a:srgbClr val="5B6372"/>
                </a:solidFill>
                <a:latin typeface="Arial"/>
              </a:rPr>
              <a:t>Stateful DHCPv6 or the RA 'other config' flag supplies DNS and options when SLAAC alone is not enough.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transition spd="fast" advClick="1">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Authoritative server</a:t>
            </a:r>
          </a:p>
          <a:p>
            <a:pPr algn="l">
              <a:spcAft>
                <a:spcPts val="300"/>
              </a:spcAft>
            </a:pPr>
            <a:r>
              <a:rPr sz="1200" b="0">
                <a:solidFill>
                  <a:srgbClr val="5B6372"/>
                </a:solidFill>
                <a:latin typeface="Arial"/>
              </a:rPr>
              <a:t>Holds the zone data and answers for it definitively — the source of truth for a domain.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Recursive resolver</a:t>
            </a:r>
          </a:p>
          <a:p>
            <a:pPr algn="l">
              <a:spcAft>
                <a:spcPts val="300"/>
              </a:spcAft>
            </a:pPr>
            <a:r>
              <a:rPr sz="1200" b="0">
                <a:solidFill>
                  <a:srgbClr val="5B6372"/>
                </a:solidFill>
                <a:latin typeface="Arial"/>
              </a:rPr>
              <a:t>Chases the answer through root, TLD and authoritative servers on the client's behalf, then caches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zone</a:t>
            </a:r>
          </a:p>
          <a:p>
            <a:pPr algn="l">
              <a:spcAft>
                <a:spcPts val="300"/>
              </a:spcAft>
            </a:pPr>
            <a:r>
              <a:rPr sz="1200" b="0">
                <a:solidFill>
                  <a:srgbClr val="5B6372"/>
                </a:solidFill>
                <a:latin typeface="Arial"/>
              </a:rPr>
              <a:t>The writable copy of the zone, edited on the primary server.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Secondary zone</a:t>
            </a:r>
          </a:p>
          <a:p>
            <a:pPr algn="l">
              <a:spcAft>
                <a:spcPts val="300"/>
              </a:spcAft>
            </a:pPr>
            <a:r>
              <a:rPr sz="1200" b="0">
                <a:solidFill>
                  <a:srgbClr val="5B6372"/>
                </a:solidFill>
                <a:latin typeface="Arial"/>
              </a:rPr>
              <a:t>Read-only replicas kept in sync by zone transfer (AXFR/IXFR) for redundancy.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Zone file &amp; SOA</a:t>
            </a:r>
          </a:p>
          <a:p>
            <a:pPr algn="l">
              <a:spcAft>
                <a:spcPts val="300"/>
              </a:spcAft>
            </a:pPr>
            <a:r>
              <a:rPr sz="1200" b="0">
                <a:solidFill>
                  <a:srgbClr val="5B6372"/>
                </a:solidFill>
                <a:latin typeface="Arial"/>
              </a:rPr>
              <a:t>The records for one domain; the SOA serial number versions every change.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TTL</a:t>
            </a:r>
          </a:p>
          <a:p>
            <a:pPr algn="l">
              <a:spcAft>
                <a:spcPts val="300"/>
              </a:spcAft>
            </a:pPr>
            <a:r>
              <a:rPr sz="1200" b="0">
                <a:solidFill>
                  <a:srgbClr val="5B6372"/>
                </a:solidFill>
                <a:latin typeface="Arial"/>
              </a:rPr>
              <a:t>How long resolvers may cache an answer — long TTLs cut load but slow down migrations.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transition spd="fast" advClick="1">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Authoritative vs Recursive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Authoritative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Recursive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Owns the zone's records</a:t>
            </a:r>
          </a:p>
          <a:p>
            <a:pPr>
              <a:spcAft>
                <a:spcPts val="1000"/>
              </a:spcAft>
            </a:pPr>
            <a:r>
              <a:rPr sz="1600" b="0">
                <a:solidFill>
                  <a:srgbClr val="161B26"/>
                </a:solidFill>
                <a:latin typeface="Arial"/>
              </a:rPr>
              <a:t>•  Answers only for its own domains</a:t>
            </a:r>
          </a:p>
          <a:p>
            <a:pPr>
              <a:spcAft>
                <a:spcPts val="1000"/>
              </a:spcAft>
            </a:pPr>
            <a:r>
              <a:rPr sz="1600" b="0">
                <a:solidFill>
                  <a:srgbClr val="161B26"/>
                </a:solidFill>
                <a:latin typeface="Arial"/>
              </a:rPr>
              <a:t>•  Run where your zones live</a:t>
            </a:r>
          </a:p>
          <a:p>
            <a:pPr>
              <a:spcAft>
                <a:spcPts val="1000"/>
              </a:spcAft>
            </a:pPr>
            <a:r>
              <a:rPr sz="1600" b="0">
                <a:solidFill>
                  <a:srgbClr val="161B26"/>
                </a:solidFill>
                <a:latin typeface="Arial"/>
              </a:rPr>
              <a:t>•  Compromise = forged records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Owns no records — resolves and caches</a:t>
            </a:r>
          </a:p>
          <a:p>
            <a:pPr>
              <a:spcAft>
                <a:spcPts val="1000"/>
              </a:spcAft>
            </a:pPr>
            <a:r>
              <a:rPr sz="1600" b="0">
                <a:solidFill>
                  <a:srgbClr val="161B26"/>
                </a:solidFill>
                <a:latin typeface="Arial"/>
              </a:rPr>
              <a:t>•  Answers anything for its clients</a:t>
            </a:r>
          </a:p>
          <a:p>
            <a:pPr>
              <a:spcAft>
                <a:spcPts val="1000"/>
              </a:spcAft>
            </a:pPr>
            <a:r>
              <a:rPr sz="1600" b="0">
                <a:solidFill>
                  <a:srgbClr val="161B26"/>
                </a:solidFill>
                <a:latin typeface="Arial"/>
              </a:rPr>
              <a:t>•  Run near users (ISP, 1.1.1.1, 8.8.8.8)</a:t>
            </a:r>
          </a:p>
          <a:p>
            <a:pPr>
              <a:spcAft>
                <a:spcPts val="1000"/>
              </a:spcAft>
            </a:pPr>
            <a:r>
              <a:rPr sz="1600" b="0">
                <a:solidFill>
                  <a:srgbClr val="161B26"/>
                </a:solidFill>
                <a:latin typeface="Arial"/>
              </a:rPr>
              <a:t>•  Compromise = poisoned cache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transition spd="fast" advClick="1">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 —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Record</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Maps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Note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 / AAAA</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to IPv4 / IPv6</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workhorse records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CNAME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Alias to canonical name</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Never at the zone apex</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MX</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Domain to mail server</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Priority number picks order</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PTR</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IP back to name</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Reverse DNS; mail filters check it</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TXT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to free text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SPF, DKIM, site verification</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NS / SOA</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Zone to its servers</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Delegation and zone authority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Domain 1 covered the records; Domain 3 asks who answers — authoritative vs recursive, primary vs secondary.</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transition spd="fast" advClick="1">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3.4 · TIME SYNCHRONISATION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 Services — NTP, PTP, 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time matters</a:t>
            </a:r>
          </a:p>
          <a:p>
            <a:pPr algn="l">
              <a:spcAft>
                <a:spcPts val="300"/>
              </a:spcAft>
            </a:pPr>
            <a:r>
              <a:rPr sz="1200" b="0">
                <a:solidFill>
                  <a:srgbClr val="5B6372"/>
                </a:solidFill>
                <a:latin typeface="Arial"/>
              </a:rPr>
              <a:t>Logs, certificates, Kerberos and SIEM correlation all break when clocks drift apart.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NTP (UDP/123)</a:t>
            </a:r>
          </a:p>
          <a:p>
            <a:pPr algn="l">
              <a:spcAft>
                <a:spcPts val="300"/>
              </a:spcAft>
            </a:pPr>
            <a:r>
              <a:rPr sz="1200" b="0">
                <a:solidFill>
                  <a:srgbClr val="5B6372"/>
                </a:solidFill>
                <a:latin typeface="Arial"/>
              </a:rPr>
              <a:t>Polls reference servers and gradually disciplines the local clock toward true time.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Stratum hierarchy</a:t>
            </a:r>
          </a:p>
          <a:p>
            <a:pPr algn="l">
              <a:spcAft>
                <a:spcPts val="300"/>
              </a:spcAft>
            </a:pPr>
            <a:r>
              <a:rPr sz="1200" b="0">
                <a:solidFill>
                  <a:srgbClr val="5B6372"/>
                </a:solidFill>
                <a:latin typeface="Arial"/>
              </a:rPr>
              <a:t>Distance from the reference clock — each hop from stratum 0 hardware adds 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Multiple sources</a:t>
            </a:r>
          </a:p>
          <a:p>
            <a:pPr algn="l">
              <a:spcAft>
                <a:spcPts val="300"/>
              </a:spcAft>
            </a:pPr>
            <a:r>
              <a:rPr sz="1200" b="0">
                <a:solidFill>
                  <a:srgbClr val="5B6372"/>
                </a:solidFill>
                <a:latin typeface="Arial"/>
              </a:rPr>
              <a:t>Clients compare several upstream servers and vote out 'falsetickers' before trusting any.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PTP (IEEE 1588)</a:t>
            </a:r>
          </a:p>
          <a:p>
            <a:pPr algn="l">
              <a:spcAft>
                <a:spcPts val="300"/>
              </a:spcAft>
            </a:pPr>
            <a:r>
              <a:rPr sz="1200" b="0">
                <a:solidFill>
                  <a:srgbClr val="5B6372"/>
                </a:solidFill>
                <a:latin typeface="Arial"/>
              </a:rPr>
              <a:t>Precision Time Protocol — hardware timestamping for sub-microsecond accuracy in finance and telecom.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NTS</a:t>
            </a:r>
          </a:p>
          <a:p>
            <a:pPr algn="l">
              <a:spcAft>
                <a:spcPts val="300"/>
              </a:spcAft>
            </a:pPr>
            <a:r>
              <a:rPr sz="1200" b="0">
                <a:solidFill>
                  <a:srgbClr val="5B6372"/>
                </a:solidFill>
                <a:latin typeface="Arial"/>
              </a:rPr>
              <a:t>Network Time Security wraps NTP key exchange in TLS — stops attackers spoofing your time source.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transition spd="fast" advClick="1">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TIME SYNCHRONISATION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NTP Strata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Stratum</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0</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reference clock itself</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GPS, caesium / atomic clock</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Server wired to a stratum 0</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Time appliance in the DC</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2-15</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Each network hop adds one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Enterprise and pool servers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16</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Unsynchronised</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Clock not valid — do not trust</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Lower stratum = closer to the reference. Ported from the legacy deck: NTP operates as a hierarchy of clock strata over UDP/123.</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transition spd="fast" advClick="1">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TIME SYNCHRONISATION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chronyc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Which server is my clock actually following?</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chronyc sources -v</a:t>
            </a:r>
          </a:p>
          <a:p>
            <a:pPr>
              <a:spcAft>
                <a:spcPts val="200"/>
              </a:spcAft>
            </a:pPr>
            <a:r>
              <a:rPr sz="1100">
                <a:solidFill>
                  <a:srgbClr val="9CDCFE"/>
                </a:solidFill>
                <a:latin typeface="Consolas"/>
              </a:rPr>
              <a:t>MS Name/IP address    Stratum Poll Reach Offset</a:t>
            </a:r>
          </a:p>
          <a:p>
            <a:pPr>
              <a:spcAft>
                <a:spcPts val="200"/>
              </a:spcAft>
            </a:pPr>
            <a:r>
              <a:rPr sz="1100">
                <a:solidFill>
                  <a:srgbClr val="9CDCFE"/>
                </a:solidFill>
                <a:latin typeface="Consolas"/>
              </a:rPr>
              <a:t>^* time.cloudflare.com    3    6   377  +142us</a:t>
            </a:r>
          </a:p>
          <a:p>
            <a:pPr>
              <a:spcAft>
                <a:spcPts val="200"/>
              </a:spcAft>
            </a:pPr>
            <a:r>
              <a:rPr sz="1100">
                <a:solidFill>
                  <a:srgbClr val="9CDCFE"/>
                </a:solidFill>
                <a:latin typeface="Consolas"/>
              </a:rPr>
              <a:t>^- ntp.ubuntu.com         2    6   377 -1250us</a:t>
            </a:r>
          </a:p>
          <a:p>
            <a:pPr>
              <a:spcAft>
                <a:spcPts val="200"/>
              </a:spcAft>
            </a:pPr>
            <a:r>
              <a:rPr sz="1100">
                <a:solidFill>
                  <a:srgbClr val="9CDCFE"/>
                </a:solidFill>
                <a:latin typeface="Consolas"/>
              </a:rPr>
              <a:t>^? 10.0.0.99              0    6     0    +0ns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 / ^- / ^?</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 is the selected source, - a viable backup candidate, ? unreachable or untested.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Stratum</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Cloudflare here is stratum 3 — three hops from a hardware reference clock.</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Reach 377</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Octal bitmask of the last eight polls — 377 means all eight answered.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transition spd="fast" advClick="1">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 Synchronisation with Chrony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NTP time sync with chrony and interpret stratum, offset and drift (OBJ 3.4).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chrony (the modern ntpd replacement), inspect the selected time sources and stratum hierarchy, add an extra NTP server with iburst, and force an immediate clock step.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VM synchronised over UDP/123 with multiple NTP sources and a readable chronyc tracking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chrony, chronyc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chronyc sources -v shows time.cloudflare.com in the list with a ^* or ^- marker, and chronyc tracking reports a stratum below 16 with a sub-second system time offset.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transition spd="fast" advClick="1">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Install chrony and start the service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List time sources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chronyc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Show stratum</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chronyc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Restart chrony and re-check the source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Force an immediate clock step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chronyc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NTP time sync with chrony and interpret stratum, offset and drift (OBJ 3.4).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 Synchronisation with Chrony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chronyc sources -v shows time.cloudflare.com in the list with a ^* or ^- marker, and chronyc tracking reports a stratum below 16 with a sub-second system time offset.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All sources show ^? unreachable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UDP/123 egress may be blocked — wait for retries, or verify with chronyc activity and tracking.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New server never appears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server line must be in /etc/chrony/chrony.conf and chrony restarted — check for typos.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Stratum shows 16</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16 means unsynchronised — run chronyc -a makestep and give the sources a minute to be selected.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transition spd="fast" advClick="1">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CONFIGURATION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Configuration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Production config</a:t>
            </a:r>
          </a:p>
          <a:p>
            <a:pPr algn="l">
              <a:spcAft>
                <a:spcPts val="300"/>
              </a:spcAft>
            </a:pPr>
            <a:r>
              <a:rPr sz="1200" b="0">
                <a:solidFill>
                  <a:srgbClr val="5B6372"/>
                </a:solidFill>
                <a:latin typeface="Arial"/>
              </a:rPr>
              <a:t>The running configuration on the live device — what the network actually does right now.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Backup config</a:t>
            </a:r>
          </a:p>
          <a:p>
            <a:pPr algn="l">
              <a:spcAft>
                <a:spcPts val="300"/>
              </a:spcAft>
            </a:pPr>
            <a:r>
              <a:rPr sz="1200" b="0">
                <a:solidFill>
                  <a:srgbClr val="5B6372"/>
                </a:solidFill>
                <a:latin typeface="Arial"/>
              </a:rPr>
              <a:t>A stored copy taken on schedule and before every change — your rollback path.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Baseline config</a:t>
            </a:r>
          </a:p>
          <a:p>
            <a:pPr algn="l">
              <a:spcAft>
                <a:spcPts val="300"/>
              </a:spcAft>
            </a:pPr>
            <a:r>
              <a:rPr sz="1200" b="0">
                <a:solidFill>
                  <a:srgbClr val="5B6372"/>
                </a:solidFill>
                <a:latin typeface="Arial"/>
              </a:rPr>
              <a:t>The approved golden template a device of that role should match — any drift is a defect.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Golden images</a:t>
            </a:r>
          </a:p>
          <a:p>
            <a:pPr algn="l">
              <a:spcAft>
                <a:spcPts val="300"/>
              </a:spcAft>
            </a:pPr>
            <a:r>
              <a:rPr sz="1200" b="0">
                <a:solidFill>
                  <a:srgbClr val="5B6372"/>
                </a:solidFill>
                <a:latin typeface="Arial"/>
              </a:rPr>
              <a:t>Known-good firmware and OS images kept with checksums for clean rebuilds.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transition spd="fast" advClick="1">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CONFIGURATION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 Backup Discipline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Back up before every change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Store versioned, off the device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Diff running vs baseline regularly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Alert on unauthorised drift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restores — a backup is a claim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transition spd="fast" advClick="1">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CONFIGURATION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Version Control for Configurations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History</a:t>
            </a:r>
          </a:p>
          <a:p>
            <a:pPr algn="l">
              <a:spcAft>
                <a:spcPts val="300"/>
              </a:spcAft>
            </a:pPr>
            <a:r>
              <a:rPr sz="1200" b="0">
                <a:solidFill>
                  <a:srgbClr val="5B6372"/>
                </a:solidFill>
                <a:latin typeface="Arial"/>
              </a:rPr>
              <a:t>Every change recorded with author, timestamp and message — an audit trail for free.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Diff</a:t>
            </a:r>
          </a:p>
          <a:p>
            <a:pPr algn="l">
              <a:spcAft>
                <a:spcPts val="300"/>
              </a:spcAft>
            </a:pPr>
            <a:r>
              <a:rPr sz="1200" b="0">
                <a:solidFill>
                  <a:srgbClr val="5B6372"/>
                </a:solidFill>
                <a:latin typeface="Arial"/>
              </a:rPr>
              <a:t>See exactly what changed between any two versions — the fastest root-cause tool there is.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Blame</a:t>
            </a:r>
          </a:p>
          <a:p>
            <a:pPr algn="l">
              <a:spcAft>
                <a:spcPts val="300"/>
              </a:spcAft>
            </a:pPr>
            <a:r>
              <a:rPr sz="1200" b="0">
                <a:solidFill>
                  <a:srgbClr val="5B6372"/>
                </a:solidFill>
                <a:latin typeface="Arial"/>
              </a:rPr>
              <a:t>Line-by-line attribution answers 'who set this, and when?' in one command.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Revert</a:t>
            </a:r>
          </a:p>
          <a:p>
            <a:pPr algn="l">
              <a:spcAft>
                <a:spcPts val="300"/>
              </a:spcAft>
            </a:pPr>
            <a:r>
              <a:rPr sz="1200" b="0">
                <a:solidFill>
                  <a:srgbClr val="5B6372"/>
                </a:solidFill>
                <a:latin typeface="Arial"/>
              </a:rPr>
              <a:t>Undo one bad change without losing everything committed after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transition spd="fast" advClick="1">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Configuration Backup with Git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Put network configuration under version control for history, diff, blame and rollback (OBJ 3.1).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Initialise a git repository in /etc, commit a baseline of the critical network configs, make and commit a change, inspect the audit trail with log and show, then roll the change back with revert.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version-controlled /etc with a baseline commit, a tracked change, and a demonstrated one-command rollback.</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git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git log --oneline shows the baseline, the change and the revert as three commits, and cat /etc/hosts confirms the lab-vm line was removed by the rollback.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transition spd="fast" advClick="1">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git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Commit a baseline of the critical</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git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Make a change and view the pending</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Commit the change with a meaningful</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git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Roll the change back with revert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git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Put network configuration under version control for history, diff, blame and rollback (OBJ 3.1).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Configuration Backup with Git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git log --oneline shows the baseline, the change and the revert as three commits, and cat /etc/hosts confirms the lab-vm line was removed by the rollback.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Please tell me who you are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both identity values: git config user.email and git config user.name before committing.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added to commit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the git add with explicit filenames from inside /etc — pathspec errors mean a wrong cwd.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Revert did not change hosts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Revert undoes the LAST commit — check git log to confirm HEAD was the hosts change, not another edit.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transition spd="fast" advClick="1">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NETWORK MONITORING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Baselines &amp; Anomaly Alerting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Baseline</a:t>
            </a:r>
          </a:p>
          <a:p>
            <a:pPr algn="l">
              <a:spcAft>
                <a:spcPts val="300"/>
              </a:spcAft>
            </a:pPr>
            <a:r>
              <a:rPr sz="1200" b="0">
                <a:solidFill>
                  <a:srgbClr val="5B6372"/>
                </a:solidFill>
                <a:latin typeface="Arial"/>
              </a:rPr>
              <a:t>Measurements taken while the network is healthy — the operational definition of 'normal'.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Performance metrics</a:t>
            </a:r>
          </a:p>
          <a:p>
            <a:pPr algn="l">
              <a:spcAft>
                <a:spcPts val="300"/>
              </a:spcAft>
            </a:pPr>
            <a:r>
              <a:rPr sz="1200" b="0">
                <a:solidFill>
                  <a:srgbClr val="5B6372"/>
                </a:solidFill>
                <a:latin typeface="Arial"/>
              </a:rPr>
              <a:t>Bandwidth, throughput, latency, jitter and loss — trended per link and per service.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Availability monitoring</a:t>
            </a:r>
          </a:p>
          <a:p>
            <a:pPr algn="l">
              <a:spcAft>
                <a:spcPts val="300"/>
              </a:spcAft>
            </a:pPr>
            <a:r>
              <a:rPr sz="1200" b="0">
                <a:solidFill>
                  <a:srgbClr val="5B6372"/>
                </a:solidFill>
                <a:latin typeface="Arial"/>
              </a:rPr>
              <a:t>Up/down state and uptime percentage, tracked against the SLA target.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Anomaly alerting</a:t>
            </a:r>
          </a:p>
          <a:p>
            <a:pPr algn="l">
              <a:spcAft>
                <a:spcPts val="300"/>
              </a:spcAft>
            </a:pPr>
            <a:r>
              <a:rPr sz="1200" b="0">
                <a:solidFill>
                  <a:srgbClr val="5B6372"/>
                </a:solidFill>
                <a:latin typeface="Arial"/>
              </a:rPr>
              <a:t>Alert on deviation from the baseline, not just fixed thresholds — it catches the subtle failures.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Interface counters</a:t>
            </a:r>
          </a:p>
          <a:p>
            <a:pPr algn="l">
              <a:spcAft>
                <a:spcPts val="300"/>
              </a:spcAft>
            </a:pPr>
            <a:r>
              <a:rPr sz="1200" b="0">
                <a:solidFill>
                  <a:srgbClr val="5B6372"/>
                </a:solidFill>
                <a:latin typeface="Arial"/>
              </a:rPr>
              <a:t>Errors, discards, CRCs, giants and runts — rising counters flag layer 1-2 trouble.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Utilisation</a:t>
            </a:r>
          </a:p>
          <a:p>
            <a:pPr algn="l">
              <a:spcAft>
                <a:spcPts val="300"/>
              </a:spcAft>
            </a:pPr>
            <a:r>
              <a:rPr sz="1200" b="0">
                <a:solidFill>
                  <a:srgbClr val="5B6372"/>
                </a:solidFill>
                <a:latin typeface="Arial"/>
              </a:rPr>
              <a:t>Sustained load near capacity means congestion is coming — plan upgrades from the trend 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transition spd="fast" advClick="1">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NETWORK MONITORING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Statistics to Watch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state</a:t>
            </a:r>
          </a:p>
          <a:p>
            <a:pPr algn="l">
              <a:spcAft>
                <a:spcPts val="300"/>
              </a:spcAft>
            </a:pPr>
            <a:r>
              <a:rPr sz="1200" b="0">
                <a:solidFill>
                  <a:srgbClr val="5B6372"/>
                </a:solidFill>
                <a:latin typeface="Arial"/>
              </a:rPr>
              <a:t>Up/down and flapping history — a link that bounces hourly is a failing SFP or cable.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 duplex</a:t>
            </a:r>
          </a:p>
          <a:p>
            <a:pPr algn="l">
              <a:spcAft>
                <a:spcPts val="300"/>
              </a:spcAft>
            </a:pPr>
            <a:r>
              <a:rPr sz="1200" b="0">
                <a:solidFill>
                  <a:srgbClr val="5B6372"/>
                </a:solidFill>
                <a:latin typeface="Arial"/>
              </a:rPr>
              <a:t>A 100/half port on a gigabit switch is usually a failed autonegotiation, not a slow NIC.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CRC errors</a:t>
            </a:r>
          </a:p>
          <a:p>
            <a:pPr algn="l">
              <a:spcAft>
                <a:spcPts val="300"/>
              </a:spcAft>
            </a:pPr>
            <a:r>
              <a:rPr sz="1200" b="0">
                <a:solidFill>
                  <a:srgbClr val="5B6372"/>
                </a:solidFill>
                <a:latin typeface="Arial"/>
              </a:rPr>
              <a:t>Frames failing the checksum — cabling, connectors or EMI corrupting bits in flight.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Giants &amp; runts</a:t>
            </a:r>
          </a:p>
          <a:p>
            <a:pPr algn="l">
              <a:spcAft>
                <a:spcPts val="300"/>
              </a:spcAft>
            </a:pPr>
            <a:r>
              <a:rPr sz="1200" b="0">
                <a:solidFill>
                  <a:srgbClr val="5B6372"/>
                </a:solidFill>
                <a:latin typeface="Arial"/>
              </a:rPr>
              <a:t>Frames beyond or below legal Ethernet sizes — MTU mismatches, bad NICs, collisions.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Discards / drops</a:t>
            </a:r>
          </a:p>
          <a:p>
            <a:pPr algn="l">
              <a:spcAft>
                <a:spcPts val="300"/>
              </a:spcAft>
            </a:pPr>
            <a:r>
              <a:rPr sz="1200" b="0">
                <a:solidFill>
                  <a:srgbClr val="5B6372"/>
                </a:solidFill>
                <a:latin typeface="Arial"/>
              </a:rPr>
              <a:t>Good frames thrown away for lack of buffer — the signature of congestion.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Byte counts</a:t>
            </a:r>
          </a:p>
          <a:p>
            <a:pPr algn="l">
              <a:spcAft>
                <a:spcPts val="300"/>
              </a:spcAft>
            </a:pPr>
            <a:r>
              <a:rPr sz="1200" b="0">
                <a:solidFill>
                  <a:srgbClr val="5B6372"/>
                </a:solidFill>
                <a:latin typeface="Arial"/>
              </a:rPr>
              <a:t>Send/receive octets feed the utilisation graphs every capacity decision rests 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transition spd="fast" advClick="1">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AVAILABILITY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Cost of a Nine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Each extra nine cuts permitted downtime tenfold — 99.9% allows almost nine hours a year, 99.99% under an hour. The SLA figure dictates the redundancy budget.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transition spd="fast" advClick="1">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PERFORMANCE METRICS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Measuring Throughput with iperf3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Client / server model</a:t>
            </a:r>
          </a:p>
          <a:p>
            <a:pPr algn="l">
              <a:spcAft>
                <a:spcPts val="300"/>
              </a:spcAft>
            </a:pPr>
            <a:r>
              <a:rPr sz="1200" b="0">
                <a:solidFill>
                  <a:srgbClr val="5B6372"/>
                </a:solidFill>
                <a:latin typeface="Arial"/>
              </a:rPr>
              <a:t>One end listens (-s), the other transmits (-c) — measure the path between them, not a guess.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TCP vs UDP tests</a:t>
            </a:r>
          </a:p>
          <a:p>
            <a:pPr algn="l">
              <a:spcAft>
                <a:spcPts val="300"/>
              </a:spcAft>
            </a:pPr>
            <a:r>
              <a:rPr sz="1200" b="0">
                <a:solidFill>
                  <a:srgbClr val="5B6372"/>
                </a:solidFill>
                <a:latin typeface="Arial"/>
              </a:rPr>
              <a:t>TCP reports achievable goodput; UDP at a set rate (-b) exposes jitter and datagram loss.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Parallel streams</a:t>
            </a:r>
          </a:p>
          <a:p>
            <a:pPr algn="l">
              <a:spcAft>
                <a:spcPts val="300"/>
              </a:spcAft>
            </a:pPr>
            <a:r>
              <a:rPr sz="1200" b="0">
                <a:solidFill>
                  <a:srgbClr val="5B6372"/>
                </a:solidFill>
                <a:latin typeface="Arial"/>
              </a:rPr>
              <a:t>-P opens several flows at once — separates TCP window limits from true bandwidth limits.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Reverse mode</a:t>
            </a:r>
          </a:p>
          <a:p>
            <a:pPr algn="l">
              <a:spcAft>
                <a:spcPts val="300"/>
              </a:spcAft>
            </a:pPr>
            <a:r>
              <a:rPr sz="1200" b="0">
                <a:solidFill>
                  <a:srgbClr val="5B6372"/>
                </a:solidFill>
                <a:latin typeface="Arial"/>
              </a:rPr>
              <a:t>-R sends from server to client — the test for asymmetric paths like DOCSIS upstream.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transition spd="fast" advClick="1">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Performance Baseline with iperf3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Baseline throughput, jitter and loss with iperf3 TCP, UDP, parallel and reverse tests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Run an iperf3 server as a daemon and test against it: a 10-second TCP throughput test, four parallel streams, a 100 Mbps UDP test that reports jitter and loss, and a reverse test for asymmetric paths.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recorded performance baseline: TCP bitrate, parallel-stream totals, UDP jitter/loss and reverse-direction results.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iperf3</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TCP test reports a multi-Gbps loopback Bitrate, the UDP test shows jitter in ms with near-zero lost datagrams, and the -P 4 run sums four streams in the [SUM] row.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transition spd="fast" advClick="1">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iperf3</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Run a 10-second TCP throughput test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iperf3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four parallel streams to saturate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iperf3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a UDP test at 100 Mbps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iperf3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Stop the server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pkill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Baseline throughput, jitter and loss with iperf3 TCP, UDP, parallel and reverse tests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Performance Baseline with iperf3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TCP test reports a multi-Gbps loopback Bitrate, the UDP test shows jitter in ms with near-zero lost datagrams, and the -P 4 run sums four streams in the [SUM] row.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Connection refused to 127.0.0.1</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server is not running — start it again with iperf3 -s -D and confirm with pgrep iperf3.</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Server busy — another test running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Only one client at a time per server; wait for the previous run or pkill iperf3 and restart.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UDP shows heavy datagram loss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Lower the offered rate (-b 10M) — loss at a set bandwidth is the finding, not an error.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transition spd="fast" advClick="1">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OBJ 3.3 · DISASTER RECOVERY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Plan for the bad day before it arrives.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Disaster recovery quantifies what you can afford to lose (RPO), how long you can be down (RTO), and rehearses the switchover before it is ever real.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transition spd="fast" advClick="1">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DR Metrics — RPO, RTO, MTTR, MTBF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Question it answers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RPO</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How much data can we lose?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Backups every 4 h = RPO 4 h</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RTO</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How long until service is back?</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Restore must finish in 2 h</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MTTR</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Average time to repair a failure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Ticket open to fixed: 45 min</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MTBF</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Average time between failures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PSU rated at 100,000 h</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RPO sizes your backup frequency; RTO sizes your recovery infrastructure. Both are business decisions before they are technical ones.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transition spd="fast" advClick="1">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Recovery Sites — Cold, Warm, Hot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Site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Readiness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Cost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Failover time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Cold</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Space and power only — no gear</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Days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Warm</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Hardware in place, data loaded on demand</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Hours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Hot</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Live replica with data in sync</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Minutes</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Cloud</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Elastic DR-as-a-service, pay on use</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Design-dependent</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Pick the cheapest site that still meets the RTO — a hot site protecting a tolerant workload is money burned.</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transition spd="fast" advClick="1">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Active-Active vs Active-Passive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Active-active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Active-passive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All nodes serve traffic at once</a:t>
            </a:r>
          </a:p>
          <a:p>
            <a:pPr>
              <a:spcAft>
                <a:spcPts val="1000"/>
              </a:spcAft>
            </a:pPr>
            <a:r>
              <a:rPr sz="1600" b="0">
                <a:solidFill>
                  <a:srgbClr val="161B26"/>
                </a:solidFill>
                <a:latin typeface="Arial"/>
              </a:rPr>
              <a:t>•  Full capacity used in normal running</a:t>
            </a:r>
          </a:p>
          <a:p>
            <a:pPr>
              <a:spcAft>
                <a:spcPts val="1000"/>
              </a:spcAft>
            </a:pPr>
            <a:r>
              <a:rPr sz="1600" b="0">
                <a:solidFill>
                  <a:srgbClr val="161B26"/>
                </a:solidFill>
                <a:latin typeface="Arial"/>
              </a:rPr>
              <a:t>•  A failure just shrinks capacity</a:t>
            </a:r>
          </a:p>
          <a:p>
            <a:pPr>
              <a:spcAft>
                <a:spcPts val="1000"/>
              </a:spcAft>
            </a:pPr>
            <a:r>
              <a:rPr sz="1600" b="0">
                <a:solidFill>
                  <a:srgbClr val="161B26"/>
                </a:solidFill>
                <a:latin typeface="Arial"/>
              </a:rPr>
              <a:t>•  Needs state sync between nodes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Standby waits idle for failover</a:t>
            </a:r>
          </a:p>
          <a:p>
            <a:pPr>
              <a:spcAft>
                <a:spcPts val="1000"/>
              </a:spcAft>
            </a:pPr>
            <a:r>
              <a:rPr sz="1600" b="0">
                <a:solidFill>
                  <a:srgbClr val="161B26"/>
                </a:solidFill>
                <a:latin typeface="Arial"/>
              </a:rPr>
              <a:t>•  Simpler state management</a:t>
            </a:r>
          </a:p>
          <a:p>
            <a:pPr>
              <a:spcAft>
                <a:spcPts val="1000"/>
              </a:spcAft>
            </a:pPr>
            <a:r>
              <a:rPr sz="1600" b="0">
                <a:solidFill>
                  <a:srgbClr val="161B26"/>
                </a:solidFill>
                <a:latin typeface="Arial"/>
              </a:rPr>
              <a:t>•  Brief pause while standby takes over</a:t>
            </a:r>
          </a:p>
          <a:p>
            <a:pPr>
              <a:spcAft>
                <a:spcPts val="1000"/>
              </a:spcAft>
            </a:pPr>
            <a:r>
              <a:rPr sz="1600" b="0">
                <a:solidFill>
                  <a:srgbClr val="161B26"/>
                </a:solidFill>
                <a:latin typeface="Arial"/>
              </a:rPr>
              <a:t>•  Hardware that mostly sits idle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transition spd="fast" advClick="1">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3.3 · HIGH AVAILABILITY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High Availability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point of failure</a:t>
            </a:r>
          </a:p>
          <a:p>
            <a:pPr algn="l">
              <a:spcAft>
                <a:spcPts val="300"/>
              </a:spcAft>
            </a:pPr>
            <a:r>
              <a:rPr sz="1200" b="0">
                <a:solidFill>
                  <a:srgbClr val="5B6372"/>
                </a:solidFill>
                <a:latin typeface="Arial"/>
              </a:rPr>
              <a:t>One component whose failure stops the whole workflow — HA design exists to remove these.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Redundancy</a:t>
            </a:r>
          </a:p>
          <a:p>
            <a:pPr algn="l">
              <a:spcAft>
                <a:spcPts val="300"/>
              </a:spcAft>
            </a:pPr>
            <a:r>
              <a:rPr sz="1200" b="0">
                <a:solidFill>
                  <a:srgbClr val="5B6372"/>
                </a:solidFill>
                <a:latin typeface="Arial"/>
              </a:rPr>
              <a:t>Duplicate power, links, supervisors and paths so one failure never becomes an outage.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Clustering</a:t>
            </a:r>
          </a:p>
          <a:p>
            <a:pPr algn="l">
              <a:spcAft>
                <a:spcPts val="300"/>
              </a:spcAft>
            </a:pPr>
            <a:r>
              <a:rPr sz="1200" b="0">
                <a:solidFill>
                  <a:srgbClr val="5B6372"/>
                </a:solidFill>
                <a:latin typeface="Arial"/>
              </a:rPr>
              <a:t>Multiple servers act as one logical service and survive the loss of members.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Load balancing</a:t>
            </a:r>
          </a:p>
          <a:p>
            <a:pPr algn="l">
              <a:spcAft>
                <a:spcPts val="300"/>
              </a:spcAft>
            </a:pPr>
            <a:r>
              <a:rPr sz="1200" b="0">
                <a:solidFill>
                  <a:srgbClr val="5B6372"/>
                </a:solidFill>
                <a:latin typeface="Arial"/>
              </a:rPr>
              <a:t>Spreads requests across the cluster and steers around failed members automatically.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Virtual IP / FHRP</a:t>
            </a:r>
          </a:p>
          <a:p>
            <a:pPr algn="l">
              <a:spcAft>
                <a:spcPts val="300"/>
              </a:spcAft>
            </a:pPr>
            <a:r>
              <a:rPr sz="1200" b="0">
                <a:solidFill>
                  <a:srgbClr val="5B6372"/>
                </a:solidFill>
                <a:latin typeface="Arial"/>
              </a:rPr>
              <a:t>VRRP or HSRP float one gateway address across routers — the default gateway survives a router death.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Critical assets &amp; nodes</a:t>
            </a:r>
          </a:p>
          <a:p>
            <a:pPr algn="l">
              <a:spcAft>
                <a:spcPts val="300"/>
              </a:spcAft>
            </a:pPr>
            <a:r>
              <a:rPr sz="1200" b="0">
                <a:solidFill>
                  <a:srgbClr val="5B6372"/>
                </a:solidFill>
                <a:latin typeface="Arial"/>
              </a:rPr>
              <a:t>Know which systems keep production alive — they get the redundancy budget first.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transition spd="fast" advClick="1">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DR Failover — and Failback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Declare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invoke the DR plan</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Fail over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DR site takes the load</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Operate at DR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monitor degraded mode</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Fail back</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planned, off-peak</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after-action report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Failback is the forgotten half — returning to the primary site is itself a risky, planned change with its own window and rollback.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3.3 · DR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Testing the DR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Tabletop exercise</a:t>
            </a:r>
          </a:p>
          <a:p>
            <a:pPr algn="l">
              <a:spcAft>
                <a:spcPts val="300"/>
              </a:spcAft>
            </a:pPr>
            <a:r>
              <a:rPr sz="1200" b="0">
                <a:solidFill>
                  <a:srgbClr val="5B6372"/>
                </a:solidFill>
                <a:latin typeface="Arial"/>
              </a:rPr>
              <a:t>Walk the scenario around a table — cheap, and it finds the gaps in roles, contacts and assumptions.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Validation test</a:t>
            </a:r>
          </a:p>
          <a:p>
            <a:pPr algn="l">
              <a:spcAft>
                <a:spcPts val="300"/>
              </a:spcAft>
            </a:pPr>
            <a:r>
              <a:rPr sz="1200" b="0">
                <a:solidFill>
                  <a:srgbClr val="5B6372"/>
                </a:solidFill>
                <a:latin typeface="Arial"/>
              </a:rPr>
              <a:t>Actually restore the backups and fail services over — proves the runbooks, not the intentions.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Full failover drill</a:t>
            </a:r>
          </a:p>
          <a:p>
            <a:pPr algn="l">
              <a:spcAft>
                <a:spcPts val="300"/>
              </a:spcAft>
            </a:pPr>
            <a:r>
              <a:rPr sz="1200" b="0">
                <a:solidFill>
                  <a:srgbClr val="5B6372"/>
                </a:solidFill>
                <a:latin typeface="Arial"/>
              </a:rPr>
              <a:t>Run production from the DR site for a period — the only complete proof the plan works.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After-action report</a:t>
            </a:r>
          </a:p>
          <a:p>
            <a:pPr algn="l">
              <a:spcAft>
                <a:spcPts val="300"/>
              </a:spcAft>
            </a:pPr>
            <a:r>
              <a:rPr sz="1200" b="0">
                <a:solidFill>
                  <a:srgbClr val="5B6372"/>
                </a:solidFill>
                <a:latin typeface="Arial"/>
              </a:rPr>
              <a:t>Every exercise ends with documented findings and concrete plan updates.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transition spd="fast" advClick="1">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3.3 · INCIDENT RESPONSE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Detect &amp; report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first responder</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Escalate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to the right team</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Contain &amp; collect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preserve evidence</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Recover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restore service</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lessons learned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Forensic discipline — secure the area, document the scene, keep chain of custody — is what keeps evidence admissible and the timeline reconstructable.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3.3 · BACKUPS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Backups That Actually Restore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3-2-1 rule</a:t>
            </a:r>
          </a:p>
          <a:p>
            <a:pPr algn="l">
              <a:spcAft>
                <a:spcPts val="300"/>
              </a:spcAft>
            </a:pPr>
            <a:r>
              <a:rPr sz="1200" b="0">
                <a:solidFill>
                  <a:srgbClr val="5B6372"/>
                </a:solidFill>
                <a:latin typeface="Arial"/>
              </a:rPr>
              <a:t>Three copies, two media types, one offsite — survives device loss, site loss and ransomware.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Snapshots</a:t>
            </a:r>
          </a:p>
          <a:p>
            <a:pPr algn="l">
              <a:spcAft>
                <a:spcPts val="300"/>
              </a:spcAft>
            </a:pPr>
            <a:r>
              <a:rPr sz="1200" b="0">
                <a:solidFill>
                  <a:srgbClr val="5B6372"/>
                </a:solidFill>
                <a:latin typeface="Arial"/>
              </a:rPr>
              <a:t>Point-in-time images for fast local rollback — useful, but never a substitute for offsite copies.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Config + state data</a:t>
            </a:r>
          </a:p>
          <a:p>
            <a:pPr algn="l">
              <a:spcAft>
                <a:spcPts val="300"/>
              </a:spcAft>
            </a:pPr>
            <a:r>
              <a:rPr sz="1200" b="0">
                <a:solidFill>
                  <a:srgbClr val="5B6372"/>
                </a:solidFill>
                <a:latin typeface="Arial"/>
              </a:rPr>
              <a:t>Back up device configurations AND application data; the RPO applies to both.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Restore testing</a:t>
            </a:r>
          </a:p>
          <a:p>
            <a:pPr algn="l">
              <a:spcAft>
                <a:spcPts val="300"/>
              </a:spcAft>
            </a:pPr>
            <a:r>
              <a:rPr sz="1200" b="0">
                <a:solidFill>
                  <a:srgbClr val="5B6372"/>
                </a:solidFill>
                <a:latin typeface="Arial"/>
              </a:rPr>
              <a:t>An untested backup is a hope, not a plan — schedule restore drills like any other maintenance.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transition spd="fast" advClick="1">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3.5 · VPN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VPN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Connects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Site-to-site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Two networks via gateways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Branch to HQ, always on</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Client-to-site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device to the network</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Remote workers, on demand</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Full tunnel</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ALL client traffic via VPN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Maximum inspection and control</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Split tunnel</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Only corporate subnets via VPN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Saves bandwidth, less visibility</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Site-to-site tunnels are transparent to users; client-to-site needs software (or a clientless HTML5 portal) on each device.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transition spd="fast" advClick="1">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3.5 · VPN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Split or Full Tunnel?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policy require inspecting
all remote-user traffic?</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full tunnel</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Route everything through HQ: complete visibility and filtering, at the cost of bandwidth, latency and user experience.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split tunnel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Send only corporate destinations through the VPN; internet traffic goes direct — faster, but invisible to your controls.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Document the choice either way — auditors ask, and users notice.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transition spd="fast" advClick="1">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3.5 · ACCESS &amp;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Management Access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SSH (TCP/22)</a:t>
            </a:r>
          </a:p>
          <a:p>
            <a:pPr algn="l">
              <a:spcAft>
                <a:spcPts val="300"/>
              </a:spcAft>
            </a:pPr>
            <a:r>
              <a:rPr sz="1200" b="0">
                <a:solidFill>
                  <a:srgbClr val="5B6372"/>
                </a:solidFill>
                <a:latin typeface="Arial"/>
              </a:rPr>
              <a:t>Encrypted CLI — the default for device administration; prefer key-based auth over passwords.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a:t>
            </a:r>
          </a:p>
          <a:p>
            <a:pPr algn="l">
              <a:spcAft>
                <a:spcPts val="300"/>
              </a:spcAft>
            </a:pPr>
            <a:r>
              <a:rPr sz="1200" b="0">
                <a:solidFill>
                  <a:srgbClr val="5B6372"/>
                </a:solidFill>
                <a:latin typeface="Arial"/>
              </a:rPr>
              <a:t>Web management over HTTPS — convenient, but restrict it to the management VLAN.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a:t>
            </a:r>
          </a:p>
          <a:p>
            <a:pPr algn="l">
              <a:spcAft>
                <a:spcPts val="300"/>
              </a:spcAft>
            </a:pPr>
            <a:r>
              <a:rPr sz="1200" b="0">
                <a:solidFill>
                  <a:srgbClr val="5B6372"/>
                </a:solidFill>
                <a:latin typeface="Arial"/>
              </a:rPr>
              <a:t>REST and NETCONF programmatic control — the foundation of automation and infrastructure as code.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Console</a:t>
            </a:r>
          </a:p>
          <a:p>
            <a:pPr algn="l">
              <a:spcAft>
                <a:spcPts val="300"/>
              </a:spcAft>
            </a:pPr>
            <a:r>
              <a:rPr sz="1200" b="0">
                <a:solidFill>
                  <a:srgbClr val="5B6372"/>
                </a:solidFill>
                <a:latin typeface="Arial"/>
              </a:rPr>
              <a:t>Direct serial access — works when the network is down; the recovery path of last resort.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Out-of-band</a:t>
            </a:r>
          </a:p>
          <a:p>
            <a:pPr algn="l">
              <a:spcAft>
                <a:spcPts val="300"/>
              </a:spcAft>
            </a:pPr>
            <a:r>
              <a:rPr sz="1200" b="0">
                <a:solidFill>
                  <a:srgbClr val="5B6372"/>
                </a:solidFill>
                <a:latin typeface="Arial"/>
              </a:rPr>
              <a:t>A separate management network or LTE modem, reachable when production is not.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Jump box</a:t>
            </a:r>
          </a:p>
          <a:p>
            <a:pPr algn="l">
              <a:spcAft>
                <a:spcPts val="300"/>
              </a:spcAft>
            </a:pPr>
            <a:r>
              <a:rPr sz="1200" b="0">
                <a:solidFill>
                  <a:srgbClr val="5B6372"/>
                </a:solidFill>
                <a:latin typeface="Arial"/>
              </a:rPr>
              <a:t>One hardened, logged host is the only door into the management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transition spd="fast" advClick="1">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3.5 · ACCESS &amp;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In-band vs Out-of-band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In-band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Out-of-band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Management rides the production net</a:t>
            </a:r>
          </a:p>
          <a:p>
            <a:pPr>
              <a:spcAft>
                <a:spcPts val="1000"/>
              </a:spcAft>
            </a:pPr>
            <a:r>
              <a:rPr sz="1600" b="0">
                <a:solidFill>
                  <a:srgbClr val="161B26"/>
                </a:solidFill>
                <a:latin typeface="Arial"/>
              </a:rPr>
              <a:t>•  Cheap — no extra infrastructure</a:t>
            </a:r>
          </a:p>
          <a:p>
            <a:pPr>
              <a:spcAft>
                <a:spcPts val="1000"/>
              </a:spcAft>
            </a:pPr>
            <a:r>
              <a:rPr sz="1600" b="0">
                <a:solidFill>
                  <a:srgbClr val="161B26"/>
                </a:solidFill>
                <a:latin typeface="Arial"/>
              </a:rPr>
              <a:t>•  Lost exactly when you need it most</a:t>
            </a:r>
          </a:p>
          <a:p>
            <a:pPr>
              <a:spcAft>
                <a:spcPts val="1000"/>
              </a:spcAft>
            </a:pPr>
            <a:r>
              <a:rPr sz="1600" b="0">
                <a:solidFill>
                  <a:srgbClr val="161B26"/>
                </a:solidFill>
                <a:latin typeface="Arial"/>
              </a:rPr>
              <a:t>•  Fine for day-to-day monitoring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Dedicated network, serial or LTE path</a:t>
            </a:r>
          </a:p>
          <a:p>
            <a:pPr>
              <a:spcAft>
                <a:spcPts val="1000"/>
              </a:spcAft>
            </a:pPr>
            <a:r>
              <a:rPr sz="1600" b="0">
                <a:solidFill>
                  <a:srgbClr val="161B26"/>
                </a:solidFill>
                <a:latin typeface="Arial"/>
              </a:rPr>
              <a:t>•  Reachable during outages</a:t>
            </a:r>
          </a:p>
          <a:p>
            <a:pPr>
              <a:spcAft>
                <a:spcPts val="1000"/>
              </a:spcAft>
            </a:pPr>
            <a:r>
              <a:rPr sz="1600" b="0">
                <a:solidFill>
                  <a:srgbClr val="161B26"/>
                </a:solidFill>
                <a:latin typeface="Arial"/>
              </a:rPr>
              <a:t>•  Extra cost, another network to secure</a:t>
            </a:r>
          </a:p>
          <a:p>
            <a:pPr>
              <a:spcAft>
                <a:spcPts val="1000"/>
              </a:spcAft>
            </a:pPr>
            <a:r>
              <a:rPr sz="1600" b="0">
                <a:solidFill>
                  <a:srgbClr val="161B26"/>
                </a:solidFill>
                <a:latin typeface="Arial"/>
              </a:rPr>
              <a:t>•  Essential for core and remote sites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transition spd="fast" advClick="1">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3.5 · ACCESS &amp;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Jump Box Access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Admin authenticates with MFA</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Lands on the hardened jump box</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Session is logged and recorded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SSH to device on management VLAN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Change tracked against a ticket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transition spd="fast" advClick="1">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3 COMPLETE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Operations is where designs meet reality.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Document it, monitor it, back it up, rehearse the disaster, and control every management door — that is Domain 3, and 19% of your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transition spd="fast" advClick="1">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3.0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Configure an SNMP agent and poll MIB objects with snmpwalk and snmpget (OBJ 3.2).</a:t>
            </a:r>
          </a:p>
          <a:p>
            <a:pPr>
              <a:spcAft>
                <a:spcPts val="1000"/>
              </a:spcAft>
            </a:pPr>
            <a:r>
              <a:rPr sz="1600" b="0">
                <a:solidFill>
                  <a:srgbClr val="161B26"/>
                </a:solidFill>
                <a:latin typeface="Arial"/>
              </a:rPr>
              <a:t>•  You can now: Export, collect and analyse flow data to find top talkers and busiest ports (OBJ 3.2).</a:t>
            </a:r>
          </a:p>
          <a:p>
            <a:pPr>
              <a:spcAft>
                <a:spcPts val="1000"/>
              </a:spcAft>
            </a:pPr>
            <a:r>
              <a:rPr sz="1600" b="0">
                <a:solidFill>
                  <a:srgbClr val="161B26"/>
                </a:solidFill>
                <a:latin typeface="Arial"/>
              </a:rPr>
              <a:t>•  You can now: Build a syslog forwarding pipeline and filter aggregated events by severity and pattern (OBJ 3.2).</a:t>
            </a:r>
          </a:p>
          <a:p>
            <a:pPr>
              <a:spcAft>
                <a:spcPts val="1000"/>
              </a:spcAft>
            </a:pPr>
            <a:r>
              <a:rPr sz="1600" b="0">
                <a:solidFill>
                  <a:srgbClr val="161B26"/>
                </a:solidFill>
                <a:latin typeface="Arial"/>
              </a:rPr>
              <a:t>•  You can now: Configure NTP time sync with chrony and interpret stratum, offset and drift (OBJ 3.4).</a:t>
            </a:r>
          </a:p>
          <a:p>
            <a:pPr>
              <a:spcAft>
                <a:spcPts val="1000"/>
              </a:spcAft>
            </a:pPr>
            <a:r>
              <a:rPr sz="1600" b="0">
                <a:solidFill>
                  <a:srgbClr val="161B26"/>
                </a:solidFill>
                <a:latin typeface="Arial"/>
              </a:rPr>
              <a:t>•  You can now: Put network configuration under version control for history, diff, blame and rollback (OBJ 3.1).</a:t>
            </a:r>
          </a:p>
          <a:p>
            <a:pPr>
              <a:spcAft>
                <a:spcPts val="1000"/>
              </a:spcAft>
            </a:pPr>
            <a:r>
              <a:rPr sz="1600" b="0">
                <a:solidFill>
                  <a:srgbClr val="161B26"/>
                </a:solidFill>
                <a:latin typeface="Arial"/>
              </a:rPr>
              <a:t>•  You can now: Baseline throughput, jitter and loss with iperf3 TCP, UDP, parallel and reverse tests (OBJ 3.2).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transition spd="fast" advClick="1">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4.0  ·  14%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Security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Logical &amp; physical security · deception · terminology · audits &amp; compliance · segmentation · attacks · defence features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transition spd="med" advClick="1">
    <p:push dir="l"/>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21–23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Host Firewall with UFW</a:t>
            </a:r>
          </a:p>
          <a:p>
            <a:pPr>
              <a:spcAft>
                <a:spcPts val="900"/>
              </a:spcAft>
            </a:pPr>
            <a:r>
              <a:rPr sz="1400" b="0">
                <a:solidFill>
                  <a:srgbClr val="161B26"/>
                </a:solidFill>
                <a:latin typeface="Arial"/>
              </a:rPr>
              <a:t>•  TLS Certificate with OpenSSL and Nginx</a:t>
            </a:r>
          </a:p>
          <a:p>
            <a:pPr>
              <a:spcAft>
                <a:spcPts val="900"/>
              </a:spcAft>
            </a:pPr>
            <a:r>
              <a:rPr sz="1400" b="0">
                <a:solidFill>
                  <a:srgbClr val="161B26"/>
                </a:solidFill>
                <a:latin typeface="Arial"/>
              </a:rPr>
              <a:t>•  SSH Hardening with Key Authentication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24–26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Site-to-Site VPN with WireGuard</a:t>
            </a:r>
          </a:p>
          <a:p>
            <a:pPr>
              <a:spcAft>
                <a:spcPts val="900"/>
              </a:spcAft>
            </a:pPr>
            <a:r>
              <a:rPr sz="1400" b="0">
                <a:solidFill>
                  <a:srgbClr val="161B26"/>
                </a:solidFill>
                <a:latin typeface="Arial"/>
              </a:rPr>
              <a:t>•  Port Scanning and Service Hardening</a:t>
            </a:r>
          </a:p>
          <a:p>
            <a:pPr>
              <a:spcAft>
                <a:spcPts val="900"/>
              </a:spcAft>
            </a:pPr>
            <a:r>
              <a:rPr sz="1400" b="0">
                <a:solidFill>
                  <a:srgbClr val="161B26"/>
                </a:solidFill>
                <a:latin typeface="Arial"/>
              </a:rPr>
              <a:t>•  Intrusion Detection with Suricata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Building an ACL with iptables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transition spd="fast" advClick="1">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4 · 14%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4 - Network Security.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14% of the exam: encryption, identity, attacks, hardening, segmentation and physical defence - how we keep the network confidential, intact and available.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transition spd="fast" advClick="1">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SECURITY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CIA Triad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Confidentiality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Only authorised eyes see the data</a:t>
            </a:r>
          </a:p>
          <a:p>
            <a:pPr>
              <a:spcAft>
                <a:spcPts val="900"/>
              </a:spcAft>
            </a:pPr>
            <a:r>
              <a:rPr sz="1400" b="0">
                <a:solidFill>
                  <a:srgbClr val="161B26"/>
                </a:solidFill>
                <a:latin typeface="Arial"/>
              </a:rPr>
              <a:t>•  Encryption in transit and at rest</a:t>
            </a:r>
          </a:p>
          <a:p>
            <a:pPr>
              <a:spcAft>
                <a:spcPts val="900"/>
              </a:spcAft>
            </a:pPr>
            <a:r>
              <a:rPr sz="1400" b="0">
                <a:solidFill>
                  <a:srgbClr val="161B26"/>
                </a:solidFill>
                <a:latin typeface="Arial"/>
              </a:rPr>
              <a:t>•  Access controls and least privilege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Integrity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Data arrives exactly as it was sent</a:t>
            </a:r>
          </a:p>
          <a:p>
            <a:pPr>
              <a:spcAft>
                <a:spcPts val="900"/>
              </a:spcAft>
            </a:pPr>
            <a:r>
              <a:rPr sz="1400" b="0">
                <a:solidFill>
                  <a:srgbClr val="161B26"/>
                </a:solidFill>
                <a:latin typeface="Arial"/>
              </a:rPr>
              <a:t>•  Hashes detect tampering (SHA-256)</a:t>
            </a:r>
          </a:p>
          <a:p>
            <a:pPr>
              <a:spcAft>
                <a:spcPts val="900"/>
              </a:spcAft>
            </a:pPr>
            <a:r>
              <a:rPr sz="1400" b="0">
                <a:solidFill>
                  <a:srgbClr val="161B26"/>
                </a:solidFill>
                <a:latin typeface="Arial"/>
              </a:rPr>
              <a:t>•  Digital signatures prove the origin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Availability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Systems stay reachable when needed</a:t>
            </a:r>
          </a:p>
          <a:p>
            <a:pPr>
              <a:spcAft>
                <a:spcPts val="900"/>
              </a:spcAft>
            </a:pPr>
            <a:r>
              <a:rPr sz="1400" b="0">
                <a:solidFill>
                  <a:srgbClr val="161B26"/>
                </a:solidFill>
                <a:latin typeface="Arial"/>
              </a:rPr>
              <a:t>•  Redundancy, backups, DDoS defence</a:t>
            </a:r>
          </a:p>
          <a:p>
            <a:pPr>
              <a:spcAft>
                <a:spcPts val="900"/>
              </a:spcAft>
            </a:pPr>
            <a:r>
              <a:rPr sz="1400" b="0">
                <a:solidFill>
                  <a:srgbClr val="161B26"/>
                </a:solidFill>
                <a:latin typeface="Arial"/>
              </a:rPr>
              <a:t>•  Balance security against usability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transition spd="fast" advClick="1">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SECURITY TERMINOLOGY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Terminology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Threat</a:t>
            </a:r>
          </a:p>
          <a:p>
            <a:pPr algn="l">
              <a:spcAft>
                <a:spcPts val="300"/>
              </a:spcAft>
            </a:pPr>
            <a:r>
              <a:rPr sz="1200" b="0">
                <a:solidFill>
                  <a:srgbClr val="5B6372"/>
                </a:solidFill>
                <a:latin typeface="Arial"/>
              </a:rPr>
              <a:t>Any actor or event with the potential to harm the network - from a ransomware crew to a burst pipe above the server room.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a:t>
            </a:r>
          </a:p>
          <a:p>
            <a:pPr algn="l">
              <a:spcAft>
                <a:spcPts val="300"/>
              </a:spcAft>
            </a:pPr>
            <a:r>
              <a:rPr sz="1200" b="0">
                <a:solidFill>
                  <a:srgbClr val="5B6372"/>
                </a:solidFill>
                <a:latin typeface="Arial"/>
              </a:rPr>
              <a:t>A weakness that could be abused - an unpatched service, a default password, an open port nobody remembers.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Exploit</a:t>
            </a:r>
          </a:p>
          <a:p>
            <a:pPr algn="l">
              <a:spcAft>
                <a:spcPts val="300"/>
              </a:spcAft>
            </a:pPr>
            <a:r>
              <a:rPr sz="1200" b="0">
                <a:solidFill>
                  <a:srgbClr val="5B6372"/>
                </a:solidFill>
                <a:latin typeface="Arial"/>
              </a:rPr>
              <a:t>The technique or code that weaponises a vulnerability to gain access or disrupt service.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Likelihood times impact of a threat exploiting a vulnerability - what budgets and priorities are set against.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CVE</a:t>
            </a:r>
          </a:p>
          <a:p>
            <a:pPr algn="l">
              <a:spcAft>
                <a:spcPts val="300"/>
              </a:spcAft>
            </a:pPr>
            <a:r>
              <a:rPr sz="1200" b="0">
                <a:solidFill>
                  <a:srgbClr val="5B6372"/>
                </a:solidFill>
                <a:latin typeface="Arial"/>
              </a:rPr>
              <a:t>Common Vulnerabilities and Exposures - the public catalogue of disclosed flaws, each with an ID like CVE-2021-44228 (Log4Shell).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Zero-day</a:t>
            </a:r>
          </a:p>
          <a:p>
            <a:pPr algn="l">
              <a:spcAft>
                <a:spcPts val="300"/>
              </a:spcAft>
            </a:pPr>
            <a:r>
              <a:rPr sz="1200" b="0">
                <a:solidFill>
                  <a:srgbClr val="5B6372"/>
                </a:solidFill>
                <a:latin typeface="Arial"/>
              </a:rPr>
              <a:t>A flaw attackers find before the vendor does - no patch exists yet, so layered defence is the only cover.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transition spd="fast" advClick="1">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4.1 · SECURITY TERMINOLOGY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Threat to Impact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Threat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actor with intent</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Vulnerability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 weakness exposed</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Exploit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 flaw weaponised</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Breach</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access gained</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Impact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CIA compromised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Break any link and the attack fails - patching removes vulnerabilities, hardening blocks exploits, monitoring and response limit impact.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AUDITS &amp; COMPLIANCE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Audits and Regulatory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Security audit</a:t>
            </a:r>
          </a:p>
          <a:p>
            <a:pPr algn="l">
              <a:spcAft>
                <a:spcPts val="300"/>
              </a:spcAft>
            </a:pPr>
            <a:r>
              <a:rPr sz="1200" b="0">
                <a:solidFill>
                  <a:srgbClr val="5B6372"/>
                </a:solidFill>
                <a:latin typeface="Arial"/>
              </a:rPr>
              <a:t>An independent check that controls exist and work - configs, logs, access reviews, penetration tests.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locality</a:t>
            </a:r>
          </a:p>
          <a:p>
            <a:pPr algn="l">
              <a:spcAft>
                <a:spcPts val="300"/>
              </a:spcAft>
            </a:pPr>
            <a:r>
              <a:rPr sz="1200" b="0">
                <a:solidFill>
                  <a:srgbClr val="5B6372"/>
                </a:solidFill>
                <a:latin typeface="Arial"/>
              </a:rPr>
              <a:t>Laws that dictate WHERE data may be stored and processed - pins your cloud regions and backup sites.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PCI DSS</a:t>
            </a:r>
          </a:p>
          <a:p>
            <a:pPr algn="l">
              <a:spcAft>
                <a:spcPts val="300"/>
              </a:spcAft>
            </a:pPr>
            <a:r>
              <a:rPr sz="1200" b="0">
                <a:solidFill>
                  <a:srgbClr val="5B6372"/>
                </a:solidFill>
                <a:latin typeface="Arial"/>
              </a:rPr>
              <a:t>Card-industry standard: anyone storing or transmitting card data must segment, encrypt and log that environment.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GDPR</a:t>
            </a:r>
          </a:p>
          <a:p>
            <a:pPr algn="l">
              <a:spcAft>
                <a:spcPts val="300"/>
              </a:spcAft>
            </a:pPr>
            <a:r>
              <a:rPr sz="1200" b="0">
                <a:solidFill>
                  <a:srgbClr val="5B6372"/>
                </a:solidFill>
                <a:latin typeface="Arial"/>
              </a:rPr>
              <a:t>EU personal-data regulation: privacy by design, breach notification within 72 hours, heavy fines for leaks.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transition spd="fast" advClick="1">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AUDITS &amp; COMPLIANCE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Compliance Regimes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Regime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Scope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Network requirement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PCI DSS</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Cardholder data environments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Segment the CDE, encrypt, log all access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GDPR</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Personal data of EU residents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Protect by design; report breaches fast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Data locality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Where data may physically live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Keep regulated data in approved regions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PDPA (SG)</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Singapore personal data</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Reasonable security arrangements required</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Audits verify these on paper AND on the wire - segmentation and logs are the evidence.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transition spd="fast" advClick="1">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DEFENSE TECHNIQUES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Defense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Perimeter</a:t>
            </a:r>
          </a:p>
          <a:p>
            <a:pPr algn="l">
              <a:spcAft>
                <a:spcPts val="300"/>
              </a:spcAft>
            </a:pPr>
            <a:r>
              <a:rPr sz="1200" b="0">
                <a:solidFill>
                  <a:srgbClr val="5B6372"/>
                </a:solidFill>
                <a:latin typeface="Arial"/>
              </a:rPr>
              <a:t>Edge firewalls, screened subnet, DDoS scrubbing - the first line, never the only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a:t>
            </a:r>
          </a:p>
          <a:p>
            <a:pPr algn="l">
              <a:spcAft>
                <a:spcPts val="300"/>
              </a:spcAft>
            </a:pPr>
            <a:r>
              <a:rPr sz="1200" b="0">
                <a:solidFill>
                  <a:srgbClr val="5B6372"/>
                </a:solidFill>
                <a:latin typeface="Arial"/>
              </a:rPr>
              <a:t>Segmentation, VLANs, ACLs, IDS/IPS - contain whatever gets past the edge.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 / endpoint</a:t>
            </a:r>
          </a:p>
          <a:p>
            <a:pPr algn="l">
              <a:spcAft>
                <a:spcPts val="300"/>
              </a:spcAft>
            </a:pPr>
            <a:r>
              <a:rPr sz="1200" b="0">
                <a:solidFill>
                  <a:srgbClr val="5B6372"/>
                </a:solidFill>
                <a:latin typeface="Arial"/>
              </a:rPr>
              <a:t>Host firewalls, EDR, patching, hardening - every machine defends itself.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a:t>
            </a:r>
          </a:p>
          <a:p>
            <a:pPr algn="l">
              <a:spcAft>
                <a:spcPts val="300"/>
              </a:spcAft>
            </a:pPr>
            <a:r>
              <a:rPr sz="1200" b="0">
                <a:solidFill>
                  <a:srgbClr val="5B6372"/>
                </a:solidFill>
                <a:latin typeface="Arial"/>
              </a:rPr>
              <a:t>Input validation, secure APIs, WAF - the layer attackers actually talk to.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Encryption at rest, backups, DLP - the final prize gets its own armour.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Separation of duties</a:t>
            </a:r>
          </a:p>
          <a:p>
            <a:pPr algn="l">
              <a:spcAft>
                <a:spcPts val="300"/>
              </a:spcAft>
            </a:pPr>
            <a:r>
              <a:rPr sz="1200" b="0">
                <a:solidFill>
                  <a:srgbClr val="5B6372"/>
                </a:solidFill>
                <a:latin typeface="Arial"/>
              </a:rPr>
              <a:t>No single person holds enough rights to abuse the system alone.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transition spd="fast" advClick="1">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ZONES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Trusted vs Untrusted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Trusted zone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Untrusted / screened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Internal LANs and data-centre subnets</a:t>
            </a:r>
          </a:p>
          <a:p>
            <a:pPr>
              <a:spcAft>
                <a:spcPts val="1000"/>
              </a:spcAft>
            </a:pPr>
            <a:r>
              <a:rPr sz="1600" b="0">
                <a:solidFill>
                  <a:srgbClr val="161B26"/>
                </a:solidFill>
                <a:latin typeface="Arial"/>
              </a:rPr>
              <a:t>•  Users and devices are authenticated</a:t>
            </a:r>
          </a:p>
          <a:p>
            <a:pPr>
              <a:spcAft>
                <a:spcPts val="1000"/>
              </a:spcAft>
            </a:pPr>
            <a:r>
              <a:rPr sz="1600" b="0">
                <a:solidFill>
                  <a:srgbClr val="161B26"/>
                </a:solidFill>
                <a:latin typeface="Arial"/>
              </a:rPr>
              <a:t>•  Servers holding business data</a:t>
            </a:r>
          </a:p>
          <a:p>
            <a:pPr>
              <a:spcAft>
                <a:spcPts val="1000"/>
              </a:spcAft>
            </a:pPr>
            <a:r>
              <a:rPr sz="1600" b="0">
                <a:solidFill>
                  <a:srgbClr val="161B26"/>
                </a:solidFill>
                <a:latin typeface="Arial"/>
              </a:rPr>
              <a:t>•  Still segmented - trust is never absolute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Internet - assume hostile</a:t>
            </a:r>
          </a:p>
          <a:p>
            <a:pPr>
              <a:spcAft>
                <a:spcPts val="1000"/>
              </a:spcAft>
            </a:pPr>
            <a:r>
              <a:rPr sz="1600" b="0">
                <a:solidFill>
                  <a:srgbClr val="161B26"/>
                </a:solidFill>
                <a:latin typeface="Arial"/>
              </a:rPr>
              <a:t>•  Guest and BYOD networks</a:t>
            </a:r>
          </a:p>
          <a:p>
            <a:pPr>
              <a:spcAft>
                <a:spcPts val="1000"/>
              </a:spcAft>
            </a:pPr>
            <a:r>
              <a:rPr sz="1600" b="0">
                <a:solidFill>
                  <a:srgbClr val="161B26"/>
                </a:solidFill>
                <a:latin typeface="Arial"/>
              </a:rPr>
              <a:t>•  Screened subnet (DMZ) for public services</a:t>
            </a:r>
          </a:p>
          <a:p>
            <a:pPr>
              <a:spcAft>
                <a:spcPts val="1000"/>
              </a:spcAft>
            </a:pPr>
            <a:r>
              <a:rPr sz="1600" b="0">
                <a:solidFill>
                  <a:srgbClr val="161B26"/>
                </a:solidFill>
                <a:latin typeface="Arial"/>
              </a:rPr>
              <a:t>•  Traffic crossing zones must pass a firewall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transition spd="fast" advClick="1">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4.3 · SCREENED SUBNET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Screened Subnet (DMZ)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Screened subnet</a:t>
            </a:r>
          </a:p>
          <a:p>
            <a:pPr algn="l">
              <a:spcAft>
                <a:spcPts val="300"/>
              </a:spcAft>
            </a:pPr>
            <a:r>
              <a:rPr sz="1200" b="0">
                <a:solidFill>
                  <a:srgbClr val="5B6372"/>
                </a:solidFill>
                <a:latin typeface="Arial"/>
              </a:rPr>
              <a:t>A buffer network between Internet and LAN hosting the public-facing servers - web, mail, DNS.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Bastion host</a:t>
            </a:r>
          </a:p>
          <a:p>
            <a:pPr algn="l">
              <a:spcAft>
                <a:spcPts val="300"/>
              </a:spcAft>
            </a:pPr>
            <a:r>
              <a:rPr sz="1200" b="0">
                <a:solidFill>
                  <a:srgbClr val="5B6372"/>
                </a:solidFill>
                <a:latin typeface="Arial"/>
              </a:rPr>
              <a:t>Any machine directly exposed to the Internet - hardened to the maximum, expected to be attacked.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Two-firewall design</a:t>
            </a:r>
          </a:p>
          <a:p>
            <a:pPr algn="l">
              <a:spcAft>
                <a:spcPts val="300"/>
              </a:spcAft>
            </a:pPr>
            <a:r>
              <a:rPr sz="1200" b="0">
                <a:solidFill>
                  <a:srgbClr val="5B6372"/>
                </a:solidFill>
                <a:latin typeface="Arial"/>
              </a:rPr>
              <a:t>Internet -&gt; outer firewall -&gt; DMZ -&gt; inner firewall -&gt; LAN; a DMZ breach still faces a wall.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If a public server is compromised, the attacker is contained in the DMZ - not inside your 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transition spd="fast" advClick="1">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FIREWALLS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Firewall Families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Network firewall</a:t>
            </a:r>
          </a:p>
          <a:p>
            <a:pPr algn="l">
              <a:spcAft>
                <a:spcPts val="300"/>
              </a:spcAft>
            </a:pPr>
            <a:r>
              <a:rPr sz="1200" b="0">
                <a:solidFill>
                  <a:srgbClr val="5B6372"/>
                </a:solidFill>
                <a:latin typeface="Arial"/>
              </a:rPr>
              <a:t>A dedicated device at zone boundaries filtering traffic for the whole network.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Host-based firewall</a:t>
            </a:r>
          </a:p>
          <a:p>
            <a:pPr algn="l">
              <a:spcAft>
                <a:spcPts val="300"/>
              </a:spcAft>
            </a:pPr>
            <a:r>
              <a:rPr sz="1200" b="0">
                <a:solidFill>
                  <a:srgbClr val="5B6372"/>
                </a:solidFill>
                <a:latin typeface="Arial"/>
              </a:rPr>
              <a:t>Software on each machine (ufw, Windows Defender FW) - the last line, per host.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Hardware vs software</a:t>
            </a:r>
          </a:p>
          <a:p>
            <a:pPr algn="l">
              <a:spcAft>
                <a:spcPts val="300"/>
              </a:spcAft>
            </a:pPr>
            <a:r>
              <a:rPr sz="1200" b="0">
                <a:solidFill>
                  <a:srgbClr val="5B6372"/>
                </a:solidFill>
                <a:latin typeface="Arial"/>
              </a:rPr>
              <a:t>Physical appliances at the edge; virtual/software firewalls in cloud and hosts.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UTM / NGFW</a:t>
            </a:r>
          </a:p>
          <a:p>
            <a:pPr algn="l">
              <a:spcAft>
                <a:spcPts val="300"/>
              </a:spcAft>
            </a:pPr>
            <a:r>
              <a:rPr sz="1200" b="0">
                <a:solidFill>
                  <a:srgbClr val="5B6372"/>
                </a:solidFill>
                <a:latin typeface="Arial"/>
              </a:rPr>
              <a:t>Unified threat management bundles firewall, IPS, AV and URL filtering in one box.</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transition spd="fast" advClick="1">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FIREWALLS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Stateless, Stateful, Application-Aware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Decides on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Strength</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Limit</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Stateless</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Ports + IPs, per packet (ACL)</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Fast, simple, cheap</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 conversation context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Stateful</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Tracks connection state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Return traffic auto-allowed</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More CPU and memory</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App-aware (NGFW)</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Packet content via DPI</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Sees apps inside port 443</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Costly; TLS inspection</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Most modern firewalls combine all three - ACL speed plus stateful context plus DPI.</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transition spd="fast" advClick="1">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4.3 · THE GOLDEN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Default deny. Allow by exception.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firewall policy starts by blocking everything inbound, then permits only the specific ports, sources and services the business needs - the stance you build in Lab 21.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transition spd="fast" advClick="1">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Host Firewall with UFW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 default-deny host firewall with UFW: global allows, source-restricted rules, rule management.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Set a deny-by-default inbound policy with UFW, permit SSH globally and MySQL only from 10.0.0.0/8, then list, delete and disable rules to manage the firewall lifecycle.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host firewall that denies all inbound traffic except SSH and source-restricted MySQL.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ufw, iptables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ufw status verbose shows Default: deny (incoming), allow (outgoing) plus your 22/tcp and 3306 rules; iptables -L shows the same rules generated underneath.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transition spd="fast" advClick="1">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UFW</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Allow SSH first - skipping this in a</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Enable the firewall and check the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Add a source-restricted rule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Disable the firewall when done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 default-deny host firewall with UFW: global allows, source-restricted rules, rule management.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Host Firewall with UFW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ufw status verbose shows Default: deny (incoming), allow (outgoing) plus your 22/tcp and 3306 rules; iptables -L shows the same rules generated underneath.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Locked out of SSH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Always allow 22/tcp before ufw enable; from the console run ufw disable, re-add the rule, re-enable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Rule never matches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order with ufw status numbered - more specific source rules must sit above broad ones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ufw: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it first: apt update &amp;&amp; apt install -y ufw</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transition spd="fast" advClick="1">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4.1 · LOGICAL SECURITY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Making TCP/IP secure.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TCP/IP was designed for openness, not secrecy - confidentiality, integrity and availability are bolted on with encryption, hashes and authentication at every layer.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transition spd="fast" advClick="1">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ENCRYPTION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Encryption: In Transit vs At 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Data in transit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Data at rest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Moving across the network</a:t>
            </a:r>
          </a:p>
          <a:p>
            <a:pPr>
              <a:spcAft>
                <a:spcPts val="1000"/>
              </a:spcAft>
            </a:pPr>
            <a:r>
              <a:rPr sz="1600" b="0">
                <a:solidFill>
                  <a:srgbClr val="161B26"/>
                </a:solidFill>
                <a:latin typeface="Arial"/>
              </a:rPr>
              <a:t>•  TLS 1.3 for web and APIs</a:t>
            </a:r>
          </a:p>
          <a:p>
            <a:pPr>
              <a:spcAft>
                <a:spcPts val="1000"/>
              </a:spcAft>
            </a:pPr>
            <a:r>
              <a:rPr sz="1600" b="0">
                <a:solidFill>
                  <a:srgbClr val="161B26"/>
                </a:solidFill>
                <a:latin typeface="Arial"/>
              </a:rPr>
              <a:t>•  IPSec or WireGuard for site links</a:t>
            </a:r>
          </a:p>
          <a:p>
            <a:pPr>
              <a:spcAft>
                <a:spcPts val="1000"/>
              </a:spcAft>
            </a:pPr>
            <a:r>
              <a:rPr sz="1600" b="0">
                <a:solidFill>
                  <a:srgbClr val="161B26"/>
                </a:solidFill>
                <a:latin typeface="Arial"/>
              </a:rPr>
              <a:t>•  SSH for management sessions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Stored on disk or in the cloud</a:t>
            </a:r>
          </a:p>
          <a:p>
            <a:pPr>
              <a:spcAft>
                <a:spcPts val="1000"/>
              </a:spcAft>
            </a:pPr>
            <a:r>
              <a:rPr sz="1600" b="0">
                <a:solidFill>
                  <a:srgbClr val="161B26"/>
                </a:solidFill>
                <a:latin typeface="Arial"/>
              </a:rPr>
              <a:t>•  Full-disk encryption (LUKS, BitLocker)</a:t>
            </a:r>
          </a:p>
          <a:p>
            <a:pPr>
              <a:spcAft>
                <a:spcPts val="1000"/>
              </a:spcAft>
            </a:pPr>
            <a:r>
              <a:rPr sz="1600" b="0">
                <a:solidFill>
                  <a:srgbClr val="161B26"/>
                </a:solidFill>
                <a:latin typeface="Arial"/>
              </a:rPr>
              <a:t>•  Database and object-store encryption</a:t>
            </a:r>
          </a:p>
          <a:p>
            <a:pPr>
              <a:spcAft>
                <a:spcPts val="1000"/>
              </a:spcAft>
            </a:pPr>
            <a:r>
              <a:rPr sz="1600" b="0">
                <a:solidFill>
                  <a:srgbClr val="161B26"/>
                </a:solidFill>
                <a:latin typeface="Arial"/>
              </a:rPr>
              <a:t>•  Key management decides real safety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transition spd="fast" advClick="1">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Symmetric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Cleartext</a:t>
            </a:r>
          </a:p>
          <a:p>
            <a:pPr algn="l">
              <a:spcAft>
                <a:spcPts val="300"/>
              </a:spcAft>
            </a:pPr>
            <a:r>
              <a:rPr sz="1200" b="0">
                <a:solidFill>
                  <a:srgbClr val="5B6372"/>
                </a:solidFill>
                <a:latin typeface="Arial"/>
              </a:rPr>
              <a:t>Any unencrypted data - readable by whoever captures the packet.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Algorithm + key</a:t>
            </a:r>
          </a:p>
          <a:p>
            <a:pPr algn="l">
              <a:spcAft>
                <a:spcPts val="300"/>
              </a:spcAft>
            </a:pPr>
            <a:r>
              <a:rPr sz="1200" b="0">
                <a:solidFill>
                  <a:srgbClr val="5B6372"/>
                </a:solidFill>
                <a:latin typeface="Arial"/>
              </a:rPr>
              <a:t>The algorithm (AES) is public and well studied; all the secrecy lives in the key.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Ciphertext</a:t>
            </a:r>
          </a:p>
          <a:p>
            <a:pPr algn="l">
              <a:spcAft>
                <a:spcPts val="300"/>
              </a:spcAft>
            </a:pPr>
            <a:r>
              <a:rPr sz="1200" b="0">
                <a:solidFill>
                  <a:srgbClr val="5B6372"/>
                </a:solidFill>
                <a:latin typeface="Arial"/>
              </a:rPr>
              <a:t>The scrambled output - useless to an eavesdropper without the key.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Same key both ways</a:t>
            </a:r>
          </a:p>
          <a:p>
            <a:pPr algn="l">
              <a:spcAft>
                <a:spcPts val="300"/>
              </a:spcAft>
            </a:pPr>
            <a:r>
              <a:rPr sz="1200" b="0">
                <a:solidFill>
                  <a:srgbClr val="5B6372"/>
                </a:solidFill>
                <a:latin typeface="Arial"/>
              </a:rPr>
              <a:t>Symmetric = one shared key encrypts AND decrypts - fast, but that key must travel safely.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transition spd="fast" advClick="1">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Symmetric vs Asymmetric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Symmetric</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Asymmetric</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Keys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One shared secret key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Public + private key pair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Fast - bulk data encryption</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Slow - small payloads only</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AES-256, ChaCha20</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RSA-2048, ECC / Curve25519</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Key exchange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Hard - secret must travel</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Easy - publish the public key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Used for</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Session data after handshake</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Handshake, signatures, certs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TLS uses both: asymmetric crypto agrees a session key, symmetric crypto carries the data.</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transition spd="fast" advClick="1">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INTEGRITY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Cryptographic Hashes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Fixed-size fingerprint</a:t>
            </a:r>
          </a:p>
          <a:p>
            <a:pPr algn="l">
              <a:spcAft>
                <a:spcPts val="300"/>
              </a:spcAft>
            </a:pPr>
            <a:r>
              <a:rPr sz="1200" b="0">
                <a:solidFill>
                  <a:srgbClr val="5B6372"/>
                </a:solidFill>
                <a:latin typeface="Arial"/>
              </a:rPr>
              <a:t>Any input, one fixed-length output - SHA-256 always yields 256 bits.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Integrity, not secrecy</a:t>
            </a:r>
          </a:p>
          <a:p>
            <a:pPr algn="l">
              <a:spcAft>
                <a:spcPts val="300"/>
              </a:spcAft>
            </a:pPr>
            <a:r>
              <a:rPr sz="1200" b="0">
                <a:solidFill>
                  <a:srgbClr val="5B6372"/>
                </a:solidFill>
                <a:latin typeface="Arial"/>
              </a:rPr>
              <a:t>A hash proves data is unchanged; it does not hide the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Avalanche effect</a:t>
            </a:r>
          </a:p>
          <a:p>
            <a:pPr algn="l">
              <a:spcAft>
                <a:spcPts val="300"/>
              </a:spcAft>
            </a:pPr>
            <a:r>
              <a:rPr sz="1200" b="0">
                <a:solidFill>
                  <a:srgbClr val="5B6372"/>
                </a:solidFill>
                <a:latin typeface="Arial"/>
              </a:rPr>
              <a:t>Change one bit of input and the entire hash changes - tampering is obvious.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MD5 / SHA-1 retired</a:t>
            </a:r>
          </a:p>
          <a:p>
            <a:pPr algn="l">
              <a:spcAft>
                <a:spcPts val="300"/>
              </a:spcAft>
            </a:pPr>
            <a:r>
              <a:rPr sz="1200" b="0">
                <a:solidFill>
                  <a:srgbClr val="5B6372"/>
                </a:solidFill>
                <a:latin typeface="Arial"/>
              </a:rPr>
              <a:t>Collisions have been engineered - use SHA-256 or SHA-3 today.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Password storage</a:t>
            </a:r>
          </a:p>
          <a:p>
            <a:pPr algn="l">
              <a:spcAft>
                <a:spcPts val="300"/>
              </a:spcAft>
            </a:pPr>
            <a:r>
              <a:rPr sz="1200" b="0">
                <a:solidFill>
                  <a:srgbClr val="5B6372"/>
                </a:solidFill>
                <a:latin typeface="Arial"/>
              </a:rPr>
              <a:t>Servers store salted hashes, never the password itself.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HMAC</a:t>
            </a:r>
          </a:p>
          <a:p>
            <a:pPr algn="l">
              <a:spcAft>
                <a:spcPts val="300"/>
              </a:spcAft>
            </a:pPr>
            <a:r>
              <a:rPr sz="1200" b="0">
                <a:solidFill>
                  <a:srgbClr val="5B6372"/>
                </a:solidFill>
                <a:latin typeface="Arial"/>
              </a:rPr>
              <a:t>A keyed hash proving both integrity and authenticity of a message.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transition spd="fast" advClick="1">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TLS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TLS 1.3 Handshake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ClientHello</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ciphers + key share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ServerHello</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key share + cert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certificate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chain to trusted CA</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Derive session keys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both sides compute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Encrypted data</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symmetric AES/ChaCha</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TLS 1.3 completes in one round-trip: asymmetric crypto authenticates the server and agrees keys, then fast symmetric crypto protects the whole session.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PKI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Certificates and PKI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X.509 certificate</a:t>
            </a:r>
          </a:p>
          <a:p>
            <a:pPr algn="l">
              <a:spcAft>
                <a:spcPts val="300"/>
              </a:spcAft>
            </a:pPr>
            <a:r>
              <a:rPr sz="1200" b="0">
                <a:solidFill>
                  <a:srgbClr val="5B6372"/>
                </a:solidFill>
                <a:latin typeface="Arial"/>
              </a:rPr>
              <a:t>Binds a public key to an identity (CN/SAN), signed by an issuer with validity dates.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Certificate authority</a:t>
            </a:r>
          </a:p>
          <a:p>
            <a:pPr algn="l">
              <a:spcAft>
                <a:spcPts val="300"/>
              </a:spcAft>
            </a:pPr>
            <a:r>
              <a:rPr sz="1200" b="0">
                <a:solidFill>
                  <a:srgbClr val="5B6372"/>
                </a:solidFill>
                <a:latin typeface="Arial"/>
              </a:rPr>
              <a:t>A trusted third party that signs certificates after verifying the requester's identity.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Chain of trust</a:t>
            </a:r>
          </a:p>
          <a:p>
            <a:pPr algn="l">
              <a:spcAft>
                <a:spcPts val="300"/>
              </a:spcAft>
            </a:pPr>
            <a:r>
              <a:rPr sz="1200" b="0">
                <a:solidFill>
                  <a:srgbClr val="5B6372"/>
                </a:solidFill>
                <a:latin typeface="Arial"/>
              </a:rPr>
              <a:t>Leaf cert -&gt; intermediate CA -&gt; root CA pre-installed in every OS and browser.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Self-signed</a:t>
            </a:r>
          </a:p>
          <a:p>
            <a:pPr algn="l">
              <a:spcAft>
                <a:spcPts val="300"/>
              </a:spcAft>
            </a:pPr>
            <a:r>
              <a:rPr sz="1200" b="0">
                <a:solidFill>
                  <a:srgbClr val="5B6372"/>
                </a:solidFill>
                <a:latin typeface="Arial"/>
              </a:rPr>
              <a:t>Signed by its own key - fine for labs and internal tools, but every browser warns.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CSR</a:t>
            </a:r>
          </a:p>
          <a:p>
            <a:pPr algn="l">
              <a:spcAft>
                <a:spcPts val="300"/>
              </a:spcAft>
            </a:pPr>
            <a:r>
              <a:rPr sz="1200" b="0">
                <a:solidFill>
                  <a:srgbClr val="5B6372"/>
                </a:solidFill>
                <a:latin typeface="Arial"/>
              </a:rPr>
              <a:t>Certificate signing request - your public key plus identity, sent to the CA for signing.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Let's Encrypt / ACME</a:t>
            </a:r>
          </a:p>
          <a:p>
            <a:pPr algn="l">
              <a:spcAft>
                <a:spcPts val="300"/>
              </a:spcAft>
            </a:pPr>
            <a:r>
              <a:rPr sz="1200" b="0">
                <a:solidFill>
                  <a:srgbClr val="5B6372"/>
                </a:solidFill>
                <a:latin typeface="Arial"/>
              </a:rPr>
              <a:t>Free automated CA - the ACME protocol issues and renews certs every 90 days.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transition spd="fast" advClick="1">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CERTIFICATES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Certificate with openssl x509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certificate you generate in Lab 22, decoded field by field.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openssl x509 -in lab.crt -noout -text</a:t>
            </a:r>
          </a:p>
          <a:p>
            <a:pPr>
              <a:spcAft>
                <a:spcPts val="200"/>
              </a:spcAft>
            </a:pPr>
            <a:r>
              <a:rPr sz="1100">
                <a:solidFill>
                  <a:srgbClr val="9CDCFE"/>
                </a:solidFill>
                <a:latin typeface="Consolas"/>
              </a:rPr>
              <a:t>Certificate:</a:t>
            </a:r>
          </a:p>
          <a:p>
            <a:pPr>
              <a:spcAft>
                <a:spcPts val="200"/>
              </a:spcAft>
            </a:pPr>
            <a:r>
              <a:rPr sz="1100">
                <a:solidFill>
                  <a:srgbClr val="9CDCFE"/>
                </a:solidFill>
                <a:latin typeface="Consolas"/>
              </a:rPr>
              <a:t>  Data:</a:t>
            </a:r>
          </a:p>
          <a:p>
            <a:pPr>
              <a:spcAft>
                <a:spcPts val="200"/>
              </a:spcAft>
            </a:pPr>
            <a:r>
              <a:rPr sz="1100">
                <a:solidFill>
                  <a:srgbClr val="9CDCFE"/>
                </a:solidFill>
                <a:latin typeface="Consolas"/>
              </a:rPr>
              <a:t>    Serial Number: 5d:9c:41:...:2e</a:t>
            </a:r>
          </a:p>
          <a:p>
            <a:pPr>
              <a:spcAft>
                <a:spcPts val="200"/>
              </a:spcAft>
            </a:pPr>
            <a:r>
              <a:rPr sz="1100">
                <a:solidFill>
                  <a:srgbClr val="D4D4D4"/>
                </a:solidFill>
                <a:latin typeface="Consolas"/>
              </a:rPr>
              <a:t>    Issuer: CN = lab.local</a:t>
            </a:r>
          </a:p>
          <a:p>
            <a:pPr>
              <a:spcAft>
                <a:spcPts val="200"/>
              </a:spcAft>
            </a:pPr>
            <a:r>
              <a:rPr sz="1100">
                <a:solidFill>
                  <a:srgbClr val="9CDCFE"/>
                </a:solidFill>
                <a:latin typeface="Consolas"/>
              </a:rPr>
              <a:t>    Validity</a:t>
            </a:r>
          </a:p>
          <a:p>
            <a:pPr>
              <a:spcAft>
                <a:spcPts val="200"/>
              </a:spcAft>
            </a:pPr>
            <a:r>
              <a:rPr sz="1100">
                <a:solidFill>
                  <a:srgbClr val="9CDCFE"/>
                </a:solidFill>
                <a:latin typeface="Consolas"/>
              </a:rPr>
              <a:t>      Not Before: Aug 19 02:00:00 2026 GMT</a:t>
            </a:r>
          </a:p>
          <a:p>
            <a:pPr>
              <a:spcAft>
                <a:spcPts val="200"/>
              </a:spcAft>
            </a:pPr>
            <a:r>
              <a:rPr sz="1100">
                <a:solidFill>
                  <a:srgbClr val="9CDCFE"/>
                </a:solidFill>
                <a:latin typeface="Consolas"/>
              </a:rPr>
              <a:t>      Not After : Aug 19 02:00:00 2027 GMT</a:t>
            </a:r>
          </a:p>
          <a:p>
            <a:pPr>
              <a:spcAft>
                <a:spcPts val="200"/>
              </a:spcAft>
            </a:pPr>
            <a:r>
              <a:rPr sz="1100">
                <a:solidFill>
                  <a:srgbClr val="D4D4D4"/>
                </a:solidFill>
                <a:latin typeface="Consolas"/>
              </a:rPr>
              <a:t>    Subject: CN = lab.local</a:t>
            </a:r>
          </a:p>
          <a:p>
            <a:pPr>
              <a:spcAft>
                <a:spcPts val="200"/>
              </a:spcAft>
            </a:pPr>
            <a:r>
              <a:rPr sz="1100">
                <a:solidFill>
                  <a:srgbClr val="9CDCFE"/>
                </a:solidFill>
                <a:latin typeface="Consolas"/>
              </a:rPr>
              <a:t>    Subject Public Key Info:</a:t>
            </a:r>
          </a:p>
          <a:p>
            <a:pPr>
              <a:spcAft>
                <a:spcPts val="200"/>
              </a:spcAft>
            </a:pPr>
            <a:r>
              <a:rPr sz="1100">
                <a:solidFill>
                  <a:srgbClr val="9CDCFE"/>
                </a:solidFill>
                <a:latin typeface="Consolas"/>
              </a:rPr>
              <a:t>      Public-Key: (2048 bit)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Issuer = Subject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Both read CN=lab.local - the certificate signed itself, so no browser will trust 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Validity window</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Outside Not Before / Not After the cert throws expired or not-yet-valid errors.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Public key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RSA-2048 key clients use in the TLS handshake to agree session secrets.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transition spd="fast" advClick="1">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4.1 · CERTIFICATES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 Error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Self-signed warning</a:t>
            </a:r>
          </a:p>
          <a:p>
            <a:pPr algn="l">
              <a:spcAft>
                <a:spcPts val="300"/>
              </a:spcAft>
            </a:pPr>
            <a:r>
              <a:rPr sz="1200" b="0">
                <a:solidFill>
                  <a:srgbClr val="5B6372"/>
                </a:solidFill>
                <a:latin typeface="Arial"/>
              </a:rPr>
              <a:t>No CA in the chain - the browser shows ERR_CERT_AUTHORITY_INVALID.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Expired certificate</a:t>
            </a:r>
          </a:p>
          <a:p>
            <a:pPr algn="l">
              <a:spcAft>
                <a:spcPts val="300"/>
              </a:spcAft>
            </a:pPr>
            <a:r>
              <a:rPr sz="1200" b="0">
                <a:solidFill>
                  <a:srgbClr val="5B6372"/>
                </a:solidFill>
                <a:latin typeface="Arial"/>
              </a:rPr>
              <a:t>Past its Not After date - renew with the issuer; automate renewal with ACME.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Name mismatch</a:t>
            </a:r>
          </a:p>
          <a:p>
            <a:pPr algn="l">
              <a:spcAft>
                <a:spcPts val="300"/>
              </a:spcAft>
            </a:pPr>
            <a:r>
              <a:rPr sz="1200" b="0">
                <a:solidFill>
                  <a:srgbClr val="5B6372"/>
                </a:solidFill>
                <a:latin typeface="Arial"/>
              </a:rPr>
              <a:t>The CN/SAN does not match the URL's hostname - common after renames and moves.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Revoked certificate</a:t>
            </a:r>
          </a:p>
          <a:p>
            <a:pPr algn="l">
              <a:spcAft>
                <a:spcPts val="300"/>
              </a:spcAft>
            </a:pPr>
            <a:r>
              <a:rPr sz="1200" b="0">
                <a:solidFill>
                  <a:srgbClr val="5B6372"/>
                </a:solidFill>
                <a:latin typeface="Arial"/>
              </a:rPr>
              <a:t>The CA withdrew it - clients check live via OCSP or download CRL lists.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transition spd="fast" advClick="1">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TLS Certificate with OpenSSL and Nginx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Generate a self-signed X.509 certificate, serve HTTPS from nginx and inspect the TLS handshake.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an RSA-2048 self-signed certificate with openssl req -x509, configure nginx for HTTPS on 443, then verify the handshake and certificate fields from the client with curl, openssl x509 and s_client.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HTTPS server on 443 presenting your own certificate, plus a client-side view of the TLS 1.3 handshake.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openssl, nginx, curl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-kv https://localhost prints the TLS version, cipher suite and the CN=lab.local certificate; openssl x509 -text shows identical Issuer and Subject - the mark of a self-signed cert.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transition spd="fast" advClick="1">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packages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Generate a self-signed RSA-2048 cert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openssl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Point nginx at the cert and key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Inspect the certificate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openssl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Probe the live handshake with s_client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Generate a self-signed X.509 certificate, serve HTTPS from nginx and inspect the TLS handshake.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TLS Certificate with OpenSSL and Nginx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curl -kv https://localhost prints the TLS version, cipher suite and the CN=lab.local certificate; openssl x509 -text shows identical Issuer and Subject - the mark of a self-signed cert.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curl: SSL certificate problem</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for self-signed - pass -k to curl, or install a CA-signed certificate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nginx fails to restart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nginx -t to locate the config error; verify the ssl_certificate and key paths exist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listening on 443</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listen 443 ssl in the server block, then check with ss -tlnp | grep 443</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transition spd="fast" advClick="1">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4.1 · IAM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Who are you, and what may you do?</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Identity and access management is security's control plane: identification, authentication, authorization and accounting govern every login, port and API call.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transition spd="fast" advClick="1">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IAM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Identification to Accounting (IAM / AAA)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Identification - claim an identity (username)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Authentication - prove it (password + MFA)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Authorization - what you may do (RBAC)</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Accounting - log what you did (audit trail)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transition spd="fast" advClick="1">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MFA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(MFA)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know</a:t>
            </a:r>
          </a:p>
          <a:p>
            <a:pPr algn="l">
              <a:spcAft>
                <a:spcPts val="300"/>
              </a:spcAft>
            </a:pPr>
            <a:r>
              <a:rPr sz="1200" b="0">
                <a:solidFill>
                  <a:srgbClr val="5B6372"/>
                </a:solidFill>
                <a:latin typeface="Arial"/>
              </a:rPr>
              <a:t>Password, PIN, passphrase - the weakest factor on its own.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have</a:t>
            </a:r>
          </a:p>
          <a:p>
            <a:pPr algn="l">
              <a:spcAft>
                <a:spcPts val="300"/>
              </a:spcAft>
            </a:pPr>
            <a:r>
              <a:rPr sz="1200" b="0">
                <a:solidFill>
                  <a:srgbClr val="5B6372"/>
                </a:solidFill>
                <a:latin typeface="Arial"/>
              </a:rPr>
              <a:t>Phone TOTP app, smart card, hardware token (YubiKey).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are</a:t>
            </a:r>
          </a:p>
          <a:p>
            <a:pPr algn="l">
              <a:spcAft>
                <a:spcPts val="300"/>
              </a:spcAft>
            </a:pPr>
            <a:r>
              <a:rPr sz="1200" b="0">
                <a:solidFill>
                  <a:srgbClr val="5B6372"/>
                </a:solidFill>
                <a:latin typeface="Arial"/>
              </a:rPr>
              <a:t>Biometrics - fingerprint, face, iris.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Somewhere you are</a:t>
            </a:r>
          </a:p>
          <a:p>
            <a:pPr algn="l">
              <a:spcAft>
                <a:spcPts val="300"/>
              </a:spcAft>
            </a:pPr>
            <a:r>
              <a:rPr sz="1200" b="0">
                <a:solidFill>
                  <a:srgbClr val="5B6372"/>
                </a:solidFill>
                <a:latin typeface="Arial"/>
              </a:rPr>
              <a:t>Location attribute - geofencing blocks logins from outside approved areas.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do</a:t>
            </a:r>
          </a:p>
          <a:p>
            <a:pPr algn="l">
              <a:spcAft>
                <a:spcPts val="300"/>
              </a:spcAft>
            </a:pPr>
            <a:r>
              <a:rPr sz="1200" b="0">
                <a:solidFill>
                  <a:srgbClr val="5B6372"/>
                </a:solidFill>
                <a:latin typeface="Arial"/>
              </a:rPr>
              <a:t>Behavioural attributes - typing rhythm, signature dynamics.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MFA = 2+ DIFFERENT factors</a:t>
            </a:r>
          </a:p>
          <a:p>
            <a:pPr algn="l">
              <a:spcAft>
                <a:spcPts val="300"/>
              </a:spcAft>
            </a:pPr>
            <a:r>
              <a:rPr sz="1200" b="0">
                <a:solidFill>
                  <a:srgbClr val="5B6372"/>
                </a:solidFill>
                <a:latin typeface="Arial"/>
              </a:rPr>
              <a:t>Two passwords is not MFA; a password plus a TOTP code 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transition spd="fast" advClick="1">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MFA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Time-Based and Location-Based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Time-based OTP (TOTP)</a:t>
            </a:r>
          </a:p>
          <a:p>
            <a:pPr algn="l">
              <a:spcAft>
                <a:spcPts val="300"/>
              </a:spcAft>
            </a:pPr>
            <a:r>
              <a:rPr sz="1200" b="0">
                <a:solidFill>
                  <a:srgbClr val="5B6372"/>
                </a:solidFill>
                <a:latin typeface="Arial"/>
              </a:rPr>
              <a:t>A shared secret plus the current time yields a 6-digit code valid for 30 seconds.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Geofencing</a:t>
            </a:r>
          </a:p>
          <a:p>
            <a:pPr algn="l">
              <a:spcAft>
                <a:spcPts val="300"/>
              </a:spcAft>
            </a:pPr>
            <a:r>
              <a:rPr sz="1200" b="0">
                <a:solidFill>
                  <a:srgbClr val="5B6372"/>
                </a:solidFill>
                <a:latin typeface="Arial"/>
              </a:rPr>
              <a:t>Access permitted only from defined geographic areas or IP ranges.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Push / passkeys</a:t>
            </a:r>
          </a:p>
          <a:p>
            <a:pPr algn="l">
              <a:spcAft>
                <a:spcPts val="300"/>
              </a:spcAft>
            </a:pPr>
            <a:r>
              <a:rPr sz="1200" b="0">
                <a:solidFill>
                  <a:srgbClr val="5B6372"/>
                </a:solidFill>
                <a:latin typeface="Arial"/>
              </a:rPr>
              <a:t>FIDO2 passkeys bind the login to the genuine site - phishing-resistant MFA.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Grant the minimum rights a role needs, and remove them when the role ends.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transition spd="fast" advClick="1">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AUTHORIZATION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Control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Role-based (RBAC)</a:t>
            </a:r>
          </a:p>
          <a:p>
            <a:pPr algn="l">
              <a:spcAft>
                <a:spcPts val="300"/>
              </a:spcAft>
            </a:pPr>
            <a:r>
              <a:rPr sz="1200" b="0">
                <a:solidFill>
                  <a:srgbClr val="5B6372"/>
                </a:solidFill>
                <a:latin typeface="Arial"/>
              </a:rPr>
              <a:t>Rights attach to roles/groups; users inherit by membership - the enterprise default.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(MAC)</a:t>
            </a:r>
          </a:p>
          <a:p>
            <a:pPr algn="l">
              <a:spcAft>
                <a:spcPts val="300"/>
              </a:spcAft>
            </a:pPr>
            <a:r>
              <a:rPr sz="1200" b="0">
                <a:solidFill>
                  <a:srgbClr val="5B6372"/>
                </a:solidFill>
                <a:latin typeface="Arial"/>
              </a:rPr>
              <a:t>Labels and clearances fixed by policy; users cannot re-share - military and government.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Discretionary (DAC)</a:t>
            </a:r>
          </a:p>
          <a:p>
            <a:pPr algn="l">
              <a:spcAft>
                <a:spcPts val="300"/>
              </a:spcAft>
            </a:pPr>
            <a:r>
              <a:rPr sz="1200" b="0">
                <a:solidFill>
                  <a:srgbClr val="5B6372"/>
                </a:solidFill>
                <a:latin typeface="Arial"/>
              </a:rPr>
              <a:t>The resource owner decides who gets access - flexible, but permissions sprawl.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 lens</a:t>
            </a:r>
          </a:p>
          <a:p>
            <a:pPr algn="l">
              <a:spcAft>
                <a:spcPts val="300"/>
              </a:spcAft>
            </a:pPr>
            <a:r>
              <a:rPr sz="1200" b="0">
                <a:solidFill>
                  <a:srgbClr val="5B6372"/>
                </a:solidFill>
                <a:latin typeface="Arial"/>
              </a:rPr>
              <a:t>Whatever the model, grant minimum rights and review them regularly.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transition spd="fast" advClick="1">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SSO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Single Sign-On and Federation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Single sign-on (SSO)</a:t>
            </a:r>
          </a:p>
          <a:p>
            <a:pPr algn="l">
              <a:spcAft>
                <a:spcPts val="300"/>
              </a:spcAft>
            </a:pPr>
            <a:r>
              <a:rPr sz="1200" b="0">
                <a:solidFill>
                  <a:srgbClr val="5B6372"/>
                </a:solidFill>
                <a:latin typeface="Arial"/>
              </a:rPr>
              <a:t>Authenticate once, access many apps - one strong login to protect with MFA.</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SAML</a:t>
            </a:r>
          </a:p>
          <a:p>
            <a:pPr algn="l">
              <a:spcAft>
                <a:spcPts val="300"/>
              </a:spcAft>
            </a:pPr>
            <a:r>
              <a:rPr sz="1200" b="0">
                <a:solidFill>
                  <a:srgbClr val="5B6372"/>
                </a:solidFill>
                <a:latin typeface="Arial"/>
              </a:rPr>
              <a:t>XML federation: an identity provider (IdP) asserts who you are to service providers.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LDAP / LDAPS</a:t>
            </a:r>
          </a:p>
          <a:p>
            <a:pPr algn="l">
              <a:spcAft>
                <a:spcPts val="300"/>
              </a:spcAft>
            </a:pPr>
            <a:r>
              <a:rPr sz="1200" b="0">
                <a:solidFill>
                  <a:srgbClr val="5B6372"/>
                </a:solidFill>
                <a:latin typeface="Arial"/>
              </a:rPr>
              <a:t>Directory lookups on TCP 389; LDAPS wraps them in TLS on 636 - how apps query AD.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Kerberos</a:t>
            </a:r>
          </a:p>
          <a:p>
            <a:pPr algn="l">
              <a:spcAft>
                <a:spcPts val="300"/>
              </a:spcAft>
            </a:pPr>
            <a:r>
              <a:rPr sz="1200" b="0">
                <a:solidFill>
                  <a:srgbClr val="5B6372"/>
                </a:solidFill>
                <a:latin typeface="Arial"/>
              </a:rPr>
              <a:t>Ticket-based SSO in Windows domains - time-stamped tickets issued by the KDC.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transition spd="fast" advClick="1">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AAA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RADIUS vs TACACS+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RADIUS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TACACS+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Transport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UDP 1812/1813 (or 1645/1646)</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TCP 49</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Encryption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Password field only</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Entire payload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AAA split</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AuthN + AuthZ combined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three separated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use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Wi-Fi, VPN, 802.1X access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Admin access to network gear</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Origin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Open standard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Cisco (now published)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Exam favourite: RADIUS = network access over UDP; TACACS+ = device administration over TCP 49.</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transition spd="fast" advClick="1">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EAP - the Authentication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EAP</a:t>
            </a:r>
          </a:p>
          <a:p>
            <a:pPr algn="l">
              <a:spcAft>
                <a:spcPts val="300"/>
              </a:spcAft>
            </a:pPr>
            <a:r>
              <a:rPr sz="1200" b="0">
                <a:solidFill>
                  <a:srgbClr val="5B6372"/>
                </a:solidFill>
                <a:latin typeface="Arial"/>
              </a:rPr>
              <a:t>A framework, not one protocol - it carries many authentication methods inside 802.1X.</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EAP-TLS</a:t>
            </a:r>
          </a:p>
          <a:p>
            <a:pPr algn="l">
              <a:spcAft>
                <a:spcPts val="300"/>
              </a:spcAft>
            </a:pPr>
            <a:r>
              <a:rPr sz="1200" b="0">
                <a:solidFill>
                  <a:srgbClr val="5B6372"/>
                </a:solidFill>
                <a:latin typeface="Arial"/>
              </a:rPr>
              <a:t>Certificates on both server and client - strongest, passwordless.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PEAP</a:t>
            </a:r>
          </a:p>
          <a:p>
            <a:pPr algn="l">
              <a:spcAft>
                <a:spcPts val="300"/>
              </a:spcAft>
            </a:pPr>
            <a:r>
              <a:rPr sz="1200" b="0">
                <a:solidFill>
                  <a:srgbClr val="5B6372"/>
                </a:solidFill>
                <a:latin typeface="Arial"/>
              </a:rPr>
              <a:t>The server's cert builds a TLS tunnel, credentials go inside - the campus Wi-Fi standard.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EAP-PSK / EAP-MD5</a:t>
            </a:r>
          </a:p>
          <a:p>
            <a:pPr algn="l">
              <a:spcAft>
                <a:spcPts val="300"/>
              </a:spcAft>
            </a:pPr>
            <a:r>
              <a:rPr sz="1200" b="0">
                <a:solidFill>
                  <a:srgbClr val="5B6372"/>
                </a:solidFill>
                <a:latin typeface="Arial"/>
              </a:rPr>
              <a:t>Legacy lightweight methods - avoid wherever certificates are possible.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transition spd="fast" advClick="1">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DEVICE HARDENING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Device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default passwords</a:t>
            </a:r>
          </a:p>
          <a:p>
            <a:pPr algn="l">
              <a:spcAft>
                <a:spcPts val="300"/>
              </a:spcAft>
            </a:pPr>
            <a:r>
              <a:rPr sz="1200" b="0">
                <a:solidFill>
                  <a:srgbClr val="5B6372"/>
                </a:solidFill>
                <a:latin typeface="Arial"/>
              </a:rPr>
              <a:t>Factory admin credentials sit in every attacker's wordlist - change them on day 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unused services</a:t>
            </a:r>
          </a:p>
          <a:p>
            <a:pPr algn="l">
              <a:spcAft>
                <a:spcPts val="300"/>
              </a:spcAft>
            </a:pPr>
            <a:r>
              <a:rPr sz="1200" b="0">
                <a:solidFill>
                  <a:srgbClr val="5B6372"/>
                </a:solidFill>
                <a:latin typeface="Arial"/>
              </a:rPr>
              <a:t>Every listening daemon is attack surface - if nobody needs it, stop and disable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unused ports</a:t>
            </a:r>
          </a:p>
          <a:p>
            <a:pPr algn="l">
              <a:spcAft>
                <a:spcPts val="300"/>
              </a:spcAft>
            </a:pPr>
            <a:r>
              <a:rPr sz="1200" b="0">
                <a:solidFill>
                  <a:srgbClr val="5B6372"/>
                </a:solidFill>
                <a:latin typeface="Arial"/>
              </a:rPr>
              <a:t>Shut idle switch ports; an unused wall jack must not be a live network drop.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 firmware</a:t>
            </a:r>
          </a:p>
          <a:p>
            <a:pPr algn="l">
              <a:spcAft>
                <a:spcPts val="300"/>
              </a:spcAft>
            </a:pPr>
            <a:r>
              <a:rPr sz="1200" b="0">
                <a:solidFill>
                  <a:srgbClr val="5B6372"/>
                </a:solidFill>
                <a:latin typeface="Arial"/>
              </a:rPr>
              <a:t>Known CVEs in network gear are scanned for within hours of disclosure.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 management</a:t>
            </a:r>
          </a:p>
          <a:p>
            <a:pPr algn="l">
              <a:spcAft>
                <a:spcPts val="300"/>
              </a:spcAft>
            </a:pPr>
            <a:r>
              <a:rPr sz="1200" b="0">
                <a:solidFill>
                  <a:srgbClr val="5B6372"/>
                </a:solidFill>
                <a:latin typeface="Arial"/>
              </a:rPr>
              <a:t>Rotate SSH and API keys; revoke a leaver's keys the day they leave.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Secure the management plane</a:t>
            </a:r>
          </a:p>
          <a:p>
            <a:pPr algn="l">
              <a:spcAft>
                <a:spcPts val="300"/>
              </a:spcAft>
            </a:pPr>
            <a:r>
              <a:rPr sz="1200" b="0">
                <a:solidFill>
                  <a:srgbClr val="5B6372"/>
                </a:solidFill>
                <a:latin typeface="Arial"/>
              </a:rPr>
              <a:t>SSH not Telnet, HTTPS not HTTP, on a dedicated management VLAN.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transition spd="fast" advClick="1">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HARDENING IN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Hardened sshd_config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Lab 23 end-state: keys only, limited users, tested before reload.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/etc/ssh/sshd_config - hardened</a:t>
            </a:r>
          </a:p>
          <a:p>
            <a:pPr>
              <a:spcAft>
                <a:spcPts val="200"/>
              </a:spcAft>
            </a:pPr>
            <a:r>
              <a:rPr sz="1100">
                <a:solidFill>
                  <a:srgbClr val="9CDCFE"/>
                </a:solidFill>
                <a:latin typeface="Consolas"/>
              </a:rPr>
              <a:t>Port 2222</a:t>
            </a:r>
          </a:p>
          <a:p>
            <a:pPr>
              <a:spcAft>
                <a:spcPts val="200"/>
              </a:spcAft>
            </a:pPr>
            <a:r>
              <a:rPr sz="1100">
                <a:solidFill>
                  <a:srgbClr val="9CDCFE"/>
                </a:solidFill>
                <a:latin typeface="Consolas"/>
              </a:rPr>
              <a:t>PermitRootLogin prohibit-password</a:t>
            </a:r>
          </a:p>
          <a:p>
            <a:pPr>
              <a:spcAft>
                <a:spcPts val="200"/>
              </a:spcAft>
            </a:pPr>
            <a:r>
              <a:rPr sz="1100">
                <a:solidFill>
                  <a:srgbClr val="9CDCFE"/>
                </a:solidFill>
                <a:latin typeface="Consolas"/>
              </a:rPr>
              <a:t>PasswordAuthentication no</a:t>
            </a:r>
          </a:p>
          <a:p>
            <a:pPr>
              <a:spcAft>
                <a:spcPts val="200"/>
              </a:spcAft>
            </a:pPr>
            <a:r>
              <a:rPr sz="1100">
                <a:solidFill>
                  <a:srgbClr val="9CDCFE"/>
                </a:solidFill>
                <a:latin typeface="Consolas"/>
              </a:rPr>
              <a:t>PubkeyAuthentication yes</a:t>
            </a:r>
          </a:p>
          <a:p>
            <a:pPr>
              <a:spcAft>
                <a:spcPts val="200"/>
              </a:spcAft>
            </a:pPr>
            <a:r>
              <a:rPr sz="1100">
                <a:solidFill>
                  <a:srgbClr val="9CDCFE"/>
                </a:solidFill>
                <a:latin typeface="Consolas"/>
              </a:rPr>
              <a:t>MaxAuthTries 3</a:t>
            </a:r>
          </a:p>
          <a:p>
            <a:pPr>
              <a:spcAft>
                <a:spcPts val="200"/>
              </a:spcAft>
            </a:pPr>
            <a:r>
              <a:rPr sz="1100">
                <a:solidFill>
                  <a:srgbClr val="9CDCFE"/>
                </a:solidFill>
                <a:latin typeface="Consolas"/>
              </a:rPr>
              <a:t>AllowUsers admin</a:t>
            </a:r>
          </a:p>
          <a:p>
            <a:pPr>
              <a:spcAft>
                <a:spcPts val="200"/>
              </a:spcAft>
            </a:pPr>
            <a:r>
              <a:rPr sz="1100">
                <a:solidFill>
                  <a:srgbClr val="9CDCFE"/>
                </a:solidFill>
                <a:latin typeface="Consolas"/>
              </a:rPr>
              <a:t/>
            </a:r>
          </a:p>
          <a:p>
            <a:pPr>
              <a:spcAft>
                <a:spcPts val="200"/>
              </a:spcAft>
            </a:pPr>
            <a:r>
              <a:rPr sz="1100">
                <a:solidFill>
                  <a:srgbClr val="6A9955"/>
                </a:solidFill>
                <a:latin typeface="Consolas"/>
              </a:rPr>
              <a:t># validate BEFORE reloading:</a:t>
            </a:r>
          </a:p>
          <a:p>
            <a:pPr>
              <a:spcAft>
                <a:spcPts val="200"/>
              </a:spcAft>
            </a:pPr>
            <a:r>
              <a:rPr sz="1100">
                <a:solidFill>
                  <a:srgbClr val="9CDCFE"/>
                </a:solidFill>
                <a:latin typeface="Consolas"/>
              </a:rPr>
              <a:t>$ sshd -t &amp;&amp; systemctl reload ssh</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Keys only</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PasswordAuthentication no removes brute force as an attack class - keys cannot be guessed.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Blast-radius limits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AllowUsers and MaxAuthTries shrink who may try to log in, and how often.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sshd -t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Test the config before reload - a syntax error must never lock you out of a remote box.</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transition spd="fast" advClick="1">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SSH Hardening with Key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Harden SSH: Ed25519 key authentication, password login disabled, config validated before reload.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Generate an Ed25519 key pair, install the public key in authorized_keys, prove key login works, then disable PasswordAuthentication in sshd_config, validate with sshd -t and confirm password login is refused.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SSH daemon that accepts only public-key authentication, with root password login prohibited.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openssh-server, openssh-client, ssh-keygen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Key login returns root with no password prompt; forcing password authentication returns Permission denied (publickey).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transition spd="fast" advClick="1">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an Ed25519 key pair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ssh-keygen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Test key-based login - no password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ssh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Disable password authentication in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sed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Validate the config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sshd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Discuss bonus hardening</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Harden SSH: Ed25519 key authentication, password login disabled, config validated before reload.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SSH Hardening with Key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Key login returns root with no password prompt; forcing password authentication returns Permission denied (publickey).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denied with the key</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Fix permissions: chmod 700 ~/.ssh and chmod 600 ~/.ssh/authorized_keys - sshd refuses lax modes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sshd -t reports errors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Fix the reported line in /etc/ssh/sshd_config before reloading - a bad config can lock you out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Password login still works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override files in /etc/ssh/sshd_config.d/ for PasswordAuthentication yes, then reload ssh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transition spd="fast" advClick="1">
    <p:fade/>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 IN TRANSIT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VPN - Extending the Trusted Zone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Site-to-site VPN</a:t>
            </a:r>
          </a:p>
          <a:p>
            <a:pPr algn="l">
              <a:spcAft>
                <a:spcPts val="300"/>
              </a:spcAft>
            </a:pPr>
            <a:r>
              <a:rPr sz="1200" b="0">
                <a:solidFill>
                  <a:srgbClr val="5B6372"/>
                </a:solidFill>
                <a:latin typeface="Arial"/>
              </a:rPr>
              <a:t>Routers or firewalls tunnel whole networks together across the Internet.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Client-to-site</a:t>
            </a:r>
          </a:p>
          <a:p>
            <a:pPr algn="l">
              <a:spcAft>
                <a:spcPts val="300"/>
              </a:spcAft>
            </a:pPr>
            <a:r>
              <a:rPr sz="1200" b="0">
                <a:solidFill>
                  <a:srgbClr val="5B6372"/>
                </a:solidFill>
                <a:latin typeface="Arial"/>
              </a:rPr>
              <a:t>Remote access - a laptop joins the corporate network from anywhere.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IPSec</a:t>
            </a:r>
          </a:p>
          <a:p>
            <a:pPr algn="l">
              <a:spcAft>
                <a:spcPts val="300"/>
              </a:spcAft>
            </a:pPr>
            <a:r>
              <a:rPr sz="1200" b="0">
                <a:solidFill>
                  <a:srgbClr val="5B6372"/>
                </a:solidFill>
                <a:latin typeface="Arial"/>
              </a:rPr>
              <a:t>AH/ESP with IKE key exchange - the classic standard: rich, interoperable, complex.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WireGuard</a:t>
            </a:r>
          </a:p>
          <a:p>
            <a:pPr algn="l">
              <a:spcAft>
                <a:spcPts val="300"/>
              </a:spcAft>
            </a:pPr>
            <a:r>
              <a:rPr sz="1200" b="0">
                <a:solidFill>
                  <a:srgbClr val="5B6372"/>
                </a:solidFill>
                <a:latin typeface="Arial"/>
              </a:rPr>
              <a:t>Modern and tiny: Curve25519 key pairs, no PKI needed - what you build in Lab 24.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Split vs full tunnel</a:t>
            </a:r>
          </a:p>
          <a:p>
            <a:pPr algn="l">
              <a:spcAft>
                <a:spcPts val="300"/>
              </a:spcAft>
            </a:pPr>
            <a:r>
              <a:rPr sz="1200" b="0">
                <a:solidFill>
                  <a:srgbClr val="5B6372"/>
                </a:solidFill>
                <a:latin typeface="Arial"/>
              </a:rPr>
              <a:t>Route everything through the VPN, or only the corporate subnets.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A VPN extends the trusted zone across an untrusted network - encryption in transit.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transition spd="fast" advClick="1">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 IN TRANSIT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VPN Technologies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IPSec</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TLS VPN</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WireGuard</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Layer</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Network (L3)</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Session (TLS)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Network (L3)</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Keys</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IKE + certs / PSK</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X.509 certificates</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Static 32-byte key pairs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Codebase</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Large, complex</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Large (OpenVPN)</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Tiny (~4k lines)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Good (HW offload)</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Moderate</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Excellent</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Standards, site-to-site</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Remote access via 443</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Modern deployments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WireGuard's allowed-ips doubles as a routing rule AND an inbound ACL - you will see this in Lab 24.</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transition spd="fast" advClick="1">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site-to-site WireGuard tunnel between two network namespaces and verify the handshake.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two namespaces as VPN endpoints, generate Curve25519 key pairs, configure wg0 interfaces with peer public keys and allowed-ips, bring the tunnel up, ping across it and inspect handshake state with wg show.</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encrypted point-to-point tunnel (10.99.0.1 &lt;-&gt; 10.99.0.2) between two namespaces acting as two sites.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wireguard, wireguard-tools, iproute2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ping -c2 10.99.0.1 from site-b succeeds through the tunnel; wg show reports the peer public key, a recent handshake time and rising transfer counters.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transition spd="fast" advClick="1">
    <p:fade/>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WireGuard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a key pair for each peer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Assign the tunnel addresses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Ping site-a across the encrypted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Clean up namespaces and key files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site-to-site WireGuard tunnel between two network namespaces and verify the handshake.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ping -c2 10.99.0.1 from site-b succeeds through the tunnel; wg show reports the peer public key, a recent handshake time and rising transfer counters.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 fails across the tunnel</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wg show for a handshake; verify each peer entry uses the other side's PUBLIC key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wg show shows no handshake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site-b's endpoint 127.0.0.1:51820 matches site-a's listen-port, and allowed-ips cover the peer /32</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wg0 already exists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Stale run - delete with ip netns del site-a &amp;&amp; ip netns del site-b and recreate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transition spd="fast" advClick="1">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OBJ 4.3 · ATTACK SURFACE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Every open port is a doorway.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Attack-surface reduction is the cheapest security win: enumerate what is listening, ask why it is there, and disable what nobody needs - before an attacker does the asking.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transition spd="fast" advClick="1">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MALWARE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Malware Taxonomy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Virus / worm</a:t>
            </a:r>
          </a:p>
          <a:p>
            <a:pPr algn="l">
              <a:spcAft>
                <a:spcPts val="300"/>
              </a:spcAft>
            </a:pPr>
            <a:r>
              <a:rPr sz="1200" b="0">
                <a:solidFill>
                  <a:srgbClr val="5B6372"/>
                </a:solidFill>
                <a:latin typeface="Arial"/>
              </a:rPr>
              <a:t>A virus infects files; a worm self-propagates across the network unaided.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Trojan / RAT</a:t>
            </a:r>
          </a:p>
          <a:p>
            <a:pPr algn="l">
              <a:spcAft>
                <a:spcPts val="300"/>
              </a:spcAft>
            </a:pPr>
            <a:r>
              <a:rPr sz="1200" b="0">
                <a:solidFill>
                  <a:srgbClr val="5B6372"/>
                </a:solidFill>
                <a:latin typeface="Arial"/>
              </a:rPr>
              <a:t>Hides inside legitimate-looking software; a RAT hands the attacker remote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Ransomware</a:t>
            </a:r>
          </a:p>
          <a:p>
            <a:pPr algn="l">
              <a:spcAft>
                <a:spcPts val="300"/>
              </a:spcAft>
            </a:pPr>
            <a:r>
              <a:rPr sz="1200" b="0">
                <a:solidFill>
                  <a:srgbClr val="5B6372"/>
                </a:solidFill>
                <a:latin typeface="Arial"/>
              </a:rPr>
              <a:t>Encrypts your data and demands payment - today's top business threat.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Spyware / keylogger</a:t>
            </a:r>
          </a:p>
          <a:p>
            <a:pPr algn="l">
              <a:spcAft>
                <a:spcPts val="300"/>
              </a:spcAft>
            </a:pPr>
            <a:r>
              <a:rPr sz="1200" b="0">
                <a:solidFill>
                  <a:srgbClr val="5B6372"/>
                </a:solidFill>
                <a:latin typeface="Arial"/>
              </a:rPr>
              <a:t>Silently collects keystrokes, credentials and screen contents.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Rootkit</a:t>
            </a:r>
          </a:p>
          <a:p>
            <a:pPr algn="l">
              <a:spcAft>
                <a:spcPts val="300"/>
              </a:spcAft>
            </a:pPr>
            <a:r>
              <a:rPr sz="1200" b="0">
                <a:solidFill>
                  <a:srgbClr val="5B6372"/>
                </a:solidFill>
                <a:latin typeface="Arial"/>
              </a:rPr>
              <a:t>Buries itself under the OS to hide processes and survive detection.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 bomb</a:t>
            </a:r>
          </a:p>
          <a:p>
            <a:pPr algn="l">
              <a:spcAft>
                <a:spcPts val="300"/>
              </a:spcAft>
            </a:pPr>
            <a:r>
              <a:rPr sz="1200" b="0">
                <a:solidFill>
                  <a:srgbClr val="5B6372"/>
                </a:solidFill>
                <a:latin typeface="Arial"/>
              </a:rPr>
              <a:t>Dormant code that triggers on a date or event - often an insider plant.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transition spd="fast" advClick="1">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SOCIAL ENGINEERING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Social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Phishing</a:t>
            </a:r>
          </a:p>
          <a:p>
            <a:pPr algn="l">
              <a:spcAft>
                <a:spcPts val="300"/>
              </a:spcAft>
            </a:pPr>
            <a:r>
              <a:rPr sz="1200" b="0">
                <a:solidFill>
                  <a:srgbClr val="5B6372"/>
                </a:solidFill>
                <a:latin typeface="Arial"/>
              </a:rPr>
              <a:t>Fraudulent mail and sites harvest credentials; spear phishing targets a person, whaling an exec.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Dumpster diving</a:t>
            </a:r>
          </a:p>
          <a:p>
            <a:pPr algn="l">
              <a:spcAft>
                <a:spcPts val="300"/>
              </a:spcAft>
            </a:pPr>
            <a:r>
              <a:rPr sz="1200" b="0">
                <a:solidFill>
                  <a:srgbClr val="5B6372"/>
                </a:solidFill>
                <a:latin typeface="Arial"/>
              </a:rPr>
              <a:t>Discarded printouts leak configs and passwords - shred everything.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Shoulder surfing</a:t>
            </a:r>
          </a:p>
          <a:p>
            <a:pPr algn="l">
              <a:spcAft>
                <a:spcPts val="300"/>
              </a:spcAft>
            </a:pPr>
            <a:r>
              <a:rPr sz="1200" b="0">
                <a:solidFill>
                  <a:srgbClr val="5B6372"/>
                </a:solidFill>
                <a:latin typeface="Arial"/>
              </a:rPr>
              <a:t>Watching screens and keypads - privacy filters and awareness defeat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Tailgating</a:t>
            </a:r>
          </a:p>
          <a:p>
            <a:pPr algn="l">
              <a:spcAft>
                <a:spcPts val="300"/>
              </a:spcAft>
            </a:pPr>
            <a:r>
              <a:rPr sz="1200" b="0">
                <a:solidFill>
                  <a:srgbClr val="5B6372"/>
                </a:solidFill>
                <a:latin typeface="Arial"/>
              </a:rPr>
              <a:t>Following a badge-holder through a secure door - vestibules stop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Impersonation</a:t>
            </a:r>
          </a:p>
          <a:p>
            <a:pPr algn="l">
              <a:spcAft>
                <a:spcPts val="300"/>
              </a:spcAft>
            </a:pPr>
            <a:r>
              <a:rPr sz="1200" b="0">
                <a:solidFill>
                  <a:srgbClr val="5B6372"/>
                </a:solidFill>
                <a:latin typeface="Arial"/>
              </a:rPr>
              <a:t>The fake IT-support call that just needs your password to help you.</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 education</a:t>
            </a:r>
          </a:p>
          <a:p>
            <a:pPr algn="l">
              <a:spcAft>
                <a:spcPts val="300"/>
              </a:spcAft>
            </a:pPr>
            <a:r>
              <a:rPr sz="1200" b="0">
                <a:solidFill>
                  <a:srgbClr val="5B6372"/>
                </a:solidFill>
                <a:latin typeface="Arial"/>
              </a:rPr>
              <a:t>Humans are part of the perimeter: train, phish-test, make reporting easy.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transition spd="fast" advClick="1">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4.2 · PASSWORD ATTACKS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Password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Brute force</a:t>
            </a:r>
          </a:p>
          <a:p>
            <a:pPr algn="l">
              <a:spcAft>
                <a:spcPts val="300"/>
              </a:spcAft>
            </a:pPr>
            <a:r>
              <a:rPr sz="1200" b="0">
                <a:solidFill>
                  <a:srgbClr val="5B6372"/>
                </a:solidFill>
                <a:latin typeface="Arial"/>
              </a:rPr>
              <a:t>Try every combination - length beats complexity; each extra character multiplies the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Dictionary</a:t>
            </a:r>
          </a:p>
          <a:p>
            <a:pPr algn="l">
              <a:spcAft>
                <a:spcPts val="300"/>
              </a:spcAft>
            </a:pPr>
            <a:r>
              <a:rPr sz="1200" b="0">
                <a:solidFill>
                  <a:srgbClr val="5B6372"/>
                </a:solidFill>
                <a:latin typeface="Arial"/>
              </a:rPr>
              <a:t>Try likely words and leaked passwords first - most humans are predictable.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Credential stuffing</a:t>
            </a:r>
          </a:p>
          <a:p>
            <a:pPr algn="l">
              <a:spcAft>
                <a:spcPts val="300"/>
              </a:spcAft>
            </a:pPr>
            <a:r>
              <a:rPr sz="1200" b="0">
                <a:solidFill>
                  <a:srgbClr val="5B6372"/>
                </a:solidFill>
                <a:latin typeface="Arial"/>
              </a:rPr>
              <a:t>Replay leaked username/password pairs on other sites - MFA breaks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Defences</a:t>
            </a:r>
          </a:p>
          <a:p>
            <a:pPr algn="l">
              <a:spcAft>
                <a:spcPts val="300"/>
              </a:spcAft>
            </a:pPr>
            <a:r>
              <a:rPr sz="1200" b="0">
                <a:solidFill>
                  <a:srgbClr val="5B6372"/>
                </a:solidFill>
                <a:latin typeface="Arial"/>
              </a:rPr>
              <a:t>Long passphrases, lockout policies, salted hashes, MFA everywhere.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transition spd="fast" advClick="1">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4.3 · ATTACK SURFACE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Vulnerability Management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estate for exposed services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 by CVSS score and exploitability</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Patch on a defined cadence with change control</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Re-scan to verify the exposure is closed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transition spd="fast" advClick="1">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Scanning and Service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Enumerate exposed services with nmap and reduce the attack surface by disabling what is unneeded.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SYN-scan all 65535 TCP ports on your own host, identify service versions and the OS, cross-check each open port against ss -tulnp, disable an unnecessary service and re-scan to confirm the port is closed.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port-by-port inventory of your host's attack surface, with an unneeded service disabled and verified closed.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nmap, ss, systemctl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final nmap -sS -p 80 scan reports the port closed, and ss -tulnp no longer lists the disabled service - the attack surface measurably shrank.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transition spd="fast" advClick="1">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nmap</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Enumerate service versions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Fingerprint the operating system</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Cross-check every open port against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Re-scan to confirm the port is now</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Enumerate exposed services with nmap and reduce the attack surface by disabling what is unneeded.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Scanning and Service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final nmap -sS -p 80 scan reports the port closed, and ss -tulnp no longer lists the disabled service - the attack surface measurably shrank.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Scan takes very long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 probes 65535 ports; in the lab scan a shortlist such as -p 1-1024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nmap -O gives no result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OS fingerprinting needs root privileges and at least one open and one closed port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Port still open after disable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Another process owns it - find the PID with ss -tulnp and stop that unit too</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transition spd="fast" advClick="1">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TYPES OF ATTACKS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Attack Catalogue: Vector, Layer, Defence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Attack</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it works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Primary defence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DoS / DDoS</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3-7</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Botnet floods links or servers</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Scrubbing, rate limits</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MAC flooding</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Overflow CAM table; switch floods</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Port security limits</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ARP poisoning</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Forged replies put attacker on-path</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Dynamic ARP Inspection</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VLAN hopping</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Double tags / fake trunk cross VLANs</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No native VLAN, no DTP</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DNS poisoning</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7</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Fake records redirect victims</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DNSSEC, patched resolvers</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Evil twin</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1-2</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Cloned SSID captures clients</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802.1X, WIPS monitoring</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For every attack, know the layer it lives at - the defence always sits at the same layer.</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transition spd="fast" advClick="1">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DoS/DDoS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DoS and DDoS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Botnet and C2</a:t>
            </a:r>
          </a:p>
          <a:p>
            <a:pPr algn="l">
              <a:spcAft>
                <a:spcPts val="300"/>
              </a:spcAft>
            </a:pPr>
            <a:r>
              <a:rPr sz="1200" b="0">
                <a:solidFill>
                  <a:srgbClr val="5B6372"/>
                </a:solidFill>
                <a:latin typeface="Arial"/>
              </a:rPr>
              <a:t>Compromised zombies take orders from a command-and-control server.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Volumetric</a:t>
            </a:r>
          </a:p>
          <a:p>
            <a:pPr algn="l">
              <a:spcAft>
                <a:spcPts val="300"/>
              </a:spcAft>
            </a:pPr>
            <a:r>
              <a:rPr sz="1200" b="0">
                <a:solidFill>
                  <a:srgbClr val="5B6372"/>
                </a:solidFill>
                <a:latin typeface="Arial"/>
              </a:rPr>
              <a:t>Saturate the pipe - UDP floods, amplification via open DNS/NTP servers.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Protocol attack</a:t>
            </a:r>
          </a:p>
          <a:p>
            <a:pPr algn="l">
              <a:spcAft>
                <a:spcPts val="300"/>
              </a:spcAft>
            </a:pPr>
            <a:r>
              <a:rPr sz="1200" b="0">
                <a:solidFill>
                  <a:srgbClr val="5B6372"/>
                </a:solidFill>
                <a:latin typeface="Arial"/>
              </a:rPr>
              <a:t>Exhaust state tables - SYN floods hold thousands of half-open connections.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Application attack</a:t>
            </a:r>
          </a:p>
          <a:p>
            <a:pPr algn="l">
              <a:spcAft>
                <a:spcPts val="300"/>
              </a:spcAft>
            </a:pPr>
            <a:r>
              <a:rPr sz="1200" b="0">
                <a:solidFill>
                  <a:srgbClr val="5B6372"/>
                </a:solidFill>
                <a:latin typeface="Arial"/>
              </a:rPr>
              <a:t>Cheap requests, expensive responses - HTTP floods and Slowloris.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transition spd="fast" advClick="1">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ON-PATH ATTACKS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an ARP Poisoning Attack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attacker joins the LAN</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Poison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forged ARP replies sent</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On-path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victim traffic redirected</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Harvest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credentials sniffed</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Defend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DAI drops forged ARP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BREAK THE CHAIN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Dynamic ARP Inspection validates every ARP reply against the DHCP snooping binding table - forged replies are dropped at the switch port.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4.2 · VLAN HOPPING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VLAN Hopping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Switch spoofing</a:t>
            </a:r>
          </a:p>
          <a:p>
            <a:pPr algn="l">
              <a:spcAft>
                <a:spcPts val="300"/>
              </a:spcAft>
            </a:pPr>
            <a:r>
              <a:rPr sz="1200" b="0">
                <a:solidFill>
                  <a:srgbClr val="5B6372"/>
                </a:solidFill>
                <a:latin typeface="Arial"/>
              </a:rPr>
              <a:t>The attacker negotiates a trunk via DTP and receives every VLAN - disable DTP, set access mode.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Double tagging</a:t>
            </a:r>
          </a:p>
          <a:p>
            <a:pPr algn="l">
              <a:spcAft>
                <a:spcPts val="300"/>
              </a:spcAft>
            </a:pPr>
            <a:r>
              <a:rPr sz="1200" b="0">
                <a:solidFill>
                  <a:srgbClr val="5B6372"/>
                </a:solidFill>
                <a:latin typeface="Arial"/>
              </a:rPr>
              <a:t>Outer tag stripped on the native VLAN, inner tag delivers into the victim VLAN - one-way but real.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Native VLAN hygiene</a:t>
            </a:r>
          </a:p>
          <a:p>
            <a:pPr algn="l">
              <a:spcAft>
                <a:spcPts val="300"/>
              </a:spcAft>
            </a:pPr>
            <a:r>
              <a:rPr sz="1200" b="0">
                <a:solidFill>
                  <a:srgbClr val="5B6372"/>
                </a:solidFill>
                <a:latin typeface="Arial"/>
              </a:rPr>
              <a:t>Use a dedicated, unused native VLAN; never carry user traffic on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Private VLANs</a:t>
            </a:r>
          </a:p>
          <a:p>
            <a:pPr algn="l">
              <a:spcAft>
                <a:spcPts val="300"/>
              </a:spcAft>
            </a:pPr>
            <a:r>
              <a:rPr sz="1200" b="0">
                <a:solidFill>
                  <a:srgbClr val="5B6372"/>
                </a:solidFill>
                <a:latin typeface="Arial"/>
              </a:rPr>
              <a:t>Port isolation stops peer-to-peer traffic even inside the same VLAN.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transition spd="fast" advClick="1">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ROGUE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Rogue Devices and On-Path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DHCP server</a:t>
            </a:r>
          </a:p>
          <a:p>
            <a:pPr algn="l">
              <a:spcAft>
                <a:spcPts val="300"/>
              </a:spcAft>
            </a:pPr>
            <a:r>
              <a:rPr sz="1200" b="0">
                <a:solidFill>
                  <a:srgbClr val="5B6372"/>
                </a:solidFill>
                <a:latin typeface="Arial"/>
              </a:rPr>
              <a:t>Hands out attacker-controlled gateway/DNS - a lease outside your network ID is the tell.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AP</a:t>
            </a:r>
          </a:p>
          <a:p>
            <a:pPr algn="l">
              <a:spcAft>
                <a:spcPts val="300"/>
              </a:spcAft>
            </a:pPr>
            <a:r>
              <a:rPr sz="1200" b="0">
                <a:solidFill>
                  <a:srgbClr val="5B6372"/>
                </a:solidFill>
                <a:latin typeface="Arial"/>
              </a:rPr>
              <a:t>An unauthorised access point bridging outsiders straight into the LAN.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Evil twin</a:t>
            </a:r>
          </a:p>
          <a:p>
            <a:pPr algn="l">
              <a:spcAft>
                <a:spcPts val="300"/>
              </a:spcAft>
            </a:pPr>
            <a:r>
              <a:rPr sz="1200" b="0">
                <a:solidFill>
                  <a:srgbClr val="5B6372"/>
                </a:solidFill>
                <a:latin typeface="Arial"/>
              </a:rPr>
              <a:t>A cloned corporate SSID; clients auto-join and their traffic is captured.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On-path (MITM)</a:t>
            </a:r>
          </a:p>
          <a:p>
            <a:pPr algn="l">
              <a:spcAft>
                <a:spcPts val="300"/>
              </a:spcAft>
            </a:pPr>
            <a:r>
              <a:rPr sz="1200" b="0">
                <a:solidFill>
                  <a:srgbClr val="5B6372"/>
                </a:solidFill>
                <a:latin typeface="Arial"/>
              </a:rPr>
              <a:t>The attacker relays between two parties, reading or altering everything.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snooping + 802.1X</a:t>
            </a:r>
          </a:p>
          <a:p>
            <a:pPr algn="l">
              <a:spcAft>
                <a:spcPts val="300"/>
              </a:spcAft>
            </a:pPr>
            <a:r>
              <a:rPr sz="1200" b="0">
                <a:solidFill>
                  <a:srgbClr val="5B6372"/>
                </a:solidFill>
                <a:latin typeface="Arial"/>
              </a:rPr>
              <a:t>DHCP snooping drops rogue offers; port authentication blocks rogue gear.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WIPS</a:t>
            </a:r>
          </a:p>
          <a:p>
            <a:pPr algn="l">
              <a:spcAft>
                <a:spcPts val="300"/>
              </a:spcAft>
            </a:pPr>
            <a:r>
              <a:rPr sz="1200" b="0">
                <a:solidFill>
                  <a:srgbClr val="5B6372"/>
                </a:solidFill>
                <a:latin typeface="Arial"/>
              </a:rPr>
              <a:t>Wireless IPS detects unknown SSIDs and contains rogue radios.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transition spd="fast" advClick="1">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4.2 · SPOOFING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Spoofing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MAC spoofing</a:t>
            </a:r>
          </a:p>
          <a:p>
            <a:pPr algn="l">
              <a:spcAft>
                <a:spcPts val="300"/>
              </a:spcAft>
            </a:pPr>
            <a:r>
              <a:rPr sz="1200" b="0">
                <a:solidFill>
                  <a:srgbClr val="5B6372"/>
                </a:solidFill>
                <a:latin typeface="Arial"/>
              </a:rPr>
              <a:t>Clone an allowed MAC address to slip past port filters.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IP spoofing</a:t>
            </a:r>
          </a:p>
          <a:p>
            <a:pPr algn="l">
              <a:spcAft>
                <a:spcPts val="300"/>
              </a:spcAft>
            </a:pPr>
            <a:r>
              <a:rPr sz="1200" b="0">
                <a:solidFill>
                  <a:srgbClr val="5B6372"/>
                </a:solidFill>
                <a:latin typeface="Arial"/>
              </a:rPr>
              <a:t>Forge the source address - the engine behind amplification DDoS.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DNS spoofing / poisoning</a:t>
            </a:r>
          </a:p>
          <a:p>
            <a:pPr algn="l">
              <a:spcAft>
                <a:spcPts val="300"/>
              </a:spcAft>
            </a:pPr>
            <a:r>
              <a:rPr sz="1200" b="0">
                <a:solidFill>
                  <a:srgbClr val="5B6372"/>
                </a:solidFill>
                <a:latin typeface="Arial"/>
              </a:rPr>
              <a:t>Corrupt resolver caches so good names resolve to bad hosts.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Defences</a:t>
            </a:r>
          </a:p>
          <a:p>
            <a:pPr algn="l">
              <a:spcAft>
                <a:spcPts val="300"/>
              </a:spcAft>
            </a:pPr>
            <a:r>
              <a:rPr sz="1200" b="0">
                <a:solidFill>
                  <a:srgbClr val="5B6372"/>
                </a:solidFill>
                <a:latin typeface="Arial"/>
              </a:rPr>
              <a:t>Ingress filtering (BCP 38), DNSSEC validation, Dynamic ARP Inspection.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transition spd="fast" advClick="1">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NETWORK HARDENING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Switch and Network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DHCP snooping</a:t>
            </a:r>
          </a:p>
          <a:p>
            <a:pPr algn="l">
              <a:spcAft>
                <a:spcPts val="300"/>
              </a:spcAft>
            </a:pPr>
            <a:r>
              <a:rPr sz="1200" b="0">
                <a:solidFill>
                  <a:srgbClr val="5B6372"/>
                </a:solidFill>
                <a:latin typeface="Arial"/>
              </a:rPr>
              <a:t>Only trusted uplink ports may send DHCP offers - kills rogue DHCP.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Dynamic ARP Inspection</a:t>
            </a:r>
          </a:p>
          <a:p>
            <a:pPr algn="l">
              <a:spcAft>
                <a:spcPts val="300"/>
              </a:spcAft>
            </a:pPr>
            <a:r>
              <a:rPr sz="1200" b="0">
                <a:solidFill>
                  <a:srgbClr val="5B6372"/>
                </a:solidFill>
                <a:latin typeface="Arial"/>
              </a:rPr>
              <a:t>Validates ARP against the snooping bindings - kills ARP poisoning.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security</a:t>
            </a:r>
          </a:p>
          <a:p>
            <a:pPr algn="l">
              <a:spcAft>
                <a:spcPts val="300"/>
              </a:spcAft>
            </a:pPr>
            <a:r>
              <a:rPr sz="1200" b="0">
                <a:solidFill>
                  <a:srgbClr val="5B6372"/>
                </a:solidFill>
                <a:latin typeface="Arial"/>
              </a:rPr>
              <a:t>Limit MACs per port, err-disable on violation - kills MAC flooding.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 guard</a:t>
            </a:r>
          </a:p>
          <a:p>
            <a:pPr algn="l">
              <a:spcAft>
                <a:spcPts val="300"/>
              </a:spcAft>
            </a:pPr>
            <a:r>
              <a:rPr sz="1200" b="0">
                <a:solidFill>
                  <a:srgbClr val="5B6372"/>
                </a:solidFill>
                <a:latin typeface="Arial"/>
              </a:rPr>
              <a:t>Blocks rogue IPv6 router advertisements at access ports.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 plane policing</a:t>
            </a:r>
          </a:p>
          <a:p>
            <a:pPr algn="l">
              <a:spcAft>
                <a:spcPts val="300"/>
              </a:spcAft>
            </a:pPr>
            <a:r>
              <a:rPr sz="1200" b="0">
                <a:solidFill>
                  <a:srgbClr val="5B6372"/>
                </a:solidFill>
                <a:latin typeface="Arial"/>
              </a:rPr>
              <a:t>Rate-limits traffic to the device CPU so it survives a DoS.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unused ports</a:t>
            </a:r>
          </a:p>
          <a:p>
            <a:pPr algn="l">
              <a:spcAft>
                <a:spcPts val="300"/>
              </a:spcAft>
            </a:pPr>
            <a:r>
              <a:rPr sz="1200" b="0">
                <a:solidFill>
                  <a:srgbClr val="5B6372"/>
                </a:solidFill>
                <a:latin typeface="Arial"/>
              </a:rPr>
              <a:t>A patch-panel jack nobody uses should terminate nowhere.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transition spd="fast" advClick="1">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NAC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802.1X Network Access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Supplicant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device asks to join</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Authenticator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switch relays EAP</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RADIUS server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credentials checked</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Posture check</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patch level verified</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VLAN assigned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access or quarantine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Nothing gets a usable port until identity and device health are proven - NAC turns every access port and SSID into a checkpoint.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SEGMENTATION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Segmentation Enforcement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Zone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lives there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segregate it</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IoT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Cameras, sensors, smart devices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Rarely patched; assume compromised</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IIoT / OT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Industrial sensors, actuators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Uptime-critical; no direct IT access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SCADA / ICS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Plant supervisory control</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Legacy protocols with no auth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Guest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Visitor phones and laptops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Internet only - zero internal reach</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BYOD</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Staff personal devices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Unmanaged; NAC posture, limited access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Segment by trust and blast radius: a hacked camera must never see the finance VLAN.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transition spd="fast" advClick="1">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DECEPTION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Deception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Honeypot</a:t>
            </a:r>
          </a:p>
          <a:p>
            <a:pPr algn="l">
              <a:spcAft>
                <a:spcPts val="300"/>
              </a:spcAft>
            </a:pPr>
            <a:r>
              <a:rPr sz="1200" b="0">
                <a:solidFill>
                  <a:srgbClr val="5B6372"/>
                </a:solidFill>
                <a:latin typeface="Arial"/>
              </a:rPr>
              <a:t>A deliberately vulnerable decoy host - any touch on it is by definition suspicious.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Honeynet</a:t>
            </a:r>
          </a:p>
          <a:p>
            <a:pPr algn="l">
              <a:spcAft>
                <a:spcPts val="300"/>
              </a:spcAft>
            </a:pPr>
            <a:r>
              <a:rPr sz="1200" b="0">
                <a:solidFill>
                  <a:srgbClr val="5B6372"/>
                </a:solidFill>
                <a:latin typeface="Arial"/>
              </a:rPr>
              <a:t>A whole decoy network of honeypots modelling your real estate.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deceive</a:t>
            </a:r>
          </a:p>
          <a:p>
            <a:pPr algn="l">
              <a:spcAft>
                <a:spcPts val="300"/>
              </a:spcAft>
            </a:pPr>
            <a:r>
              <a:rPr sz="1200" b="0">
                <a:solidFill>
                  <a:srgbClr val="5B6372"/>
                </a:solidFill>
                <a:latin typeface="Arial"/>
              </a:rPr>
              <a:t>Attackers burn time on fakes while defenders harvest indicators and early warning.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Placement</a:t>
            </a:r>
          </a:p>
          <a:p>
            <a:pPr algn="l">
              <a:spcAft>
                <a:spcPts val="300"/>
              </a:spcAft>
            </a:pPr>
            <a:r>
              <a:rPr sz="1200" b="0">
                <a:solidFill>
                  <a:srgbClr val="5B6372"/>
                </a:solidFill>
                <a:latin typeface="Arial"/>
              </a:rPr>
              <a:t>In the screened subnet or a dedicated VLAN - never among production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transition spd="fast" advClick="1">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4.3 · IDS/IPS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IDS or IPS - Where Does the Sensor Sit?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Should the sensor sit inline
and block, or watch a copy
and alert?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INLINE - IPS</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Sits in the traffic path and drops malicious packets in real time. Risk: a false positive blocks legitimate traffic; adds latency.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PASSIVE - IDS</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Watches a mirror/TAP copy and raises alerts for analysts. No traffic risk, but detection only - response is manual.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Suricata can run either mode - Lab 26 runs it passively as an IDS on eth0.</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transition spd="fast" advClick="1">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IDS/IPS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IDS/IPS Detect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Signature-based</a:t>
            </a:r>
          </a:p>
          <a:p>
            <a:pPr algn="l">
              <a:spcAft>
                <a:spcPts val="300"/>
              </a:spcAft>
            </a:pPr>
            <a:r>
              <a:rPr sz="1200" b="0">
                <a:solidFill>
                  <a:srgbClr val="5B6372"/>
                </a:solidFill>
                <a:latin typeface="Arial"/>
              </a:rPr>
              <a:t>Match known patterns (ET rules) - precise, but blind to novel attacks.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Anomaly-based</a:t>
            </a:r>
          </a:p>
          <a:p>
            <a:pPr algn="l">
              <a:spcAft>
                <a:spcPts val="300"/>
              </a:spcAft>
            </a:pPr>
            <a:r>
              <a:rPr sz="1200" b="0">
                <a:solidFill>
                  <a:srgbClr val="5B6372"/>
                </a:solidFill>
                <a:latin typeface="Arial"/>
              </a:rPr>
              <a:t>Baseline normal, alert on deviation - catches zero-days, more false positives.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 feeds</a:t>
            </a:r>
          </a:p>
          <a:p>
            <a:pPr algn="l">
              <a:spcAft>
                <a:spcPts val="300"/>
              </a:spcAft>
            </a:pPr>
            <a:r>
              <a:rPr sz="1200" b="0">
                <a:solidFill>
                  <a:srgbClr val="5B6372"/>
                </a:solidFill>
                <a:latin typeface="Arial"/>
              </a:rPr>
              <a:t>Emerging Threats and Snort VRT keep signatures current - update daily.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Where alerts land</a:t>
            </a:r>
          </a:p>
          <a:p>
            <a:pPr algn="l">
              <a:spcAft>
                <a:spcPts val="300"/>
              </a:spcAft>
            </a:pPr>
            <a:r>
              <a:rPr sz="1200" b="0">
                <a:solidFill>
                  <a:srgbClr val="5B6372"/>
                </a:solidFill>
                <a:latin typeface="Arial"/>
              </a:rPr>
              <a:t>Suricata writes fast.log for humans and eve.json for SIEM pipelines.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transition spd="fast" advClick="1">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IDS IN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Suricata Alert (eve.json)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alert you trigger in Lab 26, as the JSON event your SIEM ingests.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D4D4D4"/>
                </a:solidFill>
                <a:latin typeface="Consolas"/>
              </a:rPr>
              <a:t>$ cat eve.json | jq 'select(.event_type=="alert")'</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  "timestamp": "2026-08-19T10:42:07+0800",</a:t>
            </a:r>
          </a:p>
          <a:p>
            <a:pPr>
              <a:spcAft>
                <a:spcPts val="200"/>
              </a:spcAft>
            </a:pPr>
            <a:r>
              <a:rPr sz="1100">
                <a:solidFill>
                  <a:srgbClr val="9CDCFE"/>
                </a:solidFill>
                <a:latin typeface="Consolas"/>
              </a:rPr>
              <a:t>  "event_type": "alert",</a:t>
            </a:r>
          </a:p>
          <a:p>
            <a:pPr>
              <a:spcAft>
                <a:spcPts val="200"/>
              </a:spcAft>
            </a:pPr>
            <a:r>
              <a:rPr sz="1100">
                <a:solidFill>
                  <a:srgbClr val="9CDCFE"/>
                </a:solidFill>
                <a:latin typeface="Consolas"/>
              </a:rPr>
              <a:t>  "src_ip": "203.0.113.99",</a:t>
            </a:r>
          </a:p>
          <a:p>
            <a:pPr>
              <a:spcAft>
                <a:spcPts val="200"/>
              </a:spcAft>
            </a:pPr>
            <a:r>
              <a:rPr sz="1100">
                <a:solidFill>
                  <a:srgbClr val="9CDCFE"/>
                </a:solidFill>
                <a:latin typeface="Consolas"/>
              </a:rPr>
              <a:t>  "dest_ip": "10.0.0.5",</a:t>
            </a:r>
          </a:p>
          <a:p>
            <a:pPr>
              <a:spcAft>
                <a:spcPts val="200"/>
              </a:spcAft>
            </a:pPr>
            <a:r>
              <a:rPr sz="1100">
                <a:solidFill>
                  <a:srgbClr val="9CDCFE"/>
                </a:solidFill>
                <a:latin typeface="Consolas"/>
              </a:rPr>
              <a:t>  "alert": {</a:t>
            </a:r>
          </a:p>
          <a:p>
            <a:pPr>
              <a:spcAft>
                <a:spcPts val="200"/>
              </a:spcAft>
            </a:pPr>
            <a:r>
              <a:rPr sz="1100">
                <a:solidFill>
                  <a:srgbClr val="9CDCFE"/>
                </a:solidFill>
                <a:latin typeface="Consolas"/>
              </a:rPr>
              <a:t>    "signature": "GPL ATTACK_RESPONSE</a:t>
            </a:r>
          </a:p>
          <a:p>
            <a:pPr>
              <a:spcAft>
                <a:spcPts val="200"/>
              </a:spcAft>
            </a:pPr>
            <a:r>
              <a:rPr sz="1100">
                <a:solidFill>
                  <a:srgbClr val="9CDCFE"/>
                </a:solidFill>
                <a:latin typeface="Consolas"/>
              </a:rPr>
              <a:t>        id check returned root",</a:t>
            </a:r>
          </a:p>
          <a:p>
            <a:pPr>
              <a:spcAft>
                <a:spcPts val="200"/>
              </a:spcAft>
            </a:pPr>
            <a:r>
              <a:rPr sz="1100">
                <a:solidFill>
                  <a:srgbClr val="9CDCFE"/>
                </a:solidFill>
                <a:latin typeface="Consolas"/>
              </a:rPr>
              <a:t>    "category": "Potentially Bad Traffic",</a:t>
            </a:r>
          </a:p>
          <a:p>
            <a:pPr>
              <a:spcAft>
                <a:spcPts val="200"/>
              </a:spcAft>
            </a:pPr>
            <a:r>
              <a:rPr sz="1100">
                <a:solidFill>
                  <a:srgbClr val="9CDCFE"/>
                </a:solidFill>
                <a:latin typeface="Consolas"/>
              </a:rPr>
              <a:t>    "severity": 2</a:t>
            </a:r>
          </a:p>
          <a:p>
            <a:pPr>
              <a:spcAft>
                <a:spcPts val="200"/>
              </a:spcAft>
            </a:pPr>
            <a:r>
              <a:rPr sz="1100">
                <a:solidFill>
                  <a:srgbClr val="9CDCFE"/>
                </a:solidFill>
                <a:latin typeface="Consolas"/>
              </a:rPr>
              <a:t>  }</a:t>
            </a:r>
          </a:p>
          <a:p>
            <a:pPr>
              <a:spcAft>
                <a:spcPts val="200"/>
              </a:spcAft>
            </a:pPr>
            <a:r>
              <a:rPr sz="1100">
                <a:solidFill>
                  <a:srgbClr val="9CDCFE"/>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event_type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One JSON object per event - jq filters alerts out of the flow, DNS and TLS records.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signature</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ET rule that fired: the HTTP response contained uid=0(root) - a compromise tell.</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src / dest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Who attacked whom - the fields a SIEM correlates across all your sensors.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transition spd="fast" advClick="1">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Intrusion Detection with Suricata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Run Suricata as an IDS, trigger a known signature and read the alert in fast.log and eve.json.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Suricata, pull the Emerging Threats ruleset, start the engine on eth0, generate benign trigger traffic from testmynids.org, then trace the resulting alert through fast.log and the JSON eve.json event stream.</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live IDS on eth0 with a current ET ruleset, plus a captured alert you can parse as JSON with jq.</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suricata, suricata-update, jq, curl, TIS Cybersecurity Simulator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fast.log shows an alert like GPL ATTACK_RESPONSE id check returned root; filtering eve.json for event_type alert returns the same event with src/dest IPs and severity.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transition spd="fast" advClick="1">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Suricata and jq</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Start Suricata as a daemon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suricata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Trigger a well-known test signature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curl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Filter the same alert from the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cat · step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Stop Suricata</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pkill · step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Run Suricata as an IDS, trigger a known signature and read the alert in fast.log and eve.json.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Intrusion Detection with Suricata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fast.log shows an alert like GPL ATTACK_RESPONSE id check returned root; filtering eve.json for event_type alert returns the same event with src/dest IPs and severity.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alerts appear</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Suricata listens on the right interface (check ip a), then re-run the testmynids curl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suricata-update fails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Internet access - the rules download from the Emerging Threats feed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eve.json is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Give the engine a few seconds after the trigger; check suricata.log for startup errors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transition spd="fast" advClick="1">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ACL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Control Lists (ACLs)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Top-down evaluation</a:t>
            </a:r>
          </a:p>
          <a:p>
            <a:pPr algn="l">
              <a:spcAft>
                <a:spcPts val="300"/>
              </a:spcAft>
            </a:pPr>
            <a:r>
              <a:rPr sz="1200" b="0">
                <a:solidFill>
                  <a:srgbClr val="5B6372"/>
                </a:solidFill>
                <a:latin typeface="Arial"/>
              </a:rPr>
              <a:t>Rules are checked in order; the FIRST match wins and processing stops.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Implicit deny</a:t>
            </a:r>
          </a:p>
          <a:p>
            <a:pPr algn="l">
              <a:spcAft>
                <a:spcPts val="300"/>
              </a:spcAft>
            </a:pPr>
            <a:r>
              <a:rPr sz="1200" b="0">
                <a:solidFill>
                  <a:srgbClr val="5B6372"/>
                </a:solidFill>
                <a:latin typeface="Arial"/>
              </a:rPr>
              <a:t>Whatever no rule matches is dropped - place your permits above the deny.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Match criteria</a:t>
            </a:r>
          </a:p>
          <a:p>
            <a:pPr algn="l">
              <a:spcAft>
                <a:spcPts val="300"/>
              </a:spcAft>
            </a:pPr>
            <a:r>
              <a:rPr sz="1200" b="0">
                <a:solidFill>
                  <a:srgbClr val="5B6372"/>
                </a:solidFill>
                <a:latin typeface="Arial"/>
              </a:rPr>
              <a:t>Source and destination IP, protocol, port - the classic 5-tuple.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Where ACLs live</a:t>
            </a:r>
          </a:p>
          <a:p>
            <a:pPr algn="l">
              <a:spcAft>
                <a:spcPts val="300"/>
              </a:spcAft>
            </a:pPr>
            <a:r>
              <a:rPr sz="1200" b="0">
                <a:solidFill>
                  <a:srgbClr val="5B6372"/>
                </a:solidFill>
                <a:latin typeface="Arial"/>
              </a:rPr>
              <a:t>Router interfaces, switch VLANs, cloud security groups, iptables chains.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transition spd="fast" advClick="1">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ACL IN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 iptables ACL, Line by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Lab 27 rule set: permit MySQL from one subnet, drop the rest.</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iptables -I INPUT -p tcp --dport 3306 \</a:t>
            </a:r>
          </a:p>
          <a:p>
            <a:pPr>
              <a:spcAft>
                <a:spcPts val="200"/>
              </a:spcAft>
            </a:pPr>
            <a:r>
              <a:rPr sz="1100">
                <a:solidFill>
                  <a:srgbClr val="9CDCFE"/>
                </a:solidFill>
                <a:latin typeface="Consolas"/>
              </a:rPr>
              <a:t>    -s 10.0.0.0/24 -j ACCEPT</a:t>
            </a:r>
          </a:p>
          <a:p>
            <a:pPr>
              <a:spcAft>
                <a:spcPts val="200"/>
              </a:spcAft>
            </a:pPr>
            <a:r>
              <a:rPr sz="1100">
                <a:solidFill>
                  <a:srgbClr val="9CDCFE"/>
                </a:solidFill>
                <a:latin typeface="Consolas"/>
              </a:rPr>
              <a:t>$ iptables -A INPUT -p tcp --dport 3306 -j DROP</a:t>
            </a:r>
          </a:p>
          <a:p>
            <a:pPr>
              <a:spcAft>
                <a:spcPts val="200"/>
              </a:spcAft>
            </a:pPr>
            <a:r>
              <a:rPr sz="1100">
                <a:solidFill>
                  <a:srgbClr val="9CDCFE"/>
                </a:solidFill>
                <a:latin typeface="Consolas"/>
              </a:rPr>
              <a:t>$ iptables -L INPUT -n -v --line-numbers</a:t>
            </a:r>
          </a:p>
          <a:p>
            <a:pPr>
              <a:spcAft>
                <a:spcPts val="200"/>
              </a:spcAft>
            </a:pPr>
            <a:r>
              <a:rPr sz="1100">
                <a:solidFill>
                  <a:srgbClr val="9CDCFE"/>
                </a:solidFill>
                <a:latin typeface="Consolas"/>
              </a:rPr>
              <a:t/>
            </a:r>
          </a:p>
          <a:p>
            <a:pPr>
              <a:spcAft>
                <a:spcPts val="200"/>
              </a:spcAft>
            </a:pPr>
            <a:r>
              <a:rPr sz="1100">
                <a:solidFill>
                  <a:srgbClr val="9CDCFE"/>
                </a:solidFill>
                <a:latin typeface="Consolas"/>
              </a:rPr>
              <a:t>num  target  prot  source        dpt</a:t>
            </a:r>
          </a:p>
          <a:p>
            <a:pPr>
              <a:spcAft>
                <a:spcPts val="200"/>
              </a:spcAft>
            </a:pPr>
            <a:r>
              <a:rPr sz="1100">
                <a:solidFill>
                  <a:srgbClr val="9CDCFE"/>
                </a:solidFill>
                <a:latin typeface="Consolas"/>
              </a:rPr>
              <a:t>1    ACCEPT  tcp   10.0.0.0/24   3306</a:t>
            </a:r>
          </a:p>
          <a:p>
            <a:pPr>
              <a:spcAft>
                <a:spcPts val="200"/>
              </a:spcAft>
            </a:pPr>
            <a:r>
              <a:rPr sz="1100">
                <a:solidFill>
                  <a:srgbClr val="9CDCFE"/>
                </a:solidFill>
                <a:latin typeface="Consolas"/>
              </a:rPr>
              <a:t>2    DROP    tcp   0.0.0.0/0     3306</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-I vs -A</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-I inserts at the top, -A appends at the bottom - placement decides what matches first.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First match wins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10.0.0.0/24 hits rule 1 and is accepted; everyone else falls through to the DROP.</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Scope</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Only port 3306 is filtered here - pair with a default-deny policy for real hardening.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transition spd="fast" advClick="1">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CONTENT FILTERING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URL and Content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URL filtering</a:t>
            </a:r>
          </a:p>
          <a:p>
            <a:pPr algn="l">
              <a:spcAft>
                <a:spcPts val="300"/>
              </a:spcAft>
            </a:pPr>
            <a:r>
              <a:rPr sz="1200" b="0">
                <a:solidFill>
                  <a:srgbClr val="5B6372"/>
                </a:solidFill>
                <a:latin typeface="Arial"/>
              </a:rPr>
              <a:t>Allow or block by domain and category - malware, phishing, gambling lists.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 filtering</a:t>
            </a:r>
          </a:p>
          <a:p>
            <a:pPr algn="l">
              <a:spcAft>
                <a:spcPts val="300"/>
              </a:spcAft>
            </a:pPr>
            <a:r>
              <a:rPr sz="1200" b="0">
                <a:solidFill>
                  <a:srgbClr val="5B6372"/>
                </a:solidFill>
                <a:latin typeface="Arial"/>
              </a:rPr>
              <a:t>Inspect payloads - DLP stops card numbers leaving; AV strips attachments.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DNS filtering</a:t>
            </a:r>
          </a:p>
          <a:p>
            <a:pPr algn="l">
              <a:spcAft>
                <a:spcPts val="300"/>
              </a:spcAft>
            </a:pPr>
            <a:r>
              <a:rPr sz="1200" b="0">
                <a:solidFill>
                  <a:srgbClr val="5B6372"/>
                </a:solidFill>
                <a:latin typeface="Arial"/>
              </a:rPr>
              <a:t>The cheapest control: a resolver that refuses to resolve known-bad domains.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TLS inspection</a:t>
            </a:r>
          </a:p>
          <a:p>
            <a:pPr algn="l">
              <a:spcAft>
                <a:spcPts val="300"/>
              </a:spcAft>
            </a:pPr>
            <a:r>
              <a:rPr sz="1200" b="0">
                <a:solidFill>
                  <a:srgbClr val="5B6372"/>
                </a:solidFill>
                <a:latin typeface="Arial"/>
              </a:rPr>
              <a:t>Filtering encrypted traffic needs a re-signing proxy - governance required.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transition spd="fast" advClick="1">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 ACL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an ordered iptables ACL that permits MySQL from one subnet and drops it from everywhere else.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Insert an ACCEPT rule for TCP 3306 from 10.0.0.0/24 above an appended DROP, verify ordering with --line-numbers, test both paths with nc from allowed and blocked sources, then persist the rules across reboots.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two-rule ACL on the INPUT chain proving top-down, first-match evaluation, saved to survive reboot.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iptables, netcat, iptables-persistent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probe from a blocked source hangs (dropped); the probe from 10.0.0.5 gets an instant refused/RST - accepted by the ACL, nothing listening. The filter demonstrably works.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transition spd="fast" advClick="1">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Inspect the current INPUT chain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Append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from a blocked source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nc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Add an allowed source address and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an ordered iptables ACL that permits MySQL from one subnet and drops it from everywhere else.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 ACL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probe from a blocked source hangs (dropped); the probe from 10.0.0.5 gets an instant refused/RST - accepted by the ACL, nothing listening. The filter demonstrably works.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ACL never blocks anything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ACCEPT may sit below the DROP - first match wins; verify order with --line-numbers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Rules vanish after reboot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iptables-persistent and run netfilter-persistent save to write /etc/iptables/rules.v4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nc test looks inconclusive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With no MySQL listening, allowed sources see instant RST (refused); dropped sources see a timeout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transition spd="fast" advClick="1">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4.1 · PHYSICAL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Cameras (CCTV)</a:t>
            </a:r>
          </a:p>
          <a:p>
            <a:pPr algn="l">
              <a:spcAft>
                <a:spcPts val="300"/>
              </a:spcAft>
            </a:pPr>
            <a:r>
              <a:rPr sz="1200" b="0">
                <a:solidFill>
                  <a:srgbClr val="5B6372"/>
                </a:solidFill>
                <a:latin typeface="Arial"/>
              </a:rPr>
              <a:t>Detective control - record and deter; cover entrances, corridors and racks.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Locks</a:t>
            </a:r>
          </a:p>
          <a:p>
            <a:pPr algn="l">
              <a:spcAft>
                <a:spcPts val="300"/>
              </a:spcAft>
            </a:pPr>
            <a:r>
              <a:rPr sz="1200" b="0">
                <a:solidFill>
                  <a:srgbClr val="5B6372"/>
                </a:solidFill>
                <a:latin typeface="Arial"/>
              </a:rPr>
              <a:t>Preventive - server rooms, racks and cages; smart locks log every entry.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Badge readers</a:t>
            </a:r>
          </a:p>
          <a:p>
            <a:pPr algn="l">
              <a:spcAft>
                <a:spcPts val="300"/>
              </a:spcAft>
            </a:pPr>
            <a:r>
              <a:rPr sz="1200" b="0">
                <a:solidFill>
                  <a:srgbClr val="5B6372"/>
                </a:solidFill>
                <a:latin typeface="Arial"/>
              </a:rPr>
              <a:t>Authenticate entry per person and leave an audit trail.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control vestibule</a:t>
            </a:r>
          </a:p>
          <a:p>
            <a:pPr algn="l">
              <a:spcAft>
                <a:spcPts val="300"/>
              </a:spcAft>
            </a:pPr>
            <a:r>
              <a:rPr sz="1200" b="0">
                <a:solidFill>
                  <a:srgbClr val="5B6372"/>
                </a:solidFill>
                <a:latin typeface="Arial"/>
              </a:rPr>
              <a:t>A two-door airlock defeats tailgating - one person per badge.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guards</a:t>
            </a:r>
          </a:p>
          <a:p>
            <a:pPr algn="l">
              <a:spcAft>
                <a:spcPts val="300"/>
              </a:spcAft>
            </a:pPr>
            <a:r>
              <a:rPr sz="1200" b="0">
                <a:solidFill>
                  <a:srgbClr val="5B6372"/>
                </a:solidFill>
                <a:latin typeface="Arial"/>
              </a:rPr>
              <a:t>Flexible deterrent and response - verify visitors and deliveries.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Environmental sensors</a:t>
            </a:r>
          </a:p>
          <a:p>
            <a:pPr algn="l">
              <a:spcAft>
                <a:spcPts val="300"/>
              </a:spcAft>
            </a:pPr>
            <a:r>
              <a:rPr sz="1200" b="0">
                <a:solidFill>
                  <a:srgbClr val="5B6372"/>
                </a:solidFill>
                <a:latin typeface="Arial"/>
              </a:rPr>
              <a:t>Door-open, temperature and humidity alarms in the data centre.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transition spd="fast" advClick="1">
    <p:fade/>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PHYSICAL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Control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Preventive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Stop the event: locks, MFA, firewalls</a:t>
            </a:r>
          </a:p>
          <a:p>
            <a:pPr>
              <a:spcAft>
                <a:spcPts val="900"/>
              </a:spcAft>
            </a:pPr>
            <a:r>
              <a:rPr sz="1400" b="0">
                <a:solidFill>
                  <a:srgbClr val="161B26"/>
                </a:solidFill>
                <a:latin typeface="Arial"/>
              </a:rPr>
              <a:t>•  Access control vestibules</a:t>
            </a:r>
          </a:p>
          <a:p>
            <a:pPr>
              <a:spcAft>
                <a:spcPts val="900"/>
              </a:spcAft>
            </a:pPr>
            <a:r>
              <a:rPr sz="1400" b="0">
                <a:solidFill>
                  <a:srgbClr val="161B26"/>
                </a:solidFill>
                <a:latin typeface="Arial"/>
              </a:rPr>
              <a:t>•  Strongest when layered together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Detective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Discover the event: CCTV, IDS, logs</a:t>
            </a:r>
          </a:p>
          <a:p>
            <a:pPr>
              <a:spcAft>
                <a:spcPts val="900"/>
              </a:spcAft>
            </a:pPr>
            <a:r>
              <a:rPr sz="1400" b="0">
                <a:solidFill>
                  <a:srgbClr val="161B26"/>
                </a:solidFill>
                <a:latin typeface="Arial"/>
              </a:rPr>
              <a:t>•  Audits and SIEM alerting</a:t>
            </a:r>
          </a:p>
          <a:p>
            <a:pPr>
              <a:spcAft>
                <a:spcPts val="900"/>
              </a:spcAft>
            </a:pPr>
            <a:r>
              <a:rPr sz="1400" b="0">
                <a:solidFill>
                  <a:srgbClr val="161B26"/>
                </a:solidFill>
                <a:latin typeface="Arial"/>
              </a:rPr>
              <a:t>•  Enables fast, informed response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Deterrent / compensating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Warning signs, visible cameras</a:t>
            </a:r>
          </a:p>
          <a:p>
            <a:pPr>
              <a:spcAft>
                <a:spcPts val="900"/>
              </a:spcAft>
            </a:pPr>
            <a:r>
              <a:rPr sz="1400" b="0">
                <a:solidFill>
                  <a:srgbClr val="161B26"/>
                </a:solidFill>
                <a:latin typeface="Arial"/>
              </a:rPr>
              <a:t>•  Guards deter casual attempts</a:t>
            </a:r>
          </a:p>
          <a:p>
            <a:pPr>
              <a:spcAft>
                <a:spcPts val="900"/>
              </a:spcAft>
            </a:pPr>
            <a:r>
              <a:rPr sz="1400" b="0">
                <a:solidFill>
                  <a:srgbClr val="161B26"/>
                </a:solidFill>
                <a:latin typeface="Arial"/>
              </a:rPr>
              <a:t>•  Compensating controls cover gaps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transition spd="fast" advClick="1">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4.1 · ASSET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System Life Cycle and Secure Disposal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tags and inventory</a:t>
            </a:r>
          </a:p>
          <a:p>
            <a:pPr algn="l">
              <a:spcAft>
                <a:spcPts val="300"/>
              </a:spcAft>
            </a:pPr>
            <a:r>
              <a:rPr sz="1200" b="0">
                <a:solidFill>
                  <a:srgbClr val="5B6372"/>
                </a:solidFill>
                <a:latin typeface="Arial"/>
              </a:rPr>
              <a:t>You cannot secure what you do not track - tag and record every device.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Secure wipe</a:t>
            </a:r>
          </a:p>
          <a:p>
            <a:pPr algn="l">
              <a:spcAft>
                <a:spcPts val="300"/>
              </a:spcAft>
            </a:pPr>
            <a:r>
              <a:rPr sz="1200" b="0">
                <a:solidFill>
                  <a:srgbClr val="5B6372"/>
                </a:solidFill>
                <a:latin typeface="Arial"/>
              </a:rPr>
              <a:t>DoD 5220.22-M-style overwrite or crypto-erase before any disposal.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Factory reset</a:t>
            </a:r>
          </a:p>
          <a:p>
            <a:pPr algn="l">
              <a:spcAft>
                <a:spcPts val="300"/>
              </a:spcAft>
            </a:pPr>
            <a:r>
              <a:rPr sz="1200" b="0">
                <a:solidFill>
                  <a:srgbClr val="5B6372"/>
                </a:solidFill>
                <a:latin typeface="Arial"/>
              </a:rPr>
              <a:t>Acceptable only for devices that never held sensitive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Chain of custody</a:t>
            </a:r>
          </a:p>
          <a:p>
            <a:pPr algn="l">
              <a:spcAft>
                <a:spcPts val="300"/>
              </a:spcAft>
            </a:pPr>
            <a:r>
              <a:rPr sz="1200" b="0">
                <a:solidFill>
                  <a:srgbClr val="5B6372"/>
                </a:solidFill>
                <a:latin typeface="Arial"/>
              </a:rPr>
              <a:t>A documented audit trail from decommission to certified destruction.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transition spd="fast" advClick="1">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4 · EXAM CHECKPOINT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Exam Checkpoint - Numbers to Memorise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RADIUS: UDP 1812/1813 (legacy 1645/1646) - TACACS+: TCP 49</a:t>
            </a:r>
          </a:p>
          <a:p>
            <a:pPr>
              <a:spcAft>
                <a:spcPts val="1000"/>
              </a:spcAft>
            </a:pPr>
            <a:r>
              <a:rPr sz="1800" b="0">
                <a:solidFill>
                  <a:srgbClr val="161B26"/>
                </a:solidFill>
                <a:latin typeface="Arial"/>
              </a:rPr>
              <a:t>•  LDAP 389, LDAPS 636, Kerberos 88, HTTPS 443, SSH 22</a:t>
            </a:r>
          </a:p>
          <a:p>
            <a:pPr>
              <a:spcAft>
                <a:spcPts val="1000"/>
              </a:spcAft>
            </a:pPr>
            <a:r>
              <a:rPr sz="1800" b="0">
                <a:solidFill>
                  <a:srgbClr val="161B26"/>
                </a:solidFill>
                <a:latin typeface="Arial"/>
              </a:rPr>
              <a:t>•  IDS detects on a mirror copy; IPS sits inline and blocks</a:t>
            </a:r>
          </a:p>
          <a:p>
            <a:pPr>
              <a:spcAft>
                <a:spcPts val="1000"/>
              </a:spcAft>
            </a:pPr>
            <a:r>
              <a:rPr sz="1800" b="0">
                <a:solidFill>
                  <a:srgbClr val="161B26"/>
                </a:solidFill>
                <a:latin typeface="Arial"/>
              </a:rPr>
              <a:t>•  Screened subnet (DMZ) hosts public services between two firewalls</a:t>
            </a:r>
          </a:p>
          <a:p>
            <a:pPr>
              <a:spcAft>
                <a:spcPts val="1000"/>
              </a:spcAft>
            </a:pPr>
            <a:r>
              <a:rPr sz="1800" b="0">
                <a:solidFill>
                  <a:srgbClr val="161B26"/>
                </a:solidFill>
                <a:latin typeface="Arial"/>
              </a:rPr>
              <a:t>•  MFA needs two DIFFERENT factors: know / have / 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transition spd="fast" advClick="1">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4 · RECAP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Layers, least privilege, verify everything.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4 in one line: encrypt in transit and at rest, authenticate with multiple factors, segment aggressively, harden every device, and watch the logs.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transition spd="fast" advClick="1">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4.0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Configure a default-deny host firewall with UFW: global allows, source-restricted rules, rule management.</a:t>
            </a:r>
          </a:p>
          <a:p>
            <a:pPr>
              <a:spcAft>
                <a:spcPts val="1000"/>
              </a:spcAft>
            </a:pPr>
            <a:r>
              <a:rPr sz="1600" b="0">
                <a:solidFill>
                  <a:srgbClr val="161B26"/>
                </a:solidFill>
                <a:latin typeface="Arial"/>
              </a:rPr>
              <a:t>•  You can now: Generate a self-signed X.509 certificate, serve HTTPS from nginx and inspect the TLS handshake.</a:t>
            </a:r>
          </a:p>
          <a:p>
            <a:pPr>
              <a:spcAft>
                <a:spcPts val="1000"/>
              </a:spcAft>
            </a:pPr>
            <a:r>
              <a:rPr sz="1600" b="0">
                <a:solidFill>
                  <a:srgbClr val="161B26"/>
                </a:solidFill>
                <a:latin typeface="Arial"/>
              </a:rPr>
              <a:t>•  You can now: Harden SSH: Ed25519 key authentication, password login disabled, config validated before reload.</a:t>
            </a:r>
          </a:p>
          <a:p>
            <a:pPr>
              <a:spcAft>
                <a:spcPts val="1000"/>
              </a:spcAft>
            </a:pPr>
            <a:r>
              <a:rPr sz="1600" b="0">
                <a:solidFill>
                  <a:srgbClr val="161B26"/>
                </a:solidFill>
                <a:latin typeface="Arial"/>
              </a:rPr>
              <a:t>•  You can now: Build a site-to-site WireGuard tunnel between two network namespaces and verify the handshake.</a:t>
            </a:r>
          </a:p>
          <a:p>
            <a:pPr>
              <a:spcAft>
                <a:spcPts val="1000"/>
              </a:spcAft>
            </a:pPr>
            <a:r>
              <a:rPr sz="1600" b="0">
                <a:solidFill>
                  <a:srgbClr val="161B26"/>
                </a:solidFill>
                <a:latin typeface="Arial"/>
              </a:rPr>
              <a:t>•  You can now: Enumerate exposed services with nmap and reduce the attack surface by disabling what is unneeded.</a:t>
            </a:r>
          </a:p>
          <a:p>
            <a:pPr>
              <a:spcAft>
                <a:spcPts val="1000"/>
              </a:spcAft>
            </a:pPr>
            <a:r>
              <a:rPr sz="1600" b="0">
                <a:solidFill>
                  <a:srgbClr val="161B26"/>
                </a:solidFill>
                <a:latin typeface="Arial"/>
              </a:rPr>
              <a:t>•  You can now: Run Suricata as an IDS, trigger a known signature and read the alert in fast.log and eve.json.</a:t>
            </a:r>
          </a:p>
          <a:p>
            <a:pPr>
              <a:spcAft>
                <a:spcPts val="1000"/>
              </a:spcAft>
            </a:pPr>
            <a:r>
              <a:rPr sz="1600" b="0">
                <a:solidFill>
                  <a:srgbClr val="161B26"/>
                </a:solidFill>
                <a:latin typeface="Arial"/>
              </a:rPr>
              <a:t>•  You can now: Build an ordered iptables ACL that permits MySQL from one subnet and drops it from everywhere else.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transition spd="fast" advClick="1">
    <p:fade/>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5.0  ·  24%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Methodology · cabling &amp; physical interfaces · network services · performance · tools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transition spd="med" advClick="1">
    <p:push dir="l"/>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28–30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Layer 1/2 Diagnostics with ip and ethtool</a:t>
            </a:r>
          </a:p>
          <a:p>
            <a:pPr>
              <a:spcAft>
                <a:spcPts val="900"/>
              </a:spcAft>
            </a:pPr>
            <a:r>
              <a:rPr sz="1400" b="0">
                <a:solidFill>
                  <a:srgbClr val="161B26"/>
                </a:solidFill>
                <a:latin typeface="Arial"/>
              </a:rPr>
              <a:t>•  Reachability with ping, traceroute and mtr</a:t>
            </a:r>
          </a:p>
          <a:p>
            <a:pPr>
              <a:spcAft>
                <a:spcPts val="900"/>
              </a:spcAft>
            </a:pPr>
            <a:r>
              <a:rPr sz="1400" b="0">
                <a:solidFill>
                  <a:srgbClr val="161B26"/>
                </a:solidFill>
                <a:latin typeface="Arial"/>
              </a:rPr>
              <a:t>•  DNS Troubleshooting with dig and resolvectl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31–33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ARP and the IPv6 Neighbour Table</a:t>
            </a:r>
          </a:p>
          <a:p>
            <a:pPr>
              <a:spcAft>
                <a:spcPts val="900"/>
              </a:spcAft>
            </a:pPr>
            <a:r>
              <a:rPr sz="1400" b="0">
                <a:solidFill>
                  <a:srgbClr val="161B26"/>
                </a:solidFill>
                <a:latin typeface="Arial"/>
              </a:rPr>
              <a:t>•  Packet Capture with tcpdump and TIS PCAP Analyzer</a:t>
            </a:r>
          </a:p>
          <a:p>
            <a:pPr>
              <a:spcAft>
                <a:spcPts val="900"/>
              </a:spcAft>
            </a:pPr>
            <a:r>
              <a:rPr sz="1400" b="0">
                <a:solidFill>
                  <a:srgbClr val="161B26"/>
                </a:solidFill>
                <a:latin typeface="Arial"/>
              </a:rPr>
              <a:t>•  MTU and Path-MTU Discovery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34–36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Diagnosing Routing Problems</a:t>
            </a:r>
          </a:p>
          <a:p>
            <a:pPr>
              <a:spcAft>
                <a:spcPts val="900"/>
              </a:spcAft>
            </a:pPr>
            <a:r>
              <a:rPr sz="1400" b="0">
                <a:solidFill>
                  <a:srgbClr val="161B26"/>
                </a:solidFill>
                <a:latin typeface="Arial"/>
              </a:rPr>
              <a:t>•  Simulating Slow and Lossy Links with tc</a:t>
            </a:r>
          </a:p>
          <a:p>
            <a:pPr>
              <a:spcAft>
                <a:spcPts val="900"/>
              </a:spcAft>
            </a:pPr>
            <a:r>
              <a:rPr sz="1400" b="0">
                <a:solidFill>
                  <a:srgbClr val="161B26"/>
                </a:solidFill>
                <a:latin typeface="Arial"/>
              </a:rPr>
              <a:t>•  Service Reachability Triage with curl, nc and openssl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transition spd="fast" advClick="1">
    <p:fade/>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5 · 24%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Network Troubleshooting.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5 is 24% of the N10-009 exam - the biggest single slice. Master one method, then apply it to cables, switches, routes, DNS and services.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transition spd="fast" advClick="1">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a Method Beats Guesswork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Symptoms are not causes</a:t>
            </a:r>
          </a:p>
          <a:p>
            <a:pPr algn="l">
              <a:spcAft>
                <a:spcPts val="300"/>
              </a:spcAft>
            </a:pPr>
            <a:r>
              <a:rPr sz="1200" b="0">
                <a:solidFill>
                  <a:srgbClr val="5B6372"/>
                </a:solidFill>
                <a:latin typeface="Arial"/>
              </a:rPr>
              <a:t>A 'slow website' can be DNS, routing, loss, MTU or the app itself - the method finds which before you change anything.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Gather before you touch</a:t>
            </a:r>
          </a:p>
          <a:p>
            <a:pPr algn="l">
              <a:spcAft>
                <a:spcPts val="300"/>
              </a:spcAft>
            </a:pPr>
            <a:r>
              <a:rPr sz="1200" b="0">
                <a:solidFill>
                  <a:srgbClr val="5B6372"/>
                </a:solidFill>
                <a:latin typeface="Arial"/>
              </a:rPr>
              <a:t>Information gathered first - symptoms, scope, timing - is evidence; information gathered after a change is contaminated.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OSI model is your map</a:t>
            </a:r>
          </a:p>
          <a:p>
            <a:pPr algn="l">
              <a:spcAft>
                <a:spcPts val="300"/>
              </a:spcAft>
            </a:pPr>
            <a:r>
              <a:rPr sz="1200" b="0">
                <a:solidFill>
                  <a:srgbClr val="5B6372"/>
                </a:solidFill>
                <a:latin typeface="Arial"/>
              </a:rPr>
              <a:t>Every fault lives at a layer; walking the stack top-down, bottom-up or from the middle turns chaos into a search.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one thing at a time</a:t>
            </a:r>
          </a:p>
          <a:p>
            <a:pPr algn="l">
              <a:spcAft>
                <a:spcPts val="300"/>
              </a:spcAft>
            </a:pPr>
            <a:r>
              <a:rPr sz="1200" b="0">
                <a:solidFill>
                  <a:srgbClr val="5B6372"/>
                </a:solidFill>
                <a:latin typeface="Arial"/>
              </a:rPr>
              <a:t>Isolate variables - if you change three things and it works, you still do not know the cause and cannot prevent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Prevention is part of the fix</a:t>
            </a:r>
          </a:p>
          <a:p>
            <a:pPr algn="l">
              <a:spcAft>
                <a:spcPts val="300"/>
              </a:spcAft>
            </a:pPr>
            <a:r>
              <a:rPr sz="1200" b="0">
                <a:solidFill>
                  <a:srgbClr val="5B6372"/>
                </a:solidFill>
                <a:latin typeface="Arial"/>
              </a:rPr>
              <a:t>A ticket is not closed at 'it works' - it closes at 'it cannot happen again', or at least 'we will see it coming'.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Documentation compounds</a:t>
            </a:r>
          </a:p>
          <a:p>
            <a:pPr algn="l">
              <a:spcAft>
                <a:spcPts val="300"/>
              </a:spcAft>
            </a:pPr>
            <a:r>
              <a:rPr sz="1200" b="0">
                <a:solidFill>
                  <a:srgbClr val="5B6372"/>
                </a:solidFill>
                <a:latin typeface="Arial"/>
              </a:rPr>
              <a:t>Yesterday's documented outage is today's 10-minute fix - lessons learned are the cheapest training you will get.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transition spd="fast" advClick="1">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CompTIA's 7-Step Troubleshooting Method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1 · Identify the problem</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gather, question, dupe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2 · Establish a theory</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probable cause</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3 · Test the theory</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confirm or re-theorise</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4+5 · Plan and implement</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or escalate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6 · Verify</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full functionality</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7 · Document</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lessons learned</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Exam scenario questions state which step you are in and ask for the next action - knowing the order is free marks.</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 1 - Identify the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Gather information</a:t>
            </a:r>
          </a:p>
          <a:p>
            <a:pPr algn="l">
              <a:spcAft>
                <a:spcPts val="300"/>
              </a:spcAft>
            </a:pPr>
            <a:r>
              <a:rPr sz="1200" b="0">
                <a:solidFill>
                  <a:srgbClr val="5B6372"/>
                </a:solidFill>
                <a:latin typeface="Arial"/>
              </a:rPr>
              <a:t>Ticket text, monitoring alerts, logs, topology diagrams - collect the facts before forming any opinion.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Question users</a:t>
            </a:r>
          </a:p>
          <a:p>
            <a:pPr algn="l">
              <a:spcAft>
                <a:spcPts val="300"/>
              </a:spcAft>
            </a:pPr>
            <a:r>
              <a:rPr sz="1200" b="0">
                <a:solidFill>
                  <a:srgbClr val="5B6372"/>
                </a:solidFill>
                <a:latin typeface="Arial"/>
              </a:rPr>
              <a:t>Ask open questions first ('what were you doing?'), then closed ones ('does it fail on Wi-Fi too?').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Identify symptoms</a:t>
            </a:r>
          </a:p>
          <a:p>
            <a:pPr algn="l">
              <a:spcAft>
                <a:spcPts val="300"/>
              </a:spcAft>
            </a:pPr>
            <a:r>
              <a:rPr sz="1200" b="0">
                <a:solidFill>
                  <a:srgbClr val="5B6372"/>
                </a:solidFill>
                <a:latin typeface="Arial"/>
              </a:rPr>
              <a:t>Pin down exactly what fails, for whom, since when and how often - 'the internet is down' is never the real symptom.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Determine if anything changed</a:t>
            </a:r>
          </a:p>
          <a:p>
            <a:pPr algn="l">
              <a:spcAft>
                <a:spcPts val="300"/>
              </a:spcAft>
            </a:pPr>
            <a:r>
              <a:rPr sz="1200" b="0">
                <a:solidFill>
                  <a:srgbClr val="5B6372"/>
                </a:solidFill>
                <a:latin typeface="Arial"/>
              </a:rPr>
              <a:t>New firmware, a moved desk, a patch window, a new switch - most outages follow a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Duplicate the problem</a:t>
            </a:r>
          </a:p>
          <a:p>
            <a:pPr algn="l">
              <a:spcAft>
                <a:spcPts val="300"/>
              </a:spcAft>
            </a:pPr>
            <a:r>
              <a:rPr sz="1200" b="0">
                <a:solidFill>
                  <a:srgbClr val="5B6372"/>
                </a:solidFill>
                <a:latin typeface="Arial"/>
              </a:rPr>
              <a:t>If you can reproduce it on demand, you can test theories against it safely and prove the eventual fix.</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Approach problems individually</a:t>
            </a:r>
          </a:p>
          <a:p>
            <a:pPr algn="l">
              <a:spcAft>
                <a:spcPts val="300"/>
              </a:spcAft>
            </a:pPr>
            <a:r>
              <a:rPr sz="1200" b="0">
                <a:solidFill>
                  <a:srgbClr val="5B6372"/>
                </a:solidFill>
                <a:latin typeface="Arial"/>
              </a:rPr>
              <a:t>Two simultaneous complaints may be two faults - splitting them avoids chasing a cause that explains only half.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transition spd="fast" advClick="1">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Questioning Users and Finding the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Ask the user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Ask the environment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exactly do you see - error text, spinner, timeout?</a:t>
            </a:r>
          </a:p>
          <a:p>
            <a:pPr>
              <a:spcAft>
                <a:spcPts val="1000"/>
              </a:spcAft>
            </a:pPr>
            <a:r>
              <a:rPr sz="1600" b="0">
                <a:solidFill>
                  <a:srgbClr val="161B26"/>
                </a:solidFill>
                <a:latin typeface="Arial"/>
              </a:rPr>
              <a:t>•  When did it last work, and what changed since?</a:t>
            </a:r>
          </a:p>
          <a:p>
            <a:pPr>
              <a:spcAft>
                <a:spcPts val="1000"/>
              </a:spcAft>
            </a:pPr>
            <a:r>
              <a:rPr sz="1600" b="0">
                <a:solidFill>
                  <a:srgbClr val="161B26"/>
                </a:solidFill>
                <a:latin typeface="Arial"/>
              </a:rPr>
              <a:t>•  Does it affect one app, one site or everything?</a:t>
            </a:r>
          </a:p>
          <a:p>
            <a:pPr>
              <a:spcAft>
                <a:spcPts val="1000"/>
              </a:spcAft>
            </a:pPr>
            <a:r>
              <a:rPr sz="1600" b="0">
                <a:solidFill>
                  <a:srgbClr val="161B26"/>
                </a:solidFill>
                <a:latin typeface="Arial"/>
              </a:rPr>
              <a:t>•  Are colleagues nearby affected too?</a:t>
            </a:r>
          </a:p>
          <a:p>
            <a:pPr>
              <a:spcAft>
                <a:spcPts val="1000"/>
              </a:spcAft>
            </a:pPr>
            <a:r>
              <a:rPr sz="1600" b="0">
                <a:solidFill>
                  <a:srgbClr val="161B26"/>
                </a:solidFill>
                <a:latin typeface="Arial"/>
              </a:rPr>
              <a:t>•  Does it follow you to another desk or network?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Check the change log and maintenance windows</a:t>
            </a:r>
          </a:p>
          <a:p>
            <a:pPr>
              <a:spcAft>
                <a:spcPts val="1000"/>
              </a:spcAft>
            </a:pPr>
            <a:r>
              <a:rPr sz="1600" b="0">
                <a:solidFill>
                  <a:srgbClr val="161B26"/>
                </a:solidFill>
                <a:latin typeface="Arial"/>
              </a:rPr>
              <a:t>•  Compare against monitoring baselines and alerts</a:t>
            </a:r>
          </a:p>
          <a:p>
            <a:pPr>
              <a:spcAft>
                <a:spcPts val="1000"/>
              </a:spcAft>
            </a:pPr>
            <a:r>
              <a:rPr sz="1600" b="0">
                <a:solidFill>
                  <a:srgbClr val="161B26"/>
                </a:solidFill>
                <a:latin typeface="Arial"/>
              </a:rPr>
              <a:t>•  Did patching, firmware or config pushes run overnight?</a:t>
            </a:r>
          </a:p>
          <a:p>
            <a:pPr>
              <a:spcAft>
                <a:spcPts val="1000"/>
              </a:spcAft>
            </a:pPr>
            <a:r>
              <a:rPr sz="1600" b="0">
                <a:solidFill>
                  <a:srgbClr val="161B26"/>
                </a:solidFill>
                <a:latin typeface="Arial"/>
              </a:rPr>
              <a:t>•  Look for moved equipment, new cables, new devices</a:t>
            </a:r>
          </a:p>
          <a:p>
            <a:pPr>
              <a:spcAft>
                <a:spcPts val="1000"/>
              </a:spcAft>
            </a:pPr>
            <a:r>
              <a:rPr sz="1600" b="0">
                <a:solidFill>
                  <a:srgbClr val="161B26"/>
                </a:solidFill>
                <a:latin typeface="Arial"/>
              </a:rPr>
              <a:t>•  Scope it: one user, one switch, one VLAN or one site?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transition spd="fast" advClick="1">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 2 - Establish a Theory of Probable Cause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Question the obvious</a:t>
            </a:r>
          </a:p>
          <a:p>
            <a:pPr algn="l">
              <a:spcAft>
                <a:spcPts val="300"/>
              </a:spcAft>
            </a:pPr>
            <a:r>
              <a:rPr sz="1200" b="0">
                <a:solidFill>
                  <a:srgbClr val="5B6372"/>
                </a:solidFill>
                <a:latin typeface="Arial"/>
              </a:rPr>
              <a:t>Cable seated? Power on? Right SSID? Caps Lock? The embarrassing causes are the most common - eliminate them first.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Top-to-bottom OSI</a:t>
            </a:r>
          </a:p>
          <a:p>
            <a:pPr algn="l">
              <a:spcAft>
                <a:spcPts val="300"/>
              </a:spcAft>
            </a:pPr>
            <a:r>
              <a:rPr sz="1200" b="0">
                <a:solidFill>
                  <a:srgbClr val="5B6372"/>
                </a:solidFill>
                <a:latin typeface="Arial"/>
              </a:rPr>
              <a:t>Start at L7 and walk down - natural when the app clearly fails but the network looks healthy.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Bottom-to-top OSI</a:t>
            </a:r>
          </a:p>
          <a:p>
            <a:pPr algn="l">
              <a:spcAft>
                <a:spcPts val="300"/>
              </a:spcAft>
            </a:pPr>
            <a:r>
              <a:rPr sz="1200" b="0">
                <a:solidFill>
                  <a:srgbClr val="5B6372"/>
                </a:solidFill>
                <a:latin typeface="Arial"/>
              </a:rPr>
              <a:t>Start at L1 and walk up - natural for a single dead desk: cable, link light, then IP, then services.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Divide and conquer</a:t>
            </a:r>
          </a:p>
          <a:p>
            <a:pPr algn="l">
              <a:spcAft>
                <a:spcPts val="300"/>
              </a:spcAft>
            </a:pPr>
            <a:r>
              <a:rPr sz="1200" b="0">
                <a:solidFill>
                  <a:srgbClr val="5B6372"/>
                </a:solidFill>
                <a:latin typeface="Arial"/>
              </a:rPr>
              <a:t>Start mid-stack: ping the gateway. Success rules out L1-L3 locally; failure rules out everything above.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Consider multiple approaches</a:t>
            </a:r>
          </a:p>
          <a:p>
            <a:pPr algn="l">
              <a:spcAft>
                <a:spcPts val="300"/>
              </a:spcAft>
            </a:pPr>
            <a:r>
              <a:rPr sz="1200" b="0">
                <a:solidFill>
                  <a:srgbClr val="5B6372"/>
                </a:solidFill>
                <a:latin typeface="Arial"/>
              </a:rPr>
              <a:t>Hold more than one candidate theory and rank them by likelihood and by how cheap they are to test.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 scope as evidence</a:t>
            </a:r>
          </a:p>
          <a:p>
            <a:pPr algn="l">
              <a:spcAft>
                <a:spcPts val="300"/>
              </a:spcAft>
            </a:pPr>
            <a:r>
              <a:rPr sz="1200" b="0">
                <a:solidFill>
                  <a:srgbClr val="5B6372"/>
                </a:solidFill>
                <a:latin typeface="Arial"/>
              </a:rPr>
              <a:t>One user points down the stack at their gear; a whole site points up at shared infrastructure - WAN, DNS, DHCP, core.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transition spd="fast" advClick="1">
    <p:fade/>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Divide and Conquer - Where to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 user cannot reach the app.
Are other users affected too?</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start in the middle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Shared infrastructure is suspect. Ping the gateway and a known IP: works means look up (DNS, app); fails means look down (L1-L3).</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start at the bottom</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single victim is usually local. Check cable and link light, then IP/mask/gateway, then walk up the stack layer by layer.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Divide and conquer halves the search space with every test - the binary search of troubleshooting.</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transition spd="fast" advClick="1">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 3 - Test the Theory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Theory confirmed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Determine the next steps to resolve</a:t>
            </a:r>
          </a:p>
          <a:p>
            <a:pPr>
              <a:spcAft>
                <a:spcPts val="900"/>
              </a:spcAft>
            </a:pPr>
            <a:r>
              <a:rPr sz="1400" b="0">
                <a:solidFill>
                  <a:srgbClr val="161B26"/>
                </a:solidFill>
                <a:latin typeface="Arial"/>
              </a:rPr>
              <a:t>•  Move straight to a plan of action</a:t>
            </a:r>
          </a:p>
          <a:p>
            <a:pPr>
              <a:spcAft>
                <a:spcPts val="900"/>
              </a:spcAft>
            </a:pPr>
            <a:r>
              <a:rPr sz="1400" b="0">
                <a:solidFill>
                  <a:srgbClr val="161B26"/>
                </a:solidFill>
                <a:latin typeface="Arial"/>
              </a:rPr>
              <a:t>•  Record what proved the cause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Theory busted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Re-establish a new theory</a:t>
            </a:r>
          </a:p>
          <a:p>
            <a:pPr>
              <a:spcAft>
                <a:spcPts val="900"/>
              </a:spcAft>
            </a:pPr>
            <a:r>
              <a:rPr sz="1400" b="0">
                <a:solidFill>
                  <a:srgbClr val="161B26"/>
                </a:solidFill>
                <a:latin typeface="Arial"/>
              </a:rPr>
              <a:t>•  Re-question the obvious</a:t>
            </a:r>
          </a:p>
          <a:p>
            <a:pPr>
              <a:spcAft>
                <a:spcPts val="900"/>
              </a:spcAft>
            </a:pPr>
            <a:r>
              <a:rPr sz="1400" b="0">
                <a:solidFill>
                  <a:srgbClr val="161B26"/>
                </a:solidFill>
                <a:latin typeface="Arial"/>
              </a:rPr>
              <a:t>•  Widen the scope of what you test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Beyond your access or skill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Escalate - do not keep digging</a:t>
            </a:r>
          </a:p>
          <a:p>
            <a:pPr>
              <a:spcAft>
                <a:spcPts val="900"/>
              </a:spcAft>
            </a:pPr>
            <a:r>
              <a:rPr sz="1400" b="0">
                <a:solidFill>
                  <a:srgbClr val="161B26"/>
                </a:solidFill>
                <a:latin typeface="Arial"/>
              </a:rPr>
              <a:t>•  Hand over the evidence so far</a:t>
            </a:r>
          </a:p>
          <a:p>
            <a:pPr>
              <a:spcAft>
                <a:spcPts val="900"/>
              </a:spcAft>
            </a:pPr>
            <a:r>
              <a:rPr sz="1400" b="0">
                <a:solidFill>
                  <a:srgbClr val="161B26"/>
                </a:solidFill>
                <a:latin typeface="Arial"/>
              </a:rPr>
              <a:t>•  List the tests already performed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transition spd="fast" advClick="1">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Steps 4 and 5 - Plan, Implement or Escalate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 before you touch</a:t>
            </a:r>
          </a:p>
          <a:p>
            <a:pPr algn="l">
              <a:spcAft>
                <a:spcPts val="300"/>
              </a:spcAft>
            </a:pPr>
            <a:r>
              <a:rPr sz="1200" b="0">
                <a:solidFill>
                  <a:srgbClr val="5B6372"/>
                </a:solidFill>
                <a:latin typeface="Arial"/>
              </a:rPr>
              <a:t>Write the steps, the order, and who does what - a fix applied ad hoc at 2 a.m. becomes tomorrow's mystery config.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Identify potential effects</a:t>
            </a:r>
          </a:p>
          <a:p>
            <a:pPr algn="l">
              <a:spcAft>
                <a:spcPts val="300"/>
              </a:spcAft>
            </a:pPr>
            <a:r>
              <a:rPr sz="1200" b="0">
                <a:solidFill>
                  <a:srgbClr val="5B6372"/>
                </a:solidFill>
                <a:latin typeface="Arial"/>
              </a:rPr>
              <a:t>Will the fix drop users, restart services, or trigger STP recalculation? Say so before it happens.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Schedule the change</a:t>
            </a:r>
          </a:p>
          <a:p>
            <a:pPr algn="l">
              <a:spcAft>
                <a:spcPts val="300"/>
              </a:spcAft>
            </a:pPr>
            <a:r>
              <a:rPr sz="1200" b="0">
                <a:solidFill>
                  <a:srgbClr val="5B6372"/>
                </a:solidFill>
                <a:latin typeface="Arial"/>
              </a:rPr>
              <a:t>Non-urgent fixes go in a change window with approval; outage fixes still get a one-line plan first.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 the rollback</a:t>
            </a:r>
          </a:p>
          <a:p>
            <a:pPr algn="l">
              <a:spcAft>
                <a:spcPts val="300"/>
              </a:spcAft>
            </a:pPr>
            <a:r>
              <a:rPr sz="1200" b="0">
                <a:solidFill>
                  <a:srgbClr val="5B6372"/>
                </a:solidFill>
                <a:latin typeface="Arial"/>
              </a:rPr>
              <a:t>Know how to undo the change before you make it - save the running config, snapshot, or note the old value.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Implement or escalate</a:t>
            </a:r>
          </a:p>
          <a:p>
            <a:pPr algn="l">
              <a:spcAft>
                <a:spcPts val="300"/>
              </a:spcAft>
            </a:pPr>
            <a:r>
              <a:rPr sz="1200" b="0">
                <a:solidFill>
                  <a:srgbClr val="5B6372"/>
                </a:solidFill>
                <a:latin typeface="Arial"/>
              </a:rPr>
              <a:t>Execute your plan - or hand it to the vendor, ISP or senior engineer if it exceeds your authority or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Verify as you go</a:t>
            </a:r>
          </a:p>
          <a:p>
            <a:pPr algn="l">
              <a:spcAft>
                <a:spcPts val="300"/>
              </a:spcAft>
            </a:pPr>
            <a:r>
              <a:rPr sz="1200" b="0">
                <a:solidFill>
                  <a:srgbClr val="5B6372"/>
                </a:solidFill>
                <a:latin typeface="Arial"/>
              </a:rPr>
              <a:t>Test after each step of the plan, not only at the end, so a failed step is caught immediately.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transition spd="fast" advClick="1">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Steps 6 and 7 - Verify and Document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Verify FULL functionality</a:t>
            </a:r>
          </a:p>
          <a:p>
            <a:pPr algn="l">
              <a:spcAft>
                <a:spcPts val="300"/>
              </a:spcAft>
            </a:pPr>
            <a:r>
              <a:rPr sz="1200" b="0">
                <a:solidFill>
                  <a:srgbClr val="5B6372"/>
                </a:solidFill>
                <a:latin typeface="Arial"/>
              </a:rPr>
              <a:t>Test more than the reported symptom - the user's app, neighbours on the same switch, and anything your change touched.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Have the user confirm</a:t>
            </a:r>
          </a:p>
          <a:p>
            <a:pPr algn="l">
              <a:spcAft>
                <a:spcPts val="300"/>
              </a:spcAft>
            </a:pPr>
            <a:r>
              <a:rPr sz="1200" b="0">
                <a:solidFill>
                  <a:srgbClr val="5B6372"/>
                </a:solidFill>
                <a:latin typeface="Arial"/>
              </a:rPr>
              <a:t>The ticket closes when the reporter agrees it works, not when your ping succeeds.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Implement preventive measures</a:t>
            </a:r>
          </a:p>
          <a:p>
            <a:pPr algn="l">
              <a:spcAft>
                <a:spcPts val="300"/>
              </a:spcAft>
            </a:pPr>
            <a:r>
              <a:rPr sz="1200" b="0">
                <a:solidFill>
                  <a:srgbClr val="5B6372"/>
                </a:solidFill>
                <a:latin typeface="Arial"/>
              </a:rPr>
              <a:t>Monitoring alerts, config backups, UPS, spare cables, tightened change control - stop the repeat.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 findings</a:t>
            </a:r>
          </a:p>
          <a:p>
            <a:pPr algn="l">
              <a:spcAft>
                <a:spcPts val="300"/>
              </a:spcAft>
            </a:pPr>
            <a:r>
              <a:rPr sz="1200" b="0">
                <a:solidFill>
                  <a:srgbClr val="5B6372"/>
                </a:solidFill>
                <a:latin typeface="Arial"/>
              </a:rPr>
              <a:t>What was broken and what the root cause was - written for the next engineer, not for yourself.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 actions and outcomes</a:t>
            </a:r>
          </a:p>
          <a:p>
            <a:pPr algn="l">
              <a:spcAft>
                <a:spcPts val="300"/>
              </a:spcAft>
            </a:pPr>
            <a:r>
              <a:rPr sz="1200" b="0">
                <a:solidFill>
                  <a:srgbClr val="5B6372"/>
                </a:solidFill>
                <a:latin typeface="Arial"/>
              </a:rPr>
              <a:t>Exactly what was changed, where, and the result - this becomes tomorrow's change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Capture lessons learned</a:t>
            </a:r>
          </a:p>
          <a:p>
            <a:pPr algn="l">
              <a:spcAft>
                <a:spcPts val="300"/>
              </a:spcAft>
            </a:pPr>
            <a:r>
              <a:rPr sz="1200" b="0">
                <a:solidFill>
                  <a:srgbClr val="5B6372"/>
                </a:solidFill>
                <a:latin typeface="Arial"/>
              </a:rPr>
              <a:t>What slowed the diagnosis? What would have caught it sooner? Feed that into runbooks and training.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transition spd="fast" advClick="1">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7 Steps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Step</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Goal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Key actions</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 Identify</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Know the real problem</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Gather info, question users, what changed?</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 Theorise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Rank probable causes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Question the obvious; walk the OSI stack</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 Test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Confirm or discard</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Prove the theory, re-theorise or escalate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4+5 Plan + implement</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Fix safely</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Plan steps and effects; act or escalate</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6 Verify</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Whole system works</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Full functionality + preventive measures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7 Document</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Keep the knowledge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Findings, actions, outcomes, lessons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Exam questions quote a scenario mid-flow and ask for the NEXT step - learn the order cold.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transition spd="fast" advClick="1">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Symptom to Layer to First 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symptom</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First tool to reach for</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L1 Physical</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link light, error counters climb</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Cable tester, ethtool, link LEDs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L2 Data Link</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Floods, loops, VLAN oddities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ip neigh / arp, switch counters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L3 Network</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Some destinations unreachable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ping, traceroute/mtr, ip route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L4 Transport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Connects to some ports only</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nc -zv, ss -tlnp, firewall rules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L7 Application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TCP fine but service errors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curl -v, dig, server logs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Pick the layer the symptom names, test there, then move up or down on the result.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transition spd="fast" advClick="1">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Method in 60 Seconds - a Dry Run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one user, wired, no web since desk move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Theory: cable damaged in the move (L1 first)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swap patch lead - link light returns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Plan+fix: replace lead, label the run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 document: user confirms, ticket notes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transition spd="fast" advClick="1">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5.2 · CABLING &amp; INTERFACES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Physical first: most 'network down' calls end at a cable.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Objective 5.2: cabling faults, interface errors and hardware issues - the layer where troubleshooting most often starts and ends.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transition spd="fast" advClick="1">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Incorrect Cable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Cat rating</a:t>
            </a:r>
          </a:p>
          <a:p>
            <a:pPr algn="l">
              <a:spcAft>
                <a:spcPts val="300"/>
              </a:spcAft>
            </a:pPr>
            <a:r>
              <a:rPr sz="1200" b="0">
                <a:solidFill>
                  <a:srgbClr val="5B6372"/>
                </a:solidFill>
                <a:latin typeface="Arial"/>
              </a:rPr>
              <a:t>Cat 5e on a 10G link negotiates down or throws errors - match the category to the speed and the run length.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UTP where STP is needed</a:t>
            </a:r>
          </a:p>
          <a:p>
            <a:pPr algn="l">
              <a:spcAft>
                <a:spcPts val="300"/>
              </a:spcAft>
            </a:pPr>
            <a:r>
              <a:rPr sz="1200" b="0">
                <a:solidFill>
                  <a:srgbClr val="5B6372"/>
                </a:solidFill>
                <a:latin typeface="Arial"/>
              </a:rPr>
              <a:t>Unshielded cable beside motors, lifts or fluorescent ballasts picks up EMI - shielded (STP) or a new path fixes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Single-mode vs multimode</a:t>
            </a:r>
          </a:p>
          <a:p>
            <a:pPr algn="l">
              <a:spcAft>
                <a:spcPts val="300"/>
              </a:spcAft>
            </a:pPr>
            <a:r>
              <a:rPr sz="1200" b="0">
                <a:solidFill>
                  <a:srgbClr val="5B6372"/>
                </a:solidFill>
                <a:latin typeface="Arial"/>
              </a:rPr>
              <a:t>SMF (yellow, laser, long haul) and MMF (aqua/orange, short haul) do not mix - and neither do their transceivers.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TX/RX transposed</a:t>
            </a:r>
          </a:p>
          <a:p>
            <a:pPr algn="l">
              <a:spcAft>
                <a:spcPts val="300"/>
              </a:spcAft>
            </a:pPr>
            <a:r>
              <a:rPr sz="1200" b="0">
                <a:solidFill>
                  <a:srgbClr val="5B6372"/>
                </a:solidFill>
                <a:latin typeface="Arial"/>
              </a:rPr>
              <a:t>Fibre pair crossed at one end: both link lights stay dark. Flip the pair at ONE end only.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Copper vs fibre reach</a:t>
            </a:r>
          </a:p>
          <a:p>
            <a:pPr algn="l">
              <a:spcAft>
                <a:spcPts val="300"/>
              </a:spcAft>
            </a:pPr>
            <a:r>
              <a:rPr sz="1200" b="0">
                <a:solidFill>
                  <a:srgbClr val="5B6372"/>
                </a:solidFill>
                <a:latin typeface="Arial"/>
              </a:rPr>
              <a:t>UTP tops out at 100 m per horizontal run (EIA/TIA allows 90 m + patch); beyond that use fibre or add a switch.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jacket tells a story</a:t>
            </a:r>
          </a:p>
          <a:p>
            <a:pPr algn="l">
              <a:spcAft>
                <a:spcPts val="300"/>
              </a:spcAft>
            </a:pPr>
            <a:r>
              <a:rPr sz="1200" b="0">
                <a:solidFill>
                  <a:srgbClr val="5B6372"/>
                </a:solidFill>
                <a:latin typeface="Arial"/>
              </a:rPr>
              <a:t>Read the print on the cable jacket - Cat level, shielding and plenum rating are all written on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transition spd="fast" advClick="1">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Signal Degradation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Attenuation</a:t>
            </a:r>
          </a:p>
          <a:p>
            <a:pPr algn="l">
              <a:spcAft>
                <a:spcPts val="300"/>
              </a:spcAft>
            </a:pPr>
            <a:r>
              <a:rPr sz="1200" b="0">
                <a:solidFill>
                  <a:srgbClr val="5B6372"/>
                </a:solidFill>
                <a:latin typeface="Arial"/>
              </a:rPr>
              <a:t>Signal weakens with distance - runs past spec show as errors and negotiated-down speeds, worst at higher frequencies.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Crosstalk</a:t>
            </a:r>
          </a:p>
          <a:p>
            <a:pPr algn="l">
              <a:spcAft>
                <a:spcPts val="300"/>
              </a:spcAft>
            </a:pPr>
            <a:r>
              <a:rPr sz="1200" b="0">
                <a:solidFill>
                  <a:srgbClr val="5B6372"/>
                </a:solidFill>
                <a:latin typeface="Arial"/>
              </a:rPr>
              <a:t>Signal bleeding between pairs, usually from sloppy termination - pairs untwisted too far at the plug.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NEXT and FEXT</a:t>
            </a:r>
          </a:p>
          <a:p>
            <a:pPr algn="l">
              <a:spcAft>
                <a:spcPts val="300"/>
              </a:spcAft>
            </a:pPr>
            <a:r>
              <a:rPr sz="1200" b="0">
                <a:solidFill>
                  <a:srgbClr val="5B6372"/>
                </a:solidFill>
                <a:latin typeface="Arial"/>
              </a:rPr>
              <a:t>Near-end crosstalk is measured at the transmitter end, far-end at the receiver - certifiers report both in dB.</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EMI / interference</a:t>
            </a:r>
          </a:p>
          <a:p>
            <a:pPr algn="l">
              <a:spcAft>
                <a:spcPts val="300"/>
              </a:spcAft>
            </a:pPr>
            <a:r>
              <a:rPr sz="1200" b="0">
                <a:solidFill>
                  <a:srgbClr val="5B6372"/>
                </a:solidFill>
                <a:latin typeface="Arial"/>
              </a:rPr>
              <a:t>Motors, HVAC, power runs and fluorescent lighting induce noise into copper - reroute the cable or shield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dB loss on fibre</a:t>
            </a:r>
          </a:p>
          <a:p>
            <a:pPr algn="l">
              <a:spcAft>
                <a:spcPts val="300"/>
              </a:spcAft>
            </a:pPr>
            <a:r>
              <a:rPr sz="1200" b="0">
                <a:solidFill>
                  <a:srgbClr val="5B6372"/>
                </a:solidFill>
                <a:latin typeface="Arial"/>
              </a:rPr>
              <a:t>Dirty connectors, tight bends and bad splices eat the optical budget - measure with an optical power meter.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symptom pattern</a:t>
            </a:r>
          </a:p>
          <a:p>
            <a:pPr algn="l">
              <a:spcAft>
                <a:spcPts val="300"/>
              </a:spcAft>
            </a:pPr>
            <a:r>
              <a:rPr sz="1200" b="0">
                <a:solidFill>
                  <a:srgbClr val="5B6372"/>
                </a:solidFill>
                <a:latin typeface="Arial"/>
              </a:rPr>
              <a:t>Degradation rarely kills a link outright - it shows as CRC errors, retransmissions and 'slow' complaints.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transition spd="fast" advClick="1">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Improper Termination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T568A/B mixed ends</a:t>
            </a:r>
          </a:p>
          <a:p>
            <a:pPr algn="l">
              <a:spcAft>
                <a:spcPts val="300"/>
              </a:spcAft>
            </a:pPr>
            <a:r>
              <a:rPr sz="1200" b="0">
                <a:solidFill>
                  <a:srgbClr val="5B6372"/>
                </a:solidFill>
                <a:latin typeface="Arial"/>
              </a:rPr>
              <a:t>One end A, the other B makes an accidental crossover - modern MDI-X often saves you, but certifiers flag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Split pairs</a:t>
            </a:r>
          </a:p>
          <a:p>
            <a:pPr algn="l">
              <a:spcAft>
                <a:spcPts val="300"/>
              </a:spcAft>
            </a:pPr>
            <a:r>
              <a:rPr sz="1200" b="0">
                <a:solidFill>
                  <a:srgbClr val="5B6372"/>
                </a:solidFill>
                <a:latin typeface="Arial"/>
              </a:rPr>
              <a:t>Wires landed so a circuit uses conductors from two different twisted pairs - passes continuity, fails at speed.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Untwisted too far</a:t>
            </a:r>
          </a:p>
          <a:p>
            <a:pPr algn="l">
              <a:spcAft>
                <a:spcPts val="300"/>
              </a:spcAft>
            </a:pPr>
            <a:r>
              <a:rPr sz="1200" b="0">
                <a:solidFill>
                  <a:srgbClr val="5B6372"/>
                </a:solidFill>
                <a:latin typeface="Arial"/>
              </a:rPr>
              <a:t>More than ~13 mm untwisted at the punch-down or plug invites crosstalk - re-twist and re-terminate.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Bad punch-down / loose IDC</a:t>
            </a:r>
          </a:p>
          <a:p>
            <a:pPr algn="l">
              <a:spcAft>
                <a:spcPts val="300"/>
              </a:spcAft>
            </a:pPr>
            <a:r>
              <a:rPr sz="1200" b="0">
                <a:solidFill>
                  <a:srgbClr val="5B6372"/>
                </a:solidFill>
                <a:latin typeface="Arial"/>
              </a:rPr>
              <a:t>Half-seated conductors at the patch panel work intermittently - the classic 'wiggle the cable' fault.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Damaged RJ45 latch</a:t>
            </a:r>
          </a:p>
          <a:p>
            <a:pPr algn="l">
              <a:spcAft>
                <a:spcPts val="300"/>
              </a:spcAft>
            </a:pPr>
            <a:r>
              <a:rPr sz="1200" b="0">
                <a:solidFill>
                  <a:srgbClr val="5B6372"/>
                </a:solidFill>
                <a:latin typeface="Arial"/>
              </a:rPr>
              <a:t>A broken retention clip lets the plug back out of the jack - the link drops when anyone touches the desk.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transition spd="fast" advClick="1">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Faults vs Tester Results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Fault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Wiremap / tester shows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cause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Open</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Pin fails continuity</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Break or unpunched conductor</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Short</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Two pins joined</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Crushed jacket, stray strand</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Split pair</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Map OK, NEXT fails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Pairs mis-landed on pins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Reversed pair</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Pair order flipped</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A/B mix at one end</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Crossed pairs</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1-2 swapped with 3-6</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Crossover lead in the run</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Excess length</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 over 90-100 m</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TDR shows distance vs spec</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Wiremap finds opens, shorts and miswires; a TDR adds the distance to the fault.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transition spd="fast" advClick="1">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Test Instruments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tester / wiremap</a:t>
            </a:r>
          </a:p>
          <a:p>
            <a:pPr algn="l">
              <a:spcAft>
                <a:spcPts val="300"/>
              </a:spcAft>
            </a:pPr>
            <a:r>
              <a:rPr sz="1200" b="0">
                <a:solidFill>
                  <a:srgbClr val="5B6372"/>
                </a:solidFill>
                <a:latin typeface="Arial"/>
              </a:rPr>
              <a:t>Confirms each of the 8 pins lands on the right pin at the far end and continuity exists - first tool on any drop.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Continuity test</a:t>
            </a:r>
          </a:p>
          <a:p>
            <a:pPr algn="l">
              <a:spcAft>
                <a:spcPts val="300"/>
              </a:spcAft>
            </a:pPr>
            <a:r>
              <a:rPr sz="1200" b="0">
                <a:solidFill>
                  <a:srgbClr val="5B6372"/>
                </a:solidFill>
                <a:latin typeface="Arial"/>
              </a:rPr>
              <a:t>Shows whether the conductor is broken anywhere along the run - a pass means the copper path is complete.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TDR</a:t>
            </a:r>
          </a:p>
          <a:p>
            <a:pPr algn="l">
              <a:spcAft>
                <a:spcPts val="300"/>
              </a:spcAft>
            </a:pPr>
            <a:r>
              <a:rPr sz="1200" b="0">
                <a:solidFill>
                  <a:srgbClr val="5B6372"/>
                </a:solidFill>
                <a:latin typeface="Arial"/>
              </a:rPr>
              <a:t>Time domain reflectometer - fires a pulse and times the echo to report cable length and the distance to a break.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OTDR</a:t>
            </a:r>
          </a:p>
          <a:p>
            <a:pPr algn="l">
              <a:spcAft>
                <a:spcPts val="300"/>
              </a:spcAft>
            </a:pPr>
            <a:r>
              <a:rPr sz="1200" b="0">
                <a:solidFill>
                  <a:srgbClr val="5B6372"/>
                </a:solidFill>
                <a:latin typeface="Arial"/>
              </a:rPr>
              <a:t>The optical TDR for fibre - locates breaks, bad splices and dirty connectors along a fibre run.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certifier</a:t>
            </a:r>
          </a:p>
          <a:p>
            <a:pPr algn="l">
              <a:spcAft>
                <a:spcPts val="300"/>
              </a:spcAft>
            </a:pPr>
            <a:r>
              <a:rPr sz="1200" b="0">
                <a:solidFill>
                  <a:srgbClr val="5B6372"/>
                </a:solidFill>
                <a:latin typeface="Arial"/>
              </a:rPr>
              <a:t>Measures NEXT/FEXT, attenuation and return loss against the Cat spec - proves a run earns its rating.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Optical power meter</a:t>
            </a:r>
          </a:p>
          <a:p>
            <a:pPr algn="l">
              <a:spcAft>
                <a:spcPts val="300"/>
              </a:spcAft>
            </a:pPr>
            <a:r>
              <a:rPr sz="1200" b="0">
                <a:solidFill>
                  <a:srgbClr val="5B6372"/>
                </a:solidFill>
                <a:latin typeface="Arial"/>
              </a:rPr>
              <a:t>Measures received light in dBm - the tool for weak-signal and dirty-connector fibre faults.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transition spd="fast" advClick="1">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Locating and Verifying: Toner, Loopback, Multimeter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 generator</a:t>
            </a:r>
          </a:p>
          <a:p>
            <a:pPr algn="l">
              <a:spcAft>
                <a:spcPts val="300"/>
              </a:spcAft>
            </a:pPr>
            <a:r>
              <a:rPr sz="1200" b="0">
                <a:solidFill>
                  <a:srgbClr val="5B6372"/>
                </a:solidFill>
                <a:latin typeface="Arial"/>
              </a:rPr>
              <a:t>Injects a signal onto a pair at one end - the 'Fox' of the classic Fox &amp; Hound pair.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 probe</a:t>
            </a:r>
          </a:p>
          <a:p>
            <a:pPr algn="l">
              <a:spcAft>
                <a:spcPts val="300"/>
              </a:spcAft>
            </a:pPr>
            <a:r>
              <a:rPr sz="1200" b="0">
                <a:solidFill>
                  <a:srgbClr val="5B6372"/>
                </a:solidFill>
                <a:latin typeface="Arial"/>
              </a:rPr>
              <a:t>Held near cables, it sings when it finds the toned pair - traces unlabeled runs through walls and bundles.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plug</a:t>
            </a:r>
          </a:p>
          <a:p>
            <a:pPr algn="l">
              <a:spcAft>
                <a:spcPts val="300"/>
              </a:spcAft>
            </a:pPr>
            <a:r>
              <a:rPr sz="1200" b="0">
                <a:solidFill>
                  <a:srgbClr val="5B6372"/>
                </a:solidFill>
                <a:latin typeface="Arial"/>
              </a:rPr>
              <a:t>Loops TX back to RX so a NIC or switch port tests its own send/receive path in isolation.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address</a:t>
            </a:r>
          </a:p>
          <a:p>
            <a:pPr algn="l">
              <a:spcAft>
                <a:spcPts val="300"/>
              </a:spcAft>
            </a:pPr>
            <a:r>
              <a:rPr sz="1200" b="0">
                <a:solidFill>
                  <a:srgbClr val="5B6372"/>
                </a:solidFill>
                <a:latin typeface="Arial"/>
              </a:rPr>
              <a:t>127.0.0.1 (::1 in IPv6) tests the local IP stack with no cable at all - can this host even talk to itself?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Multimeter</a:t>
            </a:r>
          </a:p>
          <a:p>
            <a:pPr algn="l">
              <a:spcAft>
                <a:spcPts val="300"/>
              </a:spcAft>
            </a:pPr>
            <a:r>
              <a:rPr sz="1200" b="0">
                <a:solidFill>
                  <a:srgbClr val="5B6372"/>
                </a:solidFill>
                <a:latin typeface="Arial"/>
              </a:rPr>
              <a:t>Voltage, current, resistance and continuity - the tool for PoE voltage checks and suspect power.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Voltage monitor / UPS</a:t>
            </a:r>
          </a:p>
          <a:p>
            <a:pPr algn="l">
              <a:spcAft>
                <a:spcPts val="300"/>
              </a:spcAft>
            </a:pPr>
            <a:r>
              <a:rPr sz="1200" b="0">
                <a:solidFill>
                  <a:srgbClr val="5B6372"/>
                </a:solidFill>
                <a:latin typeface="Arial"/>
              </a:rPr>
              <a:t>Logs sags and drops in supply power - unexplained rack reboots are a power problem until proven otherwise.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transition spd="fast" advClick="1">
    <p:fade/>
  </p:transition>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Port Status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Status</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Your move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up / up</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Admin up, carrier present</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Healthy - look elsewhere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up / down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Enabled but no carrier</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Cable, far end, transceiver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LOWERLAYERDOWN</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Linux: no carrier sensed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Check the physical path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admin down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Deliberately disabled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shutdown / ip link set up</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err-disabled</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Switch shut it on error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Fix the cause, then re-enable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err-disabled common causes: port-security violation, BPDU guard, link flapping.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transition spd="fast" advClick="1">
    <p:fade/>
  </p:transition>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Error Counters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CRC errors</a:t>
            </a:r>
          </a:p>
          <a:p>
            <a:pPr algn="l">
              <a:spcAft>
                <a:spcPts val="300"/>
              </a:spcAft>
            </a:pPr>
            <a:r>
              <a:rPr sz="1200" b="0">
                <a:solidFill>
                  <a:srgbClr val="5B6372"/>
                </a:solidFill>
                <a:latin typeface="Arial"/>
              </a:rPr>
              <a:t>Frames that fail the checksum - bad cable, noise or duplex mismatch; any steadily climbing count is a fault.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Runts</a:t>
            </a:r>
          </a:p>
          <a:p>
            <a:pPr algn="l">
              <a:spcAft>
                <a:spcPts val="300"/>
              </a:spcAft>
            </a:pPr>
            <a:r>
              <a:rPr sz="1200" b="0">
                <a:solidFill>
                  <a:srgbClr val="5B6372"/>
                </a:solidFill>
                <a:latin typeface="Arial"/>
              </a:rPr>
              <a:t>Frames under 64 bytes, usually collision fragments - the classic signature of a duplex mismatch.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Giants</a:t>
            </a:r>
          </a:p>
          <a:p>
            <a:pPr algn="l">
              <a:spcAft>
                <a:spcPts val="300"/>
              </a:spcAft>
            </a:pPr>
            <a:r>
              <a:rPr sz="1200" b="0">
                <a:solidFill>
                  <a:srgbClr val="5B6372"/>
                </a:solidFill>
                <a:latin typeface="Arial"/>
              </a:rPr>
              <a:t>Frames over the MTU - typically an MTU or jumbo-frame mismatch between devices.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Drops / discards</a:t>
            </a:r>
          </a:p>
          <a:p>
            <a:pPr algn="l">
              <a:spcAft>
                <a:spcPts val="300"/>
              </a:spcAft>
            </a:pPr>
            <a:r>
              <a:rPr sz="1200" b="0">
                <a:solidFill>
                  <a:srgbClr val="5B6372"/>
                </a:solidFill>
                <a:latin typeface="Arial"/>
              </a:rPr>
              <a:t>The device threw frames away - buffers full (congestion) or frames it could not process.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Duplex mismatch</a:t>
            </a:r>
          </a:p>
          <a:p>
            <a:pPr algn="l">
              <a:spcAft>
                <a:spcPts val="300"/>
              </a:spcAft>
            </a:pPr>
            <a:r>
              <a:rPr sz="1200" b="0">
                <a:solidFill>
                  <a:srgbClr val="5B6372"/>
                </a:solidFill>
                <a:latin typeface="Arial"/>
              </a:rPr>
              <a:t>One side full, one side half: link stays up but collisions, CRCs and runts soar under load - forced-speed misconfig is the usual cause.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 the DELTA</a:t>
            </a:r>
          </a:p>
          <a:p>
            <a:pPr algn="l">
              <a:spcAft>
                <a:spcPts val="300"/>
              </a:spcAft>
            </a:pPr>
            <a:r>
              <a:rPr sz="1200" b="0">
                <a:solidFill>
                  <a:srgbClr val="5B6372"/>
                </a:solidFill>
                <a:latin typeface="Arial"/>
              </a:rPr>
              <a:t>Absolute counts mean little - clear or note the counters, wait, re-read; the growth rate convicts.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transition spd="fast" advClick="1">
    <p:fade/>
  </p:transition>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an ethtool Counter 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28's core skill: convict a bad link from its counters.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ethtool eth0 | grep -E 'Speed|Duplex|Link'</a:t>
            </a:r>
          </a:p>
          <a:p>
            <a:pPr>
              <a:spcAft>
                <a:spcPts val="200"/>
              </a:spcAft>
            </a:pPr>
            <a:r>
              <a:rPr sz="1100">
                <a:solidFill>
                  <a:srgbClr val="9CDCFE"/>
                </a:solidFill>
                <a:latin typeface="Consolas"/>
              </a:rPr>
              <a:t>        Speed: 1000Mb/s</a:t>
            </a:r>
          </a:p>
          <a:p>
            <a:pPr>
              <a:spcAft>
                <a:spcPts val="200"/>
              </a:spcAft>
            </a:pPr>
            <a:r>
              <a:rPr sz="1100">
                <a:solidFill>
                  <a:srgbClr val="9CDCFE"/>
                </a:solidFill>
                <a:latin typeface="Consolas"/>
              </a:rPr>
              <a:t>        Duplex: Half</a:t>
            </a:r>
          </a:p>
          <a:p>
            <a:pPr>
              <a:spcAft>
                <a:spcPts val="200"/>
              </a:spcAft>
            </a:pPr>
            <a:r>
              <a:rPr sz="1100">
                <a:solidFill>
                  <a:srgbClr val="9CDCFE"/>
                </a:solidFill>
                <a:latin typeface="Consolas"/>
              </a:rPr>
              <a:t>        Link detected: yes</a:t>
            </a:r>
          </a:p>
          <a:p>
            <a:pPr>
              <a:spcAft>
                <a:spcPts val="200"/>
              </a:spcAft>
            </a:pPr>
            <a:r>
              <a:rPr sz="1100">
                <a:solidFill>
                  <a:srgbClr val="9CDCFE"/>
                </a:solidFill>
                <a:latin typeface="Consolas"/>
              </a:rPr>
              <a:t>$ ethtool -S eth0 | grep -iE 'crc|err|drop'</a:t>
            </a:r>
          </a:p>
          <a:p>
            <a:pPr>
              <a:spcAft>
                <a:spcPts val="200"/>
              </a:spcAft>
            </a:pPr>
            <a:r>
              <a:rPr sz="1100">
                <a:solidFill>
                  <a:srgbClr val="9CDCFE"/>
                </a:solidFill>
                <a:latin typeface="Consolas"/>
              </a:rPr>
              <a:t>     rx_crc_errors: 18201</a:t>
            </a:r>
          </a:p>
          <a:p>
            <a:pPr>
              <a:spcAft>
                <a:spcPts val="200"/>
              </a:spcAft>
            </a:pPr>
            <a:r>
              <a:rPr sz="1100">
                <a:solidFill>
                  <a:srgbClr val="9CDCFE"/>
                </a:solidFill>
                <a:latin typeface="Consolas"/>
              </a:rPr>
              <a:t>     rx_errors: 18244</a:t>
            </a:r>
          </a:p>
          <a:p>
            <a:pPr>
              <a:spcAft>
                <a:spcPts val="200"/>
              </a:spcAft>
            </a:pPr>
            <a:r>
              <a:rPr sz="1100">
                <a:solidFill>
                  <a:srgbClr val="9CDCFE"/>
                </a:solidFill>
                <a:latin typeface="Consolas"/>
              </a:rPr>
              <a:t>     rx_dropped: 12</a:t>
            </a:r>
          </a:p>
          <a:p>
            <a:pPr>
              <a:spcAft>
                <a:spcPts val="200"/>
              </a:spcAft>
            </a:pPr>
            <a:r>
              <a:rPr sz="1100">
                <a:solidFill>
                  <a:srgbClr val="9CDCFE"/>
                </a:solidFill>
                <a:latin typeface="Consolas"/>
              </a:rPr>
              <a:t>     tx_errors: 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HALF DUPLEX</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Gigabit should negotiate full duplex - Half means autoneg failed or one side was forced.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RX CRC CLIMBING</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18k CRC errors received: corrupt frames arriving - bad cable, noise or that duplex mismatch.</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TX CLEAN</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Zero TX errors - our side sends fine; the fault is inbound: cable, far end or negotiation.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transition spd="fast" advClick="1">
    <p:fade/>
  </p:transition>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HARDWARE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Hardware Issues: PoE and Transceivers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PoE budget exhausted</a:t>
            </a:r>
          </a:p>
          <a:p>
            <a:pPr algn="l">
              <a:spcAft>
                <a:spcPts val="300"/>
              </a:spcAft>
            </a:pPr>
            <a:r>
              <a:rPr sz="1200" b="0">
                <a:solidFill>
                  <a:srgbClr val="5B6372"/>
                </a:solidFill>
                <a:latin typeface="Arial"/>
              </a:rPr>
              <a:t>Every switch has a total PoE wattage; add one camera too many and the newest device simply gets no power.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PoE standard mismatch</a:t>
            </a:r>
          </a:p>
          <a:p>
            <a:pPr algn="l">
              <a:spcAft>
                <a:spcPts val="300"/>
              </a:spcAft>
            </a:pPr>
            <a:r>
              <a:rPr sz="1200" b="0">
                <a:solidFill>
                  <a:srgbClr val="5B6372"/>
                </a:solidFill>
                <a:latin typeface="Arial"/>
              </a:rPr>
              <a:t>802.3af (15.4 W), at/PoE+ (30 W), bt/PoE++ (60-90 W) - a device asking for more than the port class delivers won't boot.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Transceiver mismatch</a:t>
            </a:r>
          </a:p>
          <a:p>
            <a:pPr algn="l">
              <a:spcAft>
                <a:spcPts val="300"/>
              </a:spcAft>
            </a:pPr>
            <a:r>
              <a:rPr sz="1200" b="0">
                <a:solidFill>
                  <a:srgbClr val="5B6372"/>
                </a:solidFill>
                <a:latin typeface="Arial"/>
              </a:rPr>
              <a:t>SFP wavelength, speed and SMF/MMF type must match at BOTH ends - and some switches reject non-vendor optics.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Transceiver signal strength</a:t>
            </a:r>
          </a:p>
          <a:p>
            <a:pPr algn="l">
              <a:spcAft>
                <a:spcPts val="300"/>
              </a:spcAft>
            </a:pPr>
            <a:r>
              <a:rPr sz="1200" b="0">
                <a:solidFill>
                  <a:srgbClr val="5B6372"/>
                </a:solidFill>
                <a:latin typeface="Arial"/>
              </a:rPr>
              <a:t>Read optical RX power via DDM/DOM or a power meter: too low means dirty or bent fibre, too high can saturate the receiver.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the power draw</a:t>
            </a:r>
          </a:p>
          <a:p>
            <a:pPr algn="l">
              <a:spcAft>
                <a:spcPts val="300"/>
              </a:spcAft>
            </a:pPr>
            <a:r>
              <a:rPr sz="1200" b="0">
                <a:solidFill>
                  <a:srgbClr val="5B6372"/>
                </a:solidFill>
                <a:latin typeface="Arial"/>
              </a:rPr>
              <a:t>show power inline (or vendor equivalent) lists per-port draw against budget - first stop for a dead PoE device.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transition spd="fast" advClick="1">
    <p:fade/>
  </p:transition>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5.2 · SCENARIOS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Wired Connection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Symptom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Likely cause and first action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No link light on NIC or switch</a:t>
            </a:r>
          </a:p>
          <a:p>
            <a:pPr>
              <a:spcAft>
                <a:spcPts val="1000"/>
              </a:spcAft>
            </a:pPr>
            <a:r>
              <a:rPr sz="1600" b="0">
                <a:solidFill>
                  <a:srgbClr val="161B26"/>
                </a:solidFill>
                <a:latin typeface="Arial"/>
              </a:rPr>
              <a:t>•  Link up but slow / errors under load</a:t>
            </a:r>
          </a:p>
          <a:p>
            <a:pPr>
              <a:spcAft>
                <a:spcPts val="1000"/>
              </a:spcAft>
            </a:pPr>
            <a:r>
              <a:rPr sz="1600" b="0">
                <a:solidFill>
                  <a:srgbClr val="161B26"/>
                </a:solidFill>
                <a:latin typeface="Arial"/>
              </a:rPr>
              <a:t>•  VoIP or video is choppy (jitter)</a:t>
            </a:r>
          </a:p>
          <a:p>
            <a:pPr>
              <a:spcAft>
                <a:spcPts val="1000"/>
              </a:spcAft>
            </a:pPr>
            <a:r>
              <a:rPr sz="1600" b="0">
                <a:solidFill>
                  <a:srgbClr val="161B26"/>
                </a:solidFill>
                <a:latin typeface="Arial"/>
              </a:rPr>
              <a:t>•  Works until someone touches the desk</a:t>
            </a:r>
          </a:p>
          <a:p>
            <a:pPr>
              <a:spcAft>
                <a:spcPts val="1000"/>
              </a:spcAft>
            </a:pPr>
            <a:r>
              <a:rPr sz="1600" b="0">
                <a:solidFill>
                  <a:srgbClr val="161B26"/>
                </a:solidFill>
                <a:latin typeface="Arial"/>
              </a:rPr>
              <a:t>•  Switch port LED never blinks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Cable, port or far end - swap one at a time</a:t>
            </a:r>
          </a:p>
          <a:p>
            <a:pPr>
              <a:spcAft>
                <a:spcPts val="1000"/>
              </a:spcAft>
            </a:pPr>
            <a:r>
              <a:rPr sz="1600" b="0">
                <a:solidFill>
                  <a:srgbClr val="161B26"/>
                </a:solidFill>
                <a:latin typeface="Arial"/>
              </a:rPr>
              <a:t>•  Cable spec below network speed - check Cat rating</a:t>
            </a:r>
          </a:p>
          <a:p>
            <a:pPr>
              <a:spcAft>
                <a:spcPts val="1000"/>
              </a:spcAft>
            </a:pPr>
            <a:r>
              <a:rPr sz="1600" b="0">
                <a:solidFill>
                  <a:srgbClr val="161B26"/>
                </a:solidFill>
                <a:latin typeface="Arial"/>
              </a:rPr>
              <a:t>•  Buffer/QoS or increase speed - measure first</a:t>
            </a:r>
          </a:p>
          <a:p>
            <a:pPr>
              <a:spcAft>
                <a:spcPts val="1000"/>
              </a:spcAft>
            </a:pPr>
            <a:r>
              <a:rPr sz="1600" b="0">
                <a:solidFill>
                  <a:srgbClr val="161B26"/>
                </a:solidFill>
                <a:latin typeface="Arial"/>
              </a:rPr>
              <a:t>•  Re-terminate - loose plug or damaged latch</a:t>
            </a:r>
          </a:p>
          <a:p>
            <a:pPr>
              <a:spcAft>
                <a:spcPts val="1000"/>
              </a:spcAft>
            </a:pPr>
            <a:r>
              <a:rPr sz="1600" b="0">
                <a:solidFill>
                  <a:srgbClr val="161B26"/>
                </a:solidFill>
                <a:latin typeface="Arial"/>
              </a:rPr>
              <a:t>•  Try another port; confirm it is not an uplink 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transition spd="fast" advClick="1">
    <p:fade/>
  </p:transition>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SCENARIOS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The Dead Desk 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one desk, no link light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 L1</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patch lead or outlet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swap lead; tone the run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re-terminate wall jack</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 document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label run, note fix</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Bottom-to-top fits single-user wired faults: cheap L1 tests first, and the toner finds which patch-panel port serves the desk.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 1/2 Diagnostics with ip and ethtool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cable and interface faults from link state, speed/duplex and error counters.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ip and ethtool on a Killercoda Ubuntu VM to read interface state, verify speed and duplex, hunt CRC and frame error counters, and bounce a NIC to recover the link.</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eth0: link state decoded, speed/duplex confirmed and every error counter read and interpreted.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ethtool, iproute2, Killercoda Ubuntu playground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-brief link shows eth0 UP; ethtool reports Link detected: yes with matching speed/duplex, and you can explain what any non-zero error counter would mean.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transition spd="fast" advClick="1">
    <p:fade/>
  </p:transition>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ethtool</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Inspect link speed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ethtool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Read the driver error counters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ethtool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Read kernel-level RX/TX statistics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Note how speed/duplex would be forced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cable and interface faults from link state, speed/duplex and error counters.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 1/2 Diagnostics with ip and ethtool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-brief link shows eth0 UP; ethtool reports Link detected: yes with matching speed/duplex, and you can explain what any non-zero error counter would mean.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ethtool: command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apt update &amp;&amp; apt install -y ethtool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State shows LOWERLAYERDOWN</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 carrier - in the real world check the cable/SFP; in the lab bring it up with ip link set eth0 up.</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Counters show no errors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Normal on a clean virtual NIC - the skill is knowing where CRC and frame errors would appear.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transition spd="fast" advClick="1">
    <p:fade/>
  </p:transition>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First-Response Command-Line 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ping</a:t>
            </a:r>
          </a:p>
          <a:p>
            <a:pPr algn="l">
              <a:spcAft>
                <a:spcPts val="300"/>
              </a:spcAft>
            </a:pPr>
            <a:r>
              <a:rPr sz="1200" b="0">
                <a:solidFill>
                  <a:srgbClr val="5B6372"/>
                </a:solidFill>
                <a:latin typeface="Arial"/>
              </a:rPr>
              <a:t>Sends ICMP echoes to measure reachability, RTT and loss - the baseline for every path complaint.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traceroute / tracert</a:t>
            </a:r>
          </a:p>
          <a:p>
            <a:pPr algn="l">
              <a:spcAft>
                <a:spcPts val="300"/>
              </a:spcAft>
            </a:pPr>
            <a:r>
              <a:rPr sz="1200" b="0">
                <a:solidFill>
                  <a:srgbClr val="5B6372"/>
                </a:solidFill>
                <a:latin typeface="Arial"/>
              </a:rPr>
              <a:t>Linux traceroute = Windows tracert: reveals every L3 hop to the destination and the RTT to 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pathping</a:t>
            </a:r>
          </a:p>
          <a:p>
            <a:pPr algn="l">
              <a:spcAft>
                <a:spcPts val="300"/>
              </a:spcAft>
            </a:pPr>
            <a:r>
              <a:rPr sz="1200" b="0">
                <a:solidFill>
                  <a:srgbClr val="5B6372"/>
                </a:solidFill>
                <a:latin typeface="Arial"/>
              </a:rPr>
              <a:t>Windows hybrid - traces the path, then pings each hop over time for per-hop loss statistics.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mtr</a:t>
            </a:r>
          </a:p>
          <a:p>
            <a:pPr algn="l">
              <a:spcAft>
                <a:spcPts val="300"/>
              </a:spcAft>
            </a:pPr>
            <a:r>
              <a:rPr sz="1200" b="0">
                <a:solidFill>
                  <a:srgbClr val="5B6372"/>
                </a:solidFill>
                <a:latin typeface="Arial"/>
              </a:rPr>
              <a:t>Live traceroute + ping combined; its Loss% column shows exactly where loss begins - best first tool for path issues.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nslookup / dig</a:t>
            </a:r>
          </a:p>
          <a:p>
            <a:pPr algn="l">
              <a:spcAft>
                <a:spcPts val="300"/>
              </a:spcAft>
            </a:pPr>
            <a:r>
              <a:rPr sz="1200" b="0">
                <a:solidFill>
                  <a:srgbClr val="5B6372"/>
                </a:solidFill>
                <a:latin typeface="Arial"/>
              </a:rPr>
              <a:t>Query DNS directly, choosing the server, the record type and even the full delegation trace.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testers</a:t>
            </a:r>
          </a:p>
          <a:p>
            <a:pPr algn="l">
              <a:spcAft>
                <a:spcPts val="300"/>
              </a:spcAft>
            </a:pPr>
            <a:r>
              <a:rPr sz="1200" b="0">
                <a:solidFill>
                  <a:srgbClr val="5B6372"/>
                </a:solidFill>
                <a:latin typeface="Arial"/>
              </a:rPr>
              <a:t>Browser or CLI bandwidth tests verify the up/down throughput actually delivered to one machine.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transition spd="fast" advClick="1">
    <p:fade/>
  </p:transition>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traceroute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Three RTT samples per hop - and the hops that lie.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traceroute 8.8.8.8</a:t>
            </a:r>
          </a:p>
          <a:p>
            <a:pPr>
              <a:spcAft>
                <a:spcPts val="200"/>
              </a:spcAft>
            </a:pPr>
            <a:r>
              <a:rPr sz="1100">
                <a:solidFill>
                  <a:srgbClr val="9CDCFE"/>
                </a:solidFill>
                <a:latin typeface="Consolas"/>
              </a:rPr>
              <a:t> 1  10.0.0.1      0.4 ms  0.3 ms  0.3 ms</a:t>
            </a:r>
          </a:p>
          <a:p>
            <a:pPr>
              <a:spcAft>
                <a:spcPts val="200"/>
              </a:spcAft>
            </a:pPr>
            <a:r>
              <a:rPr sz="1100">
                <a:solidFill>
                  <a:srgbClr val="9CDCFE"/>
                </a:solidFill>
                <a:latin typeface="Consolas"/>
              </a:rPr>
              <a:t> 2  100.64.12.1   2.1 ms  2.4 ms  2.0 ms</a:t>
            </a:r>
          </a:p>
          <a:p>
            <a:pPr>
              <a:spcAft>
                <a:spcPts val="200"/>
              </a:spcAft>
            </a:pPr>
            <a:r>
              <a:rPr sz="1100">
                <a:solidFill>
                  <a:srgbClr val="9CDCFE"/>
                </a:solidFill>
                <a:latin typeface="Consolas"/>
              </a:rPr>
              <a:t> 3  * * *</a:t>
            </a:r>
          </a:p>
          <a:p>
            <a:pPr>
              <a:spcAft>
                <a:spcPts val="200"/>
              </a:spcAft>
            </a:pPr>
            <a:r>
              <a:rPr sz="1100">
                <a:solidFill>
                  <a:srgbClr val="9CDCFE"/>
                </a:solidFill>
                <a:latin typeface="Consolas"/>
              </a:rPr>
              <a:t> 4  72.14.204.9   8.9 ms  9.2 ms  8.8 ms</a:t>
            </a:r>
          </a:p>
          <a:p>
            <a:pPr>
              <a:spcAft>
                <a:spcPts val="200"/>
              </a:spcAft>
            </a:pPr>
            <a:r>
              <a:rPr sz="1100">
                <a:solidFill>
                  <a:srgbClr val="9CDCFE"/>
                </a:solidFill>
                <a:latin typeface="Consolas"/>
              </a:rPr>
              <a:t> 5  dns.google    9.0 ms  8.9 ms  9.1 ms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HOP = ROUTER</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Each line is one L3 hop; the three columns are three RTT samples to that router.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 * * AT HOP 3</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That router won't answer probes - filtered, not broken: hops 4 and 5 still respond.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WHERE LATENCY JUMPS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jump persisting to the last hop marks the slow segment; on one hop only it is rate-limiting.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transition spd="fast" advClick="1">
    <p:fade/>
  </p:transition>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Traceroute Gotchas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 * * is usually fine</a:t>
            </a:r>
          </a:p>
          <a:p>
            <a:pPr algn="l">
              <a:spcAft>
                <a:spcPts val="300"/>
              </a:spcAft>
            </a:pPr>
            <a:r>
              <a:rPr sz="1200" b="0">
                <a:solidFill>
                  <a:srgbClr val="5B6372"/>
                </a:solidFill>
                <a:latin typeface="Arial"/>
              </a:rPr>
              <a:t>Routers deprioritise or drop probe replies - only worry when every hop after it also fails.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ICMP is deprioritised</a:t>
            </a:r>
          </a:p>
          <a:p>
            <a:pPr algn="l">
              <a:spcAft>
                <a:spcPts val="300"/>
              </a:spcAft>
            </a:pPr>
            <a:r>
              <a:rPr sz="1200" b="0">
                <a:solidFill>
                  <a:srgbClr val="5B6372"/>
                </a:solidFill>
                <a:latin typeface="Arial"/>
              </a:rPr>
              <a:t>Routers answer probes on the slow CPU path while real transit is forwarded in hardware - hop RTTs exaggerate.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TCP traceroute</a:t>
            </a:r>
          </a:p>
          <a:p>
            <a:pPr algn="l">
              <a:spcAft>
                <a:spcPts val="300"/>
              </a:spcAft>
            </a:pPr>
            <a:r>
              <a:rPr sz="1200" b="0">
                <a:solidFill>
                  <a:srgbClr val="5B6372"/>
                </a:solidFill>
                <a:latin typeface="Arial"/>
              </a:rPr>
              <a:t>traceroute -T -p 443 uses TCP SYN probes that pass firewalls blocking ICMP or UDP probes.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Windows vs Linux probes</a:t>
            </a:r>
          </a:p>
          <a:p>
            <a:pPr algn="l">
              <a:spcAft>
                <a:spcPts val="300"/>
              </a:spcAft>
            </a:pPr>
            <a:r>
              <a:rPr sz="1200" b="0">
                <a:solidFill>
                  <a:srgbClr val="5B6372"/>
                </a:solidFill>
                <a:latin typeface="Arial"/>
              </a:rPr>
              <a:t>tracert uses ICMP echoes; Linux traceroute defaults to UDP - a firewall may pass one and block the other.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Paths change mid-trace</a:t>
            </a:r>
          </a:p>
          <a:p>
            <a:pPr algn="l">
              <a:spcAft>
                <a:spcPts val="300"/>
              </a:spcAft>
            </a:pPr>
            <a:r>
              <a:rPr sz="1200" b="0">
                <a:solidFill>
                  <a:srgbClr val="5B6372"/>
                </a:solidFill>
                <a:latin typeface="Arial"/>
              </a:rPr>
              <a:t>ECMP load balancing can split probes across paths - mtr gives a steadier per-hop view.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return path is invisible</a:t>
            </a:r>
          </a:p>
          <a:p>
            <a:pPr algn="l">
              <a:spcAft>
                <a:spcPts val="300"/>
              </a:spcAft>
            </a:pPr>
            <a:r>
              <a:rPr sz="1200" b="0">
                <a:solidFill>
                  <a:srgbClr val="5B6372"/>
                </a:solidFill>
                <a:latin typeface="Arial"/>
              </a:rPr>
              <a:t>You see the outbound path only - the reply may come back a different way (asymmetric routing).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transition spd="fast" advClick="1">
    <p:fade/>
  </p:transition>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an mtr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mtr -rwc 20 sends 20 cycles and prints per-hop loss.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mtr -rwc 20 8.8.8.8</a:t>
            </a:r>
          </a:p>
          <a:p>
            <a:pPr>
              <a:spcAft>
                <a:spcPts val="200"/>
              </a:spcAft>
            </a:pPr>
            <a:r>
              <a:rPr sz="1100">
                <a:solidFill>
                  <a:srgbClr val="9CDCFE"/>
                </a:solidFill>
                <a:latin typeface="Consolas"/>
              </a:rPr>
              <a:t>HOST                Loss%   Snt   Avg  Wrst</a:t>
            </a:r>
          </a:p>
          <a:p>
            <a:pPr>
              <a:spcAft>
                <a:spcPts val="200"/>
              </a:spcAft>
            </a:pPr>
            <a:r>
              <a:rPr sz="1100">
                <a:solidFill>
                  <a:srgbClr val="9CDCFE"/>
                </a:solidFill>
                <a:latin typeface="Consolas"/>
              </a:rPr>
              <a:t>1. 10.0.0.1          0.0%    20   0.4   1.1</a:t>
            </a:r>
          </a:p>
          <a:p>
            <a:pPr>
              <a:spcAft>
                <a:spcPts val="200"/>
              </a:spcAft>
            </a:pPr>
            <a:r>
              <a:rPr sz="1100">
                <a:solidFill>
                  <a:srgbClr val="9CDCFE"/>
                </a:solidFill>
                <a:latin typeface="Consolas"/>
              </a:rPr>
              <a:t>2. isp-core-rtr     60.0%    20   2.2   3.7</a:t>
            </a:r>
          </a:p>
          <a:p>
            <a:pPr>
              <a:spcAft>
                <a:spcPts val="200"/>
              </a:spcAft>
            </a:pPr>
            <a:r>
              <a:rPr sz="1100">
                <a:solidFill>
                  <a:srgbClr val="9CDCFE"/>
                </a:solidFill>
                <a:latin typeface="Consolas"/>
              </a:rPr>
              <a:t>3. 72.14.212.1       0.0%    20   8.7  11.9</a:t>
            </a:r>
          </a:p>
          <a:p>
            <a:pPr>
              <a:spcAft>
                <a:spcPts val="200"/>
              </a:spcAft>
            </a:pPr>
            <a:r>
              <a:rPr sz="1100">
                <a:solidFill>
                  <a:srgbClr val="9CDCFE"/>
                </a:solidFill>
                <a:latin typeface="Consolas"/>
              </a:rPr>
              <a:t>4. dns.google        0.0%    20   9.0  11.4</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60% AT HOP 2</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Looks alarming - but hops 3 and 4 show 0% loss, so transit THROUGH hop 2 is fine.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RATE-LIMITING</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Hop 2 rate-limits its own ICMP replies. Real loss persists on every hop below it.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REAL LOSS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Loss beginning at hop N and continuing to the final hop - report that segment to its owner.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transition spd="fast" advClick="1">
    <p:fade/>
  </p:transition>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 That Packet Loss Real?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mtr shows loss at one hop.
Does the loss persist to the final hop?</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real loss</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path drops packets from that hop onward - localise the segment and engage its owner (ISP or WAN provider) with the mtr report.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cosmetic</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That single router is rate-limiting ICMP replies while forwarding fine - transit is unaffected; do not chase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Only loss that continues all the way down the report is service-affecting.</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transition spd="fast" advClick="1">
    <p:fade/>
  </p:transition>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 APPLIED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The Whole Office Is Slow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all users, started 2pm</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WAN congestion (L3)</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mtr: loss at ISP hop</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 / escalate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ticket with mtr report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loss clears, RTT normal</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Whole-site symptoms point at shared links - measure first, because carriers act on an mtr report, not on 'it feels slow'.</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Reachability with ping, traceroute and mtr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Localise latency and packet loss along a network path with ping, traceroute and mtr.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Baseline RTT and loss with ping, expose every L3 hop with traceroute, combine both views in a 20-cycle mtr report, then bypass ICMP filters with a TCP traceroute on port 443.</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mtr loss report for 8.8.8.8 and a TCP traceroute that passes firewalls which block ICMP.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iputils-ping, traceroute, mtr-tiny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ping reports 0% loss, traceroute lists each hop with three RTT samples, and the mtr report shows 0.0% loss on the final hop.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transition spd="fast" advClick="1">
    <p:fade/>
  </p:transition>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Baseline RTT and loss with ping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Trace the hop-by-hop path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traceroute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Read the Loss% column - find where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Use TCP traceroute where ICMP is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traceroute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Localise latency and packet loss along a network path with ping, traceroute and mtr.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Reachability with ping, traceroute and mtr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ping reports 0% loss, traceroute lists each hop with three RTT samples, and the mtr report shows 0.0% loss on the final hop.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traceroute prints * * *</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hop drops ICMP/UDP probes - usually filtered, not broken; try traceroute -T -p 443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mtr: command not found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the report-mode build with apt install -y mtr-tiny.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Loss shown on one middle hop only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ICMP rate-limiting on that router - only loss persisting to the final hop is real.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transition spd="fast" advClick="1">
    <p:fade/>
  </p:transition>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Troubleshooting Basics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with an IP, not a name</a:t>
            </a:r>
          </a:p>
          <a:p>
            <a:pPr algn="l">
              <a:spcAft>
                <a:spcPts val="300"/>
              </a:spcAft>
            </a:pPr>
            <a:r>
              <a:rPr sz="1200" b="0">
                <a:solidFill>
                  <a:srgbClr val="5B6372"/>
                </a:solidFill>
                <a:latin typeface="Arial"/>
              </a:rPr>
              <a:t>If the site loads by IP address while the name fails, connectivity is fine - the fault is DNS.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Find the configured resolver</a:t>
            </a:r>
          </a:p>
          <a:p>
            <a:pPr algn="l">
              <a:spcAft>
                <a:spcPts val="300"/>
              </a:spcAft>
            </a:pPr>
            <a:r>
              <a:rPr sz="1200" b="0">
                <a:solidFill>
                  <a:srgbClr val="5B6372"/>
                </a:solidFill>
                <a:latin typeface="Arial"/>
              </a:rPr>
              <a:t>Linux: cat /etc/resolv.conf or resolvectl status; Windows: ipconfig /all - know WHO you are asking.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Flush the cache</a:t>
            </a:r>
          </a:p>
          <a:p>
            <a:pPr algn="l">
              <a:spcAft>
                <a:spcPts val="300"/>
              </a:spcAft>
            </a:pPr>
            <a:r>
              <a:rPr sz="1200" b="0">
                <a:solidFill>
                  <a:srgbClr val="5B6372"/>
                </a:solidFill>
                <a:latin typeface="Arial"/>
              </a:rPr>
              <a:t>ipconfig /flushdns (Windows) or resolvectl flush-caches (Linux) clears poisoned or stale answers.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Query a server directly</a:t>
            </a:r>
          </a:p>
          <a:p>
            <a:pPr algn="l">
              <a:spcAft>
                <a:spcPts val="300"/>
              </a:spcAft>
            </a:pPr>
            <a:r>
              <a:rPr sz="1200" b="0">
                <a:solidFill>
                  <a:srgbClr val="5B6372"/>
                </a:solidFill>
                <a:latin typeface="Arial"/>
              </a:rPr>
              <a:t>dig @1.1.1.1 name or nslookup name 8.8.8.8 bypasses the local resolver to isolate which side is broken.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Compare two resolvers</a:t>
            </a:r>
          </a:p>
          <a:p>
            <a:pPr algn="l">
              <a:spcAft>
                <a:spcPts val="300"/>
              </a:spcAft>
            </a:pPr>
            <a:r>
              <a:rPr sz="1200" b="0">
                <a:solidFill>
                  <a:srgbClr val="5B6372"/>
                </a:solidFill>
                <a:latin typeface="Arial"/>
              </a:rPr>
              <a:t>Same name, two servers: one NXDOMAIN and one answer convicts the failing resolver, not the domain.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the record, not just the name</a:t>
            </a:r>
          </a:p>
          <a:p>
            <a:pPr algn="l">
              <a:spcAft>
                <a:spcPts val="300"/>
              </a:spcAft>
            </a:pPr>
            <a:r>
              <a:rPr sz="1200" b="0">
                <a:solidFill>
                  <a:srgbClr val="5B6372"/>
                </a:solidFill>
                <a:latin typeface="Arial"/>
              </a:rPr>
              <a:t>Wrong or stale A/AAAA/CNAME records resolve 'successfully' to the wrong place - read the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transition spd="fast" advClick="1">
    <p:fade/>
  </p:transition>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Decoding DNS Response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Status</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Likely cause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NOERROR</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Query answered</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Healthy (still read the answer!)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NXDOMAIN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Name does not exist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Typo, expired or missing record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SERVFAIL</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Server-side failure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DNSSEC failure, broken zone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REFUSED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Server will not answer</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ACL - you are not its client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Timeout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response at all</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server IP, port 53 blocked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dig prints the status in its header line: -&gt;&gt;HEADER&lt;&lt;- opcode: QUERY, status: NXDOMAIN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transition spd="fast" advClick="1">
    <p:fade/>
  </p:transition>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Walking the Hierarchy with dig +trace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+trace resolves from the root down, showing each delegation.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dig +trace example.com</a:t>
            </a:r>
          </a:p>
          <a:p>
            <a:pPr>
              <a:spcAft>
                <a:spcPts val="200"/>
              </a:spcAft>
            </a:pPr>
            <a:r>
              <a:rPr sz="1100">
                <a:solidFill>
                  <a:srgbClr val="9CDCFE"/>
                </a:solidFill>
                <a:latin typeface="Consolas"/>
              </a:rPr>
              <a:t>.             NS   a.root-servers.net.</a:t>
            </a:r>
          </a:p>
          <a:p>
            <a:pPr>
              <a:spcAft>
                <a:spcPts val="200"/>
              </a:spcAft>
            </a:pPr>
            <a:r>
              <a:rPr sz="1100">
                <a:solidFill>
                  <a:srgbClr val="9CDCFE"/>
                </a:solidFill>
                <a:latin typeface="Consolas"/>
              </a:rPr>
              <a:t>com.          NS   a.gtld-servers.net.</a:t>
            </a:r>
          </a:p>
          <a:p>
            <a:pPr>
              <a:spcAft>
                <a:spcPts val="200"/>
              </a:spcAft>
            </a:pPr>
            <a:r>
              <a:rPr sz="1100">
                <a:solidFill>
                  <a:srgbClr val="9CDCFE"/>
                </a:solidFill>
                <a:latin typeface="Consolas"/>
              </a:rPr>
              <a:t>example.com.  NS   a.iana-servers.net.</a:t>
            </a:r>
          </a:p>
          <a:p>
            <a:pPr>
              <a:spcAft>
                <a:spcPts val="200"/>
              </a:spcAft>
            </a:pPr>
            <a:r>
              <a:rPr sz="1100">
                <a:solidFill>
                  <a:srgbClr val="9CDCFE"/>
                </a:solidFill>
                <a:latin typeface="Consolas"/>
              </a:rPr>
              <a:t>example.com.  A    96.7.128.175</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ROOT HANDS OFF</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root servers do not know example.com - they delegate to the .com TLD servers.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TLD DELEGATES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.com servers point at the domain's authoritative servers - the zone's real home.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WHERE IT BREAKS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last successful delegation shows which level failed - registrar, zone or record.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transition spd="fast" advClick="1">
    <p:fade/>
  </p:transition>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Client-Side vs Server-Side DNS Faults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Client side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Server side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Wrong DNS server configured (DHCP or static)</a:t>
            </a:r>
          </a:p>
          <a:p>
            <a:pPr>
              <a:spcAft>
                <a:spcPts val="1000"/>
              </a:spcAft>
            </a:pPr>
            <a:r>
              <a:rPr sz="1600" b="0">
                <a:solidFill>
                  <a:srgbClr val="161B26"/>
                </a:solidFill>
                <a:latin typeface="Arial"/>
              </a:rPr>
              <a:t>•  Stale cache - flush and retry</a:t>
            </a:r>
          </a:p>
          <a:p>
            <a:pPr>
              <a:spcAft>
                <a:spcPts val="1000"/>
              </a:spcAft>
            </a:pPr>
            <a:r>
              <a:rPr sz="1600" b="0">
                <a:solidFill>
                  <a:srgbClr val="161B26"/>
                </a:solidFill>
                <a:latin typeface="Arial"/>
              </a:rPr>
              <a:t>•  Search suffix appending the wrong zone</a:t>
            </a:r>
          </a:p>
          <a:p>
            <a:pPr>
              <a:spcAft>
                <a:spcPts val="1000"/>
              </a:spcAft>
            </a:pPr>
            <a:r>
              <a:rPr sz="1600" b="0">
                <a:solidFill>
                  <a:srgbClr val="161B26"/>
                </a:solidFill>
                <a:latin typeface="Arial"/>
              </a:rPr>
              <a:t>•  hosts file override hijacking the name</a:t>
            </a:r>
          </a:p>
          <a:p>
            <a:pPr>
              <a:spcAft>
                <a:spcPts val="1000"/>
              </a:spcAft>
            </a:pPr>
            <a:r>
              <a:rPr sz="1600" b="0">
                <a:solidFill>
                  <a:srgbClr val="161B26"/>
                </a:solidFill>
                <a:latin typeface="Arial"/>
              </a:rPr>
              <a:t>•  VPN swapping the resolver silently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Zone expired or misloaded (SERVFAIL)</a:t>
            </a:r>
          </a:p>
          <a:p>
            <a:pPr>
              <a:spcAft>
                <a:spcPts val="1000"/>
              </a:spcAft>
            </a:pPr>
            <a:r>
              <a:rPr sz="1600" b="0">
                <a:solidFill>
                  <a:srgbClr val="161B26"/>
                </a:solidFill>
                <a:latin typeface="Arial"/>
              </a:rPr>
              <a:t>•  Missing or wrong A, AAAA or CNAME record</a:t>
            </a:r>
          </a:p>
          <a:p>
            <a:pPr>
              <a:spcAft>
                <a:spcPts val="1000"/>
              </a:spcAft>
            </a:pPr>
            <a:r>
              <a:rPr sz="1600" b="0">
                <a:solidFill>
                  <a:srgbClr val="161B26"/>
                </a:solidFill>
                <a:latin typeface="Arial"/>
              </a:rPr>
              <a:t>•  DNSSEC validation failure upstream</a:t>
            </a:r>
          </a:p>
          <a:p>
            <a:pPr>
              <a:spcAft>
                <a:spcPts val="1000"/>
              </a:spcAft>
            </a:pPr>
            <a:r>
              <a:rPr sz="1600" b="0">
                <a:solidFill>
                  <a:srgbClr val="161B26"/>
                </a:solidFill>
                <a:latin typeface="Arial"/>
              </a:rPr>
              <a:t>•  Forwarder or recursion broken</a:t>
            </a:r>
          </a:p>
          <a:p>
            <a:pPr>
              <a:spcAft>
                <a:spcPts val="1000"/>
              </a:spcAft>
            </a:pPr>
            <a:r>
              <a:rPr sz="1600" b="0">
                <a:solidFill>
                  <a:srgbClr val="161B26"/>
                </a:solidFill>
                <a:latin typeface="Arial"/>
              </a:rPr>
              <a:t>•  ACL refusing your source (REFUSED)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transition spd="fast" advClick="1">
    <p:fade/>
  </p:transition>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'The Site Is Down' - But Is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 fails, IP works</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DNS, not the network</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both resolvers</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correct resolver IP</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 resolves; document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IP-vs-name test splits the universe in one move: if the IP works, stop blaming the network and interrogate DNS.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Troubleshooting with dig and resolvectl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Isolate DNS faults by comparing resolvers, tracing delegation and reading response codes.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Identify which resolver the system really uses, compare answers from 1.1.1.1 and 8.8.8.8, walk the delegation chain with dig +trace, time a lookup and flush the systemd-resolved cache.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decoded dig +trace delegation chain plus a flushed resolver cache and the NXDOMAIN/SERVFAIL/REFUSED decode.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dnsutils (dig), systemd-resolved (resolvectl)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dig +short returns the same A record from both resolvers, +trace shows root -&gt; .com -&gt; authoritative delegation, and resolvectl statistics resets after the flush.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transition spd="fast" advClick="1">
    <p:fade/>
  </p:transition>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dnsutils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Confirm which resolver the system is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cat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Compare two upstream resolvers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Time a lookup to spot a slow upstream</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time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Flush the cache and confirm the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resolvectl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Isolate DNS faults by comparing resolvers, tracing delegation and reading response codes.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Troubleshooting with dig and resolvectl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dig +short returns the same A record from both resolvers, +trace shows root -&gt; .com -&gt; authoritative delegation, and resolvectl statistics resets after the flush.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resolv.conf points to 127.0.0.53</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 systemd-resolved proxies DNS; use resolvectl status to see the real upstream.</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SERVFAIL from one resolver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Upstream or DNSSEC failure - compare against a second resolver to confirm it is server-side.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dig +trace hangs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 networks block outbound DNS to the root servers; rerun on the Killercoda VM.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transition spd="fast" advClick="1">
    <p:fade/>
  </p:transition>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L2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and Neighbour Discovery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ARP does</a:t>
            </a:r>
          </a:p>
          <a:p>
            <a:pPr algn="l">
              <a:spcAft>
                <a:spcPts val="300"/>
              </a:spcAft>
            </a:pPr>
            <a:r>
              <a:rPr sz="1200" b="0">
                <a:solidFill>
                  <a:srgbClr val="5B6372"/>
                </a:solidFill>
                <a:latin typeface="Arial"/>
              </a:rPr>
              <a:t>Maps an IPv4 address to a MAC so frames can be delivered on the local segment - no ARP entry, no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IPv6 uses NDP</a:t>
            </a:r>
          </a:p>
          <a:p>
            <a:pPr algn="l">
              <a:spcAft>
                <a:spcPts val="300"/>
              </a:spcAft>
            </a:pPr>
            <a:r>
              <a:rPr sz="1200" b="0">
                <a:solidFill>
                  <a:srgbClr val="5B6372"/>
                </a:solidFill>
                <a:latin typeface="Arial"/>
              </a:rPr>
              <a:t>IPv6 replaced ARP with ICMPv6 Neighbour Solicitation/Advertisement - same job, viewed with ip -6 neigh.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REACHABLE / STALE / FAILED</a:t>
            </a:r>
          </a:p>
          <a:p>
            <a:pPr algn="l">
              <a:spcAft>
                <a:spcPts val="300"/>
              </a:spcAft>
            </a:pPr>
            <a:r>
              <a:rPr sz="1200" b="0">
                <a:solidFill>
                  <a:srgbClr val="5B6372"/>
                </a:solidFill>
                <a:latin typeface="Arial"/>
              </a:rPr>
              <a:t>REACHABLE: recently confirmed. STALE: known, unconfirmed. FAILED: no answer - the neighbour is gone or blocked.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arping</a:t>
            </a:r>
          </a:p>
          <a:p>
            <a:pPr algn="l">
              <a:spcAft>
                <a:spcPts val="300"/>
              </a:spcAft>
            </a:pPr>
            <a:r>
              <a:rPr sz="1200" b="0">
                <a:solidFill>
                  <a:srgbClr val="5B6372"/>
                </a:solidFill>
                <a:latin typeface="Arial"/>
              </a:rPr>
              <a:t>Sends real ARP requests to one host - proves L2 adjacency even when ICMP ping is firewalled.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Gratuitous ARP</a:t>
            </a:r>
          </a:p>
          <a:p>
            <a:pPr algn="l">
              <a:spcAft>
                <a:spcPts val="300"/>
              </a:spcAft>
            </a:pPr>
            <a:r>
              <a:rPr sz="1200" b="0">
                <a:solidFill>
                  <a:srgbClr val="5B6372"/>
                </a:solidFill>
                <a:latin typeface="Arial"/>
              </a:rPr>
              <a:t>Unsolicited 'this IP is mine' broadcasts - normal after failover, but also the tool of ARP spoofers.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Flush to reset</a:t>
            </a:r>
          </a:p>
          <a:p>
            <a:pPr algn="l">
              <a:spcAft>
                <a:spcPts val="300"/>
              </a:spcAft>
            </a:pPr>
            <a:r>
              <a:rPr sz="1200" b="0">
                <a:solidFill>
                  <a:srgbClr val="5B6372"/>
                </a:solidFill>
                <a:latin typeface="Arial"/>
              </a:rPr>
              <a:t>ip neigh flush all (or arp -d) clears stale entries - the IP-layer equivalent of bouncing the NIC.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transition spd="fast" advClick="1">
    <p:fade/>
  </p:transition>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L2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Duplicate IPs and ARP Poisoning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duplicate-IP symptom</a:t>
            </a:r>
          </a:p>
          <a:p>
            <a:pPr algn="l">
              <a:spcAft>
                <a:spcPts val="300"/>
              </a:spcAft>
            </a:pPr>
            <a:r>
              <a:rPr sz="1200" b="0">
                <a:solidFill>
                  <a:srgbClr val="5B6372"/>
                </a:solidFill>
                <a:latin typeface="Arial"/>
              </a:rPr>
              <a:t>Connectivity that flip-flops - works, breaks, works - as two hosts fight over one address in peers' ARP caches.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 duplicates come from</a:t>
            </a:r>
          </a:p>
          <a:p>
            <a:pPr algn="l">
              <a:spcAft>
                <a:spcPts val="300"/>
              </a:spcAft>
            </a:pPr>
            <a:r>
              <a:rPr sz="1200" b="0">
                <a:solidFill>
                  <a:srgbClr val="5B6372"/>
                </a:solidFill>
                <a:latin typeface="Arial"/>
              </a:rPr>
              <a:t>Static IPs inside a DHCP scope, a cloned VM, or a second DHCP server handing out the same range.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Detect with DAD</a:t>
            </a:r>
          </a:p>
          <a:p>
            <a:pPr algn="l">
              <a:spcAft>
                <a:spcPts val="300"/>
              </a:spcAft>
            </a:pPr>
            <a:r>
              <a:rPr sz="1200" b="0">
                <a:solidFill>
                  <a:srgbClr val="5B6372"/>
                </a:solidFill>
                <a:latin typeface="Arial"/>
              </a:rPr>
              <a:t>arping -D probes your own address - 'address already in use' convicts a duplicate on the segment.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Find the culprit by MAC</a:t>
            </a:r>
          </a:p>
          <a:p>
            <a:pPr algn="l">
              <a:spcAft>
                <a:spcPts val="300"/>
              </a:spcAft>
            </a:pPr>
            <a:r>
              <a:rPr sz="1200" b="0">
                <a:solidFill>
                  <a:srgbClr val="5B6372"/>
                </a:solidFill>
                <a:latin typeface="Arial"/>
              </a:rPr>
              <a:t>The ARP reply carries the offender's MAC - trace it to a switch port via the MAC address table.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ARP poisoning</a:t>
            </a:r>
          </a:p>
          <a:p>
            <a:pPr algn="l">
              <a:spcAft>
                <a:spcPts val="300"/>
              </a:spcAft>
            </a:pPr>
            <a:r>
              <a:rPr sz="1200" b="0">
                <a:solidFill>
                  <a:srgbClr val="5B6372"/>
                </a:solidFill>
                <a:latin typeface="Arial"/>
              </a:rPr>
              <a:t>An attacker answers ARP for the gateway to sit in the middle - defend with dynamic ARP inspection (DAI).</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Pin critical neighbours</a:t>
            </a:r>
          </a:p>
          <a:p>
            <a:pPr algn="l">
              <a:spcAft>
                <a:spcPts val="300"/>
              </a:spcAft>
            </a:pPr>
            <a:r>
              <a:rPr sz="1200" b="0">
                <a:solidFill>
                  <a:srgbClr val="5B6372"/>
                </a:solidFill>
                <a:latin typeface="Arial"/>
              </a:rPr>
              <a:t>A static ARP entry (ip neigh add ... ) locks the gateway or server MAC where poisoning is a real risk.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transition spd="fast" advClick="1">
    <p:fade/>
  </p:transition>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Switching Issues: Loops, VLANs, ACLs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 loop symptoms</a:t>
            </a:r>
          </a:p>
          <a:p>
            <a:pPr algn="l">
              <a:spcAft>
                <a:spcPts val="300"/>
              </a:spcAft>
            </a:pPr>
            <a:r>
              <a:rPr sz="1200" b="0">
                <a:solidFill>
                  <a:srgbClr val="5B6372"/>
                </a:solidFill>
                <a:latin typeface="Arial"/>
              </a:rPr>
              <a:t>LED storm on every port, CPU spikes, MAC table churn, whole-segment meltdown - seconds after someone loops a cable.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loops melt networks</a:t>
            </a:r>
          </a:p>
          <a:p>
            <a:pPr algn="l">
              <a:spcAft>
                <a:spcPts val="300"/>
              </a:spcAft>
            </a:pPr>
            <a:r>
              <a:rPr sz="1200" b="0">
                <a:solidFill>
                  <a:srgbClr val="5B6372"/>
                </a:solidFill>
                <a:latin typeface="Arial"/>
              </a:rPr>
              <a:t>Ethernet frames have no TTL - a broadcast circles forever and multiplies at every switch: broadcast storm.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 blocking surprises</a:t>
            </a:r>
          </a:p>
          <a:p>
            <a:pPr algn="l">
              <a:spcAft>
                <a:spcPts val="300"/>
              </a:spcAft>
            </a:pPr>
            <a:r>
              <a:rPr sz="1200" b="0">
                <a:solidFill>
                  <a:srgbClr val="5B6372"/>
                </a:solidFill>
                <a:latin typeface="Arial"/>
              </a:rPr>
              <a:t>A port stuck in blocking after a topology change - or a cheap unmanaged switch that silently runs no STP at all.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Incorrect VLAN assignment</a:t>
            </a:r>
          </a:p>
          <a:p>
            <a:pPr algn="l">
              <a:spcAft>
                <a:spcPts val="300"/>
              </a:spcAft>
            </a:pPr>
            <a:r>
              <a:rPr sz="1200" b="0">
                <a:solidFill>
                  <a:srgbClr val="5B6372"/>
                </a:solidFill>
                <a:latin typeface="Arial"/>
              </a:rPr>
              <a:t>Port in the wrong VLAN: link up, DHCP answers from the wrong subnet, gateway unreachable - check switchport config.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Trunk / native VLAN mismatch</a:t>
            </a:r>
          </a:p>
          <a:p>
            <a:pPr algn="l">
              <a:spcAft>
                <a:spcPts val="300"/>
              </a:spcAft>
            </a:pPr>
            <a:r>
              <a:rPr sz="1200" b="0">
                <a:solidFill>
                  <a:srgbClr val="5B6372"/>
                </a:solidFill>
                <a:latin typeface="Arial"/>
              </a:rPr>
              <a:t>Mismatched allowed-lists or native VLANs silently drop exactly one VLAN's traffic across a link.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ACLs eating traffic</a:t>
            </a:r>
          </a:p>
          <a:p>
            <a:pPr algn="l">
              <a:spcAft>
                <a:spcPts val="300"/>
              </a:spcAft>
            </a:pPr>
            <a:r>
              <a:rPr sz="1200" b="0">
                <a:solidFill>
                  <a:srgbClr val="5B6372"/>
                </a:solidFill>
                <a:latin typeface="Arial"/>
              </a:rPr>
              <a:t>'Everything works except X between two subnets' is an ACL or firewall rule until proven otherwise - check hit counters.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transition spd="fast" advClick="1">
    <p:fade/>
  </p:transition>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 2 Faults: Symptom to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Fault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Classic symptom</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First check</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Switching loop</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Storm: all LEDs solid, LAN dead</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STP status, recent cabling</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Blocked port</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Uplink idle, path suboptimal</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spanning-tree state per port</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Wrong VLAN</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Link up, DHCP from wrong subnet</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switchport access vlan</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Trunk mismatch</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VLAN dead across a link</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allowed / native VLAN lists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Duplicate IP</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Flip-flop reachability</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arping -D, ARP tables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ACL block</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app/port pair fails, rest OK</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ACL hit counters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Link light on + wrong behaviour = think L2: VLANs, STP, ARP - before re-crimping anything.</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transition spd="fast" advClick="1">
    <p:fade/>
  </p:transition>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New Switch, Network Meltdown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LAN dies at 9:05am</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What changed?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intern added a switch</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loop - no STP on it</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 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unplug; storm stops</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Prevent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BPDU guard on edge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'What changed?' solved this in one question - and the preventive step (BPDU guard) is what makes step 6 more than a checkbox.</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and the IPv6 Neighbour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L2 adjacency problems with ip neigh and arping, including duplicate IP detection.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View and decode neighbour states, probe the default gateway with arping, run duplicate-address detection on your own IP, pin and flush ARP entries, then inspect IPv6 neighbour discovery.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decoded neighbour table with a static entry added and flushed, plus a duplicate-IP probe of your own address.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iputils-arping, iproute2, ndisc6</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neigh shows the gateway REACHABLE after arping, DAD reports no duplicate for your IP, and the static 10.0.0.99 entry appears until the flush removes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transition spd="fast" advClick="1">
    <p:fade/>
  </p:transition>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arping</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Probe the default gateway directly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arping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Run duplicate address detection 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arping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a static ARP entry and verify it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Inspect IPv6 neighbour discovery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L2 adjacency problems with ip neigh and arping, including duplicate IP detection.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and the IPv6 Neighbour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neigh shows the gateway REACHABLE after arping, DAD reports no duplicate for your IP, and the static 10.0.0.99 entry appears until the flush removes it.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arping: Operation not permitted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ARP probes need raw sockets - run as root (Killercoda terminals already are).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All entries show STALE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Normal - STALE means known but unconfirmed; traffic or arping promotes it to REACHABLE.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DAD says address already in use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Another host claims your IP - a real duplicate-IP incident; hunt it down by its MAC address.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transition spd="fast" advClick="1">
    <p:fade/>
  </p:transition>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Protocol Analyzers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they do</a:t>
            </a:r>
          </a:p>
          <a:p>
            <a:pPr algn="l">
              <a:spcAft>
                <a:spcPts val="300"/>
              </a:spcAft>
            </a:pPr>
            <a:r>
              <a:rPr sz="1200" b="0">
                <a:solidFill>
                  <a:srgbClr val="5B6372"/>
                </a:solidFill>
                <a:latin typeface="Arial"/>
              </a:rPr>
              <a:t>Capture frames off the wire and decode every layer - the ground truth when ping and traceroute run out of answers.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Wireshark</a:t>
            </a:r>
          </a:p>
          <a:p>
            <a:pPr algn="l">
              <a:spcAft>
                <a:spcPts val="300"/>
              </a:spcAft>
            </a:pPr>
            <a:r>
              <a:rPr sz="1200" b="0">
                <a:solidFill>
                  <a:srgbClr val="5B6372"/>
                </a:solidFill>
                <a:latin typeface="Arial"/>
              </a:rPr>
              <a:t>The GUI analyzer: live capture, colour rules, stream following and per-protocol statistics.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tcpdump</a:t>
            </a:r>
          </a:p>
          <a:p>
            <a:pPr algn="l">
              <a:spcAft>
                <a:spcPts val="300"/>
              </a:spcAft>
            </a:pPr>
            <a:r>
              <a:rPr sz="1200" b="0">
                <a:solidFill>
                  <a:srgbClr val="5B6372"/>
                </a:solidFill>
                <a:latin typeface="Arial"/>
              </a:rPr>
              <a:t>The CLI capture workhorse - runs on servers and routers where no GUI exists; writes .pcap files.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tshark</a:t>
            </a:r>
          </a:p>
          <a:p>
            <a:pPr algn="l">
              <a:spcAft>
                <a:spcPts val="300"/>
              </a:spcAft>
            </a:pPr>
            <a:r>
              <a:rPr sz="1200" b="0">
                <a:solidFill>
                  <a:srgbClr val="5B6372"/>
                </a:solidFill>
                <a:latin typeface="Arial"/>
              </a:rPr>
              <a:t>Wireshark's terminal twin - the same dissectors and display filters, with scriptable field output.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Capture once, analyse anywhere</a:t>
            </a:r>
          </a:p>
          <a:p>
            <a:pPr algn="l">
              <a:spcAft>
                <a:spcPts val="300"/>
              </a:spcAft>
            </a:pPr>
            <a:r>
              <a:rPr sz="1200" b="0">
                <a:solidFill>
                  <a:srgbClr val="5B6372"/>
                </a:solidFill>
                <a:latin typeface="Arial"/>
              </a:rPr>
              <a:t>Write to .pcap with tcpdump -w, then open the same file in Wireshark, tshark or a web analyzer.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mirroring / TAP</a:t>
            </a:r>
          </a:p>
          <a:p>
            <a:pPr algn="l">
              <a:spcAft>
                <a:spcPts val="300"/>
              </a:spcAft>
            </a:pPr>
            <a:r>
              <a:rPr sz="1200" b="0">
                <a:solidFill>
                  <a:srgbClr val="5B6372"/>
                </a:solidFill>
                <a:latin typeface="Arial"/>
              </a:rPr>
              <a:t>To see OTHER hosts' traffic you need a SPAN/mirror port or a hardware TAP - switches don't flood unicast to you.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transition spd="fast" advClick="1">
    <p:fade/>
  </p:transition>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Capture Filter vs Display Filter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Capture filter (BPF)</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Display filter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Applied WHILE capturing - packets never stored</a:t>
            </a:r>
          </a:p>
          <a:p>
            <a:pPr>
              <a:spcAft>
                <a:spcPts val="1000"/>
              </a:spcAft>
            </a:pPr>
            <a:r>
              <a:rPr sz="1600" b="0">
                <a:solidFill>
                  <a:srgbClr val="161B26"/>
                </a:solidFill>
                <a:latin typeface="Arial"/>
              </a:rPr>
              <a:t>•  Syntax: 'udp port 53 and host 10.0.0.5'</a:t>
            </a:r>
          </a:p>
          <a:p>
            <a:pPr>
              <a:spcAft>
                <a:spcPts val="1000"/>
              </a:spcAft>
            </a:pPr>
            <a:r>
              <a:rPr sz="1600" b="0">
                <a:solidFill>
                  <a:srgbClr val="161B26"/>
                </a:solidFill>
                <a:latin typeface="Arial"/>
              </a:rPr>
              <a:t>•  Keeps the .pcap small on busy links</a:t>
            </a:r>
          </a:p>
          <a:p>
            <a:pPr>
              <a:spcAft>
                <a:spcPts val="1000"/>
              </a:spcAft>
            </a:pPr>
            <a:r>
              <a:rPr sz="1600" b="0">
                <a:solidFill>
                  <a:srgbClr val="161B26"/>
                </a:solidFill>
                <a:latin typeface="Arial"/>
              </a:rPr>
              <a:t>•  Cannot be undone - discarded is gone</a:t>
            </a:r>
          </a:p>
          <a:p>
            <a:pPr>
              <a:spcAft>
                <a:spcPts val="1000"/>
              </a:spcAft>
            </a:pPr>
            <a:r>
              <a:rPr sz="1600" b="0">
                <a:solidFill>
                  <a:srgbClr val="161B26"/>
                </a:solidFill>
                <a:latin typeface="Arial"/>
              </a:rPr>
              <a:t>•  Same syntax in tcpdump and Wireshark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Applied AFTER capture - hides, never deletes</a:t>
            </a:r>
          </a:p>
          <a:p>
            <a:pPr>
              <a:spcAft>
                <a:spcPts val="1000"/>
              </a:spcAft>
            </a:pPr>
            <a:r>
              <a:rPr sz="1600" b="0">
                <a:solidFill>
                  <a:srgbClr val="161B26"/>
                </a:solidFill>
                <a:latin typeface="Arial"/>
              </a:rPr>
              <a:t>•  Syntax: dns.flags.response==1</a:t>
            </a:r>
          </a:p>
          <a:p>
            <a:pPr>
              <a:spcAft>
                <a:spcPts val="1000"/>
              </a:spcAft>
            </a:pPr>
            <a:r>
              <a:rPr sz="1600" b="0">
                <a:solidFill>
                  <a:srgbClr val="161B26"/>
                </a:solidFill>
                <a:latin typeface="Arial"/>
              </a:rPr>
              <a:t>•  Change it freely while analysing</a:t>
            </a:r>
          </a:p>
          <a:p>
            <a:pPr>
              <a:spcAft>
                <a:spcPts val="1000"/>
              </a:spcAft>
            </a:pPr>
            <a:r>
              <a:rPr sz="1600" b="0">
                <a:solidFill>
                  <a:srgbClr val="161B26"/>
                </a:solidFill>
                <a:latin typeface="Arial"/>
              </a:rPr>
              <a:t>•  Wireshark GUI and tshark -Y</a:t>
            </a:r>
          </a:p>
          <a:p>
            <a:pPr>
              <a:spcAft>
                <a:spcPts val="1000"/>
              </a:spcAft>
            </a:pPr>
            <a:r>
              <a:rPr sz="1600" b="0">
                <a:solidFill>
                  <a:srgbClr val="161B26"/>
                </a:solidFill>
                <a:latin typeface="Arial"/>
              </a:rPr>
              <a:t>•  The web analyzer's search box works this way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transition spd="fast" advClick="1">
    <p:fade/>
  </p:transition>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tcpdump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One DNS query and its reply, decoded field by field.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tcpdump -nn -r /tmp/dns.pcap | head -4</a:t>
            </a:r>
          </a:p>
          <a:p>
            <a:pPr>
              <a:spcAft>
                <a:spcPts val="200"/>
              </a:spcAft>
            </a:pPr>
            <a:r>
              <a:rPr sz="1100">
                <a:solidFill>
                  <a:srgbClr val="9CDCFE"/>
                </a:solidFill>
                <a:latin typeface="Consolas"/>
              </a:rPr>
              <a:t>12:04:01.123 IP 10.0.0.5.53622 &gt; 1.1.1.1.53:</a:t>
            </a:r>
          </a:p>
          <a:p>
            <a:pPr>
              <a:spcAft>
                <a:spcPts val="200"/>
              </a:spcAft>
            </a:pPr>
            <a:r>
              <a:rPr sz="1100">
                <a:solidFill>
                  <a:srgbClr val="9CDCFE"/>
                </a:solidFill>
                <a:latin typeface="Consolas"/>
              </a:rPr>
              <a:t>    51291+ A? example.com. (29)</a:t>
            </a:r>
          </a:p>
          <a:p>
            <a:pPr>
              <a:spcAft>
                <a:spcPts val="200"/>
              </a:spcAft>
            </a:pPr>
            <a:r>
              <a:rPr sz="1100">
                <a:solidFill>
                  <a:srgbClr val="9CDCFE"/>
                </a:solidFill>
                <a:latin typeface="Consolas"/>
              </a:rPr>
              <a:t>12:04:01.131 IP 1.1.1.1.53 &gt; 10.0.0.5.53622:</a:t>
            </a:r>
          </a:p>
          <a:p>
            <a:pPr>
              <a:spcAft>
                <a:spcPts val="200"/>
              </a:spcAft>
            </a:pPr>
            <a:r>
              <a:rPr sz="1100">
                <a:solidFill>
                  <a:srgbClr val="9CDCFE"/>
                </a:solidFill>
                <a:latin typeface="Consolas"/>
              </a:rPr>
              <a:t>    51291 1/0/0 A 96.7.128.175 (45)</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SRC &gt; DST.PORT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10.0.0.5 from ephemeral port 53622 to 1.1.1.1 port 53 - client to resolver.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51291+ A?</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Transaction ID 51291, recursion desired (+), question: the A record for example.com.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1/0/0 REPLY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Same ID back: 1 answer, 0 authority, 0 additional - the A record, 8 ms later.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transition spd="fast" advClick="1">
    <p:fade/>
  </p:transition>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netstat and ss: Who Is Listening?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they show</a:t>
            </a:r>
          </a:p>
          <a:p>
            <a:pPr algn="l">
              <a:spcAft>
                <a:spcPts val="300"/>
              </a:spcAft>
            </a:pPr>
            <a:r>
              <a:rPr sz="1200" b="0">
                <a:solidFill>
                  <a:srgbClr val="5B6372"/>
                </a:solidFill>
                <a:latin typeface="Arial"/>
              </a:rPr>
              <a:t>Every open port and connection on THIS host - the tool for 'is the service even listening?'.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 replaces netstat</a:t>
            </a:r>
          </a:p>
          <a:p>
            <a:pPr algn="l">
              <a:spcAft>
                <a:spcPts val="300"/>
              </a:spcAft>
            </a:pPr>
            <a:r>
              <a:rPr sz="1200" b="0">
                <a:solidFill>
                  <a:srgbClr val="5B6372"/>
                </a:solidFill>
                <a:latin typeface="Arial"/>
              </a:rPr>
              <a:t>Modern Linux ships ss; the letters carry over: ss -tlnp = TCP listeners, numeric, with processes.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 numeric</a:t>
            </a:r>
          </a:p>
          <a:p>
            <a:pPr algn="l">
              <a:spcAft>
                <a:spcPts val="300"/>
              </a:spcAft>
            </a:pPr>
            <a:r>
              <a:rPr sz="1200" b="0">
                <a:solidFill>
                  <a:srgbClr val="5B6372"/>
                </a:solidFill>
                <a:latin typeface="Arial"/>
              </a:rPr>
              <a:t>Skip DNS and service-name lookups - faster output and no misleading resolved names.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all / -l listening</a:t>
            </a:r>
          </a:p>
          <a:p>
            <a:pPr algn="l">
              <a:spcAft>
                <a:spcPts val="300"/>
              </a:spcAft>
            </a:pPr>
            <a:r>
              <a:rPr sz="1200" b="0">
                <a:solidFill>
                  <a:srgbClr val="5B6372"/>
                </a:solidFill>
                <a:latin typeface="Arial"/>
              </a:rPr>
              <a:t>-a shows every socket including established connections; -l restricts to listening sockets.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 / -o / -b processes</a:t>
            </a:r>
          </a:p>
          <a:p>
            <a:pPr algn="l">
              <a:spcAft>
                <a:spcPts val="300"/>
              </a:spcAft>
            </a:pPr>
            <a:r>
              <a:rPr sz="1200" b="0">
                <a:solidFill>
                  <a:srgbClr val="5B6372"/>
                </a:solidFill>
                <a:latin typeface="Arial"/>
              </a:rPr>
              <a:t>Which executable and PID own each socket (netstat -b and -o on Windows, ss -p on Linux).</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 routing table</a:t>
            </a:r>
          </a:p>
          <a:p>
            <a:pPr algn="l">
              <a:spcAft>
                <a:spcPts val="300"/>
              </a:spcAft>
            </a:pPr>
            <a:r>
              <a:rPr sz="1200" b="0">
                <a:solidFill>
                  <a:srgbClr val="5B6372"/>
                </a:solidFill>
                <a:latin typeface="Arial"/>
              </a:rPr>
              <a:t>netstat -r prints the local routing table - the same data as ip route or route print.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transition spd="fast" advClick="1">
    <p:fade/>
  </p:transition>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ss -tlnp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Three listeners - and one classic bind mistake.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ss -tlnp</a:t>
            </a:r>
          </a:p>
          <a:p>
            <a:pPr>
              <a:spcAft>
                <a:spcPts val="200"/>
              </a:spcAft>
            </a:pPr>
            <a:r>
              <a:rPr sz="1100">
                <a:solidFill>
                  <a:srgbClr val="9CDCFE"/>
                </a:solidFill>
                <a:latin typeface="Consolas"/>
              </a:rPr>
              <a:t>State   Local Address:Port    Process</a:t>
            </a:r>
          </a:p>
          <a:p>
            <a:pPr>
              <a:spcAft>
                <a:spcPts val="200"/>
              </a:spcAft>
            </a:pPr>
            <a:r>
              <a:rPr sz="1100">
                <a:solidFill>
                  <a:srgbClr val="9CDCFE"/>
                </a:solidFill>
                <a:latin typeface="Consolas"/>
              </a:rPr>
              <a:t>LISTEN  0.0.0.0:22            sshd</a:t>
            </a:r>
          </a:p>
          <a:p>
            <a:pPr>
              <a:spcAft>
                <a:spcPts val="200"/>
              </a:spcAft>
            </a:pPr>
            <a:r>
              <a:rPr sz="1100">
                <a:solidFill>
                  <a:srgbClr val="9CDCFE"/>
                </a:solidFill>
                <a:latin typeface="Consolas"/>
              </a:rPr>
              <a:t>LISTEN  127.0.0.1:3306        mysqld</a:t>
            </a:r>
          </a:p>
          <a:p>
            <a:pPr>
              <a:spcAft>
                <a:spcPts val="200"/>
              </a:spcAft>
            </a:pPr>
            <a:r>
              <a:rPr sz="1100">
                <a:solidFill>
                  <a:srgbClr val="9CDCFE"/>
                </a:solidFill>
                <a:latin typeface="Consolas"/>
              </a:rPr>
              <a:t>LISTEN  [::]:443              nginx</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0.0.0.0:22</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sshd listens on every IPv4 address - reachable from the network, firewall permitting.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127.0.0.1:3306</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MySQL bound to loopback ONLY - remote clients get 'connection refused'; that is the bug.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[::]:443</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nginx on the IPv6 wildcard - on dual-stack hosts this usually accepts IPv4 too.</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transition spd="fast" advClick="1">
    <p:fade/>
  </p:transition>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Capture Workflow + TIS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Filter tight, capture small</a:t>
            </a:r>
          </a:p>
          <a:p>
            <a:pPr algn="l">
              <a:spcAft>
                <a:spcPts val="300"/>
              </a:spcAft>
            </a:pPr>
            <a:r>
              <a:rPr sz="1200" b="0">
                <a:solidFill>
                  <a:srgbClr val="5B6372"/>
                </a:solidFill>
                <a:latin typeface="Arial"/>
              </a:rPr>
              <a:t>Capture with a BPF filter and -c count so the .pcap holds only the conversation you care about.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Write to .pcap</a:t>
            </a:r>
          </a:p>
          <a:p>
            <a:pPr algn="l">
              <a:spcAft>
                <a:spcPts val="300"/>
              </a:spcAft>
            </a:pPr>
            <a:r>
              <a:rPr sz="1200" b="0">
                <a:solidFill>
                  <a:srgbClr val="5B6372"/>
                </a:solidFill>
                <a:latin typeface="Arial"/>
              </a:rPr>
              <a:t>tcpdump -w capture.pcap keeps the binary packets - analysis can happen later, elsewhere, repeatedly.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First pass with tshark</a:t>
            </a:r>
          </a:p>
          <a:p>
            <a:pPr algn="l">
              <a:spcAft>
                <a:spcPts val="300"/>
              </a:spcAft>
            </a:pPr>
            <a:r>
              <a:rPr sz="1200" b="0">
                <a:solidFill>
                  <a:srgbClr val="5B6372"/>
                </a:solidFill>
                <a:latin typeface="Arial"/>
              </a:rPr>
              <a:t>Pull just the fields you need: -T fields -e dns.qry.name turns packets into a readable table.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Go graphical in the browser</a:t>
            </a:r>
          </a:p>
          <a:p>
            <a:pPr algn="l">
              <a:spcAft>
                <a:spcPts val="300"/>
              </a:spcAft>
            </a:pPr>
            <a:r>
              <a:rPr sz="1200" b="0">
                <a:solidFill>
                  <a:srgbClr val="5B6372"/>
                </a:solidFill>
                <a:latin typeface="Arial"/>
              </a:rPr>
              <a:t>The TIS PCAP Analyzer (alfredang.github.io/pcapanalyzer) opens .pcap files in-browser - no install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Drill into the layers</a:t>
            </a:r>
          </a:p>
          <a:p>
            <a:pPr algn="l">
              <a:spcAft>
                <a:spcPts val="300"/>
              </a:spcAft>
            </a:pPr>
            <a:r>
              <a:rPr sz="1200" b="0">
                <a:solidFill>
                  <a:srgbClr val="5B6372"/>
                </a:solidFill>
                <a:latin typeface="Arial"/>
              </a:rPr>
              <a:t>Expand any packet to walk Ethernet -&gt; IP -&gt; UDP -&gt; DNS - the OSI model made visible.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Search like a display filter</a:t>
            </a:r>
          </a:p>
          <a:p>
            <a:pPr algn="l">
              <a:spcAft>
                <a:spcPts val="300"/>
              </a:spcAft>
            </a:pPr>
            <a:r>
              <a:rPr sz="1200" b="0">
                <a:solidFill>
                  <a:srgbClr val="5B6372"/>
                </a:solidFill>
                <a:latin typeface="Arial"/>
              </a:rPr>
              <a:t>The analyzer's filter box narrows by name or protocol - the same idea as Wireshark's -Y.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transition spd="fast" advClick="1">
    <p:fade/>
  </p:transition>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Packet Capture with tcpdump and TIS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Capture DNS traffic to a .pcap and analyse it with tshark and the TIS PCAP Analyzer.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Capture ten DNS packets with a BPF capture filter, dissect them with tshark display filters, then move the .pcap to your laptop and explore it graphically in the browser-based TIS PCAP Analyzer.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dns.pcap captured with tcpdump and read three ways: tcpdump summary, tshark fields and the TIS PCAP Analyzer UI.</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tshark, TIS PCAP Analyzer (alfredang.github.io/pcapanalyzer)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TIS PCAP Analyzer shows your three queries with matching responses: each query leaves a high ephemeral source port for destination port 53, and query/response transaction IDs match.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transition spd="fast" advClick="1">
    <p:fade/>
  </p:transition>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capture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DNS queries to fill the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for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Show only the response packets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tshark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Base64 the pcap</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base64 · step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Answer the analysis questions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Capture DNS traffic to a .pcap and analyse it with tshark and the TIS PCAP Analyzer.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Packet Capture with tcpdump and TIS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TIS PCAP Analyzer shows your three queries with matching responses: each query leaves a high ephemeral source port for destination port 53, and query/response transaction IDs match.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Capture never reaches 10 packets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Your queries may not match the BPF filter - re-run the dig loop or loosen the filter.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tshark asks about non-root capture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Answer No for the lab - you are reading files, not capturing as a normal user.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Analyzer shows no packets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Re-decode the base64 on your laptop (base64 -d dns.pcap.b64 &gt; dns.pcap) and upload again.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transition spd="fast" advClick="1">
    <p:fade/>
  </p:transition>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When Big Packets Vanish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MTU = biggest frame payload</a:t>
            </a:r>
          </a:p>
          <a:p>
            <a:pPr algn="l">
              <a:spcAft>
                <a:spcPts val="300"/>
              </a:spcAft>
            </a:pPr>
            <a:r>
              <a:rPr sz="1200" b="0">
                <a:solidFill>
                  <a:srgbClr val="5B6372"/>
                </a:solidFill>
                <a:latin typeface="Arial"/>
              </a:rPr>
              <a:t>Standard Ethernet carries 1500 bytes of IP packet; tunnels (VPN, GRE, PPPoE) reduce the usable size.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header maths</a:t>
            </a:r>
          </a:p>
          <a:p>
            <a:pPr algn="l">
              <a:spcAft>
                <a:spcPts val="300"/>
              </a:spcAft>
            </a:pPr>
            <a:r>
              <a:rPr sz="1200" b="0">
                <a:solidFill>
                  <a:srgbClr val="5B6372"/>
                </a:solidFill>
                <a:latin typeface="Arial"/>
              </a:rPr>
              <a:t>Payload = MTU - 20 (IP) - 8 (ICMP/UDP) or - 20 (TCP): hence the magic ping size 1472 at MTU 1500.</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DF: Don't Fragment</a:t>
            </a:r>
          </a:p>
          <a:p>
            <a:pPr algn="l">
              <a:spcAft>
                <a:spcPts val="300"/>
              </a:spcAft>
            </a:pPr>
            <a:r>
              <a:rPr sz="1200" b="0">
                <a:solidFill>
                  <a:srgbClr val="5B6372"/>
                </a:solidFill>
                <a:latin typeface="Arial"/>
              </a:rPr>
              <a:t>With DF set, an oversize packet is dropped and the router returns ICMP Type 3 Code 4: Fragmentation Needed.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 MTU Discovery</a:t>
            </a:r>
          </a:p>
          <a:p>
            <a:pPr algn="l">
              <a:spcAft>
                <a:spcPts val="300"/>
              </a:spcAft>
            </a:pPr>
            <a:r>
              <a:rPr sz="1200" b="0">
                <a:solidFill>
                  <a:srgbClr val="5B6372"/>
                </a:solidFill>
                <a:latin typeface="Arial"/>
              </a:rPr>
              <a:t>Senders probe with DF packets and shrink until they fit - PMTUD depends entirely on those ICMP replies arriving.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Jumbo frames</a:t>
            </a:r>
          </a:p>
          <a:p>
            <a:pPr algn="l">
              <a:spcAft>
                <a:spcPts val="300"/>
              </a:spcAft>
            </a:pPr>
            <a:r>
              <a:rPr sz="1200" b="0">
                <a:solidFill>
                  <a:srgbClr val="5B6372"/>
                </a:solidFill>
                <a:latin typeface="Arial"/>
              </a:rPr>
              <a:t>9000-byte MTUs help storage and backup LANs - but EVERY device on the path must agree, or you manufacture giants.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Mismatch symptoms</a:t>
            </a:r>
          </a:p>
          <a:p>
            <a:pPr algn="l">
              <a:spcAft>
                <a:spcPts val="300"/>
              </a:spcAft>
            </a:pPr>
            <a:r>
              <a:rPr sz="1200" b="0">
                <a:solidFill>
                  <a:srgbClr val="5B6372"/>
                </a:solidFill>
                <a:latin typeface="Arial"/>
              </a:rPr>
              <a:t>Small packets sail through; anything full-size stalls - a signature no other fault quite copies.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transition spd="fast" advClick="1">
    <p:fade/>
  </p:transition>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Proving the MTU with DF-Bit Pings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33's probe: -M do forbids fragmentation.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ping -M do -s 1472 -c2 8.8.8.8</a:t>
            </a:r>
          </a:p>
          <a:p>
            <a:pPr>
              <a:spcAft>
                <a:spcPts val="200"/>
              </a:spcAft>
            </a:pPr>
            <a:r>
              <a:rPr sz="1100">
                <a:solidFill>
                  <a:srgbClr val="D4D4D4"/>
                </a:solidFill>
                <a:latin typeface="Consolas"/>
              </a:rPr>
              <a:t>1480 bytes from 8.8.8.8: icmp_seq=1 ttl=118</a:t>
            </a:r>
          </a:p>
          <a:p>
            <a:pPr>
              <a:spcAft>
                <a:spcPts val="200"/>
              </a:spcAft>
            </a:pPr>
            <a:r>
              <a:rPr sz="1100">
                <a:solidFill>
                  <a:srgbClr val="D4D4D4"/>
                </a:solidFill>
                <a:latin typeface="Consolas"/>
              </a:rPr>
              <a:t>1480 bytes from 8.8.8.8: icmp_seq=2 ttl=118</a:t>
            </a:r>
          </a:p>
          <a:p>
            <a:pPr>
              <a:spcAft>
                <a:spcPts val="200"/>
              </a:spcAft>
            </a:pPr>
            <a:r>
              <a:rPr sz="1100">
                <a:solidFill>
                  <a:srgbClr val="9CDCFE"/>
                </a:solidFill>
                <a:latin typeface="Consolas"/>
              </a:rPr>
              <a:t>$ ping -M do -s 1500 -c2 8.8.8.8</a:t>
            </a:r>
          </a:p>
          <a:p>
            <a:pPr>
              <a:spcAft>
                <a:spcPts val="200"/>
              </a:spcAft>
            </a:pPr>
            <a:r>
              <a:rPr sz="1100">
                <a:solidFill>
                  <a:srgbClr val="D4D4D4"/>
                </a:solidFill>
                <a:latin typeface="Consolas"/>
              </a:rPr>
              <a:t>ping: local error: message too long, mtu=1500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1472 PASSES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1472 payload + 8 ICMP + 20 IP = exactly 1500 - the largest ping that fits standard Ethernet.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1500 REFUSED</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With DF set the kernel won't fragment - 1500 + 28 exceeds the MTU, so the send fails locally.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ON A REAL PATH</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mid-path bottleneck would return ICMP Type 3 Code 4 - unless a firewall eats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transition spd="fast" advClick="1">
    <p:fade/>
  </p:transition>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PMTUD Black Hole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Small pings and SSH work.
Do large transfers hang at a fixed point?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suspect MTU</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firewall is eating the Fragmentation Needed ICMP, so senders never shrink. Test with DF pings; clamp TCP MSS on the router.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not MTU</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size-independent fault is congestion, loss or the application - go measure with ping and mtr instead.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MSS clamping: iptables -t mangle ... --clamp-mss-to-pmtu rescues TCP through the hole.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transition spd="fast" advClick="1">
    <p:fade/>
  </p:transition>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Living With Broken PMTUD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classic report</a:t>
            </a:r>
          </a:p>
          <a:p>
            <a:pPr algn="l">
              <a:spcAft>
                <a:spcPts val="300"/>
              </a:spcAft>
            </a:pPr>
            <a:r>
              <a:rPr sz="1200" b="0">
                <a:solidFill>
                  <a:srgbClr val="5B6372"/>
                </a:solidFill>
                <a:latin typeface="Arial"/>
              </a:rPr>
              <a:t>'Web page starts loading then hangs' or 'SSH works, SCP stalls' - the first full-size packet is the one that dies.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ICMP gets blocked</a:t>
            </a:r>
          </a:p>
          <a:p>
            <a:pPr algn="l">
              <a:spcAft>
                <a:spcPts val="300"/>
              </a:spcAft>
            </a:pPr>
            <a:r>
              <a:rPr sz="1200" b="0">
                <a:solidFill>
                  <a:srgbClr val="5B6372"/>
                </a:solidFill>
                <a:latin typeface="Arial"/>
              </a:rPr>
              <a:t>Overzealous firewall policies drop ALL ICMP - killing the Type 3 Code 4 messages PMTUD depends 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MSS clamping</a:t>
            </a:r>
          </a:p>
          <a:p>
            <a:pPr algn="l">
              <a:spcAft>
                <a:spcPts val="300"/>
              </a:spcAft>
            </a:pPr>
            <a:r>
              <a:rPr sz="1200" b="0">
                <a:solidFill>
                  <a:srgbClr val="5B6372"/>
                </a:solidFill>
                <a:latin typeface="Arial"/>
              </a:rPr>
              <a:t>The router rewrites TCP's advertised MSS during the handshake so segments never exceed the path MTU.</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Lower the tunnel MTU</a:t>
            </a:r>
          </a:p>
          <a:p>
            <a:pPr algn="l">
              <a:spcAft>
                <a:spcPts val="300"/>
              </a:spcAft>
            </a:pPr>
            <a:r>
              <a:rPr sz="1200" b="0">
                <a:solidFill>
                  <a:srgbClr val="5B6372"/>
                </a:solidFill>
                <a:latin typeface="Arial"/>
              </a:rPr>
              <a:t>Setting VPN and tunnel interfaces to a matching MTU (e.g. 1400) prevents oversize packets at the source.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Allow the right ICMP</a:t>
            </a:r>
          </a:p>
          <a:p>
            <a:pPr algn="l">
              <a:spcAft>
                <a:spcPts val="300"/>
              </a:spcAft>
            </a:pPr>
            <a:r>
              <a:rPr sz="1200" b="0">
                <a:solidFill>
                  <a:srgbClr val="5B6372"/>
                </a:solidFill>
                <a:latin typeface="Arial"/>
              </a:rPr>
              <a:t>Permit ICMP Type 3 Code 4 - and IPv6 Packet Too Big - through firewalls; PMTUD is mandatory in IPv6.</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transition spd="fast" advClick="1">
    <p:fade/>
  </p:transition>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and Path-MTU Discovery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Demonstrate MTU limits with DF-bit pings and explain PMTUD black holes and MSS clamping.</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Compute the ICMP payload maths (MTU minus 28), send Don't-Fragment pings at and over the limit, lower the interface MTU to 1400 and retest both sides of the new limit, then restore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demonstrated 1472-byte pass / 1500-byte 'message too long' fail, repeated at MTU 1400, and a restored interface.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iputils-ping, iproute2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1472-byte DF pings succeed at MTU 1500 and 1372-byte pings at MTU 1400, while oversize pings fail with 'message too long' showing the current mtu value.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transition spd="fast" advClick="1">
    <p:fade/>
  </p:transition>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Check the interface MTU</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Exceed the MTU with DF set and read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Lower the interface MTU to 1400</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Retest at the new limit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Discuss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Demonstrate MTU limits with DF-bit pings and explain PMTUD black holes and MSS clamping.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and Path-MTU Discovery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1472-byte DF pings succeed at MTU 1500 and 1372-byte pings at MTU 1400, while oversize pings fail with 'message too long' showing the current mtu value.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Oversize ping shows no error</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Without -M do the kernel silently fragments - the DF bit is what makes the test honest.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1472 fails too</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tunnel/VPN lowers the effective path MTU - step the size down (1452, 1420...) until it passes.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Forgot to restore the MTU</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ip link set eth0 mtu 1500 - a lowered MTU otherwise slows every later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transition spd="fast" advClick="1">
    <p:fade/>
  </p:transition>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Table Issues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Missing route</a:t>
            </a:r>
          </a:p>
          <a:p>
            <a:pPr algn="l">
              <a:spcAft>
                <a:spcPts val="300"/>
              </a:spcAft>
            </a:pPr>
            <a:r>
              <a:rPr sz="1200" b="0">
                <a:solidFill>
                  <a:srgbClr val="5B6372"/>
                </a:solidFill>
                <a:latin typeface="Arial"/>
              </a:rPr>
              <a:t>No entry covers the destination and no default exists - traffic dies with 'network unreachable'.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or missing default route</a:t>
            </a:r>
          </a:p>
          <a:p>
            <a:pPr algn="l">
              <a:spcAft>
                <a:spcPts val="300"/>
              </a:spcAft>
            </a:pPr>
            <a:r>
              <a:rPr sz="1200" b="0">
                <a:solidFill>
                  <a:srgbClr val="5B6372"/>
                </a:solidFill>
                <a:latin typeface="Arial"/>
              </a:rPr>
              <a:t>The gateway of last resort is wrong or absent: local subnets fine, everything beyond them dead.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next hop</a:t>
            </a:r>
          </a:p>
          <a:p>
            <a:pPr algn="l">
              <a:spcAft>
                <a:spcPts val="300"/>
              </a:spcAft>
            </a:pPr>
            <a:r>
              <a:rPr sz="1200" b="0">
                <a:solidFill>
                  <a:srgbClr val="5B6372"/>
                </a:solidFill>
                <a:latin typeface="Arial"/>
              </a:rPr>
              <a:t>The route exists but points at the wrong router - packets leave, replies never come, or redirects fly.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Longest prefix wins</a:t>
            </a:r>
          </a:p>
          <a:p>
            <a:pPr algn="l">
              <a:spcAft>
                <a:spcPts val="300"/>
              </a:spcAft>
            </a:pPr>
            <a:r>
              <a:rPr sz="1200" b="0">
                <a:solidFill>
                  <a:srgbClr val="5B6372"/>
                </a:solidFill>
                <a:latin typeface="Arial"/>
              </a:rPr>
              <a:t>10.99.0.0/24 beats 10.0.0.0/8 regardless of metric - the most specific route always forwards the packet.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 breaks ties</a:t>
            </a:r>
          </a:p>
          <a:p>
            <a:pPr algn="l">
              <a:spcAft>
                <a:spcPts val="300"/>
              </a:spcAft>
            </a:pPr>
            <a:r>
              <a:rPr sz="1200" b="0">
                <a:solidFill>
                  <a:srgbClr val="5B6372"/>
                </a:solidFill>
                <a:latin typeface="Arial"/>
              </a:rPr>
              <a:t>Between equal prefixes the lower metric wins - how floating static and backup routes stay dormant.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 route get</a:t>
            </a:r>
          </a:p>
          <a:p>
            <a:pPr algn="l">
              <a:spcAft>
                <a:spcPts val="300"/>
              </a:spcAft>
            </a:pPr>
            <a:r>
              <a:rPr sz="1200" b="0">
                <a:solidFill>
                  <a:srgbClr val="5B6372"/>
                </a:solidFill>
                <a:latin typeface="Arial"/>
              </a:rPr>
              <a:t>Ask the kernel directly which route, interface and source IP a destination would use - no guessing.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transition spd="fast" advClick="1">
    <p:fade/>
  </p:transition>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Interrogating the Routing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34's key move: make the kernel show its choice.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ip route</a:t>
            </a:r>
          </a:p>
          <a:p>
            <a:pPr>
              <a:spcAft>
                <a:spcPts val="200"/>
              </a:spcAft>
            </a:pPr>
            <a:r>
              <a:rPr sz="1100">
                <a:solidFill>
                  <a:srgbClr val="9CDCFE"/>
                </a:solidFill>
                <a:latin typeface="Consolas"/>
              </a:rPr>
              <a:t>default via 172.30.1.1 dev eth0</a:t>
            </a:r>
          </a:p>
          <a:p>
            <a:pPr>
              <a:spcAft>
                <a:spcPts val="200"/>
              </a:spcAft>
            </a:pPr>
            <a:r>
              <a:rPr sz="1100">
                <a:solidFill>
                  <a:srgbClr val="9CDCFE"/>
                </a:solidFill>
                <a:latin typeface="Consolas"/>
              </a:rPr>
              <a:t>10.99.0.0/24 via 172.30.1.1 dev eth0 metric 100</a:t>
            </a:r>
          </a:p>
          <a:p>
            <a:pPr>
              <a:spcAft>
                <a:spcPts val="200"/>
              </a:spcAft>
            </a:pPr>
            <a:r>
              <a:rPr sz="1100">
                <a:solidFill>
                  <a:srgbClr val="9CDCFE"/>
                </a:solidFill>
                <a:latin typeface="Consolas"/>
              </a:rPr>
              <a:t>172.30.1.0/24 dev eth0 src 172.30.1.2</a:t>
            </a:r>
          </a:p>
          <a:p>
            <a:pPr>
              <a:spcAft>
                <a:spcPts val="200"/>
              </a:spcAft>
            </a:pPr>
            <a:r>
              <a:rPr sz="1100">
                <a:solidFill>
                  <a:srgbClr val="9CDCFE"/>
                </a:solidFill>
                <a:latin typeface="Consolas"/>
              </a:rPr>
              <a:t>$ ip route get 10.99.0.5</a:t>
            </a:r>
          </a:p>
          <a:p>
            <a:pPr>
              <a:spcAft>
                <a:spcPts val="200"/>
              </a:spcAft>
            </a:pPr>
            <a:r>
              <a:rPr sz="1100">
                <a:solidFill>
                  <a:srgbClr val="9CDCFE"/>
                </a:solidFill>
                <a:latin typeface="Consolas"/>
              </a:rPr>
              <a:t>10.99.0.5 via 172.30.1.1 dev eth0 src 172.30.1.2</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THREE ROUTE TYPES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default, a static /24, and a connected route the kernel added for eth0's own subnet.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ROUTE GET = PROOF</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kernel names the winning route, egress interface and source IP for that destination.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LONGEST PREFIX</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10.99.0.5 matches both the /24 and the default - the /24 wins because it is more specific.</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transition spd="fast" advClick="1">
    <p:fade/>
  </p:transition>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Asymmetric Routing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Traffic leaves by one path and returns by another - legal in IP, but stateful middleboxes hate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firewalls break</a:t>
            </a:r>
          </a:p>
          <a:p>
            <a:pPr algn="l">
              <a:spcAft>
                <a:spcPts val="300"/>
              </a:spcAft>
            </a:pPr>
            <a:r>
              <a:rPr sz="1200" b="0">
                <a:solidFill>
                  <a:srgbClr val="5B6372"/>
                </a:solidFill>
                <a:latin typeface="Arial"/>
              </a:rPr>
              <a:t>A stateful firewall that never saw the outbound SYN drops the returning SYN-ACK as unsolicited.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How it happens</a:t>
            </a:r>
          </a:p>
          <a:p>
            <a:pPr algn="l">
              <a:spcAft>
                <a:spcPts val="300"/>
              </a:spcAft>
            </a:pPr>
            <a:r>
              <a:rPr sz="1200" b="0">
                <a:solidFill>
                  <a:srgbClr val="5B6372"/>
                </a:solidFill>
                <a:latin typeface="Arial"/>
              </a:rPr>
              <a:t>Two exits (dual WAN, two routers, ECMP) with inconsistent metrics - or NAT on only one of the paths.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How to spot it</a:t>
            </a:r>
          </a:p>
          <a:p>
            <a:pPr algn="l">
              <a:spcAft>
                <a:spcPts val="300"/>
              </a:spcAft>
            </a:pPr>
            <a:r>
              <a:rPr sz="1200" b="0">
                <a:solidFill>
                  <a:srgbClr val="5B6372"/>
                </a:solidFill>
                <a:latin typeface="Arial"/>
              </a:rPr>
              <a:t>traceroute from BOTH ends and compare; mtr -z shows the AS path, where asymmetry jumps out.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usual fixes</a:t>
            </a:r>
          </a:p>
          <a:p>
            <a:pPr algn="l">
              <a:spcAft>
                <a:spcPts val="300"/>
              </a:spcAft>
            </a:pPr>
            <a:r>
              <a:rPr sz="1200" b="0">
                <a:solidFill>
                  <a:srgbClr val="5B6372"/>
                </a:solidFill>
                <a:latin typeface="Arial"/>
              </a:rPr>
              <a:t>Pin flows to one path with policy routing, sync firewall state, or make the metrics consistent.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transition spd="fast" advClick="1">
    <p:fade/>
  </p:transition>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Addressing Faults: Symptom to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Fault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Classic symptom</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Fastest test</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Wrong default gateway</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LAN fine, nothing beyond it</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ping the gw; ip route / ipconfig</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Wrong subnet mask</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SOME hosts unreachable</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compare mask with a peer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DHCP pool exhausted</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New hosts get 169.254.x.x</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scope stats; lease table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Duplicate IP</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Flip-flop connectivity</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arping -D your own address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Static/DHCP overlap</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Random conflicts appear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audit static assignments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APIPA 169.254.x.x means 'I asked DHCP and nobody answered' - the client self-assigned.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transition spd="fast" advClick="1">
    <p:fade/>
  </p:transition>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Pool Exhaustion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symptom</a:t>
            </a:r>
          </a:p>
          <a:p>
            <a:pPr algn="l">
              <a:spcAft>
                <a:spcPts val="300"/>
              </a:spcAft>
            </a:pPr>
            <a:r>
              <a:rPr sz="1200" b="0">
                <a:solidFill>
                  <a:srgbClr val="5B6372"/>
                </a:solidFill>
                <a:latin typeface="Arial"/>
              </a:rPr>
              <a:t>New and returning devices fail to join; victims show APIPA 169.254.x.x self-assigned addresses.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pools run dry</a:t>
            </a:r>
          </a:p>
          <a:p>
            <a:pPr algn="l">
              <a:spcAft>
                <a:spcPts val="300"/>
              </a:spcAft>
            </a:pPr>
            <a:r>
              <a:rPr sz="1200" b="0">
                <a:solidFill>
                  <a:srgbClr val="5B6372"/>
                </a:solidFill>
                <a:latin typeface="Arial"/>
              </a:rPr>
              <a:t>A scope sized for desks meets BYOD phones and IoT - every device holds a lease whether active or not.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Long leases make it worse</a:t>
            </a:r>
          </a:p>
          <a:p>
            <a:pPr algn="l">
              <a:spcAft>
                <a:spcPts val="300"/>
              </a:spcAft>
            </a:pPr>
            <a:r>
              <a:rPr sz="1200" b="0">
                <a:solidFill>
                  <a:srgbClr val="5B6372"/>
                </a:solidFill>
                <a:latin typeface="Arial"/>
              </a:rPr>
              <a:t>8-day leases on guest Wi-Fi hold addresses for one-time visitors a week after they left.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scope statistics</a:t>
            </a:r>
          </a:p>
          <a:p>
            <a:pPr algn="l">
              <a:spcAft>
                <a:spcPts val="300"/>
              </a:spcAft>
            </a:pPr>
            <a:r>
              <a:rPr sz="1200" b="0">
                <a:solidFill>
                  <a:srgbClr val="5B6372"/>
                </a:solidFill>
                <a:latin typeface="Arial"/>
              </a:rPr>
              <a:t>The DHCP server shows leases used vs available - exhaustion is visible at a glance.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fixes</a:t>
            </a:r>
          </a:p>
          <a:p>
            <a:pPr algn="l">
              <a:spcAft>
                <a:spcPts val="300"/>
              </a:spcAft>
            </a:pPr>
            <a:r>
              <a:rPr sz="1200" b="0">
                <a:solidFill>
                  <a:srgbClr val="5B6372"/>
                </a:solidFill>
                <a:latin typeface="Arial"/>
              </a:rPr>
              <a:t>Shorten lease times, widen the scope, add VLANs with their own scopes, evict statics from the pool.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DHCP servers</a:t>
            </a:r>
          </a:p>
          <a:p>
            <a:pPr algn="l">
              <a:spcAft>
                <a:spcPts val="300"/>
              </a:spcAft>
            </a:pPr>
            <a:r>
              <a:rPr sz="1200" b="0">
                <a:solidFill>
                  <a:srgbClr val="5B6372"/>
                </a:solidFill>
                <a:latin typeface="Arial"/>
              </a:rPr>
              <a:t>A second, often accidental, DHCP server hands out wrong addresses - DHCP snooping on switches blocks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transition spd="fast" advClick="1">
    <p:fade/>
  </p:transition>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Gateway and Mask Misconfigurations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gateway signature</a:t>
            </a:r>
          </a:p>
          <a:p>
            <a:pPr algn="l">
              <a:spcAft>
                <a:spcPts val="300"/>
              </a:spcAft>
            </a:pPr>
            <a:r>
              <a:rPr sz="1200" b="0">
                <a:solidFill>
                  <a:srgbClr val="5B6372"/>
                </a:solidFill>
                <a:latin typeface="Arial"/>
              </a:rPr>
              <a:t>Everything on the local subnet works; every remote destination fails - off-net traffic has nowhere to go.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the gateway itself</a:t>
            </a:r>
          </a:p>
          <a:p>
            <a:pPr algn="l">
              <a:spcAft>
                <a:spcPts val="300"/>
              </a:spcAft>
            </a:pPr>
            <a:r>
              <a:rPr sz="1200" b="0">
                <a:solidFill>
                  <a:srgbClr val="5B6372"/>
                </a:solidFill>
                <a:latin typeface="Arial"/>
              </a:rPr>
              <a:t>ping the configured gateway IP: if that fails, check ARP for it; if it works, suspect what lies beyond.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mask signature</a:t>
            </a:r>
          </a:p>
          <a:p>
            <a:pPr algn="l">
              <a:spcAft>
                <a:spcPts val="300"/>
              </a:spcAft>
            </a:pPr>
            <a:r>
              <a:rPr sz="1200" b="0">
                <a:solidFill>
                  <a:srgbClr val="5B6372"/>
                </a:solidFill>
                <a:latin typeface="Arial"/>
              </a:rPr>
              <a:t>The strangest fault: SOME remote hosts work, some local ones don't - the boundary is drawn in the wrong place.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the mask does that</a:t>
            </a:r>
          </a:p>
          <a:p>
            <a:pPr algn="l">
              <a:spcAft>
                <a:spcPts val="300"/>
              </a:spcAft>
            </a:pPr>
            <a:r>
              <a:rPr sz="1200" b="0">
                <a:solidFill>
                  <a:srgbClr val="5B6372"/>
                </a:solidFill>
                <a:latin typeface="Arial"/>
              </a:rPr>
              <a:t>A too-wide mask claims remote hosts as 'local' (ARPed, never routed); too narrow sends local peers via the gateway.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Compare with a healthy peer</a:t>
            </a:r>
          </a:p>
          <a:p>
            <a:pPr algn="l">
              <a:spcAft>
                <a:spcPts val="300"/>
              </a:spcAft>
            </a:pPr>
            <a:r>
              <a:rPr sz="1200" b="0">
                <a:solidFill>
                  <a:srgbClr val="5B6372"/>
                </a:solidFill>
                <a:latin typeface="Arial"/>
              </a:rPr>
              <a:t>ip addr against a working neighbour finds mask and gateway typos in seconds - baselines beat theory.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 tells you where to look</a:t>
            </a:r>
          </a:p>
          <a:p>
            <a:pPr algn="l">
              <a:spcAft>
                <a:spcPts val="300"/>
              </a:spcAft>
            </a:pPr>
            <a:r>
              <a:rPr sz="1200" b="0">
                <a:solidFill>
                  <a:srgbClr val="5B6372"/>
                </a:solidFill>
                <a:latin typeface="Arial"/>
              </a:rPr>
              <a:t>DHCP misconfig hits everyone on the scope; a static typo hits one machine.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transition spd="fast" advClick="1">
    <p:fade/>
  </p:transition>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Ping This, But Not That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10.1.x OK, 10.2.x dead</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missing route to 10.2</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route get 10.2.0.5</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add route via 10.1.0.2</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document route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Partial reachability is routing until proven otherwise - and ip route get turns 'I think' into 'the kernel says'.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Diagnosing Routing Problems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Read and manipulate the routing table; prove which route a destination uses with ip route get.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Print the routing table, query the kernel's route choice for two destinations, add a static route with a metric, inspect precedence and longest-prefix match, then remove the test route.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routing table with a temporary 10.99.0.0/24 static route, proven with ip route get and cleanly removed.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traceroute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route get 10.99.0.5 switches from the default route to the new static route while it exists, and reverts to the default after ip route del.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transition spd="fast" advClick="1">
    <p:fade/>
  </p:transition>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Print the full routing table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Add a static route via the default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Show the new route and its metric</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Re-run ip route get and watch the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Remove the test route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Read and manipulate the routing table; prove which route a destination uses with ip route get.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Diagnosing Routing Problems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route get 10.99.0.5 switches from the default route to the new static route while it exists, and reverts to the default after ip route del.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file exists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route is already present - delete it first with ip route del 10.99.0.0/24.</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Route added but not used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longer prefix elsewhere wins - longest-prefix match beats metric every time.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default route at all</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Re-add it: ip route add default via &lt;gateway IP&gt; dev eth0.</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transition spd="fast" advClick="1">
    <p:fade/>
  </p:transition>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Latency vs Loss vs Jitter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Hurts most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Measure with</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Latency</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Round-trip delay</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Interactive apps, gaming</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ping RTT, mtr Avg</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Packet loss</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Frames never arrive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TCP throughput collapse</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ping / mtr Loss%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Jitter</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Variation in delay</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VoIP and live video</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mtr Wrst-Avg, iperf3 -u</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Bandwidth</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Path capacity</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Bulk transfer, backup</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iperf3, speed testers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VoIP wants jitter under ~30 ms and loss under 1% - buffers trade jitter for latency.</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transition spd="fast" advClick="1">
    <p:fade/>
  </p:transition>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Little Loss Destroys a Lot of Throughput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TCP treats every loss as congestion and backs off - 1% loss roughly halves throughput long before a link is 'full'. This is why Lab 35's netem loss test feels so dramatic.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transition spd="fast" advClick="1">
    <p:fade/>
  </p:transition>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Congestion and Bottlenecks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Oversubscribed uplinks</a:t>
            </a:r>
          </a:p>
          <a:p>
            <a:pPr algn="l">
              <a:spcAft>
                <a:spcPts val="300"/>
              </a:spcAft>
            </a:pPr>
            <a:r>
              <a:rPr sz="1200" b="0">
                <a:solidFill>
                  <a:srgbClr val="5B6372"/>
                </a:solidFill>
                <a:latin typeface="Arial"/>
              </a:rPr>
              <a:t>48 access ports funnelling into one 1G uplink - fine on average, saturated at 9 a.m. sharp.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queueing signature</a:t>
            </a:r>
          </a:p>
          <a:p>
            <a:pPr algn="l">
              <a:spcAft>
                <a:spcPts val="300"/>
              </a:spcAft>
            </a:pPr>
            <a:r>
              <a:rPr sz="1200" b="0">
                <a:solidFill>
                  <a:srgbClr val="5B6372"/>
                </a:solidFill>
                <a:latin typeface="Arial"/>
              </a:rPr>
              <a:t>Latency climbs FIRST as buffers fill; loss follows when they overflow - watch the RTT trend before loss.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Duplex mismatch again</a:t>
            </a:r>
          </a:p>
          <a:p>
            <a:pPr algn="l">
              <a:spcAft>
                <a:spcPts val="300"/>
              </a:spcAft>
            </a:pPr>
            <a:r>
              <a:rPr sz="1200" b="0">
                <a:solidFill>
                  <a:srgbClr val="5B6372"/>
                </a:solidFill>
                <a:latin typeface="Arial"/>
              </a:rPr>
              <a:t>Still the classic false 'congestion': collisions and CRC errors under load on one specific link.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Find the top talkers</a:t>
            </a:r>
          </a:p>
          <a:p>
            <a:pPr algn="l">
              <a:spcAft>
                <a:spcPts val="300"/>
              </a:spcAft>
            </a:pPr>
            <a:r>
              <a:rPr sz="1200" b="0">
                <a:solidFill>
                  <a:srgbClr val="5B6372"/>
                </a:solidFill>
                <a:latin typeface="Arial"/>
              </a:rPr>
              <a:t>Interface counters, NetFlow/sFlow or a capture answer WHO is eating the link before you upgrade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storms</a:t>
            </a:r>
          </a:p>
          <a:p>
            <a:pPr algn="l">
              <a:spcAft>
                <a:spcPts val="300"/>
              </a:spcAft>
            </a:pPr>
            <a:r>
              <a:rPr sz="1200" b="0">
                <a:solidFill>
                  <a:srgbClr val="5B6372"/>
                </a:solidFill>
                <a:latin typeface="Arial"/>
              </a:rPr>
              <a:t>A loop or a chatty protocol can consume a LAN with traffic nobody asked for - see the L2 slides.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QoS as triage</a:t>
            </a:r>
          </a:p>
          <a:p>
            <a:pPr algn="l">
              <a:spcAft>
                <a:spcPts val="300"/>
              </a:spcAft>
            </a:pPr>
            <a:r>
              <a:rPr sz="1200" b="0">
                <a:solidFill>
                  <a:srgbClr val="5B6372"/>
                </a:solidFill>
                <a:latin typeface="Arial"/>
              </a:rPr>
              <a:t>Prioritise voice and video over bulk data - it does not add capacity, it decides who suffers.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transition spd="fast" advClick="1">
    <p:fade/>
  </p:transition>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Interference and Channel Overlap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2.4 GHz: three clean channels</a:t>
            </a:r>
          </a:p>
          <a:p>
            <a:pPr algn="l">
              <a:spcAft>
                <a:spcPts val="300"/>
              </a:spcAft>
            </a:pPr>
            <a:r>
              <a:rPr sz="1200" b="0">
                <a:solidFill>
                  <a:srgbClr val="5B6372"/>
                </a:solidFill>
                <a:latin typeface="Arial"/>
              </a:rPr>
              <a:t>Only 1, 6 and 11 avoid overlap - neighbouring APs on 3 and 8 interfere with BOTH sides.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Co-channel vs adjacent</a:t>
            </a:r>
          </a:p>
          <a:p>
            <a:pPr algn="l">
              <a:spcAft>
                <a:spcPts val="300"/>
              </a:spcAft>
            </a:pPr>
            <a:r>
              <a:rPr sz="1200" b="0">
                <a:solidFill>
                  <a:srgbClr val="5B6372"/>
                </a:solidFill>
                <a:latin typeface="Arial"/>
              </a:rPr>
              <a:t>Same-channel APs politely take turns (slow); OVERLAPPING channels corrupt each other (worse).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Non-Wi-Fi offenders</a:t>
            </a:r>
          </a:p>
          <a:p>
            <a:pPr algn="l">
              <a:spcAft>
                <a:spcPts val="300"/>
              </a:spcAft>
            </a:pPr>
            <a:r>
              <a:rPr sz="1200" b="0">
                <a:solidFill>
                  <a:srgbClr val="5B6372"/>
                </a:solidFill>
                <a:latin typeface="Arial"/>
              </a:rPr>
              <a:t>Microwave ovens, wireless mice and keyboards, Bluetooth, baby monitors - all camp on 2.4 GHz.</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Escape to 5 / 6 GHz</a:t>
            </a:r>
          </a:p>
          <a:p>
            <a:pPr algn="l">
              <a:spcAft>
                <a:spcPts val="300"/>
              </a:spcAft>
            </a:pPr>
            <a:r>
              <a:rPr sz="1200" b="0">
                <a:solidFill>
                  <a:srgbClr val="5B6372"/>
                </a:solidFill>
                <a:latin typeface="Arial"/>
              </a:rPr>
              <a:t>Far more non-overlapping channels and less junk - the standing fix for a crowded 2.4 GHz office.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Survey before blaming</a:t>
            </a:r>
          </a:p>
          <a:p>
            <a:pPr algn="l">
              <a:spcAft>
                <a:spcPts val="300"/>
              </a:spcAft>
            </a:pPr>
            <a:r>
              <a:rPr sz="1200" b="0">
                <a:solidFill>
                  <a:srgbClr val="5B6372"/>
                </a:solidFill>
                <a:latin typeface="Arial"/>
              </a:rPr>
              <a:t>A Wi-Fi analyzer shows every SSID, channel and RSSI around you - pick the channel the survey supports.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Interference symptoms</a:t>
            </a:r>
          </a:p>
          <a:p>
            <a:pPr algn="l">
              <a:spcAft>
                <a:spcPts val="300"/>
              </a:spcAft>
            </a:pPr>
            <a:r>
              <a:rPr sz="1200" b="0">
                <a:solidFill>
                  <a:srgbClr val="5B6372"/>
                </a:solidFill>
                <a:latin typeface="Arial"/>
              </a:rPr>
              <a:t>Connected with strong signal yet slow and jittery - retries eat airtime before anything is 'down'.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transition spd="fast" advClick="1">
    <p:fade/>
  </p:transition>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Room to Breathe: Channels by Band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2.4 GHz offers exactly three clean channels, shared with microwaves and Bluetooth; 5 and 6 GHz offer dozens - moving bands beats fighting for channel 6.</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transition spd="fast" advClick="1">
    <p:fade/>
  </p:transition>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More Wireless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 capacity</a:t>
            </a:r>
          </a:p>
          <a:p>
            <a:pPr algn="l">
              <a:spcAft>
                <a:spcPts val="300"/>
              </a:spcAft>
            </a:pPr>
            <a:r>
              <a:rPr sz="1200" b="0">
                <a:solidFill>
                  <a:srgbClr val="5B6372"/>
                </a:solidFill>
                <a:latin typeface="Arial"/>
              </a:rPr>
              <a:t>Too many clients per AP: strong signal, terrible throughput - add APs or steer clients to 5/6 GHz.</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Incorrect antenna type</a:t>
            </a:r>
          </a:p>
          <a:p>
            <a:pPr algn="l">
              <a:spcAft>
                <a:spcPts val="300"/>
              </a:spcAft>
            </a:pPr>
            <a:r>
              <a:rPr sz="1200" b="0">
                <a:solidFill>
                  <a:srgbClr val="5B6372"/>
                </a:solidFill>
                <a:latin typeface="Arial"/>
              </a:rPr>
              <a:t>Omni antennas in a long corridor, or patch antennas facing the wrong way, waste the cell where users are.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Antenna placement</a:t>
            </a:r>
          </a:p>
          <a:p>
            <a:pPr algn="l">
              <a:spcAft>
                <a:spcPts val="300"/>
              </a:spcAft>
            </a:pPr>
            <a:r>
              <a:rPr sz="1200" b="0">
                <a:solidFill>
                  <a:srgbClr val="5B6372"/>
                </a:solidFill>
                <a:latin typeface="Arial"/>
              </a:rPr>
              <a:t>Placement is an art: test and retest - central, high, away from metal and water; re-survey after moving.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gain loss</a:t>
            </a:r>
          </a:p>
          <a:p>
            <a:pPr algn="l">
              <a:spcAft>
                <a:spcPts val="300"/>
              </a:spcAft>
            </a:pPr>
            <a:r>
              <a:rPr sz="1200" b="0">
                <a:solidFill>
                  <a:srgbClr val="5B6372"/>
                </a:solidFill>
                <a:latin typeface="Arial"/>
              </a:rPr>
              <a:t>Every metre of antenna coax costs dB - keep antenna cables short or the gain never reaches the air.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Old standards drag the cell</a:t>
            </a:r>
          </a:p>
          <a:p>
            <a:pPr algn="l">
              <a:spcAft>
                <a:spcPts val="300"/>
              </a:spcAft>
            </a:pPr>
            <a:r>
              <a:rPr sz="1200" b="0">
                <a:solidFill>
                  <a:srgbClr val="5B6372"/>
                </a:solidFill>
                <a:latin typeface="Arial"/>
              </a:rPr>
              <a:t>Legacy 802.11b/g clients force protection modes that slow everyone - upgrade or isolate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Roaming problems</a:t>
            </a:r>
          </a:p>
          <a:p>
            <a:pPr algn="l">
              <a:spcAft>
                <a:spcPts val="300"/>
              </a:spcAft>
            </a:pPr>
            <a:r>
              <a:rPr sz="1200" b="0">
                <a:solidFill>
                  <a:srgbClr val="5B6372"/>
                </a:solidFill>
                <a:latin typeface="Arial"/>
              </a:rPr>
              <a:t>Sticky clients cling to a distant AP - tune min-RSSI and roaming thresholds so handoff happens.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transition spd="fast" advClick="1">
    <p:fade/>
  </p:transition>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Measuring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iperf3</a:t>
            </a:r>
          </a:p>
          <a:p>
            <a:pPr algn="l">
              <a:spcAft>
                <a:spcPts val="300"/>
              </a:spcAft>
            </a:pPr>
            <a:r>
              <a:rPr sz="1200" b="0">
                <a:solidFill>
                  <a:srgbClr val="5B6372"/>
                </a:solidFill>
                <a:latin typeface="Arial"/>
              </a:rPr>
              <a:t>Client/server throughput tester - proves what the path can actually carry, TCP or UDP with loss and jitter stats.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testers</a:t>
            </a:r>
          </a:p>
          <a:p>
            <a:pPr algn="l">
              <a:spcAft>
                <a:spcPts val="300"/>
              </a:spcAft>
            </a:pPr>
            <a:r>
              <a:rPr sz="1200" b="0">
                <a:solidFill>
                  <a:srgbClr val="5B6372"/>
                </a:solidFill>
                <a:latin typeface="Arial"/>
              </a:rPr>
              <a:t>Quick browser or CLI checks of real up/down rates to the internet - verify the circuit, not the marketing.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Wi-Fi analyzers</a:t>
            </a:r>
          </a:p>
          <a:p>
            <a:pPr algn="l">
              <a:spcAft>
                <a:spcPts val="300"/>
              </a:spcAft>
            </a:pPr>
            <a:r>
              <a:rPr sz="1200" b="0">
                <a:solidFill>
                  <a:srgbClr val="5B6372"/>
                </a:solidFill>
                <a:latin typeface="Arial"/>
              </a:rPr>
              <a:t>Show channels, signal strength and neighbouring networks - the survey tool behind every interference fix.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mtr over time</a:t>
            </a:r>
          </a:p>
          <a:p>
            <a:pPr algn="l">
              <a:spcAft>
                <a:spcPts val="300"/>
              </a:spcAft>
            </a:pPr>
            <a:r>
              <a:rPr sz="1200" b="0">
                <a:solidFill>
                  <a:srgbClr val="5B6372"/>
                </a:solidFill>
                <a:latin typeface="Arial"/>
              </a:rPr>
              <a:t>A long-running mtr catches the intermittent loss and jitter that a single ping snapshot misses.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 netem (lab)</a:t>
            </a:r>
          </a:p>
          <a:p>
            <a:pPr algn="l">
              <a:spcAft>
                <a:spcPts val="300"/>
              </a:spcAft>
            </a:pPr>
            <a:r>
              <a:rPr sz="1200" b="0">
                <a:solidFill>
                  <a:srgbClr val="5B6372"/>
                </a:solidFill>
                <a:latin typeface="Arial"/>
              </a:rPr>
              <a:t>Injects delay, jitter and loss on purpose - reproduce the customer's WAN on one VM and test the app against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Baseline everything</a:t>
            </a:r>
          </a:p>
          <a:p>
            <a:pPr algn="l">
              <a:spcAft>
                <a:spcPts val="300"/>
              </a:spcAft>
            </a:pPr>
            <a:r>
              <a:rPr sz="1200" b="0">
                <a:solidFill>
                  <a:srgbClr val="5B6372"/>
                </a:solidFill>
                <a:latin typeface="Arial"/>
              </a:rPr>
              <a:t>A measurement means little without the 'normal' to compare against - collect baselines before trouble starts.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transition spd="fast" advClick="1">
    <p:fade/>
  </p:transition>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Slow and Lossy Links with tc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Reproduce WAN latency, jitter and loss with tc netem and cap bandwidth with tbf.</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Baseline RTT, then use tc netem to inject 200 ms delay, +/-50 ms jitter and 5% loss, verifying each with ping; cap throughput at 1 Mbit/s with tbf, prove it with iperf3, then remove all shaping.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NIC that demonstrably ran at +200 ms delay, 5% loss and a 1 Mbit/s cap - and a clean qdisc afterwards.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(tc/netem/tbf), iperf3</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ping RTT rises by about 200 ms under netem, roughly 1 in 20 pings times out at 5% loss, and iperf3 reports about 1 Mbit/s under the tbf cap.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transition spd="fast" advClick="1">
    <p:fade/>
  </p:transition>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Baseline the RTT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Add +/-50 ms of jitter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Clear netem before shaping bandwidth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Cap bandwidth at 1 Mbit/s with a token</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Remove all shaping and confirm</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Reproduce WAN latency, jitter and loss with tc netem and cap bandwidth with tbf.</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Slow and Lossy Links with tc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ping RTT rises by about 200 ms under netem, roughly 1 in 20 pings times out at 5% loss, and iperf3 reports about 1 Mbit/s under the tbf cap.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answers: file exists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qdisc is already installed - use tc qdisc change, or delete the root qdisc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RTT did not change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shaped the wrong interface - confirm the active NIC with ip -brief link.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iperf3 connection refused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Start the server first (iperf3 -s -D), then run the client against 127.0.0.1.</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transition spd="fast" advClick="1">
    <p:fade/>
  </p:transition>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WAN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WAN Troubleshooting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at your own edge</a:t>
            </a:r>
          </a:p>
          <a:p>
            <a:pPr algn="l">
              <a:spcAft>
                <a:spcPts val="300"/>
              </a:spcAft>
            </a:pPr>
            <a:r>
              <a:rPr sz="1200" b="0">
                <a:solidFill>
                  <a:srgbClr val="5B6372"/>
                </a:solidFill>
                <a:latin typeface="Arial"/>
              </a:rPr>
              <a:t>Most WAN faults are customer-side - cables, the router, config - not the ISP; check yours before calling.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Walk to the demarc</a:t>
            </a:r>
          </a:p>
          <a:p>
            <a:pPr algn="l">
              <a:spcAft>
                <a:spcPts val="300"/>
              </a:spcAft>
            </a:pPr>
            <a:r>
              <a:rPr sz="1200" b="0">
                <a:solidFill>
                  <a:srgbClr val="5B6372"/>
                </a:solidFill>
                <a:latin typeface="Arial"/>
              </a:rPr>
              <a:t>LAN interface -&gt; router/modem LAN side -&gt; WAN side -&gt; provider: find the last healthy point.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Modem/ONT lights first</a:t>
            </a:r>
          </a:p>
          <a:p>
            <a:pPr algn="l">
              <a:spcAft>
                <a:spcPts val="300"/>
              </a:spcAft>
            </a:pPr>
            <a:r>
              <a:rPr sz="1200" b="0">
                <a:solidFill>
                  <a:srgbClr val="5B6372"/>
                </a:solidFill>
                <a:latin typeface="Arial"/>
              </a:rPr>
              <a:t>Sync and LOS LEDs on the modem or ONT tell you in seconds whether the carrier signal is even present.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around DNS</a:t>
            </a:r>
          </a:p>
          <a:p>
            <a:pPr algn="l">
              <a:spcAft>
                <a:spcPts val="300"/>
              </a:spcAft>
            </a:pPr>
            <a:r>
              <a:rPr sz="1200" b="0">
                <a:solidFill>
                  <a:srgbClr val="5B6372"/>
                </a:solidFill>
                <a:latin typeface="Arial"/>
              </a:rPr>
              <a:t>ping 8.8.8.8 vs ping google.com separates 'the WAN is down' from 'DNS is down' immediately.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Interference and environment</a:t>
            </a:r>
          </a:p>
          <a:p>
            <a:pPr algn="l">
              <a:spcAft>
                <a:spcPts val="300"/>
              </a:spcAft>
            </a:pPr>
            <a:r>
              <a:rPr sz="1200" b="0">
                <a:solidFill>
                  <a:srgbClr val="5B6372"/>
                </a:solidFill>
                <a:latin typeface="Arial"/>
              </a:rPr>
              <a:t>On DSL, coax and wireless WANs, interference is usually consumer-side - unless weather or disaster says otherwise.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for the carrier</a:t>
            </a:r>
          </a:p>
          <a:p>
            <a:pPr algn="l">
              <a:spcAft>
                <a:spcPts val="300"/>
              </a:spcAft>
            </a:pPr>
            <a:r>
              <a:rPr sz="1200" b="0">
                <a:solidFill>
                  <a:srgbClr val="5B6372"/>
                </a:solidFill>
                <a:latin typeface="Arial"/>
              </a:rPr>
              <a:t>mtr reports, timestamps, loss figures - carriers move faster when the ticket contains measurements.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transition spd="fast" advClick="1">
    <p:fade/>
  </p:transition>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Layered Service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nc -zv host 443 - does TCP connect?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openssl s_client - does TLS validate?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curl -v - what HTTP status returns?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curl -w timings - which phase is slow?</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Escalate with the failing layer named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transition spd="fast" advClick="1">
    <p:fade/>
  </p:transition>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Breaking One Request Into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curl -w prints a stopwatch for every stage of the request.</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curl -so /dev/null https://example.com -w \</a:t>
            </a:r>
          </a:p>
          <a:p>
            <a:pPr>
              <a:spcAft>
                <a:spcPts val="200"/>
              </a:spcAft>
            </a:pPr>
            <a:r>
              <a:rPr sz="1100">
                <a:solidFill>
                  <a:srgbClr val="9CDCFE"/>
                </a:solidFill>
                <a:latin typeface="Consolas"/>
              </a:rPr>
              <a:t>  'DNS:%{time_namelookup} TCP:%{time_connect} \</a:t>
            </a:r>
          </a:p>
          <a:p>
            <a:pPr>
              <a:spcAft>
                <a:spcPts val="200"/>
              </a:spcAft>
            </a:pPr>
            <a:r>
              <a:rPr sz="1100">
                <a:solidFill>
                  <a:srgbClr val="9CDCFE"/>
                </a:solidFill>
                <a:latin typeface="Consolas"/>
              </a:rPr>
              <a:t>   TLS:%{time_appconnect} TTFB:%{time_starttransfer}'</a:t>
            </a:r>
          </a:p>
          <a:p>
            <a:pPr>
              <a:spcAft>
                <a:spcPts val="200"/>
              </a:spcAft>
            </a:pPr>
            <a:r>
              <a:rPr sz="1100">
                <a:solidFill>
                  <a:srgbClr val="9CDCFE"/>
                </a:solidFill>
                <a:latin typeface="Consolas"/>
              </a:rPr>
              <a:t>DNS:2.104 TCP:2.121 TLS:2.189 TTFB:2.239</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DNS: 2.1 SECONDS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Nearly the whole wait happened before any packet reached the server - the resolver is to blame.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GAPS, NOT VALUES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Read the DIFFERENCES: TCP-DNS = handshake, TLS-TCP = crypto, TTFB-TLS = server think time.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WHO TO CALL</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Slow DNS: resolver team (Lab 30). Slow TTFB: app team. Slow TCP: network path (Lab 29).</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transition spd="fast" advClick="1">
    <p:fade/>
  </p:transition>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HTTP Status Codes for Troubleshooters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Code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Prime suspect</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200</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OK</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Nothing - move on</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301 / 302</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Redirect</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Follow it - check the target</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401 / 403</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Auth required / forbidden</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Credentials, ACLs, permissions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404</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Not found</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URL path, deployment</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500</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Application error</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app itself - read its logs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502/503/504</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Bad gateway/overload/timeout</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Upstream server or proxy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Any HTTP answer at all proves DNS, routing, TCP and TLS all worked - you are at Layer 7.</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transition spd="fast" advClick="1">
    <p:fade/>
  </p:transition>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nc -zv Fork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The site is unreachable.
Does nc -zv host 443 succeed?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go up the stack</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Routing, firewall and listener are all fine. Test TLS (openssl s_client), then HTTP (curl -v) - the fault is above L4.</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stay low</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No TCP handshake. Check DNS resolution, then the path (mtr), then firewalls, then whether anything listens (ss -tlnp).</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One command splits the whole stack in half - divide and conquer as a habit.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transition spd="fast" advClick="1">
    <p:fade/>
  </p:transition>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5.1-5.5 · SYNTHESIS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Symptom Sprint: Name the Likely Cause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Small pings OK, downloads stall</a:t>
            </a:r>
          </a:p>
          <a:p>
            <a:pPr algn="l">
              <a:spcAft>
                <a:spcPts val="300"/>
              </a:spcAft>
            </a:pPr>
            <a:r>
              <a:rPr sz="1200" b="0">
                <a:solidFill>
                  <a:srgbClr val="5B6372"/>
                </a:solidFill>
                <a:latin typeface="Arial"/>
              </a:rPr>
              <a:t>MTU / PMTUD black hole - run the DF-bit ping test, then clamp MSS (Lab 33).</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169.254.x.x on new laptops</a:t>
            </a:r>
          </a:p>
          <a:p>
            <a:pPr algn="l">
              <a:spcAft>
                <a:spcPts val="300"/>
              </a:spcAft>
            </a:pPr>
            <a:r>
              <a:rPr sz="1200" b="0">
                <a:solidFill>
                  <a:srgbClr val="5B6372"/>
                </a:solidFill>
                <a:latin typeface="Arial"/>
              </a:rPr>
              <a:t>DHCP exhausted or unreachable - check scope statistics and the lease table (Lab 34).</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Works by IP, not by name</a:t>
            </a:r>
          </a:p>
          <a:p>
            <a:pPr algn="l">
              <a:spcAft>
                <a:spcPts val="300"/>
              </a:spcAft>
            </a:pPr>
            <a:r>
              <a:rPr sz="1200" b="0">
                <a:solidFill>
                  <a:srgbClr val="5B6372"/>
                </a:solidFill>
                <a:latin typeface="Arial"/>
              </a:rPr>
              <a:t>DNS - compare resolvers with dig, flush the cache (Lab 30).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LED flashing, LAN dead</a:t>
            </a:r>
          </a:p>
          <a:p>
            <a:pPr algn="l">
              <a:spcAft>
                <a:spcPts val="300"/>
              </a:spcAft>
            </a:pPr>
            <a:r>
              <a:rPr sz="1200" b="0">
                <a:solidFill>
                  <a:srgbClr val="5B6372"/>
                </a:solidFill>
                <a:latin typeface="Arial"/>
              </a:rPr>
              <a:t>Switching loop / broadcast storm - find the new cable, enable BPDU guard (Lab 31).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user flip-flops on/off</a:t>
            </a:r>
          </a:p>
          <a:p>
            <a:pPr algn="l">
              <a:spcAft>
                <a:spcPts val="300"/>
              </a:spcAft>
            </a:pPr>
            <a:r>
              <a:rPr sz="1200" b="0">
                <a:solidFill>
                  <a:srgbClr val="5B6372"/>
                </a:solidFill>
                <a:latin typeface="Arial"/>
              </a:rPr>
              <a:t>Duplicate IP - arping -D, then hunt the MAC (Lab 31).</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Local fine, remote all dead</a:t>
            </a:r>
          </a:p>
          <a:p>
            <a:pPr algn="l">
              <a:spcAft>
                <a:spcPts val="300"/>
              </a:spcAft>
            </a:pPr>
            <a:r>
              <a:rPr sz="1200" b="0">
                <a:solidFill>
                  <a:srgbClr val="5B6372"/>
                </a:solidFill>
                <a:latin typeface="Arial"/>
              </a:rPr>
              <a:t>Default gateway wrong or down - ping the gateway, check ip route (Lab 34).</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transition spd="fast" advClick="1">
    <p:fade/>
  </p:transition>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5.1 · METHOD APPLIED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'The Website Is 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all users, one site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 ladder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DNS? path? TLS? app?</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in layers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mtr, nc, curl</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 or escalate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evidence attached</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 document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timings in ticket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Lab 36 runs exactly this triage - each tool eliminates a layer, so the escalation names the failing layer instead of guessing.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Service Reachability Triage with curl, nc and openssl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Isolate a 'site is down' report to TCP, TLS, HTTP or the app using nc, openssl and curl.</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Walk the layered triage: prove the TCP handshake with nc -zv, validate the certificate chain with openssl s_client, read HTTP status codes with curl -v, then break one request into DNS/TCP/TLS/TTFB timings.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layer-by-layer triage of example.com:443 with a timing breakdown that names the slow phase.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netcat-openbsd, openssl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nc reports succeeded, openssl shows Verify return code: 0 (ok), curl returns HTTP 200, and the -w timings identify the slowest phase of the request.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transition spd="fast" advClick="1">
    <p:fade/>
  </p:transition>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triage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L6</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Check subject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L7</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curl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the decision tree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Isolate a 'site is down' report to TCP, TLS, HTTP or the app using nc, openssl and curl.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Service Reachability Triage with curl, nc and openssl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nc reports succeeded, openssl shows Verify return code: 0 (ok), curl returns HTTP 200, and the -w timings identify the slowest phase of the request.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nc hangs then times out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 TCP path - fall back to Lab 29 tools: check DNS, then mtr the host, then firewalls.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Verify return code is non-zero</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Expired or untrusted certificate, or SNI mismatch - re-run with the right -servername.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HTTP 502/503/504</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TCP and TLS are fine - the fault is the app or its upstream; escalate with your evidence.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transition spd="fast" advClick="1">
    <p:fade/>
  </p:transition>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Troubleshooter's CLI, One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Tool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question it answers</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ping / mtr</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L3</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Is it reachable? Where is the loss?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traceroute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L3</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Which hops does the path take?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ip / arp / ip neigh</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L2-L3</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Addressing, routes, MAC neighbours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dig / nslookup</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L7</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does DNS actually answer?</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ss / netstat / nmap</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L4</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is listening or open?</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tcpdump / Wireshark</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L1-L7</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is REALLY on the wire?</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nmap scans REMOTE ports; ss lists LOCAL sockets - know which side each tool sees.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transition spd="fast" advClick="1">
    <p:fade/>
  </p:transition>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Hardware Kit, One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tester</a:t>
            </a:r>
          </a:p>
          <a:p>
            <a:pPr algn="l">
              <a:spcAft>
                <a:spcPts val="300"/>
              </a:spcAft>
            </a:pPr>
            <a:r>
              <a:rPr sz="1200" b="0">
                <a:solidFill>
                  <a:srgbClr val="5B6372"/>
                </a:solidFill>
                <a:latin typeface="Arial"/>
              </a:rPr>
              <a:t>First tool on any drop: wiremap and continuity catch opens, shorts and miswires before anything else runs.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Toner and probe</a:t>
            </a:r>
          </a:p>
          <a:p>
            <a:pPr algn="l">
              <a:spcAft>
                <a:spcPts val="300"/>
              </a:spcAft>
            </a:pPr>
            <a:r>
              <a:rPr sz="1200" b="0">
                <a:solidFill>
                  <a:srgbClr val="5B6372"/>
                </a:solidFill>
                <a:latin typeface="Arial"/>
              </a:rPr>
              <a:t>The Fox &amp; Hound pair traces which patch-panel port or wall run a cable serves - no more label archaeology.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TDR / OTDR</a:t>
            </a:r>
          </a:p>
          <a:p>
            <a:pPr algn="l">
              <a:spcAft>
                <a:spcPts val="300"/>
              </a:spcAft>
            </a:pPr>
            <a:r>
              <a:rPr sz="1200" b="0">
                <a:solidFill>
                  <a:srgbClr val="5B6372"/>
                </a:solidFill>
                <a:latin typeface="Arial"/>
              </a:rPr>
              <a:t>Reports the distance to a break or bad splice on copper (TDR) or fibre (OTDR) - open the right ceiling tile.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plug</a:t>
            </a:r>
          </a:p>
          <a:p>
            <a:pPr algn="l">
              <a:spcAft>
                <a:spcPts val="300"/>
              </a:spcAft>
            </a:pPr>
            <a:r>
              <a:rPr sz="1200" b="0">
                <a:solidFill>
                  <a:srgbClr val="5B6372"/>
                </a:solidFill>
                <a:latin typeface="Arial"/>
              </a:rPr>
              <a:t>Loops TX to RX so a NIC or switch port proves itself with no far end involved.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Optical power meter</a:t>
            </a:r>
          </a:p>
          <a:p>
            <a:pPr algn="l">
              <a:spcAft>
                <a:spcPts val="300"/>
              </a:spcAft>
            </a:pPr>
            <a:r>
              <a:rPr sz="1200" b="0">
                <a:solidFill>
                  <a:srgbClr val="5B6372"/>
                </a:solidFill>
                <a:latin typeface="Arial"/>
              </a:rPr>
              <a:t>Reads received light in dBm against the link budget - the number that convicts dirty or bent fibre.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Wi-Fi analyzer</a:t>
            </a:r>
          </a:p>
          <a:p>
            <a:pPr algn="l">
              <a:spcAft>
                <a:spcPts val="300"/>
              </a:spcAft>
            </a:pPr>
            <a:r>
              <a:rPr sz="1200" b="0">
                <a:solidFill>
                  <a:srgbClr val="5B6372"/>
                </a:solidFill>
                <a:latin typeface="Arial"/>
              </a:rPr>
              <a:t>Surveys SSIDs, channels and signal strength so channel and AP-placement decisions rest on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transition spd="fast" advClick="1">
    <p:fade/>
  </p:transition>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5 · 24% OF THE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5 Exam Technique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Know the 7 steps by NUMBER</a:t>
            </a:r>
          </a:p>
          <a:p>
            <a:pPr algn="l">
              <a:spcAft>
                <a:spcPts val="300"/>
              </a:spcAft>
            </a:pPr>
            <a:r>
              <a:rPr sz="1200" b="0">
                <a:solidFill>
                  <a:srgbClr val="5B6372"/>
                </a:solidFill>
                <a:latin typeface="Arial"/>
              </a:rPr>
              <a:t>Questions quote a scenario and ask 'what is the NEXT step?' - the order itself is tested.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 the symptom's layer</a:t>
            </a:r>
          </a:p>
          <a:p>
            <a:pPr algn="l">
              <a:spcAft>
                <a:spcPts val="300"/>
              </a:spcAft>
            </a:pPr>
            <a:r>
              <a:rPr sz="1200" b="0">
                <a:solidFill>
                  <a:srgbClr val="5B6372"/>
                </a:solidFill>
                <a:latin typeface="Arial"/>
              </a:rPr>
              <a:t>Every scenario hides a layer clue: link light (L1), VLAN (L2), gateway (L3), port (L4), URL (L7).</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changed?' wins often</a:t>
            </a:r>
          </a:p>
          <a:p>
            <a:pPr algn="l">
              <a:spcAft>
                <a:spcPts val="300"/>
              </a:spcAft>
            </a:pPr>
            <a:r>
              <a:rPr sz="1200" b="0">
                <a:solidFill>
                  <a:srgbClr val="5B6372"/>
                </a:solidFill>
                <a:latin typeface="Arial"/>
              </a:rPr>
              <a:t>When a scenario mentions any recent change, the answer almost always flows from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Eliminate by scope</a:t>
            </a:r>
          </a:p>
          <a:p>
            <a:pPr algn="l">
              <a:spcAft>
                <a:spcPts val="300"/>
              </a:spcAft>
            </a:pPr>
            <a:r>
              <a:rPr sz="1200" b="0">
                <a:solidFill>
                  <a:srgbClr val="5B6372"/>
                </a:solidFill>
                <a:latin typeface="Arial"/>
              </a:rPr>
              <a:t>One user vs many, one app vs all - scope eliminates half the answer options immediately.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Match tool to question</a:t>
            </a:r>
          </a:p>
          <a:p>
            <a:pPr algn="l">
              <a:spcAft>
                <a:spcPts val="300"/>
              </a:spcAft>
            </a:pPr>
            <a:r>
              <a:rPr sz="1200" b="0">
                <a:solidFill>
                  <a:srgbClr val="5B6372"/>
                </a:solidFill>
                <a:latin typeface="Arial"/>
              </a:rPr>
              <a:t>Tool-selection questions abound: know what each CLI and hardware tool uniquely proves.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 is a real answer</a:t>
            </a:r>
          </a:p>
          <a:p>
            <a:pPr algn="l">
              <a:spcAft>
                <a:spcPts val="300"/>
              </a:spcAft>
            </a:pPr>
            <a:r>
              <a:rPr sz="1200" b="0">
                <a:solidFill>
                  <a:srgbClr val="5B6372"/>
                </a:solidFill>
                <a:latin typeface="Arial"/>
              </a:rPr>
              <a:t>After 'verify functionality', 'document findings' IS the correct next action - don't skip it for sounding dull.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transition spd="fast" advClick="1">
    <p:fade/>
  </p:transition>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5 · WRAP-UP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Don't guess.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Troubleshooting is the discipline of shrinking the possibility space with every test - the seven steps make it repeatable, the tools make it fast, the documentation makes it stick.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transition spd="fast" advClick="1">
    <p:fade/>
  </p:transition>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5.0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Diagnose cable and interface faults from link state, speed/duplex and error counters.</a:t>
            </a:r>
          </a:p>
          <a:p>
            <a:pPr>
              <a:spcAft>
                <a:spcPts val="1000"/>
              </a:spcAft>
            </a:pPr>
            <a:r>
              <a:rPr sz="1600" b="0">
                <a:solidFill>
                  <a:srgbClr val="161B26"/>
                </a:solidFill>
                <a:latin typeface="Arial"/>
              </a:rPr>
              <a:t>•  You can now: Localise latency and packet loss along a network path with ping, traceroute and mtr.</a:t>
            </a:r>
          </a:p>
          <a:p>
            <a:pPr>
              <a:spcAft>
                <a:spcPts val="1000"/>
              </a:spcAft>
            </a:pPr>
            <a:r>
              <a:rPr sz="1600" b="0">
                <a:solidFill>
                  <a:srgbClr val="161B26"/>
                </a:solidFill>
                <a:latin typeface="Arial"/>
              </a:rPr>
              <a:t>•  You can now: Isolate DNS faults by comparing resolvers, tracing delegation and reading response codes.</a:t>
            </a:r>
          </a:p>
          <a:p>
            <a:pPr>
              <a:spcAft>
                <a:spcPts val="1000"/>
              </a:spcAft>
            </a:pPr>
            <a:r>
              <a:rPr sz="1600" b="0">
                <a:solidFill>
                  <a:srgbClr val="161B26"/>
                </a:solidFill>
                <a:latin typeface="Arial"/>
              </a:rPr>
              <a:t>•  You can now: Diagnose L2 adjacency problems with ip neigh and arping, including duplicate IP detection.</a:t>
            </a:r>
          </a:p>
          <a:p>
            <a:pPr>
              <a:spcAft>
                <a:spcPts val="1000"/>
              </a:spcAft>
            </a:pPr>
            <a:r>
              <a:rPr sz="1600" b="0">
                <a:solidFill>
                  <a:srgbClr val="161B26"/>
                </a:solidFill>
                <a:latin typeface="Arial"/>
              </a:rPr>
              <a:t>•  You can now: Capture DNS traffic to a .pcap and analyse it with tshark and the TIS PCAP Analyzer.</a:t>
            </a:r>
          </a:p>
          <a:p>
            <a:pPr>
              <a:spcAft>
                <a:spcPts val="1000"/>
              </a:spcAft>
            </a:pPr>
            <a:r>
              <a:rPr sz="1600" b="0">
                <a:solidFill>
                  <a:srgbClr val="161B26"/>
                </a:solidFill>
                <a:latin typeface="Arial"/>
              </a:rPr>
              <a:t>•  You can now: Demonstrate MTU limits with DF-bit pings and explain PMTUD black holes and MSS clamping.</a:t>
            </a:r>
          </a:p>
          <a:p>
            <a:pPr>
              <a:spcAft>
                <a:spcPts val="1000"/>
              </a:spcAft>
            </a:pPr>
            <a:r>
              <a:rPr sz="1600" b="0">
                <a:solidFill>
                  <a:srgbClr val="161B26"/>
                </a:solidFill>
                <a:latin typeface="Arial"/>
              </a:rPr>
              <a:t>•  You can now: Read and manipulate the routing table; prove which route a destination uses with ip route 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transition spd="fast" advClick="1">
    <p:fade/>
  </p:transition>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transition spd="med" advClick="1">
    <p:push dir="l"/>
  </p:transition>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 · Explained networking concepts</a:t>
            </a:r>
          </a:p>
          <a:p>
            <a:pPr algn="l">
              <a:spcAft>
                <a:spcPts val="300"/>
              </a:spcAft>
            </a:pPr>
            <a:r>
              <a:rPr sz="1100" b="0">
                <a:solidFill>
                  <a:srgbClr val="5B6372"/>
                </a:solidFill>
                <a:latin typeface="Arial"/>
              </a:rPr>
              <a:t>OSI layers, appliances, cloud models, ports &amp; protocols, media, topologies and IPv4/IPv6 subnetting.</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 · Implemented networks</a:t>
            </a:r>
          </a:p>
          <a:p>
            <a:pPr algn="l">
              <a:spcAft>
                <a:spcPts val="300"/>
              </a:spcAft>
            </a:pPr>
            <a:r>
              <a:rPr sz="1100" b="0">
                <a:solidFill>
                  <a:srgbClr val="5B6372"/>
                </a:solidFill>
                <a:latin typeface="Arial"/>
              </a:rPr>
              <a:t>Static &amp; dynamic routing, NAT/PAT, 802.1Q VLANs, STP, bonding, wireless design and installations.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 · Operated networks</a:t>
            </a:r>
          </a:p>
          <a:p>
            <a:pPr algn="l">
              <a:spcAft>
                <a:spcPts val="300"/>
              </a:spcAft>
            </a:pPr>
            <a:r>
              <a:rPr sz="1100" b="0">
                <a:solidFill>
                  <a:srgbClr val="5B6372"/>
                </a:solidFill>
                <a:latin typeface="Arial"/>
              </a:rPr>
              <a:t>SNMP, NetFlow, syslog, NTP, DHCP/DNS services, configuration backup and disaster recovery.</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 · Secured networks</a:t>
            </a:r>
          </a:p>
          <a:p>
            <a:pPr algn="l">
              <a:spcAft>
                <a:spcPts val="300"/>
              </a:spcAft>
            </a:pPr>
            <a:r>
              <a:rPr sz="1100" b="0">
                <a:solidFill>
                  <a:srgbClr val="5B6372"/>
                </a:solidFill>
                <a:latin typeface="Arial"/>
              </a:rPr>
              <a:t>Firewalls, ACLs, IDS, TLS/PKI, SSH hardening, VPNs, segmentation and attack recognition.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 · Troubleshot networks</a:t>
            </a:r>
          </a:p>
          <a:p>
            <a:pPr algn="l">
              <a:spcAft>
                <a:spcPts val="300"/>
              </a:spcAft>
            </a:pPr>
            <a:r>
              <a:rPr sz="1100" b="0">
                <a:solidFill>
                  <a:srgbClr val="5B6372"/>
                </a:solidFill>
                <a:latin typeface="Arial"/>
              </a:rPr>
              <a:t>The seven-step CompTIA methodology with the right diagnostic tool at every layer.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transition spd="fast" advClick="1">
    <p:fade/>
  </p:transition>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Preparing for the N10-009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Redo the labs</a:t>
            </a:r>
          </a:p>
          <a:p>
            <a:pPr algn="l">
              <a:spcAft>
                <a:spcPts val="300"/>
              </a:spcAft>
            </a:pPr>
            <a:r>
              <a:rPr sz="1100" b="0">
                <a:solidFill>
                  <a:srgbClr val="5B6372"/>
                </a:solidFill>
                <a:latin typeface="Arial"/>
              </a:rPr>
              <a:t>Repeat every lab from memory until the commands and workflow are automatic.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Master subnetting</a:t>
            </a:r>
          </a:p>
          <a:p>
            <a:pPr algn="l">
              <a:spcAft>
                <a:spcPts val="300"/>
              </a:spcAft>
            </a:pPr>
            <a:r>
              <a:rPr sz="1100" b="0">
                <a:solidFill>
                  <a:srgbClr val="5B6372"/>
                </a:solidFill>
                <a:latin typeface="Arial"/>
              </a:rPr>
              <a:t>Drill CIDR/VLSM until a /26 split takes under a minute — use the TIS IP Calculator to self-check.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Memorise the ports</a:t>
            </a:r>
          </a:p>
          <a:p>
            <a:pPr algn="l">
              <a:spcAft>
                <a:spcPts val="300"/>
              </a:spcAft>
            </a:pPr>
            <a:r>
              <a:rPr sz="1100" b="0">
                <a:solidFill>
                  <a:srgbClr val="5B6372"/>
                </a:solidFill>
                <a:latin typeface="Arial"/>
              </a:rPr>
              <a:t>FTP 20/21, SSH 22, Telnet 23, SMTP 25, DNS 53, DHCP 67/68, HTTP 80, HTTPS 443, SNMP 161/162, LDAP 389, RDP 3389, SIP 5060/5061.</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 the blueprint</a:t>
            </a:r>
          </a:p>
          <a:p>
            <a:pPr algn="l">
              <a:spcAft>
                <a:spcPts val="300"/>
              </a:spcAft>
            </a:pPr>
            <a:r>
              <a:rPr sz="1100" b="0">
                <a:solidFill>
                  <a:srgbClr val="5B6372"/>
                </a:solidFill>
                <a:latin typeface="Arial"/>
              </a:rPr>
              <a:t>Revise by the five domains and their weightings — troubleshooting scenarios are the largest share.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Practice exams</a:t>
            </a:r>
          </a:p>
          <a:p>
            <a:pPr algn="l">
              <a:spcAft>
                <a:spcPts val="300"/>
              </a:spcAft>
            </a:pPr>
            <a:r>
              <a:rPr sz="1100" b="0">
                <a:solidFill>
                  <a:srgbClr val="5B6372"/>
                </a:solidFill>
                <a:latin typeface="Arial"/>
              </a:rPr>
              <a:t>Attempt timed practice exams and review every wrong answer against the objectives.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Book the exam</a:t>
            </a:r>
          </a:p>
          <a:p>
            <a:pPr algn="l">
              <a:spcAft>
                <a:spcPts val="300"/>
              </a:spcAft>
            </a:pPr>
            <a:r>
              <a:rPr sz="1100" b="0">
                <a:solidFill>
                  <a:srgbClr val="5B6372"/>
                </a:solidFill>
                <a:latin typeface="Arial"/>
              </a:rPr>
              <a:t>Schedule N10-009 at a Pearson VUE centre or online when practice scores pass 80%.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transition spd="fast" advClick="1">
    <p:fade/>
  </p:transition>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TEST YOURSELF BEFORE THE REAL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exams.tertiaryinfotech.com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 · Open the portal</a:t>
            </a:r>
          </a:p>
          <a:p>
            <a:pPr algn="l">
              <a:spcAft>
                <a:spcPts val="300"/>
              </a:spcAft>
            </a:pPr>
            <a:r>
              <a:rPr sz="1200" b="0">
                <a:solidFill>
                  <a:srgbClr val="5B6372"/>
                </a:solidFill>
                <a:latin typeface="Arial"/>
              </a:rPr>
              <a:t>Go to https://exams.tertiaryinfotech.com/practice-exams/comptia/comptia-network-plus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2 · Choose Network+</a:t>
            </a:r>
          </a:p>
          <a:p>
            <a:pPr algn="l">
              <a:spcAft>
                <a:spcPts val="300"/>
              </a:spcAft>
            </a:pPr>
            <a:r>
              <a:rPr sz="1200" b="0">
                <a:solidFill>
                  <a:srgbClr val="5B6372"/>
                </a:solidFill>
                <a:latin typeface="Arial"/>
              </a:rPr>
              <a:t>Select the CompTIA Network+ practice exam that matches this course.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 · Sit it timed</a:t>
            </a:r>
          </a:p>
          <a:p>
            <a:pPr algn="l">
              <a:spcAft>
                <a:spcPts val="300"/>
              </a:spcAft>
            </a:pPr>
            <a:r>
              <a:rPr sz="1200" b="0">
                <a:solidFill>
                  <a:srgbClr val="5B6372"/>
                </a:solidFill>
                <a:latin typeface="Arial"/>
              </a:rPr>
              <a:t>Attempt the full paper under exam timing — 90 minutes, no notes.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4 · Review and repeat</a:t>
            </a:r>
          </a:p>
          <a:p>
            <a:pPr algn="l">
              <a:spcAft>
                <a:spcPts val="300"/>
              </a:spcAft>
            </a:pPr>
            <a:r>
              <a:rPr sz="1200" b="0">
                <a:solidFill>
                  <a:srgbClr val="5B6372"/>
                </a:solidFill>
                <a:latin typeface="Arial"/>
              </a:rPr>
              <a:t>Review every explanation, revisit the weak domain's labs, then re-take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transition spd="fast" advClick="1">
    <p:fade/>
  </p:transition>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Security+ Training</a:t>
            </a:r>
          </a:p>
          <a:p>
            <a:pPr algn="l">
              <a:spcAft>
                <a:spcPts val="300"/>
              </a:spcAft>
            </a:pPr>
            <a:r>
              <a:rPr sz="13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PenTest+ Training</a:t>
            </a:r>
          </a:p>
          <a:p>
            <a:pPr algn="l">
              <a:spcAft>
                <a:spcPts val="300"/>
              </a:spcAft>
            </a:pPr>
            <a:r>
              <a:rPr sz="13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CySA+ Cybersecurity Analyst Training</a:t>
            </a:r>
          </a:p>
          <a:p>
            <a:pPr algn="l">
              <a:spcAft>
                <a:spcPts val="300"/>
              </a:spcAft>
            </a:pPr>
            <a:r>
              <a:rPr sz="13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Linux+ Training</a:t>
            </a:r>
          </a:p>
          <a:p>
            <a:pPr algn="l">
              <a:spcAft>
                <a:spcPts val="300"/>
              </a:spcAft>
            </a:pPr>
            <a:r>
              <a:rPr sz="13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Cloud+ Training</a:t>
            </a:r>
          </a:p>
          <a:p>
            <a:pPr algn="l">
              <a:spcAft>
                <a:spcPts val="300"/>
              </a:spcAft>
            </a:pPr>
            <a:r>
              <a:rPr sz="13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transition spd="fast" advClick="1">
    <p:fade/>
  </p:transition>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transition spd="fast" advClick="1">
    <p:fade/>
  </p:transition>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1 hour · open book · short-answer knowledge questions.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90 minutes · open book · hands-on networking tasks on the lab environment.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transition spd="fast" advClick="1">
    <p:fade/>
  </p:transition>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60 + 90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transition spd="fast" advClick="1">
    <p:fade/>
  </p:transition>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NETWORKING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implement, operate, secure and troubleshoot modern networks — and you are ready for the CompTIA Network+ (N10-009)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