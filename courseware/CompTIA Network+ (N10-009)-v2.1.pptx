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779" r:id="rId530"/>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Exam weighting (%)</c:v>
                </c:pt>
              </c:strCache>
            </c:strRef>
          </c:tx>
          <c:spPr>
            <a:solidFill>
              <a:srgbClr val="1F6FEB"/>
            </a:solidFill>
          </c:spPr>
          <c:cat>
            <c:strRef>
              <c:f>Sheet1!$A$2:$A$6</c:f>
              <c:strCache>
                <c:ptCount val="5"/>
                <c:pt idx="0">
                  <c:v>Networking Concepts</c:v>
                </c:pt>
                <c:pt idx="1">
                  <c:v>Network Implementation</c:v>
                </c:pt>
                <c:pt idx="2">
                  <c:v>Network Operations</c:v>
                </c:pt>
                <c:pt idx="3">
                  <c:v>Network Security</c:v>
                </c:pt>
                <c:pt idx="4">
                  <c:v>Network Troubleshooting</c:v>
                </c:pt>
              </c:strCache>
            </c:strRef>
          </c:cat>
          <c:val>
            <c:numRef>
              <c:f>Sheet1!$B$2:$B$6</c:f>
              <c:numCache>
                <c:formatCode>0"%"</c:formatCode>
                <c:ptCount val="5"/>
                <c:pt idx="0">
                  <c:v>23</c:v>
                </c:pt>
                <c:pt idx="1">
                  <c:v>20</c:v>
                </c:pt>
                <c:pt idx="2">
                  <c:v>19</c:v>
                </c:pt>
                <c:pt idx="3">
                  <c:v>14</c:v>
                </c:pt>
                <c:pt idx="4">
                  <c:v>24</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l"/>
        <c:majorTickMark val="out"/>
        <c:minorTickMark val="none"/>
        <c:tickLblPos val="nextTo"/>
        <c:crossAx val="2180972856"/>
        <c:crosses val="autoZero"/>
        <c:auto val="1"/>
        <c:lblAlgn val="ctr"/>
        <c:lblOffset val="100"/>
        <c:noMultiLvlLbl val="0"/>
      </c:catAx>
      <c:valAx>
        <c:axId val="2180972856"/>
        <c:scaling/>
        <c:delete val="0"/>
        <c:axPos val="b"/>
        <c:majorGridlines/>
        <c:majorTickMark val="out"/>
        <c:minorTickMark val="none"/>
        <c:tickLblPos val="nextTo"/>
        <c:crossAx val="2226939960"/>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Weight %</c:v>
                </c:pt>
              </c:strCache>
            </c:strRef>
          </c:tx>
          <c:spPr>
            <a:solidFill>
              <a:srgbClr val="1F6FEB"/>
            </a:solidFill>
          </c:spPr>
          <c:cat>
            <c:strRef>
              <c:f>Sheet1!$A$2:$A$6</c:f>
              <c:strCache>
                <c:ptCount val="5"/>
                <c:pt idx="0">
                  <c:v>1 Concepts</c:v>
                </c:pt>
                <c:pt idx="1">
                  <c:v>2 Implementation</c:v>
                </c:pt>
                <c:pt idx="2">
                  <c:v>3 Operations</c:v>
                </c:pt>
                <c:pt idx="3">
                  <c:v>4 Security</c:v>
                </c:pt>
                <c:pt idx="4">
                  <c:v>5 Troubleshooting</c:v>
                </c:pt>
              </c:strCache>
            </c:strRef>
          </c:cat>
          <c:val>
            <c:numRef>
              <c:f>Sheet1!$B$2:$B$6</c:f>
              <c:numCache>
                <c:formatCode>0</c:formatCode>
                <c:ptCount val="5"/>
                <c:pt idx="0">
                  <c:v>23</c:v>
                </c:pt>
                <c:pt idx="1">
                  <c:v>20</c:v>
                </c:pt>
                <c:pt idx="2">
                  <c:v>19</c:v>
                </c:pt>
                <c:pt idx="3">
                  <c:v>14</c:v>
                </c:pt>
                <c:pt idx="4">
                  <c:v>24</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b"/>
        <c:majorTickMark val="out"/>
        <c:minorTickMark val="none"/>
        <c:tickLblPos val="nextTo"/>
        <c:crossAx val="2180972856"/>
        <c:crosses val="autoZero"/>
        <c:auto val="1"/>
        <c:lblAlgn val="ctr"/>
        <c:lblOffset val="100"/>
        <c:noMultiLvlLbl val="0"/>
      </c:catAx>
      <c:valAx>
        <c:axId val="2180972856"/>
        <c:scaling/>
        <c:delete val="0"/>
        <c:axPos val="l"/>
        <c:majorGridlines/>
        <c:majorTickMark val="out"/>
        <c:minorTickMark val="none"/>
        <c:tickLblPos val="nextTo"/>
        <c:crossAx val="2226939960"/>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Max PHY rate (Mbps)</c:v>
                </c:pt>
              </c:strCache>
            </c:strRef>
          </c:tx>
          <c:spPr>
            <a:solidFill>
              <a:srgbClr val="1F6FEB"/>
            </a:solidFill>
          </c:spPr>
          <c:cat>
            <c:strRef>
              <c:f>Sheet1!$A$2:$A$6</c:f>
              <c:strCache>
                <c:ptCount val="5"/>
                <c:pt idx="0">
                  <c:v>802.11b</c:v>
                </c:pt>
                <c:pt idx="1">
                  <c:v>802.11a/g</c:v>
                </c:pt>
                <c:pt idx="2">
                  <c:v>802.11n</c:v>
                </c:pt>
                <c:pt idx="3">
                  <c:v>802.11ac</c:v>
                </c:pt>
                <c:pt idx="4">
                  <c:v>802.11ax</c:v>
                </c:pt>
              </c:strCache>
            </c:strRef>
          </c:cat>
          <c:val>
            <c:numRef>
              <c:f>Sheet1!$B$2:$B$6</c:f>
              <c:numCache>
                <c:formatCode>0</c:formatCode>
                <c:ptCount val="5"/>
                <c:pt idx="0">
                  <c:v>11</c:v>
                </c:pt>
                <c:pt idx="1">
                  <c:v>54</c:v>
                </c:pt>
                <c:pt idx="2">
                  <c:v>600</c:v>
                </c:pt>
                <c:pt idx="3">
                  <c:v>6933</c:v>
                </c:pt>
                <c:pt idx="4">
                  <c:v>9608</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b"/>
        <c:majorTickMark val="out"/>
        <c:minorTickMark val="none"/>
        <c:tickLblPos val="nextTo"/>
        <c:crossAx val="2180972856"/>
        <c:crosses val="autoZero"/>
        <c:auto val="1"/>
        <c:lblAlgn val="ctr"/>
        <c:lblOffset val="100"/>
        <c:noMultiLvlLbl val="0"/>
      </c:catAx>
      <c:valAx>
        <c:axId val="2180972856"/>
        <c:scaling/>
        <c:delete val="0"/>
        <c:axPos val="l"/>
        <c:majorGridlines/>
        <c:majorTickMark val="out"/>
        <c:minorTickMark val="none"/>
        <c:tickLblPos val="nextTo"/>
        <c:crossAx val="2226939960"/>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Downtime allowed, minutes/year</c:v>
                </c:pt>
              </c:strCache>
            </c:strRef>
          </c:tx>
          <c:spPr>
            <a:solidFill>
              <a:srgbClr val="1F6FEB"/>
            </a:solidFill>
          </c:spPr>
          <c:cat>
            <c:strRef>
              <c:f>Sheet1!$A$2:$A$5</c:f>
              <c:strCache>
                <c:ptCount val="4"/>
                <c:pt idx="0">
                  <c:v>99%</c:v>
                </c:pt>
                <c:pt idx="1">
                  <c:v>99.9%</c:v>
                </c:pt>
                <c:pt idx="2">
                  <c:v>99.99%</c:v>
                </c:pt>
                <c:pt idx="3">
                  <c:v>99.999%</c:v>
                </c:pt>
              </c:strCache>
            </c:strRef>
          </c:cat>
          <c:val>
            <c:numRef>
              <c:f>Sheet1!$B$2:$B$5</c:f>
              <c:numCache>
                <c:formatCode>0</c:formatCode>
                <c:ptCount val="4"/>
                <c:pt idx="0">
                  <c:v>5256</c:v>
                </c:pt>
                <c:pt idx="1">
                  <c:v>526</c:v>
                </c:pt>
                <c:pt idx="2">
                  <c:v>53</c:v>
                </c:pt>
                <c:pt idx="3">
                  <c:v>5</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b"/>
        <c:majorTickMark val="out"/>
        <c:minorTickMark val="none"/>
        <c:tickLblPos val="nextTo"/>
        <c:crossAx val="2180972856"/>
        <c:crosses val="autoZero"/>
        <c:auto val="1"/>
        <c:lblAlgn val="ctr"/>
        <c:lblOffset val="100"/>
        <c:noMultiLvlLbl val="0"/>
      </c:catAx>
      <c:valAx>
        <c:axId val="2180972856"/>
        <c:scaling/>
        <c:delete val="0"/>
        <c:axPos val="l"/>
        <c:majorGridlines/>
        <c:majorTickMark val="out"/>
        <c:minorTickMark val="none"/>
        <c:tickLblPos val="nextTo"/>
        <c:crossAx val="2226939960"/>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Relative TCP throughput (%)</c:v>
                </c:pt>
              </c:strCache>
            </c:strRef>
          </c:tx>
          <c:spPr>
            <a:solidFill>
              <a:srgbClr val="1F6FEB"/>
            </a:solidFill>
          </c:spPr>
          <c:cat>
            <c:strRef>
              <c:f>Sheet1!$A$2:$A$6</c:f>
              <c:strCache>
                <c:ptCount val="5"/>
                <c:pt idx="0">
                  <c:v>0%</c:v>
                </c:pt>
                <c:pt idx="1">
                  <c:v>0.5%</c:v>
                </c:pt>
                <c:pt idx="2">
                  <c:v>1%</c:v>
                </c:pt>
                <c:pt idx="3">
                  <c:v>2%</c:v>
                </c:pt>
                <c:pt idx="4">
                  <c:v>5%</c:v>
                </c:pt>
              </c:strCache>
            </c:strRef>
          </c:cat>
          <c:val>
            <c:numRef>
              <c:f>Sheet1!$B$2:$B$6</c:f>
              <c:numCache>
                <c:formatCode>0</c:formatCode>
                <c:ptCount val="5"/>
                <c:pt idx="0">
                  <c:v>100</c:v>
                </c:pt>
                <c:pt idx="1">
                  <c:v>62</c:v>
                </c:pt>
                <c:pt idx="2">
                  <c:v>45</c:v>
                </c:pt>
                <c:pt idx="3">
                  <c:v>28</c:v>
                </c:pt>
                <c:pt idx="4">
                  <c:v>11</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b"/>
        <c:majorTickMark val="out"/>
        <c:minorTickMark val="none"/>
        <c:tickLblPos val="nextTo"/>
        <c:crossAx val="2180972856"/>
        <c:crosses val="autoZero"/>
        <c:auto val="1"/>
        <c:lblAlgn val="ctr"/>
        <c:lblOffset val="100"/>
        <c:noMultiLvlLbl val="0"/>
      </c:catAx>
      <c:valAx>
        <c:axId val="2180972856"/>
        <c:scaling/>
        <c:delete val="0"/>
        <c:axPos val="l"/>
        <c:majorGridlines/>
        <c:majorTickMark val="out"/>
        <c:minorTickMark val="none"/>
        <c:tickLblPos val="nextTo"/>
        <c:crossAx val="2226939960"/>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Non-overlapping 20 MHz channels</c:v>
                </c:pt>
              </c:strCache>
            </c:strRef>
          </c:tx>
          <c:spPr>
            <a:solidFill>
              <a:srgbClr val="1F6FEB"/>
            </a:solidFill>
          </c:spPr>
          <c:cat>
            <c:strRef>
              <c:f>Sheet1!$A$2:$A$4</c:f>
              <c:strCache>
                <c:ptCount val="3"/>
                <c:pt idx="0">
                  <c:v>2.4 GHz</c:v>
                </c:pt>
                <c:pt idx="1">
                  <c:v>5 GHz</c:v>
                </c:pt>
                <c:pt idx="2">
                  <c:v>6 GHz</c:v>
                </c:pt>
              </c:strCache>
            </c:strRef>
          </c:cat>
          <c:val>
            <c:numRef>
              <c:f>Sheet1!$B$2:$B$4</c:f>
              <c:numCache>
                <c:formatCode>0</c:formatCode>
                <c:ptCount val="3"/>
                <c:pt idx="0">
                  <c:v>3</c:v>
                </c:pt>
                <c:pt idx="1">
                  <c:v>24</c:v>
                </c:pt>
                <c:pt idx="2">
                  <c:v>59</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b"/>
        <c:majorTickMark val="out"/>
        <c:minorTickMark val="none"/>
        <c:tickLblPos val="nextTo"/>
        <c:crossAx val="2180972856"/>
        <c:crosses val="autoZero"/>
        <c:auto val="1"/>
        <c:lblAlgn val="ctr"/>
        <c:lblOffset val="100"/>
        <c:noMultiLvlLbl val="0"/>
      </c:catAx>
      <c:valAx>
        <c:axId val="2180972856"/>
        <c:scaling/>
        <c:delete val="0"/>
        <c:axPos val="l"/>
        <c:majorGridlines/>
        <c:majorTickMark val="out"/>
        <c:minorTickMark val="none"/>
        <c:tickLblPos val="nextTo"/>
        <c:crossAx val="2226939960"/>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comptia-network-badge.png"/>
          <p:cNvPicPr>
            <a:picLocks noChangeAspect="1"/>
          </p:cNvPicPr>
          <p:nvPr/>
        </p:nvPicPr>
        <p:blipFill>
          <a:blip r:embed="rId3"/>
          <a:stretch>
            <a:fillRect/>
          </a:stretch>
        </p:blipFill>
        <p:spPr>
          <a:xfrm>
            <a:off x="9464040" y="548640"/>
            <a:ext cx="2011680" cy="1053737"/>
          </a:xfrm>
          <a:prstGeom prst="rect">
            <a:avLst/>
          </a:prstGeom>
        </p:spPr>
      </p:pic>
      <p:sp>
        <p:nvSpPr>
          <p:cNvPr id="7" name="TextBox 6"/>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8" name="TextBox 7"/>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CompTIA Certified Network+ Training (N10-009)</a:t>
            </a:r>
          </a:p>
        </p:txBody>
      </p:sp>
      <p:sp>
        <p:nvSpPr>
          <p:cNvPr id="9" name="Rectangle 8"/>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TGS-2023040479</a:t>
            </a:r>
          </a:p>
          <a:p>
            <a:pPr algn="l">
              <a:spcAft>
                <a:spcPts val="600"/>
              </a:spcAft>
            </a:pPr>
            <a:r>
              <a:rPr sz="1400" b="0">
                <a:solidFill>
                  <a:srgbClr val="5B6372"/>
                </a:solidFill>
                <a:latin typeface="Arial"/>
              </a:rPr>
              <a:t>Conducted by Tertiary Infotech Academy Pte Ltd  ·  UEN 201200696W</a:t>
            </a:r>
          </a:p>
        </p:txBody>
      </p:sp>
      <p:sp>
        <p:nvSpPr>
          <p:cNvPr id="11" name="TextBox 10"/>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v2.1  ·  19 August 2026</a:t>
            </a:r>
          </a:p>
        </p:txBody>
      </p:sp>
      <p:sp>
        <p:nvSpPr>
          <p:cNvPr id="12" name="TextBox 11"/>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Networking, cybersecurity, cloud infrastructure, data science and AI — 20+ years of training and consulting.</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CompTIA Network+, Security+, Linux+, cloud computing and applied AI.</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Your experience with networking, Linux or IT support (if any).</a:t>
            </a:r>
          </a:p>
          <a:p>
            <a:pPr>
              <a:spcAft>
                <a:spcPts val="1000"/>
              </a:spcAft>
            </a:pPr>
            <a:r>
              <a:rPr sz="2000" b="0">
                <a:solidFill>
                  <a:srgbClr val="161B26"/>
                </a:solidFill>
                <a:latin typeface="Arial"/>
              </a:rPr>
              <a:t>•  What network you manage or plan to build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pPr algn="l">
              <a:spcAft>
                <a:spcPts val="300"/>
              </a:spcAft>
            </a:pPr>
            <a:r>
              <a:rPr sz="1200" b="0">
                <a:solidFill>
                  <a:srgbClr val="5B6372"/>
                </a:solidFill>
                <a:latin typeface="Arial"/>
              </a:rPr>
              <a:t>Select 'CompTIA Certified Network+ Training' in My Courses.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Learner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labs</a:t>
            </a:r>
          </a:p>
          <a:p>
            <a:pPr algn="l">
              <a:spcAft>
                <a:spcPts val="300"/>
              </a:spcAft>
            </a:pPr>
            <a:r>
              <a:rPr sz="1200" b="0">
                <a:solidFill>
                  <a:srgbClr val="5B6372"/>
                </a:solidFill>
                <a:latin typeface="Arial"/>
              </a:rPr>
              <a:t>Open the lab repository on GitHub — the link is on the course page.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 AM – 6:30 PM DAILY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5 Days · 8 Hours a 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Day 1 · Networking Concepts</a:t>
            </a:r>
          </a:p>
          <a:p>
            <a:pPr algn="l">
              <a:spcAft>
                <a:spcPts val="300"/>
              </a:spcAft>
            </a:pPr>
            <a:r>
              <a:rPr sz="1100" b="0">
                <a:solidFill>
                  <a:srgbClr val="5B6372"/>
                </a:solidFill>
                <a:latin typeface="Arial"/>
              </a:rPr>
              <a:t>OSI model, appliances, cloud, ports &amp; protocols, media, topologies, IPv4/IPv6 · Labs 1–7.</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Day 2 · Network Implementation</a:t>
            </a:r>
          </a:p>
          <a:p>
            <a:pPr algn="l">
              <a:spcAft>
                <a:spcPts val="300"/>
              </a:spcAft>
            </a:pPr>
            <a:r>
              <a:rPr sz="1100" b="0">
                <a:solidFill>
                  <a:srgbClr val="5B6372"/>
                </a:solidFill>
                <a:latin typeface="Arial"/>
              </a:rPr>
              <a:t>Routing, NAT/PAT, VLANs &amp; trunking, STP, link aggregation, wireless, installations · Labs 8–14.</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Day 3 · Network Operations</a:t>
            </a:r>
          </a:p>
          <a:p>
            <a:pPr algn="l">
              <a:spcAft>
                <a:spcPts val="300"/>
              </a:spcAft>
            </a:pPr>
            <a:r>
              <a:rPr sz="1100" b="0">
                <a:solidFill>
                  <a:srgbClr val="5B6372"/>
                </a:solidFill>
                <a:latin typeface="Arial"/>
              </a:rPr>
              <a:t>Documentation, change &amp; configuration management, monitoring, DR, network services · Labs 15–20.</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Day 4 · Network Security</a:t>
            </a:r>
          </a:p>
          <a:p>
            <a:pPr algn="l">
              <a:spcAft>
                <a:spcPts val="300"/>
              </a:spcAft>
            </a:pPr>
            <a:r>
              <a:rPr sz="1100" b="0">
                <a:solidFill>
                  <a:srgbClr val="5B6372"/>
                </a:solidFill>
                <a:latin typeface="Arial"/>
              </a:rPr>
              <a:t>Encryption &amp; PKI, IAM/AAA, segmentation, attacks and defence features · Labs 21–27.</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Day 5 · Network Troubleshooting &amp; Assessment</a:t>
            </a:r>
          </a:p>
          <a:p>
            <a:pPr algn="l">
              <a:spcAft>
                <a:spcPts val="300"/>
              </a:spcAft>
            </a:pPr>
            <a:r>
              <a:rPr sz="1100" b="0">
                <a:solidFill>
                  <a:srgbClr val="5B6372"/>
                </a:solidFill>
                <a:latin typeface="Arial"/>
              </a:rPr>
              <a:t>Seven-step methodology, layer-by-layer diagnosis, performance · Labs 28–36 · Final Assessment (WA + PP).</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LO1 · Explain networking concepts</a:t>
            </a:r>
          </a:p>
          <a:p>
            <a:pPr algn="l">
              <a:spcAft>
                <a:spcPts val="300"/>
              </a:spcAft>
            </a:pPr>
            <a:r>
              <a:rPr sz="1100" b="0">
                <a:solidFill>
                  <a:srgbClr val="5B6372"/>
                </a:solidFill>
                <a:latin typeface="Arial"/>
              </a:rPr>
              <a:t>OSI model, appliances, cloud, ports &amp; protocols, traffic types, media, topologies and IP addressing.</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LO2 · Implement networks</a:t>
            </a:r>
          </a:p>
          <a:p>
            <a:pPr algn="l">
              <a:spcAft>
                <a:spcPts val="300"/>
              </a:spcAft>
            </a:pPr>
            <a:r>
              <a:rPr sz="1100" b="0">
                <a:solidFill>
                  <a:srgbClr val="5B6372"/>
                </a:solidFill>
                <a:latin typeface="Arial"/>
              </a:rPr>
              <a:t>Routing (BGP/EIGRP/OSPF), NAT/PAT, VLANs, STP, link aggregation, wireless and installations.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LO3 · Operate networks</a:t>
            </a:r>
          </a:p>
          <a:p>
            <a:pPr algn="l">
              <a:spcAft>
                <a:spcPts val="300"/>
              </a:spcAft>
            </a:pPr>
            <a:r>
              <a:rPr sz="1100" b="0">
                <a:solidFill>
                  <a:srgbClr val="5B6372"/>
                </a:solidFill>
                <a:latin typeface="Arial"/>
              </a:rPr>
              <a:t>Documentation, IPAM, change management, SNMP/flow/log monitoring, DR and network services.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LO4 · Secure networks</a:t>
            </a:r>
          </a:p>
          <a:p>
            <a:pPr algn="l">
              <a:spcAft>
                <a:spcPts val="300"/>
              </a:spcAft>
            </a:pPr>
            <a:r>
              <a:rPr sz="1100" b="0">
                <a:solidFill>
                  <a:srgbClr val="5B6372"/>
                </a:solidFill>
                <a:latin typeface="Arial"/>
              </a:rPr>
              <a:t>Encryption, PKI, IAM, AAA, segmentation, attack recognition and defence features.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LO5 · Troubleshoot networks</a:t>
            </a:r>
          </a:p>
          <a:p>
            <a:pPr algn="l">
              <a:spcAft>
                <a:spcPts val="300"/>
              </a:spcAft>
            </a:pPr>
            <a:r>
              <a:rPr sz="1100" b="0">
                <a:solidFill>
                  <a:srgbClr val="5B6372"/>
                </a:solidFill>
                <a:latin typeface="Arial"/>
              </a:rPr>
              <a:t>The CompTIA methodology applied with the right tool at every layer.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FIVE DOMAINS · 36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the Five N10-009 Domains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1.0 · Networking Concepts · 23%</a:t>
            </a:r>
          </a:p>
          <a:p>
            <a:pPr algn="l">
              <a:spcAft>
                <a:spcPts val="300"/>
              </a:spcAft>
            </a:pPr>
            <a:r>
              <a:rPr sz="1100" b="0">
                <a:solidFill>
                  <a:srgbClr val="5B6372"/>
                </a:solidFill>
                <a:latin typeface="Arial"/>
              </a:rPr>
              <a:t>OSI, appliances, cloud, ports &amp; protocols, traffic, media, topologies, IPv4 · Labs 1–7.</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2.0 · Network Implementation · 20%</a:t>
            </a:r>
          </a:p>
          <a:p>
            <a:pPr algn="l">
              <a:spcAft>
                <a:spcPts val="300"/>
              </a:spcAft>
            </a:pPr>
            <a:r>
              <a:rPr sz="1100" b="0">
                <a:solidFill>
                  <a:srgbClr val="5B6372"/>
                </a:solidFill>
                <a:latin typeface="Arial"/>
              </a:rPr>
              <a:t>Routing, switching, wireless and physical installations · Labs 8–14.</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3.0 · Network Operations · 19%</a:t>
            </a:r>
          </a:p>
          <a:p>
            <a:pPr algn="l">
              <a:spcAft>
                <a:spcPts val="300"/>
              </a:spcAft>
            </a:pPr>
            <a:r>
              <a:rPr sz="1100" b="0">
                <a:solidFill>
                  <a:srgbClr val="5B6372"/>
                </a:solidFill>
                <a:latin typeface="Arial"/>
              </a:rPr>
              <a:t>Documentation, life-cycle, change, monitoring, DR, services, access · Labs 15–20.</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4.0 · Network Security · 14%</a:t>
            </a:r>
          </a:p>
          <a:p>
            <a:pPr algn="l">
              <a:spcAft>
                <a:spcPts val="300"/>
              </a:spcAft>
            </a:pPr>
            <a:r>
              <a:rPr sz="1100" b="0">
                <a:solidFill>
                  <a:srgbClr val="5B6372"/>
                </a:solidFill>
                <a:latin typeface="Arial"/>
              </a:rPr>
              <a:t>Logical/physical security, attacks, segmentation and defence · Labs 21–27.</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5.0 · Network Troubleshooting · 24%</a:t>
            </a:r>
          </a:p>
          <a:p>
            <a:pPr algn="l">
              <a:spcAft>
                <a:spcPts val="300"/>
              </a:spcAft>
            </a:pPr>
            <a:r>
              <a:rPr sz="1100" b="0">
                <a:solidFill>
                  <a:srgbClr val="5B6372"/>
                </a:solidFill>
                <a:latin typeface="Arial"/>
              </a:rPr>
              <a:t>Methodology, cabling, services, performance, tools · Labs 28–36.</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KNOW THE BLUEPRINT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N10-009 Exam Weighting by Domain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Troubleshooting (24%) and Networking Concepts (23%) carry almost half the exam — the course spends Day 1 and Day 5 on them and every lab ends with a verify step.</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CERTIFICATION TARGET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CompTIA Network+ Exam (N10-009)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Format</a:t>
            </a:r>
          </a:p>
          <a:p>
            <a:pPr algn="l">
              <a:spcAft>
                <a:spcPts val="300"/>
              </a:spcAft>
            </a:pPr>
            <a:r>
              <a:rPr sz="1200" b="0">
                <a:solidFill>
                  <a:srgbClr val="5B6372"/>
                </a:solidFill>
                <a:latin typeface="Arial"/>
              </a:rPr>
              <a:t>Maximum of 90 questions — multiple-choice and performance-based — in 90 minutes.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Passing score</a:t>
            </a:r>
          </a:p>
          <a:p>
            <a:pPr algn="l">
              <a:spcAft>
                <a:spcPts val="300"/>
              </a:spcAft>
            </a:pPr>
            <a:r>
              <a:rPr sz="1200" b="0">
                <a:solidFill>
                  <a:srgbClr val="5B6372"/>
                </a:solidFill>
                <a:latin typeface="Arial"/>
              </a:rPr>
              <a:t>720 on a 100–900 scale. Book at Pearson VUE test centres or online proctoring.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 prerequisites</a:t>
            </a:r>
          </a:p>
          <a:p>
            <a:pPr algn="l">
              <a:spcAft>
                <a:spcPts val="300"/>
              </a:spcAft>
            </a:pPr>
            <a:r>
              <a:rPr sz="1200" b="0">
                <a:solidFill>
                  <a:srgbClr val="5B6372"/>
                </a:solidFill>
                <a:latin typeface="Arial"/>
              </a:rPr>
              <a:t>CompTIA recommends A+ and 9–12 months of networking experience, but neither is required.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Renewal</a:t>
            </a:r>
          </a:p>
          <a:p>
            <a:pPr algn="l">
              <a:spcAft>
                <a:spcPts val="300"/>
              </a:spcAft>
            </a:pPr>
            <a:r>
              <a:rPr sz="1200" b="0">
                <a:solidFill>
                  <a:srgbClr val="5B6372"/>
                </a:solidFill>
                <a:latin typeface="Arial"/>
              </a:rPr>
              <a:t>The certification is valid for 3 years and renews through CompTIA CE credits.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FREE TOOLS USED THROUGHOUT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Lab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Killercoda Ubuntu Playground</a:t>
            </a:r>
          </a:p>
          <a:p>
            <a:pPr algn="l">
              <a:spcAft>
                <a:spcPts val="300"/>
              </a:spcAft>
            </a:pPr>
            <a:r>
              <a:rPr sz="1100" b="0">
                <a:solidFill>
                  <a:srgbClr val="5B6372"/>
                </a:solidFill>
                <a:latin typeface="Arial"/>
              </a:rPr>
              <a:t>A free, throwaway Ubuntu VM in your browser — every Linux lab runs here. https://killercoda.com/playgrounds/scenario/ubuntu</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TIS IP Calculator</a:t>
            </a:r>
          </a:p>
          <a:p>
            <a:pPr algn="l">
              <a:spcAft>
                <a:spcPts val="300"/>
              </a:spcAft>
            </a:pPr>
            <a:r>
              <a:rPr sz="1100" b="0">
                <a:solidFill>
                  <a:srgbClr val="5B6372"/>
                </a:solidFill>
                <a:latin typeface="Arial"/>
              </a:rPr>
              <a:t>Web subnetting tool for CIDR/VLSM planning and verification. https://alfredang.github.io/ipcalculator/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TIS PCAP Analyzer</a:t>
            </a:r>
          </a:p>
          <a:p>
            <a:pPr algn="l">
              <a:spcAft>
                <a:spcPts val="300"/>
              </a:spcAft>
            </a:pPr>
            <a:r>
              <a:rPr sz="1100" b="0">
                <a:solidFill>
                  <a:srgbClr val="5B6372"/>
                </a:solidFill>
                <a:latin typeface="Arial"/>
              </a:rPr>
              <a:t>Upload and dissect packet captures layer by layer in the browser. https://alfredang.github.io/pcapanalyzer/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TIS Cybersecurity Simulator</a:t>
            </a:r>
          </a:p>
          <a:p>
            <a:pPr algn="l">
              <a:spcAft>
                <a:spcPts val="300"/>
              </a:spcAft>
            </a:pPr>
            <a:r>
              <a:rPr sz="1100" b="0">
                <a:solidFill>
                  <a:srgbClr val="5B6372"/>
                </a:solidFill>
                <a:latin typeface="Arial"/>
              </a:rPr>
              <a:t>Practise recognising network attacks in a safe simulated environment. https://alfredang.github.io/cybersecuritysimulator/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TIS Regex Generator</a:t>
            </a:r>
          </a:p>
          <a:p>
            <a:pPr algn="l">
              <a:spcAft>
                <a:spcPts val="300"/>
              </a:spcAft>
            </a:pPr>
            <a:r>
              <a:rPr sz="1100" b="0">
                <a:solidFill>
                  <a:srgbClr val="5B6372"/>
                </a:solidFill>
                <a:latin typeface="Arial"/>
              </a:rPr>
              <a:t>Build the regular expressions used to search and filter log files. https://alfredang.github.io/regexgenerator/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installs needed</a:t>
            </a:r>
          </a:p>
          <a:p>
            <a:pPr algn="l">
              <a:spcAft>
                <a:spcPts val="300"/>
              </a:spcAft>
            </a:pPr>
            <a:r>
              <a:rPr sz="1100" b="0">
                <a:solidFill>
                  <a:srgbClr val="5B6372"/>
                </a:solidFill>
                <a:latin typeface="Arial"/>
              </a:rPr>
              <a:t>Everything is browser-based; packages are pulled with apt inside the playground VM.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EVERY LAB IS A FOLDER, NOT ONE FILE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Ships With Every Lab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README.md</a:t>
            </a:r>
          </a:p>
          <a:p>
            <a:pPr algn="l">
              <a:spcAft>
                <a:spcPts val="300"/>
              </a:spcAft>
            </a:pPr>
            <a:r>
              <a:rPr sz="1100" b="0">
                <a:solidFill>
                  <a:srgbClr val="5B6372"/>
                </a:solidFill>
                <a:latin typeface="Arial"/>
              </a:rPr>
              <a:t>The lab itself — the concept, every command, the verify step and troubleshooting.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checklist.md</a:t>
            </a:r>
          </a:p>
          <a:p>
            <a:pPr algn="l">
              <a:spcAft>
                <a:spcPts val="300"/>
              </a:spcAft>
            </a:pPr>
            <a:r>
              <a:rPr sz="1100" b="0">
                <a:solidFill>
                  <a:srgbClr val="5B6372"/>
                </a:solidFill>
                <a:latin typeface="Arial"/>
              </a:rPr>
              <a:t>A tick-box list of what you must achieve — use it to self-check before moving 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setup.sh / run.sh</a:t>
            </a:r>
          </a:p>
          <a:p>
            <a:pPr algn="l">
              <a:spcAft>
                <a:spcPts val="300"/>
              </a:spcAft>
            </a:pPr>
            <a:r>
              <a:rPr sz="1100" b="0">
                <a:solidFill>
                  <a:srgbClr val="5B6372"/>
                </a:solidFill>
                <a:latin typeface="Arial"/>
              </a:rPr>
              <a:t>The prep and the command sequence, so a long lab is not retyped by hand.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verify.sh / cleanup.sh</a:t>
            </a:r>
          </a:p>
          <a:p>
            <a:pPr algn="l">
              <a:spcAft>
                <a:spcPts val="300"/>
              </a:spcAft>
            </a:pPr>
            <a:r>
              <a:rPr sz="1100" b="0">
                <a:solidFill>
                  <a:srgbClr val="5B6372"/>
                </a:solidFill>
                <a:latin typeface="Arial"/>
              </a:rPr>
              <a:t>Prove the lab worked, then restore the box so the next lab starts clean.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Config files</a:t>
            </a:r>
          </a:p>
          <a:p>
            <a:pPr algn="l">
              <a:spcAft>
                <a:spcPts val="300"/>
              </a:spcAft>
            </a:pPr>
            <a:r>
              <a:rPr sz="1100" b="0">
                <a:solidFill>
                  <a:srgbClr val="5B6372"/>
                </a:solidFill>
                <a:latin typeface="Arial"/>
              </a:rPr>
              <a:t>Real service configs (dhcpd.conf, zone files, wg0.conf, rules) — copy them into place.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data/*.csv</a:t>
            </a:r>
          </a:p>
          <a:p>
            <a:pPr algn="l">
              <a:spcAft>
                <a:spcPts val="300"/>
              </a:spcAft>
            </a:pPr>
            <a:r>
              <a:rPr sz="1100" b="0">
                <a:solidFill>
                  <a:srgbClr val="5B6372"/>
                </a:solidFill>
                <a:latin typeface="Arial"/>
              </a:rPr>
              <a:t>Subnet plans, port lists, log samples and baseline sheets to work from and fill in.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 · DAY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open book. Tests the underpinning networking knowledge.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Hands-on networking tasks · 90 minutes · open book. Tests the ability you built in the 36 labs.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60 + 90 min</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Summary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1.0  ·  23%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Networking Concepts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OSI model · appliances · cloud · ports &amp; protocols · traffic types · media · transceivers &amp; connectors · topologies · IPv4 addressing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advClick="1">
    <p:push dir="l"/>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Networking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1–3</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OSI Model Packet Inspection</a:t>
            </a:r>
          </a:p>
          <a:p>
            <a:pPr>
              <a:spcAft>
                <a:spcPts val="900"/>
              </a:spcAft>
            </a:pPr>
            <a:r>
              <a:rPr sz="1400" b="0">
                <a:solidFill>
                  <a:srgbClr val="161B26"/>
                </a:solidFill>
                <a:latin typeface="Arial"/>
              </a:rPr>
              <a:t>•  IPv4 Subnetting and CIDR</a:t>
            </a:r>
          </a:p>
          <a:p>
            <a:pPr>
              <a:spcAft>
                <a:spcPts val="900"/>
              </a:spcAft>
            </a:pPr>
            <a:r>
              <a:rPr sz="1400" b="0">
                <a:solidFill>
                  <a:srgbClr val="161B26"/>
                </a:solidFill>
                <a:latin typeface="Arial"/>
              </a:rPr>
              <a:t>•  IPv6 Addressing and Link-Local</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4–6</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Common Ports and Protocols</a:t>
            </a:r>
          </a:p>
          <a:p>
            <a:pPr>
              <a:spcAft>
                <a:spcPts val="900"/>
              </a:spcAft>
            </a:pPr>
            <a:r>
              <a:rPr sz="1400" b="0">
                <a:solidFill>
                  <a:srgbClr val="161B26"/>
                </a:solidFill>
                <a:latin typeface="Arial"/>
              </a:rPr>
              <a:t>•  DNS Record Types</a:t>
            </a:r>
          </a:p>
          <a:p>
            <a:pPr>
              <a:spcAft>
                <a:spcPts val="900"/>
              </a:spcAft>
            </a:pPr>
            <a:r>
              <a:rPr sz="1400" b="0">
                <a:solidFill>
                  <a:srgbClr val="161B26"/>
                </a:solidFill>
                <a:latin typeface="Arial"/>
              </a:rPr>
              <a:t>•  DHCP Lease Capture (DORA)</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7</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Simulating a Cloud VPC with Namespaces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DOMAIN 1 · 23% OF THE EXAM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Domain 1 — Networking Concepts.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Seven layers, addressing, ports, media, topologies and cloud — 23% of the N10-009 exam and the foundation every other domain builds 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BLUEPRINT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N10-009 Exam Domain Weights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Concepts and Troubleshooting together are nearly half the exam — and troubleshooting questions lean on the concepts you learn here.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We Model Networks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Models simplify</a:t>
            </a:r>
          </a:p>
          <a:p>
            <a:pPr algn="l">
              <a:spcAft>
                <a:spcPts val="300"/>
              </a:spcAft>
            </a:pPr>
            <a:r>
              <a:rPr sz="1200" b="0">
                <a:solidFill>
                  <a:srgbClr val="5B6372"/>
                </a:solidFill>
                <a:latin typeface="Arial"/>
              </a:rPr>
              <a:t>A model is a basic representation that makes a complex system explainable one piece at a time.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Frames</a:t>
            </a:r>
          </a:p>
          <a:p>
            <a:pPr algn="l">
              <a:spcAft>
                <a:spcPts val="300"/>
              </a:spcAft>
            </a:pPr>
            <a:r>
              <a:rPr sz="1200" b="0">
                <a:solidFill>
                  <a:srgbClr val="5B6372"/>
                </a:solidFill>
                <a:latin typeface="Arial"/>
              </a:rPr>
              <a:t>Devices exchange data in discrete chunks called frames, built and destroyed inside the NIC.</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1,500 bytes</a:t>
            </a:r>
          </a:p>
          <a:p>
            <a:pPr algn="l">
              <a:spcAft>
                <a:spcPts val="300"/>
              </a:spcAft>
            </a:pPr>
            <a:r>
              <a:rPr sz="1200" b="0">
                <a:solidFill>
                  <a:srgbClr val="5B6372"/>
                </a:solidFill>
                <a:latin typeface="Arial"/>
              </a:rPr>
              <a:t>The default Ethernet payload limit (MTU); jumbo frames stretch to 9,000 bytes.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OSI vs TCP/IP</a:t>
            </a:r>
          </a:p>
          <a:p>
            <a:pPr algn="l">
              <a:spcAft>
                <a:spcPts val="300"/>
              </a:spcAft>
            </a:pPr>
            <a:r>
              <a:rPr sz="1200" b="0">
                <a:solidFill>
                  <a:srgbClr val="5B6372"/>
                </a:solidFill>
                <a:latin typeface="Arial"/>
              </a:rPr>
              <a:t>OSI is the 7-layer teaching and troubleshooting model; TCP/IP is the 4-layer practical stack.</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PDU</a:t>
            </a:r>
          </a:p>
          <a:p>
            <a:pPr algn="l">
              <a:spcAft>
                <a:spcPts val="300"/>
              </a:spcAft>
            </a:pPr>
            <a:r>
              <a:rPr sz="1200" b="0">
                <a:solidFill>
                  <a:srgbClr val="5B6372"/>
                </a:solidFill>
                <a:latin typeface="Arial"/>
              </a:rPr>
              <a:t>Protocol Data Unit — the name of the data chunk changes at each layer as headers are added.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Exam anchor</a:t>
            </a:r>
          </a:p>
          <a:p>
            <a:pPr algn="l">
              <a:spcAft>
                <a:spcPts val="300"/>
              </a:spcAft>
            </a:pPr>
            <a:r>
              <a:rPr sz="1200" b="0">
                <a:solidFill>
                  <a:srgbClr val="5B6372"/>
                </a:solidFill>
                <a:latin typeface="Arial"/>
              </a:rPr>
              <a:t>N10-009 expects you to place any protocol, device or symptom at its correct layer.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Seven Layers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L7 — Application</a:t>
            </a:r>
          </a:p>
          <a:p>
            <a:pPr algn="l">
              <a:spcAft>
                <a:spcPts val="300"/>
              </a:spcAft>
            </a:pPr>
            <a:r>
              <a:rPr sz="1200" b="0">
                <a:solidFill>
                  <a:srgbClr val="5B6372"/>
                </a:solidFill>
                <a:latin typeface="Arial"/>
              </a:rPr>
              <a:t>Protocols the software speaks: HTTP, FTP, SMTP, DNS. Where data is produced and consumed.</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L6 — Presentation</a:t>
            </a:r>
          </a:p>
          <a:p>
            <a:pPr algn="l">
              <a:spcAft>
                <a:spcPts val="300"/>
              </a:spcAft>
            </a:pPr>
            <a:r>
              <a:rPr sz="1200" b="0">
                <a:solidFill>
                  <a:srgbClr val="5B6372"/>
                </a:solidFill>
                <a:latin typeface="Arial"/>
              </a:rPr>
              <a:t>Formats and translates data: encryption (TLS), compression, character encoding.</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L5 — Session</a:t>
            </a:r>
          </a:p>
          <a:p>
            <a:pPr algn="l">
              <a:spcAft>
                <a:spcPts val="300"/>
              </a:spcAft>
            </a:pPr>
            <a:r>
              <a:rPr sz="1200" b="0">
                <a:solidFill>
                  <a:srgbClr val="5B6372"/>
                </a:solidFill>
                <a:latin typeface="Arial"/>
              </a:rPr>
              <a:t>Opens, manages and tears down dialogs between hosts; think RPC and API sessions.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L4 — Transport</a:t>
            </a:r>
          </a:p>
          <a:p>
            <a:pPr algn="l">
              <a:spcAft>
                <a:spcPts val="300"/>
              </a:spcAft>
            </a:pPr>
            <a:r>
              <a:rPr sz="1200" b="0">
                <a:solidFill>
                  <a:srgbClr val="5B6372"/>
                </a:solidFill>
                <a:latin typeface="Arial"/>
              </a:rPr>
              <a:t>End-to-end delivery: TCP (reliable) and UDP (best-effort), addressed by port numbers.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L3 — Network</a:t>
            </a:r>
          </a:p>
          <a:p>
            <a:pPr algn="l">
              <a:spcAft>
                <a:spcPts val="300"/>
              </a:spcAft>
            </a:pPr>
            <a:r>
              <a:rPr sz="1200" b="0">
                <a:solidFill>
                  <a:srgbClr val="5B6372"/>
                </a:solidFill>
                <a:latin typeface="Arial"/>
              </a:rPr>
              <a:t>Logical addressing and routing between networks: IP and ICMP. Routers live here.</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L2 — Data Link</a:t>
            </a:r>
          </a:p>
          <a:p>
            <a:pPr algn="l">
              <a:spcAft>
                <a:spcPts val="300"/>
              </a:spcAft>
            </a:pPr>
            <a:r>
              <a:rPr sz="1200" b="0">
                <a:solidFill>
                  <a:srgbClr val="5B6372"/>
                </a:solidFill>
                <a:latin typeface="Arial"/>
              </a:rPr>
              <a:t>Frames and MAC addresses on the local link; switches forward here, FCS detects errors.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L1 — Physical</a:t>
            </a:r>
          </a:p>
          <a:p>
            <a:pPr algn="l">
              <a:spcAft>
                <a:spcPts val="300"/>
              </a:spcAft>
            </a:pPr>
            <a:r>
              <a:rPr sz="1200" b="0">
                <a:solidFill>
                  <a:srgbClr val="5B6372"/>
                </a:solidFill>
                <a:latin typeface="Arial"/>
              </a:rPr>
              <a:t>Bits on the wire or in the air: cables, connectors, transceivers, hubs, radio.</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PDUs and Devices by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Layer(s)</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PDU</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Typical devices / protocols</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L5-L7 upper layers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Data</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HTTP, TLS, DNS, proxies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L4 Transport</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Segment / datagram</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TCP, UDP, load balancer</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L3 Network</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Packet</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IP, ICMP, router, L3 switch</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L2 Data Link</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Frame</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Ethernet, switch, NIC, AP</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L1 Physical</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Bits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Cables, hubs, transceivers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Exam shortcut: name the PDU and you have named the layer.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Encapsulation: Data Down the Stack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Data</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app payload</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Segment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TCP/UDP header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Packet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header added</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Frame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MAC header + FCS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Bits</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onto the medium</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capture you will read shows these headers nested in exactly this order — and decapsulation reverses the sequence at the receiver.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OSI vs TCP/IP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OSI (7 layers)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TCP/IP (4 layers)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7-6-5: Application, Presentation, Session</a:t>
            </a:r>
          </a:p>
          <a:p>
            <a:pPr>
              <a:spcAft>
                <a:spcPts val="1000"/>
              </a:spcAft>
            </a:pPr>
            <a:r>
              <a:rPr sz="1600" b="0">
                <a:solidFill>
                  <a:srgbClr val="161B26"/>
                </a:solidFill>
                <a:latin typeface="Arial"/>
              </a:rPr>
              <a:t>•  4: Transport — segments, ports</a:t>
            </a:r>
          </a:p>
          <a:p>
            <a:pPr>
              <a:spcAft>
                <a:spcPts val="1000"/>
              </a:spcAft>
            </a:pPr>
            <a:r>
              <a:rPr sz="1600" b="0">
                <a:solidFill>
                  <a:srgbClr val="161B26"/>
                </a:solidFill>
                <a:latin typeface="Arial"/>
              </a:rPr>
              <a:t>•  3: Network — packets, routing</a:t>
            </a:r>
          </a:p>
          <a:p>
            <a:pPr>
              <a:spcAft>
                <a:spcPts val="1000"/>
              </a:spcAft>
            </a:pPr>
            <a:r>
              <a:rPr sz="1600" b="0">
                <a:solidFill>
                  <a:srgbClr val="161B26"/>
                </a:solidFill>
                <a:latin typeface="Arial"/>
              </a:rPr>
              <a:t>•  2-1: Data Link and Physical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Application — HTTP, DNS, SMTP, TLS</a:t>
            </a:r>
          </a:p>
          <a:p>
            <a:pPr>
              <a:spcAft>
                <a:spcPts val="1000"/>
              </a:spcAft>
            </a:pPr>
            <a:r>
              <a:rPr sz="1600" b="0">
                <a:solidFill>
                  <a:srgbClr val="161B26"/>
                </a:solidFill>
                <a:latin typeface="Arial"/>
              </a:rPr>
              <a:t>•  Transport — TCP and UDP</a:t>
            </a:r>
          </a:p>
          <a:p>
            <a:pPr>
              <a:spcAft>
                <a:spcPts val="1000"/>
              </a:spcAft>
            </a:pPr>
            <a:r>
              <a:rPr sz="1600" b="0">
                <a:solidFill>
                  <a:srgbClr val="161B26"/>
                </a:solidFill>
                <a:latin typeface="Arial"/>
              </a:rPr>
              <a:t>•  Internet — IP, ICMP, IGMP</a:t>
            </a:r>
          </a:p>
          <a:p>
            <a:pPr>
              <a:spcAft>
                <a:spcPts val="1000"/>
              </a:spcAft>
            </a:pPr>
            <a:r>
              <a:rPr sz="1600" b="0">
                <a:solidFill>
                  <a:srgbClr val="161B26"/>
                </a:solidFill>
                <a:latin typeface="Arial"/>
              </a:rPr>
              <a:t>•  Network Access — Ethernet, Wi-Fi, media</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Upper Layers in Practice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Session (L5)</a:t>
            </a:r>
          </a:p>
          <a:p>
            <a:pPr algn="l">
              <a:spcAft>
                <a:spcPts val="300"/>
              </a:spcAft>
            </a:pPr>
            <a:r>
              <a:rPr sz="1200" b="0">
                <a:solidFill>
                  <a:srgbClr val="5B6372"/>
                </a:solidFill>
                <a:latin typeface="Arial"/>
              </a:rPr>
              <a:t>Establishes and resumes conversations — RPC calls, NetBIOS sessions, SQL connections.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Presentation (L6)</a:t>
            </a:r>
          </a:p>
          <a:p>
            <a:pPr algn="l">
              <a:spcAft>
                <a:spcPts val="300"/>
              </a:spcAft>
            </a:pPr>
            <a:r>
              <a:rPr sz="1200" b="0">
                <a:solidFill>
                  <a:srgbClr val="5B6372"/>
                </a:solidFill>
                <a:latin typeface="Arial"/>
              </a:rPr>
              <a:t>TLS encryption, JPEG/PNG encoding, ASCII vs Unicode — data made readable and safe.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Application (L7)</a:t>
            </a:r>
          </a:p>
          <a:p>
            <a:pPr algn="l">
              <a:spcAft>
                <a:spcPts val="300"/>
              </a:spcAft>
            </a:pPr>
            <a:r>
              <a:rPr sz="1200" b="0">
                <a:solidFill>
                  <a:srgbClr val="5B6372"/>
                </a:solidFill>
                <a:latin typeface="Arial"/>
              </a:rPr>
              <a:t>The protocol carrying user intent: a GET request, a mail submission, a DNS query.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Why it blurs</a:t>
            </a:r>
          </a:p>
          <a:p>
            <a:pPr algn="l">
              <a:spcAft>
                <a:spcPts val="300"/>
              </a:spcAft>
            </a:pPr>
            <a:r>
              <a:rPr sz="1200" b="0">
                <a:solidFill>
                  <a:srgbClr val="5B6372"/>
                </a:solidFill>
                <a:latin typeface="Arial"/>
              </a:rPr>
              <a:t>Real stacks fold L5-L7 together — TLS spans layers — but the exam still tests the clean split.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MAC Address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48-bit physical address</a:t>
            </a:r>
          </a:p>
          <a:p>
            <a:pPr algn="l">
              <a:spcAft>
                <a:spcPts val="300"/>
              </a:spcAft>
            </a:pPr>
            <a:r>
              <a:rPr sz="1200" b="0">
                <a:solidFill>
                  <a:srgbClr val="5B6372"/>
                </a:solidFill>
                <a:latin typeface="Arial"/>
              </a:rPr>
              <a:t>Burned into every NIC: first 24 bits are the vendor OUI, last 24 the unique device ID.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Hex notation</a:t>
            </a:r>
          </a:p>
          <a:p>
            <a:pPr algn="l">
              <a:spcAft>
                <a:spcPts val="300"/>
              </a:spcAft>
            </a:pPr>
            <a:r>
              <a:rPr sz="1200" b="0">
                <a:solidFill>
                  <a:srgbClr val="5B6372"/>
                </a:solidFill>
                <a:latin typeface="Arial"/>
              </a:rPr>
              <a:t>Example 00:16:3e:4a:99:d1 — view yours with ip link (Linux) or ipconfig /all (Windows).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Destination + source</a:t>
            </a:r>
          </a:p>
          <a:p>
            <a:pPr algn="l">
              <a:spcAft>
                <a:spcPts val="300"/>
              </a:spcAft>
            </a:pPr>
            <a:r>
              <a:rPr sz="1200" b="0">
                <a:solidFill>
                  <a:srgbClr val="5B6372"/>
                </a:solidFill>
                <a:latin typeface="Arial"/>
              </a:rPr>
              <a:t>Every frame carries both; a NIC normally processes only frames addressed to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FF-FF-FF-FF-FF-FF</a:t>
            </a:r>
          </a:p>
          <a:p>
            <a:pPr algn="l">
              <a:spcAft>
                <a:spcPts val="300"/>
              </a:spcAft>
            </a:pPr>
            <a:r>
              <a:rPr sz="1200" b="0">
                <a:solidFill>
                  <a:srgbClr val="5B6372"/>
                </a:solidFill>
                <a:latin typeface="Arial"/>
              </a:rPr>
              <a:t>The broadcast MAC — every NIC in the broadcast domain must process the frame.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Duplicate MACs</a:t>
            </a:r>
          </a:p>
          <a:p>
            <a:pPr algn="l">
              <a:spcAft>
                <a:spcPts val="300"/>
              </a:spcAft>
            </a:pPr>
            <a:r>
              <a:rPr sz="1200" b="0">
                <a:solidFill>
                  <a:srgbClr val="5B6372"/>
                </a:solidFill>
                <a:latin typeface="Arial"/>
              </a:rPr>
              <a:t>Rare but real — cloned VMs are a classic source of duplicate-MAC connectivity faults.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Physical vs logical</a:t>
            </a:r>
          </a:p>
          <a:p>
            <a:pPr algn="l">
              <a:spcAft>
                <a:spcPts val="300"/>
              </a:spcAft>
            </a:pPr>
            <a:r>
              <a:rPr sz="1200" b="0">
                <a:solidFill>
                  <a:srgbClr val="5B6372"/>
                </a:solidFill>
                <a:latin typeface="Arial"/>
              </a:rPr>
              <a:t>MAC = physical address (L2); IP = logical address (L3). ARP glues them together.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Anatomy of an Ethernet Frame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Preamble</a:t>
            </a:r>
          </a:p>
          <a:p>
            <a:pPr algn="l">
              <a:spcAft>
                <a:spcPts val="300"/>
              </a:spcAft>
            </a:pPr>
            <a:r>
              <a:rPr sz="1200" b="0">
                <a:solidFill>
                  <a:srgbClr val="5B6372"/>
                </a:solidFill>
                <a:latin typeface="Arial"/>
              </a:rPr>
              <a:t>7 bytes of alternating bits plus a start delimiter — lets receivers sync their clocks.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Destination + source MAC</a:t>
            </a:r>
          </a:p>
          <a:p>
            <a:pPr algn="l">
              <a:spcAft>
                <a:spcPts val="300"/>
              </a:spcAft>
            </a:pPr>
            <a:r>
              <a:rPr sz="1200" b="0">
                <a:solidFill>
                  <a:srgbClr val="5B6372"/>
                </a:solidFill>
                <a:latin typeface="Arial"/>
              </a:rPr>
              <a:t>6 bytes each — switches forward on the destination, learn from the source.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EtherType</a:t>
            </a:r>
          </a:p>
          <a:p>
            <a:pPr algn="l">
              <a:spcAft>
                <a:spcPts val="300"/>
              </a:spcAft>
            </a:pPr>
            <a:r>
              <a:rPr sz="1200" b="0">
                <a:solidFill>
                  <a:srgbClr val="5B6372"/>
                </a:solidFill>
                <a:latin typeface="Arial"/>
              </a:rPr>
              <a:t>Declares the payload protocol: 0x0800 IPv4, 0x86DD IPv6, 0x0806 ARP.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Payload</a:t>
            </a:r>
          </a:p>
          <a:p>
            <a:pPr algn="l">
              <a:spcAft>
                <a:spcPts val="300"/>
              </a:spcAft>
            </a:pPr>
            <a:r>
              <a:rPr sz="1200" b="0">
                <a:solidFill>
                  <a:srgbClr val="5B6372"/>
                </a:solidFill>
                <a:latin typeface="Arial"/>
              </a:rPr>
              <a:t>46-1,500 bytes of upper-layer data; padded if too short.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FCS</a:t>
            </a:r>
          </a:p>
          <a:p>
            <a:pPr algn="l">
              <a:spcAft>
                <a:spcPts val="300"/>
              </a:spcAft>
            </a:pPr>
            <a:r>
              <a:rPr sz="1200" b="0">
                <a:solidFill>
                  <a:srgbClr val="5B6372"/>
                </a:solidFill>
                <a:latin typeface="Arial"/>
              </a:rPr>
              <a:t>4-byte CRC checksum — corrupt frames are silently dropped, upper layers must recover.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Size range</a:t>
            </a:r>
          </a:p>
          <a:p>
            <a:pPr algn="l">
              <a:spcAft>
                <a:spcPts val="300"/>
              </a:spcAft>
            </a:pPr>
            <a:r>
              <a:rPr sz="1200" b="0">
                <a:solidFill>
                  <a:srgbClr val="5B6372"/>
                </a:solidFill>
                <a:latin typeface="Arial"/>
              </a:rPr>
              <a:t>64 to 1,522 bytes standard; jumbo frames up to 9,000 for storage and DC traffic.</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1.4 · TRAFFIC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Traffic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Unicast</a:t>
            </a:r>
          </a:p>
          <a:p>
            <a:pPr algn="l">
              <a:spcAft>
                <a:spcPts val="300"/>
              </a:spcAft>
            </a:pPr>
            <a:r>
              <a:rPr sz="1200" b="0">
                <a:solidFill>
                  <a:srgbClr val="5B6372"/>
                </a:solidFill>
                <a:latin typeface="Arial"/>
              </a:rPr>
              <a:t>One sender to one receiver — the vast majority of traffic, e.g. your HTTP session.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Broadcast</a:t>
            </a:r>
          </a:p>
          <a:p>
            <a:pPr algn="l">
              <a:spcAft>
                <a:spcPts val="300"/>
              </a:spcAft>
            </a:pPr>
            <a:r>
              <a:rPr sz="1200" b="0">
                <a:solidFill>
                  <a:srgbClr val="5B6372"/>
                </a:solidFill>
                <a:latin typeface="Arial"/>
              </a:rPr>
              <a:t>One to all in the broadcast domain (FF-FF... / 255.255.255.255). IPv6 abolishes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Multicast</a:t>
            </a:r>
          </a:p>
          <a:p>
            <a:pPr algn="l">
              <a:spcAft>
                <a:spcPts val="300"/>
              </a:spcAft>
            </a:pPr>
            <a:r>
              <a:rPr sz="1200" b="0">
                <a:solidFill>
                  <a:srgbClr val="5B6372"/>
                </a:solidFill>
                <a:latin typeface="Arial"/>
              </a:rPr>
              <a:t>One to a subscribed group — IPv4 224.0.0.0/4, IPv6 ff00::/8; membership managed by IGMP.</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Anycast</a:t>
            </a:r>
          </a:p>
          <a:p>
            <a:pPr algn="l">
              <a:spcAft>
                <a:spcPts val="300"/>
              </a:spcAft>
            </a:pPr>
            <a:r>
              <a:rPr sz="1200" b="0">
                <a:solidFill>
                  <a:srgbClr val="5B6372"/>
                </a:solidFill>
                <a:latin typeface="Arial"/>
              </a:rPr>
              <a:t>One address advertised from many places; routing delivers to the nearest — how 8.8.8.8 scales.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Capture Layer by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One tcpdump line contains headers from three layers — the payload adds the fourth.</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6A9955"/>
                </a:solidFill>
                <a:latin typeface="Consolas"/>
              </a:rPr>
              <a:t># tcpdump -i eth0 -nn -v -c 5 'tcp port 80'</a:t>
            </a:r>
          </a:p>
          <a:p>
            <a:pPr>
              <a:spcAft>
                <a:spcPts val="200"/>
              </a:spcAft>
            </a:pPr>
            <a:r>
              <a:rPr sz="1100">
                <a:solidFill>
                  <a:srgbClr val="9CDCFE"/>
                </a:solidFill>
                <a:latin typeface="Consolas"/>
              </a:rPr>
              <a:t>IP 10.244.0.5.55512 &gt; 93.184.216.34.80:</a:t>
            </a:r>
          </a:p>
          <a:p>
            <a:pPr>
              <a:spcAft>
                <a:spcPts val="200"/>
              </a:spcAft>
            </a:pPr>
            <a:r>
              <a:rPr sz="1100">
                <a:solidFill>
                  <a:srgbClr val="9CDCFE"/>
                </a:solidFill>
                <a:latin typeface="Consolas"/>
              </a:rPr>
              <a:t>   Flags [S], seq 1287312, win 64240</a:t>
            </a:r>
          </a:p>
          <a:p>
            <a:pPr>
              <a:spcAft>
                <a:spcPts val="200"/>
              </a:spcAft>
            </a:pPr>
            <a:r>
              <a:rPr sz="1100">
                <a:solidFill>
                  <a:srgbClr val="9CDCFE"/>
                </a:solidFill>
                <a:latin typeface="Consolas"/>
              </a:rPr>
              <a:t/>
            </a:r>
          </a:p>
          <a:p>
            <a:pPr>
              <a:spcAft>
                <a:spcPts val="200"/>
              </a:spcAft>
            </a:pPr>
            <a:r>
              <a:rPr sz="1100">
                <a:solidFill>
                  <a:srgbClr val="6A9955"/>
                </a:solidFill>
                <a:latin typeface="Consolas"/>
              </a:rPr>
              <a:t># add -e for the link-layer (L2) header:</a:t>
            </a:r>
          </a:p>
          <a:p>
            <a:pPr>
              <a:spcAft>
                <a:spcPts val="200"/>
              </a:spcAft>
            </a:pPr>
            <a:r>
              <a:rPr sz="1100">
                <a:solidFill>
                  <a:srgbClr val="9CDCFE"/>
                </a:solidFill>
                <a:latin typeface="Consolas"/>
              </a:rPr>
              <a:t>00:16:3e:4a:99:d1 &gt; 52:54:00:12:35:02</a:t>
            </a:r>
          </a:p>
          <a:p>
            <a:pPr>
              <a:spcAft>
                <a:spcPts val="200"/>
              </a:spcAft>
            </a:pPr>
            <a:r>
              <a:rPr sz="1100">
                <a:solidFill>
                  <a:srgbClr val="9CDCFE"/>
                </a:solidFill>
                <a:latin typeface="Consolas"/>
              </a:rPr>
              <a:t/>
            </a:r>
          </a:p>
          <a:p>
            <a:pPr>
              <a:spcAft>
                <a:spcPts val="200"/>
              </a:spcAft>
            </a:pPr>
            <a:r>
              <a:rPr sz="1100">
                <a:solidFill>
                  <a:srgbClr val="6A9955"/>
                </a:solidFill>
                <a:latin typeface="Consolas"/>
              </a:rPr>
              <a:t># add -A for the ASCII payload (L7):</a:t>
            </a:r>
          </a:p>
          <a:p>
            <a:pPr>
              <a:spcAft>
                <a:spcPts val="200"/>
              </a:spcAft>
            </a:pPr>
            <a:r>
              <a:rPr sz="1100">
                <a:solidFill>
                  <a:srgbClr val="9CDCFE"/>
                </a:solidFill>
                <a:latin typeface="Consolas"/>
              </a:rPr>
              <a:t>GET / HTTP/1.1</a:t>
            </a:r>
          </a:p>
          <a:p>
            <a:pPr>
              <a:spcAft>
                <a:spcPts val="200"/>
              </a:spcAft>
            </a:pPr>
            <a:r>
              <a:rPr sz="1100">
                <a:solidFill>
                  <a:srgbClr val="9CDCFE"/>
                </a:solidFill>
                <a:latin typeface="Consolas"/>
              </a:rPr>
              <a:t>Host: example.com</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L2 Data Link</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MAC-to-MAC delivery on the local link — visible only with the -e flag.</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L3 Network</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Source and destination IP addresses route the packet between networks.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L4 Transport</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Ports 55512 &gt; 80 plus the SYN flag — a TCP connection being opened.</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L7 Application</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HTTP GET request itself — the data everything else exists to carry.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URL to Wire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Browser builds an HTTP GET (L7)</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TCP adds ports + starts handshake (L4)</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IP adds source/destination address (L3)</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NIC frames it with MACs + FCS (L2)</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Bits transmitted on the medium (L1)</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1.1 · OSI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Troubleshooting by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L1 first</a:t>
            </a:r>
          </a:p>
          <a:p>
            <a:pPr algn="l">
              <a:spcAft>
                <a:spcPts val="300"/>
              </a:spcAft>
            </a:pPr>
            <a:r>
              <a:rPr sz="1200" b="0">
                <a:solidFill>
                  <a:srgbClr val="5B6372"/>
                </a:solidFill>
                <a:latin typeface="Arial"/>
              </a:rPr>
              <a:t>Link lights, cables, transceivers, Wi-Fi signal — most 'network down' calls end here.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L2 next</a:t>
            </a:r>
          </a:p>
          <a:p>
            <a:pPr algn="l">
              <a:spcAft>
                <a:spcPts val="300"/>
              </a:spcAft>
            </a:pPr>
            <a:r>
              <a:rPr sz="1200" b="0">
                <a:solidFill>
                  <a:srgbClr val="5B6372"/>
                </a:solidFill>
                <a:latin typeface="Arial"/>
              </a:rPr>
              <a:t>Check MAC learning, VLAN membership, ARP entries; switches misbehave at this layer.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L3 routing</a:t>
            </a:r>
          </a:p>
          <a:p>
            <a:pPr algn="l">
              <a:spcAft>
                <a:spcPts val="300"/>
              </a:spcAft>
            </a:pPr>
            <a:r>
              <a:rPr sz="1200" b="0">
                <a:solidFill>
                  <a:srgbClr val="5B6372"/>
                </a:solidFill>
                <a:latin typeface="Arial"/>
              </a:rPr>
              <a:t>ping and traceroute test addressing and routes — wrong gateway or mask lives here.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L4 ports</a:t>
            </a:r>
          </a:p>
          <a:p>
            <a:pPr algn="l">
              <a:spcAft>
                <a:spcPts val="300"/>
              </a:spcAft>
            </a:pPr>
            <a:r>
              <a:rPr sz="1200" b="0">
                <a:solidFill>
                  <a:srgbClr val="5B6372"/>
                </a:solidFill>
                <a:latin typeface="Arial"/>
              </a:rPr>
              <a:t>Service unreachable but host pings? Check listening ports and firewall rules.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L7 last</a:t>
            </a:r>
          </a:p>
          <a:p>
            <a:pPr algn="l">
              <a:spcAft>
                <a:spcPts val="300"/>
              </a:spcAft>
            </a:pPr>
            <a:r>
              <a:rPr sz="1200" b="0">
                <a:solidFill>
                  <a:srgbClr val="5B6372"/>
                </a:solidFill>
                <a:latin typeface="Arial"/>
              </a:rPr>
              <a:t>DNS answers, certificates, application errors — the top of the bottom-up method.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 the layer</a:t>
            </a:r>
          </a:p>
          <a:p>
            <a:pPr algn="l">
              <a:spcAft>
                <a:spcPts val="300"/>
              </a:spcAft>
            </a:pPr>
            <a:r>
              <a:rPr sz="1200" b="0">
                <a:solidFill>
                  <a:srgbClr val="5B6372"/>
                </a:solidFill>
                <a:latin typeface="Arial"/>
              </a:rPr>
              <a:t>Exam questions describe a symptom and expect the layer — practise the mapping now.</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1.0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OSI Model Packet Inspection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Capture live traffic and map each protocol header to its OSI layer.</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Capture HTTP traffic with tcpdump on a Killercoda Ubuntu host, generate requests with curl, and match the MAC, IP, TCP and HTTP headers you see to OSI layers 2, 3, 4 and 7.</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live capture and a saved .pcap where you can point at every header and name its OSI layer.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tcpdump, curl, Killercoda Ubuntu, TIS PCAP Analyzer (alfredang.github.io/pcapanalyzer)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tcpdump shows SYN/ACK/GET packets and you can name the OSI layer of every header; the TIS PCAP Analyzer decodes the same layers from the downloaded osi-lab.pcap.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the capture tools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Start a background capture of five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tcpdump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Map each header</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Re-run with -e -A to expose L2 MACs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tcpdump · step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Stop any background captures</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kill · step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Capture live traffic and map each protocol header to its OSI layer.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OSI Model Packet Inspection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tcpdump shows SYN/ACK/GET packets and you can name the OSI layer of every header; the TIS PCAP Analyzer decodes the same layers from the downloaded osi-lab.pcap.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packets captured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interface with ip -brief addr — capture on the interface marked UP, not lo.</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curl hangs or fails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may block port 80 — try curl -s http://neverssl.com instead.</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tcpdump: command not found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Re-run apt update &amp;&amp; apt install -y tcpdump curl — the install step may have failed.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1.2 ·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Core Networking Appliances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Router</a:t>
            </a:r>
          </a:p>
          <a:p>
            <a:pPr algn="l">
              <a:spcAft>
                <a:spcPts val="300"/>
              </a:spcAft>
            </a:pPr>
            <a:r>
              <a:rPr sz="1200" b="0">
                <a:solidFill>
                  <a:srgbClr val="5B6372"/>
                </a:solidFill>
                <a:latin typeface="Arial"/>
              </a:rPr>
              <a:t>Connects networks and forwards packets by IP; every LAN's default gateway is a router interface.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Switch</a:t>
            </a:r>
          </a:p>
          <a:p>
            <a:pPr algn="l">
              <a:spcAft>
                <a:spcPts val="300"/>
              </a:spcAft>
            </a:pPr>
            <a:r>
              <a:rPr sz="1200" b="0">
                <a:solidFill>
                  <a:srgbClr val="5B6372"/>
                </a:solidFill>
                <a:latin typeface="Arial"/>
              </a:rPr>
              <a:t>Forwards frames by MAC using its learned MAC table; each port is its own collision domain.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Layer 3 switch</a:t>
            </a:r>
          </a:p>
          <a:p>
            <a:pPr algn="l">
              <a:spcAft>
                <a:spcPts val="300"/>
              </a:spcAft>
            </a:pPr>
            <a:r>
              <a:rPr sz="1200" b="0">
                <a:solidFill>
                  <a:srgbClr val="5B6372"/>
                </a:solidFill>
                <a:latin typeface="Arial"/>
              </a:rPr>
              <a:t>Switches inside VLANs and routes between them in hardware at wire speed.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Hub (legacy)</a:t>
            </a:r>
          </a:p>
          <a:p>
            <a:pPr algn="l">
              <a:spcAft>
                <a:spcPts val="300"/>
              </a:spcAft>
            </a:pPr>
            <a:r>
              <a:rPr sz="1200" b="0">
                <a:solidFill>
                  <a:srgbClr val="5B6372"/>
                </a:solidFill>
                <a:latin typeface="Arial"/>
              </a:rPr>
              <a:t>A multiport repeater — one shared collision domain using CSMA/CD; replaced by switches.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Access point</a:t>
            </a:r>
          </a:p>
          <a:p>
            <a:pPr algn="l">
              <a:spcAft>
                <a:spcPts val="300"/>
              </a:spcAft>
            </a:pPr>
            <a:r>
              <a:rPr sz="1200" b="0">
                <a:solidFill>
                  <a:srgbClr val="5B6372"/>
                </a:solidFill>
                <a:latin typeface="Arial"/>
              </a:rPr>
              <a:t>Bridges 802.11 wireless clients onto the wired LAN at Layer 2.</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Wireless controller</a:t>
            </a:r>
          </a:p>
          <a:p>
            <a:pPr algn="l">
              <a:spcAft>
                <a:spcPts val="300"/>
              </a:spcAft>
            </a:pPr>
            <a:r>
              <a:rPr sz="1200" b="0">
                <a:solidFill>
                  <a:srgbClr val="5B6372"/>
                </a:solidFill>
                <a:latin typeface="Arial"/>
              </a:rPr>
              <a:t>Centrally manages fleets of APs: channels, power, roaming and policy.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1.2 ·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Which Layer Does Each Device Read?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Device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Layer</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Forwards / filters on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Hub / repeater</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L1</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Electrical signal only</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Switch, bridge, AP</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L2</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MAC addresses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Router, L3 switch</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L3</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IP addresses and routes</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Load balancer</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L4-L7</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Ports, sessions, URLs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Firewall / IPS</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L3-L7</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Rules, state, signatures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 device's layer tells you what information it can see — and what it can never see.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1.2 ·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Security and Application Appliances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Firewall</a:t>
            </a:r>
          </a:p>
          <a:p>
            <a:pPr algn="l">
              <a:spcAft>
                <a:spcPts val="300"/>
              </a:spcAft>
            </a:pPr>
            <a:r>
              <a:rPr sz="1200" b="0">
                <a:solidFill>
                  <a:srgbClr val="5B6372"/>
                </a:solidFill>
                <a:latin typeface="Arial"/>
              </a:rPr>
              <a:t>Filters traffic between zones by rule: addresses, ports, and connection state.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IDS</a:t>
            </a:r>
          </a:p>
          <a:p>
            <a:pPr algn="l">
              <a:spcAft>
                <a:spcPts val="300"/>
              </a:spcAft>
            </a:pPr>
            <a:r>
              <a:rPr sz="1200" b="0">
                <a:solidFill>
                  <a:srgbClr val="5B6372"/>
                </a:solidFill>
                <a:latin typeface="Arial"/>
              </a:rPr>
              <a:t>Passively inspects mirrored traffic and raises alerts on signatures or anomalies.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IPS</a:t>
            </a:r>
          </a:p>
          <a:p>
            <a:pPr algn="l">
              <a:spcAft>
                <a:spcPts val="300"/>
              </a:spcAft>
            </a:pPr>
            <a:r>
              <a:rPr sz="1200" b="0">
                <a:solidFill>
                  <a:srgbClr val="5B6372"/>
                </a:solidFill>
                <a:latin typeface="Arial"/>
              </a:rPr>
              <a:t>Sits inline in the traffic path and actively blocks malicious traffic in real 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Load balancer</a:t>
            </a:r>
          </a:p>
          <a:p>
            <a:pPr algn="l">
              <a:spcAft>
                <a:spcPts val="300"/>
              </a:spcAft>
            </a:pPr>
            <a:r>
              <a:rPr sz="1200" b="0">
                <a:solidFill>
                  <a:srgbClr val="5B6372"/>
                </a:solidFill>
                <a:latin typeface="Arial"/>
              </a:rPr>
              <a:t>Distributes client sessions across a server pool and health-checks every member.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Forward proxy</a:t>
            </a:r>
          </a:p>
          <a:p>
            <a:pPr algn="l">
              <a:spcAft>
                <a:spcPts val="300"/>
              </a:spcAft>
            </a:pPr>
            <a:r>
              <a:rPr sz="1200" b="0">
                <a:solidFill>
                  <a:srgbClr val="5B6372"/>
                </a:solidFill>
                <a:latin typeface="Arial"/>
              </a:rPr>
              <a:t>Fetches web content on behalf of internal clients — filtering, caching, logging.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Reverse proxy</a:t>
            </a:r>
          </a:p>
          <a:p>
            <a:pPr algn="l">
              <a:spcAft>
                <a:spcPts val="300"/>
              </a:spcAft>
            </a:pPr>
            <a:r>
              <a:rPr sz="1200" b="0">
                <a:solidFill>
                  <a:srgbClr val="5B6372"/>
                </a:solidFill>
                <a:latin typeface="Arial"/>
              </a:rPr>
              <a:t>Fronts your servers: TLS offload, caching, and shielding the origin from the Internet.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1.2 ·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IDS or IPS?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Must bad traffic be
blocked automatically?</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deploy an IPS</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Place it inline so it can drop packets in real time — and accept that a false positive can block legitimate traffic.</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deploy an IDS</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Feed it a mirror/SPAN copy. It only alerts, so it can never break the network — but a human must act on the alert.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Many NGFW platforms bundle both modes — the inline-vs-passive placement decision still applies.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1.2 ·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Forward vs Reverse Proxy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Forward proxy (protects clients)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Reverse proxy (protects servers)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Sits between your users and the Internet</a:t>
            </a:r>
          </a:p>
          <a:p>
            <a:pPr>
              <a:spcAft>
                <a:spcPts val="1000"/>
              </a:spcAft>
            </a:pPr>
            <a:r>
              <a:rPr sz="1600" b="0">
                <a:solidFill>
                  <a:srgbClr val="161B26"/>
                </a:solidFill>
                <a:latin typeface="Arial"/>
              </a:rPr>
              <a:t>•  Enforces acceptable-use and URL filtering</a:t>
            </a:r>
          </a:p>
          <a:p>
            <a:pPr>
              <a:spcAft>
                <a:spcPts val="1000"/>
              </a:spcAft>
            </a:pPr>
            <a:r>
              <a:rPr sz="1600" b="0">
                <a:solidFill>
                  <a:srgbClr val="161B26"/>
                </a:solidFill>
                <a:latin typeface="Arial"/>
              </a:rPr>
              <a:t>•  Caches popular content to save bandwidth</a:t>
            </a:r>
          </a:p>
          <a:p>
            <a:pPr>
              <a:spcAft>
                <a:spcPts val="1000"/>
              </a:spcAft>
            </a:pPr>
            <a:r>
              <a:rPr sz="1600" b="0">
                <a:solidFill>
                  <a:srgbClr val="161B26"/>
                </a:solidFill>
                <a:latin typeface="Arial"/>
              </a:rPr>
              <a:t>•  Hides internal client identities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Sits between the Internet and your servers</a:t>
            </a:r>
          </a:p>
          <a:p>
            <a:pPr>
              <a:spcAft>
                <a:spcPts val="1000"/>
              </a:spcAft>
            </a:pPr>
            <a:r>
              <a:rPr sz="1600" b="0">
                <a:solidFill>
                  <a:srgbClr val="161B26"/>
                </a:solidFill>
                <a:latin typeface="Arial"/>
              </a:rPr>
              <a:t>•  Terminates TLS and offloads encryption</a:t>
            </a:r>
          </a:p>
          <a:p>
            <a:pPr>
              <a:spcAft>
                <a:spcPts val="1000"/>
              </a:spcAft>
            </a:pPr>
            <a:r>
              <a:rPr sz="1600" b="0">
                <a:solidFill>
                  <a:srgbClr val="161B26"/>
                </a:solidFill>
                <a:latin typeface="Arial"/>
              </a:rPr>
              <a:t>•  Load-balances and caches for the backend</a:t>
            </a:r>
          </a:p>
          <a:p>
            <a:pPr>
              <a:spcAft>
                <a:spcPts val="1000"/>
              </a:spcAft>
            </a:pPr>
            <a:r>
              <a:rPr sz="1600" b="0">
                <a:solidFill>
                  <a:srgbClr val="161B26"/>
                </a:solidFill>
                <a:latin typeface="Arial"/>
              </a:rPr>
              <a:t>•  Hides and shields the origin servers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1.2 ·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NAS vs SAN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Attribute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NAS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SAN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Access level</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File (SMB, NFS)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Block (raw volumes)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Network</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Standard Ethernet LAN</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Fibre Channel or iSCSI</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Appears as</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Shared folders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Local disks to the OS</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Hardware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NAS appliance</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HBAs, FC switches, arrays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Typical use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Team file shares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Databases, VM datastores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FCoE carries Fibre Channel over Ethernet; multipathing keeps SAN storage reachable through failures.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1.2 ·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Physical vs Virtual Appliances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Physical appliance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Virtual appliance (NFV)</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Dedicated hardware, predictable throughput</a:t>
            </a:r>
          </a:p>
          <a:p>
            <a:pPr>
              <a:spcAft>
                <a:spcPts val="1000"/>
              </a:spcAft>
            </a:pPr>
            <a:r>
              <a:rPr sz="1600" b="0">
                <a:solidFill>
                  <a:srgbClr val="161B26"/>
                </a:solidFill>
                <a:latin typeface="Arial"/>
              </a:rPr>
              <a:t>•  ASICs accelerate switching and crypto</a:t>
            </a:r>
          </a:p>
          <a:p>
            <a:pPr>
              <a:spcAft>
                <a:spcPts val="1000"/>
              </a:spcAft>
            </a:pPr>
            <a:r>
              <a:rPr sz="1600" b="0">
                <a:solidFill>
                  <a:srgbClr val="161B26"/>
                </a:solidFill>
                <a:latin typeface="Arial"/>
              </a:rPr>
              <a:t>•  Scaling means buying and racking boxes</a:t>
            </a:r>
          </a:p>
          <a:p>
            <a:pPr>
              <a:spcAft>
                <a:spcPts val="1000"/>
              </a:spcAft>
            </a:pPr>
            <a:r>
              <a:rPr sz="1600" b="0">
                <a:solidFill>
                  <a:srgbClr val="161B26"/>
                </a:solidFill>
                <a:latin typeface="Arial"/>
              </a:rPr>
              <a:t>•  Failure domain is the chassis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Router, firewall, LB run as VMs/containers</a:t>
            </a:r>
          </a:p>
          <a:p>
            <a:pPr>
              <a:spcAft>
                <a:spcPts val="1000"/>
              </a:spcAft>
            </a:pPr>
            <a:r>
              <a:rPr sz="1600" b="0">
                <a:solidFill>
                  <a:srgbClr val="161B26"/>
                </a:solidFill>
                <a:latin typeface="Arial"/>
              </a:rPr>
              <a:t>•  Deployed in minutes from an image</a:t>
            </a:r>
          </a:p>
          <a:p>
            <a:pPr>
              <a:spcAft>
                <a:spcPts val="1000"/>
              </a:spcAft>
            </a:pPr>
            <a:r>
              <a:rPr sz="1600" b="0">
                <a:solidFill>
                  <a:srgbClr val="161B26"/>
                </a:solidFill>
                <a:latin typeface="Arial"/>
              </a:rPr>
              <a:t>•  Scales out on shared compute</a:t>
            </a:r>
          </a:p>
          <a:p>
            <a:pPr>
              <a:spcAft>
                <a:spcPts val="1000"/>
              </a:spcAft>
            </a:pPr>
            <a:r>
              <a:rPr sz="1600" b="0">
                <a:solidFill>
                  <a:srgbClr val="161B26"/>
                </a:solidFill>
                <a:latin typeface="Arial"/>
              </a:rPr>
              <a:t>•  Portable across data center and cloud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1.5 · MEDIA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Copper: Coaxial and Twinaxial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Coaxial</a:t>
            </a:r>
          </a:p>
          <a:p>
            <a:pPr algn="l">
              <a:spcAft>
                <a:spcPts val="300"/>
              </a:spcAft>
            </a:pPr>
            <a:r>
              <a:rPr sz="1200" b="0">
                <a:solidFill>
                  <a:srgbClr val="5B6372"/>
                </a:solidFill>
                <a:latin typeface="Arial"/>
              </a:rPr>
              <a:t>A single center conductor inside a shield — highly resistant to EMI; used for cable broadband.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RG-6</a:t>
            </a:r>
          </a:p>
          <a:p>
            <a:pPr algn="l">
              <a:spcAft>
                <a:spcPts val="300"/>
              </a:spcAft>
            </a:pPr>
            <a:r>
              <a:rPr sz="1200" b="0">
                <a:solidFill>
                  <a:srgbClr val="5B6372"/>
                </a:solidFill>
                <a:latin typeface="Arial"/>
              </a:rPr>
              <a:t>75-ohm coax for cable TV and DOCSIS internet; terminated with threaded F-type connectors.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BNC</a:t>
            </a:r>
          </a:p>
          <a:p>
            <a:pPr algn="l">
              <a:spcAft>
                <a:spcPts val="300"/>
              </a:spcAft>
            </a:pPr>
            <a:r>
              <a:rPr sz="1200" b="0">
                <a:solidFill>
                  <a:srgbClr val="5B6372"/>
                </a:solidFill>
                <a:latin typeface="Arial"/>
              </a:rPr>
              <a:t>Bayonet-twist coax connector found on older gear and lab equipment.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Twinax / DAC</a:t>
            </a:r>
          </a:p>
          <a:p>
            <a:pPr algn="l">
              <a:spcAft>
                <a:spcPts val="300"/>
              </a:spcAft>
            </a:pPr>
            <a:r>
              <a:rPr sz="1200" b="0">
                <a:solidFill>
                  <a:srgbClr val="5B6372"/>
                </a:solidFill>
                <a:latin typeface="Arial"/>
              </a:rPr>
              <a:t>Twin conductors; direct-attach copper links switches over short 10-100G runs, cheaper than optics.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1.5 · MEDIA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Twisted Pair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Four twisted pairs</a:t>
            </a:r>
          </a:p>
          <a:p>
            <a:pPr algn="l">
              <a:spcAft>
                <a:spcPts val="300"/>
              </a:spcAft>
            </a:pPr>
            <a:r>
              <a:rPr sz="1200" b="0">
                <a:solidFill>
                  <a:srgbClr val="5B6372"/>
                </a:solidFill>
                <a:latin typeface="Arial"/>
              </a:rPr>
              <a:t>The twists cancel EMI and crosstalk between pairs — tighter twists, higher category.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UTP vs STP</a:t>
            </a:r>
          </a:p>
          <a:p>
            <a:pPr algn="l">
              <a:spcAft>
                <a:spcPts val="300"/>
              </a:spcAft>
            </a:pPr>
            <a:r>
              <a:rPr sz="1200" b="0">
                <a:solidFill>
                  <a:srgbClr val="5B6372"/>
                </a:solidFill>
                <a:latin typeface="Arial"/>
              </a:rPr>
              <a:t>Unshielded is the default; shielded adds foil/braid for electrically noisy environments.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100 m channel limit</a:t>
            </a:r>
          </a:p>
          <a:p>
            <a:pPr algn="l">
              <a:spcAft>
                <a:spcPts val="300"/>
              </a:spcAft>
            </a:pPr>
            <a:r>
              <a:rPr sz="1200" b="0">
                <a:solidFill>
                  <a:srgbClr val="5B6372"/>
                </a:solidFill>
                <a:latin typeface="Arial"/>
              </a:rPr>
              <a:t>The maximum twisted-pair run: 90 m horizontal plus 10 m of patch cords.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RJ45 (8P8C)</a:t>
            </a:r>
          </a:p>
          <a:p>
            <a:pPr algn="l">
              <a:spcAft>
                <a:spcPts val="300"/>
              </a:spcAft>
            </a:pPr>
            <a:r>
              <a:rPr sz="1200" b="0">
                <a:solidFill>
                  <a:srgbClr val="5B6372"/>
                </a:solidFill>
                <a:latin typeface="Arial"/>
              </a:rPr>
              <a:t>The standard data connector; RJ11 is the smaller 2-3 pair telephone jack.</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T568A / T568B</a:t>
            </a:r>
          </a:p>
          <a:p>
            <a:pPr algn="l">
              <a:spcAft>
                <a:spcPts val="300"/>
              </a:spcAft>
            </a:pPr>
            <a:r>
              <a:rPr sz="1200" b="0">
                <a:solidFill>
                  <a:srgbClr val="5B6372"/>
                </a:solidFill>
                <a:latin typeface="Arial"/>
              </a:rPr>
              <a:t>The two pin-out standards — use one consistently; mixing them creates a crossover.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Solid vs stranded</a:t>
            </a:r>
          </a:p>
          <a:p>
            <a:pPr algn="l">
              <a:spcAft>
                <a:spcPts val="300"/>
              </a:spcAft>
            </a:pPr>
            <a:r>
              <a:rPr sz="1200" b="0">
                <a:solidFill>
                  <a:srgbClr val="5B6372"/>
                </a:solidFill>
                <a:latin typeface="Arial"/>
              </a:rPr>
              <a:t>Solid core for in-wall horizontal runs; stranded for flexible patch cables.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1.5 · MEDIA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Twisted-Pair Categories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Category</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Max speed</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Bandwidth</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Notes</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Cat 5e</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 Gbps</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100 MHz</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Minimum for gigabit</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Cat 6</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 G (10 G to 55 m)</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250 MHz</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Internal separator</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Cat 6a</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10 Gbps to 100 m</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500 MHz</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New-build standard</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Cat 7</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10 Gbps</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600 MHz</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Shielded, GG45/TERA</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Cat 8</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25/40 Gbps to 30 m</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2,000 MHz</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Data center ToR runs</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Every link component — cable, jacks, patch panel — must meet the category or the link downgrades.</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1.5 · MEDIA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Fiber: Single-Mode vs Multimode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Single-mode (SMF)</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Multimode (MMF)</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Laser source, 8-10 micron core</a:t>
            </a:r>
          </a:p>
          <a:p>
            <a:pPr>
              <a:spcAft>
                <a:spcPts val="1000"/>
              </a:spcAft>
            </a:pPr>
            <a:r>
              <a:rPr sz="1600" b="0">
                <a:solidFill>
                  <a:srgbClr val="161B26"/>
                </a:solidFill>
                <a:latin typeface="Arial"/>
              </a:rPr>
              <a:t>•  Runs of tens of kilometers</a:t>
            </a:r>
          </a:p>
          <a:p>
            <a:pPr>
              <a:spcAft>
                <a:spcPts val="1000"/>
              </a:spcAft>
            </a:pPr>
            <a:r>
              <a:rPr sz="1600" b="0">
                <a:solidFill>
                  <a:srgbClr val="161B26"/>
                </a:solidFill>
                <a:latin typeface="Arial"/>
              </a:rPr>
              <a:t>•  Yellow jacket by convention</a:t>
            </a:r>
          </a:p>
          <a:p>
            <a:pPr>
              <a:spcAft>
                <a:spcPts val="1000"/>
              </a:spcAft>
            </a:pPr>
            <a:r>
              <a:rPr sz="1600" b="0">
                <a:solidFill>
                  <a:srgbClr val="161B26"/>
                </a:solidFill>
                <a:latin typeface="Arial"/>
              </a:rPr>
              <a:t>•  WAN, metro and carrier links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LED/VCSEL source, 50 or 62.5 micron core</a:t>
            </a:r>
          </a:p>
          <a:p>
            <a:pPr>
              <a:spcAft>
                <a:spcPts val="1000"/>
              </a:spcAft>
            </a:pPr>
            <a:r>
              <a:rPr sz="1600" b="0">
                <a:solidFill>
                  <a:srgbClr val="161B26"/>
                </a:solidFill>
                <a:latin typeface="Arial"/>
              </a:rPr>
              <a:t>•  Hundreds of meters (OM3/OM4/OM5)</a:t>
            </a:r>
          </a:p>
          <a:p>
            <a:pPr>
              <a:spcAft>
                <a:spcPts val="1000"/>
              </a:spcAft>
            </a:pPr>
            <a:r>
              <a:rPr sz="1600" b="0">
                <a:solidFill>
                  <a:srgbClr val="161B26"/>
                </a:solidFill>
                <a:latin typeface="Arial"/>
              </a:rPr>
              <a:t>•  Aqua or orange jacket</a:t>
            </a:r>
          </a:p>
          <a:p>
            <a:pPr>
              <a:spcAft>
                <a:spcPts val="1000"/>
              </a:spcAft>
            </a:pPr>
            <a:r>
              <a:rPr sz="1600" b="0">
                <a:solidFill>
                  <a:srgbClr val="161B26"/>
                </a:solidFill>
                <a:latin typeface="Arial"/>
              </a:rPr>
              <a:t>•  Inside buildings and data centers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1.5 · MEDIA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Ethernet Standards to Recognise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Standard</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Speed</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Medium</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Distance</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100BASE-TX</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100 Mbps</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Cat 5 UTP</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100 m</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1000BASE-T</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 Gbps</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Cat 5e UTP</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100 m</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10GBASE-T</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10 Gbps</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Cat 6a UTP</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100 m</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1000BASE-SX</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 Gbps</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Multimode fiber</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~550 m</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1000BASE-LX</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 Gbps</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Single-mode fiber</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5-10 km</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10GBASE-SR / LR</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10 Gbps</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MMF / SMF</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400 m / 10 km</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Read the name: speed, BASE (baseband), then media hint — T twisted pair, S short fiber, L long fiber.</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1.5 · ETHERNET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Hubs, Switches and Domains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CSMA/CD</a:t>
            </a:r>
          </a:p>
          <a:p>
            <a:pPr algn="l">
              <a:spcAft>
                <a:spcPts val="300"/>
              </a:spcAft>
            </a:pPr>
            <a:r>
              <a:rPr sz="1200" b="0">
                <a:solidFill>
                  <a:srgbClr val="5B6372"/>
                </a:solidFill>
                <a:latin typeface="Arial"/>
              </a:rPr>
              <a:t>Hub-era rule: listen before sending, detect collisions, back off and retry.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Collision domain</a:t>
            </a:r>
          </a:p>
          <a:p>
            <a:pPr algn="l">
              <a:spcAft>
                <a:spcPts val="300"/>
              </a:spcAft>
            </a:pPr>
            <a:r>
              <a:rPr sz="1200" b="0">
                <a:solidFill>
                  <a:srgbClr val="5B6372"/>
                </a:solidFill>
                <a:latin typeface="Arial"/>
              </a:rPr>
              <a:t>Where frames can collide — an entire hub, but only a single switch port.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Broadcast domain</a:t>
            </a:r>
          </a:p>
          <a:p>
            <a:pPr algn="l">
              <a:spcAft>
                <a:spcPts val="300"/>
              </a:spcAft>
            </a:pPr>
            <a:r>
              <a:rPr sz="1200" b="0">
                <a:solidFill>
                  <a:srgbClr val="5B6372"/>
                </a:solidFill>
                <a:latin typeface="Arial"/>
              </a:rPr>
              <a:t>How far a broadcast reaches — the whole LAN/VLAN, bounded only by routers.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MAC address table</a:t>
            </a:r>
          </a:p>
          <a:p>
            <a:pPr algn="l">
              <a:spcAft>
                <a:spcPts val="300"/>
              </a:spcAft>
            </a:pPr>
            <a:r>
              <a:rPr sz="1200" b="0">
                <a:solidFill>
                  <a:srgbClr val="5B6372"/>
                </a:solidFill>
                <a:latin typeface="Arial"/>
              </a:rPr>
              <a:t>Switches learn source MACs per port and forward frames only where needed.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Full duplex</a:t>
            </a:r>
          </a:p>
          <a:p>
            <a:pPr algn="l">
              <a:spcAft>
                <a:spcPts val="300"/>
              </a:spcAft>
            </a:pPr>
            <a:r>
              <a:rPr sz="1200" b="0">
                <a:solidFill>
                  <a:srgbClr val="5B6372"/>
                </a:solidFill>
                <a:latin typeface="Arial"/>
              </a:rPr>
              <a:t>Switched ports send and receive simultaneously — collisions disappear.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STP</a:t>
            </a:r>
          </a:p>
          <a:p>
            <a:pPr algn="l">
              <a:spcAft>
                <a:spcPts val="300"/>
              </a:spcAft>
            </a:pPr>
            <a:r>
              <a:rPr sz="1200" b="0">
                <a:solidFill>
                  <a:srgbClr val="5B6372"/>
                </a:solidFill>
                <a:latin typeface="Arial"/>
              </a:rPr>
              <a:t>Spanning Tree Protocol blocks redundant links so switching loops cannot melt the LAN.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1.5 · MEDIA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Cable Ratings and Fire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Plenum (CMP)</a:t>
            </a:r>
          </a:p>
          <a:p>
            <a:pPr algn="l">
              <a:spcAft>
                <a:spcPts val="300"/>
              </a:spcAft>
            </a:pPr>
            <a:r>
              <a:rPr sz="1200" b="0">
                <a:solidFill>
                  <a:srgbClr val="5B6372"/>
                </a:solidFill>
                <a:latin typeface="Arial"/>
              </a:rPr>
              <a:t>Fire-retardant, low-smoke jacket — required in air-handling spaces above ceilings.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Riser (CMR)</a:t>
            </a:r>
          </a:p>
          <a:p>
            <a:pPr algn="l">
              <a:spcAft>
                <a:spcPts val="300"/>
              </a:spcAft>
            </a:pPr>
            <a:r>
              <a:rPr sz="1200" b="0">
                <a:solidFill>
                  <a:srgbClr val="5B6372"/>
                </a:solidFill>
                <a:latin typeface="Arial"/>
              </a:rPr>
              <a:t>Rated for vertical runs between floors — flame-resistant but not plenum-grade.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PVC / non-plenum</a:t>
            </a:r>
          </a:p>
          <a:p>
            <a:pPr algn="l">
              <a:spcAft>
                <a:spcPts val="300"/>
              </a:spcAft>
            </a:pPr>
            <a:r>
              <a:rPr sz="1200" b="0">
                <a:solidFill>
                  <a:srgbClr val="5B6372"/>
                </a:solidFill>
                <a:latin typeface="Arial"/>
              </a:rPr>
              <a:t>General patching only — burns readily and emits toxic smoke.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Check the box</a:t>
            </a:r>
          </a:p>
          <a:p>
            <a:pPr algn="l">
              <a:spcAft>
                <a:spcPts val="300"/>
              </a:spcAft>
            </a:pPr>
            <a:r>
              <a:rPr sz="1200" b="0">
                <a:solidFill>
                  <a:srgbClr val="5B6372"/>
                </a:solidFill>
                <a:latin typeface="Arial"/>
              </a:rPr>
              <a:t>Fire rating is printed on the manufacturer's box and cable jacket — inspectors will.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1.5 · STRUCTURED CABLING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Structured Cabling Spaces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MDF</a:t>
            </a:r>
          </a:p>
          <a:p>
            <a:pPr algn="l">
              <a:spcAft>
                <a:spcPts val="300"/>
              </a:spcAft>
            </a:pPr>
            <a:r>
              <a:rPr sz="1200" b="0">
                <a:solidFill>
                  <a:srgbClr val="5B6372"/>
                </a:solidFill>
                <a:latin typeface="Arial"/>
              </a:rPr>
              <a:t>Main distribution frame — the primary equipment room where the backbone terminates.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IDF</a:t>
            </a:r>
          </a:p>
          <a:p>
            <a:pPr algn="l">
              <a:spcAft>
                <a:spcPts val="300"/>
              </a:spcAft>
            </a:pPr>
            <a:r>
              <a:rPr sz="1200" b="0">
                <a:solidFill>
                  <a:srgbClr val="5B6372"/>
                </a:solidFill>
                <a:latin typeface="Arial"/>
              </a:rPr>
              <a:t>Intermediate frames per floor/zone, uplinked back to the MDF.</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Demarc</a:t>
            </a:r>
          </a:p>
          <a:p>
            <a:pPr algn="l">
              <a:spcAft>
                <a:spcPts val="300"/>
              </a:spcAft>
            </a:pPr>
            <a:r>
              <a:rPr sz="1200" b="0">
                <a:solidFill>
                  <a:srgbClr val="5B6372"/>
                </a:solidFill>
                <a:latin typeface="Arial"/>
              </a:rPr>
              <a:t>Where the provider's responsibility ends and yours begins.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Horizontal run</a:t>
            </a:r>
          </a:p>
          <a:p>
            <a:pPr algn="l">
              <a:spcAft>
                <a:spcPts val="300"/>
              </a:spcAft>
            </a:pPr>
            <a:r>
              <a:rPr sz="1200" b="0">
                <a:solidFill>
                  <a:srgbClr val="5B6372"/>
                </a:solidFill>
                <a:latin typeface="Arial"/>
              </a:rPr>
              <a:t>Solid-core cable from the IDF patch panel to each work-area wall outlet.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Patch panel</a:t>
            </a:r>
          </a:p>
          <a:p>
            <a:pPr algn="l">
              <a:spcAft>
                <a:spcPts val="300"/>
              </a:spcAft>
            </a:pPr>
            <a:r>
              <a:rPr sz="1200" b="0">
                <a:solidFill>
                  <a:srgbClr val="5B6372"/>
                </a:solidFill>
                <a:latin typeface="Arial"/>
              </a:rPr>
              <a:t>110-punchdown terminations for runs; patch cables jump to switch ports.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Racks and U</a:t>
            </a:r>
          </a:p>
          <a:p>
            <a:pPr algn="l">
              <a:spcAft>
                <a:spcPts val="300"/>
              </a:spcAft>
            </a:pPr>
            <a:r>
              <a:rPr sz="1200" b="0">
                <a:solidFill>
                  <a:srgbClr val="5B6372"/>
                </a:solidFill>
                <a:latin typeface="Arial"/>
              </a:rPr>
              <a:t>Equipment racks are 19 inches wide; height is measured in 1.75-inch units (U).</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1.5 · MEDIA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Testing and Locating Cable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Wiremap tester</a:t>
            </a:r>
          </a:p>
          <a:p>
            <a:pPr algn="l">
              <a:spcAft>
                <a:spcPts val="300"/>
              </a:spcAft>
            </a:pPr>
            <a:r>
              <a:rPr sz="1200" b="0">
                <a:solidFill>
                  <a:srgbClr val="5B6372"/>
                </a:solidFill>
                <a:latin typeface="Arial"/>
              </a:rPr>
              <a:t>Verifies each pin lands on the right pin — catches opens, shorts and split pairs.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TDR / OTDR</a:t>
            </a:r>
          </a:p>
          <a:p>
            <a:pPr algn="l">
              <a:spcAft>
                <a:spcPts val="300"/>
              </a:spcAft>
            </a:pPr>
            <a:r>
              <a:rPr sz="1200" b="0">
                <a:solidFill>
                  <a:srgbClr val="5B6372"/>
                </a:solidFill>
                <a:latin typeface="Arial"/>
              </a:rPr>
              <a:t>Time-domain reflectometers measure length and locate mid-cable breaks (optical for fiber).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Toner and probe</a:t>
            </a:r>
          </a:p>
          <a:p>
            <a:pPr algn="l">
              <a:spcAft>
                <a:spcPts val="300"/>
              </a:spcAft>
            </a:pPr>
            <a:r>
              <a:rPr sz="1200" b="0">
                <a:solidFill>
                  <a:srgbClr val="5B6372"/>
                </a:solidFill>
                <a:latin typeface="Arial"/>
              </a:rPr>
              <a:t>The 'fox and hound' — a tone generator plus probe finds one cable in a bundle.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Loopback plug</a:t>
            </a:r>
          </a:p>
          <a:p>
            <a:pPr algn="l">
              <a:spcAft>
                <a:spcPts val="300"/>
              </a:spcAft>
            </a:pPr>
            <a:r>
              <a:rPr sz="1200" b="0">
                <a:solidFill>
                  <a:srgbClr val="5B6372"/>
                </a:solidFill>
                <a:latin typeface="Arial"/>
              </a:rPr>
              <a:t>Tests a NIC's ability to send and receive to itself.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Crosstalk metrics</a:t>
            </a:r>
          </a:p>
          <a:p>
            <a:pPr algn="l">
              <a:spcAft>
                <a:spcPts val="300"/>
              </a:spcAft>
            </a:pPr>
            <a:r>
              <a:rPr sz="1200" b="0">
                <a:solidFill>
                  <a:srgbClr val="5B6372"/>
                </a:solidFill>
                <a:latin typeface="Arial"/>
              </a:rPr>
              <a:t>NEXT/FEXT measurements catch poor terminations that whisper between pairs.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Attenuation</a:t>
            </a:r>
          </a:p>
          <a:p>
            <a:pPr algn="l">
              <a:spcAft>
                <a:spcPts val="300"/>
              </a:spcAft>
            </a:pPr>
            <a:r>
              <a:rPr sz="1200" b="0">
                <a:solidFill>
                  <a:srgbClr val="5B6372"/>
                </a:solidFill>
                <a:latin typeface="Arial"/>
              </a:rPr>
              <a:t>Signal loss over distance — why category ratings carry a length limit.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1.5 · WIRELESS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Media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802.11 Wi-Fi</a:t>
            </a:r>
          </a:p>
          <a:p>
            <a:pPr algn="l">
              <a:spcAft>
                <a:spcPts val="300"/>
              </a:spcAft>
            </a:pPr>
            <a:r>
              <a:rPr sz="1200" b="0">
                <a:solidFill>
                  <a:srgbClr val="5B6372"/>
                </a:solidFill>
                <a:latin typeface="Arial"/>
              </a:rPr>
              <a:t>Unlicensed 2.4/5/6 GHz radio LANs, defined by the IEEE 802.11 family.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Cellular</a:t>
            </a:r>
          </a:p>
          <a:p>
            <a:pPr algn="l">
              <a:spcAft>
                <a:spcPts val="300"/>
              </a:spcAft>
            </a:pPr>
            <a:r>
              <a:rPr sz="1200" b="0">
                <a:solidFill>
                  <a:srgbClr val="5B6372"/>
                </a:solidFill>
                <a:latin typeface="Arial"/>
              </a:rPr>
              <a:t>Carrier-licensed 4G/5G — WAN links for mobile users, IoT and branch backup.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Satellite</a:t>
            </a:r>
          </a:p>
          <a:p>
            <a:pPr algn="l">
              <a:spcAft>
                <a:spcPts val="300"/>
              </a:spcAft>
            </a:pPr>
            <a:r>
              <a:rPr sz="1200" b="0">
                <a:solidFill>
                  <a:srgbClr val="5B6372"/>
                </a:solidFill>
                <a:latin typeface="Arial"/>
              </a:rPr>
              <a:t>Coverage anywhere with sky view; GEO adds ~600 ms latency, LEO constellations far less.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trade</a:t>
            </a:r>
          </a:p>
          <a:p>
            <a:pPr algn="l">
              <a:spcAft>
                <a:spcPts val="300"/>
              </a:spcAft>
            </a:pPr>
            <a:r>
              <a:rPr sz="1200" b="0">
                <a:solidFill>
                  <a:srgbClr val="5B6372"/>
                </a:solidFill>
                <a:latin typeface="Arial"/>
              </a:rPr>
              <a:t>Wireless wins on mobility and reach — traded against interference and shared airtime.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1.5 · TRANSCEIVERS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Transceiver Form Factors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Form factor</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Speed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Notes</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SFP</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1 Gbps</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Hot-swappable; fiber or RJ45</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SFP+</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10 Gbps</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Same cage as SFP</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QSFP</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4 x 1 G / 40 G</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Four lanes in one module</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QSFP+ / QSFP28</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40 G / 100 G</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Spine and uplink ports</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Multi-source agreements (MSAs) keep modules interoperable across vendors — GBIC was the ancestor.</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1.5 · CONNECTORS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Connectors to Recognise on 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LC</a:t>
            </a:r>
          </a:p>
          <a:p>
            <a:pPr algn="l">
              <a:spcAft>
                <a:spcPts val="300"/>
              </a:spcAft>
            </a:pPr>
            <a:r>
              <a:rPr sz="1200" b="0">
                <a:solidFill>
                  <a:srgbClr val="5B6372"/>
                </a:solidFill>
                <a:latin typeface="Arial"/>
              </a:rPr>
              <a:t>Small square duplex fiber connector — the default on SFP modules.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a:t>
            </a:r>
          </a:p>
          <a:p>
            <a:pPr algn="l">
              <a:spcAft>
                <a:spcPts val="300"/>
              </a:spcAft>
            </a:pPr>
            <a:r>
              <a:rPr sz="1200" b="0">
                <a:solidFill>
                  <a:srgbClr val="5B6372"/>
                </a:solidFill>
                <a:latin typeface="Arial"/>
              </a:rPr>
              <a:t>Larger square push-pull fiber connector — 'stick and click'.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t>
            </a:r>
          </a:p>
          <a:p>
            <a:pPr algn="l">
              <a:spcAft>
                <a:spcPts val="300"/>
              </a:spcAft>
            </a:pPr>
            <a:r>
              <a:rPr sz="1200" b="0">
                <a:solidFill>
                  <a:srgbClr val="5B6372"/>
                </a:solidFill>
                <a:latin typeface="Arial"/>
              </a:rPr>
              <a:t>Round bayonet-twist fiber connector on legacy multimode plants.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MPO / MTP</a:t>
            </a:r>
          </a:p>
          <a:p>
            <a:pPr algn="l">
              <a:spcAft>
                <a:spcPts val="300"/>
              </a:spcAft>
            </a:pPr>
            <a:r>
              <a:rPr sz="1200" b="0">
                <a:solidFill>
                  <a:srgbClr val="5B6372"/>
                </a:solidFill>
                <a:latin typeface="Arial"/>
              </a:rPr>
              <a:t>Multi-fiber ribbon connector feeding 40/100G parallel optics.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RJ45 and RJ11</a:t>
            </a:r>
          </a:p>
          <a:p>
            <a:pPr algn="l">
              <a:spcAft>
                <a:spcPts val="300"/>
              </a:spcAft>
            </a:pPr>
            <a:r>
              <a:rPr sz="1200" b="0">
                <a:solidFill>
                  <a:srgbClr val="5B6372"/>
                </a:solidFill>
                <a:latin typeface="Arial"/>
              </a:rPr>
              <a:t>8-pin Ethernet jack vs the smaller 4/6-pin telephone jack.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F-type and BNC</a:t>
            </a:r>
          </a:p>
          <a:p>
            <a:pPr algn="l">
              <a:spcAft>
                <a:spcPts val="300"/>
              </a:spcAft>
            </a:pPr>
            <a:r>
              <a:rPr sz="1200" b="0">
                <a:solidFill>
                  <a:srgbClr val="5B6372"/>
                </a:solidFill>
                <a:latin typeface="Arial"/>
              </a:rPr>
              <a:t>Threaded and bayonet coax connectors for broadband and lab gear.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1.6 · TOPOLOGIES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Network Topologies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Star / hub-and-spoke</a:t>
            </a:r>
          </a:p>
          <a:p>
            <a:pPr algn="l">
              <a:spcAft>
                <a:spcPts val="300"/>
              </a:spcAft>
            </a:pPr>
            <a:r>
              <a:rPr sz="1200" b="0">
                <a:solidFill>
                  <a:srgbClr val="5B6372"/>
                </a:solidFill>
                <a:latin typeface="Arial"/>
              </a:rPr>
              <a:t>All nodes home to a central device — today's standard LAN; the center is the failure point.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Full mesh</a:t>
            </a:r>
          </a:p>
          <a:p>
            <a:pPr algn="l">
              <a:spcAft>
                <a:spcPts val="300"/>
              </a:spcAft>
            </a:pPr>
            <a:r>
              <a:rPr sz="1200" b="0">
                <a:solidFill>
                  <a:srgbClr val="5B6372"/>
                </a:solidFill>
                <a:latin typeface="Arial"/>
              </a:rPr>
              <a:t>Every node links to every other: n(n-1)/2 links — maximum resilience, maximum cost.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Partial mesh / hybrid</a:t>
            </a:r>
          </a:p>
          <a:p>
            <a:pPr algn="l">
              <a:spcAft>
                <a:spcPts val="300"/>
              </a:spcAft>
            </a:pPr>
            <a:r>
              <a:rPr sz="1200" b="0">
                <a:solidFill>
                  <a:srgbClr val="5B6372"/>
                </a:solidFill>
                <a:latin typeface="Arial"/>
              </a:rPr>
              <a:t>Key sites meshed, others single-homed — the practical WAN compromise.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Point-to-point</a:t>
            </a:r>
          </a:p>
          <a:p>
            <a:pPr algn="l">
              <a:spcAft>
                <a:spcPts val="300"/>
              </a:spcAft>
            </a:pPr>
            <a:r>
              <a:rPr sz="1200" b="0">
                <a:solidFill>
                  <a:srgbClr val="5B6372"/>
                </a:solidFill>
                <a:latin typeface="Arial"/>
              </a:rPr>
              <a:t>One dedicated link between two endpoints — leased lines and wireless bridges.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Bus and ring (legacy)</a:t>
            </a:r>
          </a:p>
          <a:p>
            <a:pPr algn="l">
              <a:spcAft>
                <a:spcPts val="300"/>
              </a:spcAft>
            </a:pPr>
            <a:r>
              <a:rPr sz="1200" b="0">
                <a:solidFill>
                  <a:srgbClr val="5B6372"/>
                </a:solidFill>
                <a:latin typeface="Arial"/>
              </a:rPr>
              <a:t>Shared coax and token passing — obsolete, but the exam expects recognition.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Physical vs logical</a:t>
            </a:r>
          </a:p>
          <a:p>
            <a:pPr algn="l">
              <a:spcAft>
                <a:spcPts val="300"/>
              </a:spcAft>
            </a:pPr>
            <a:r>
              <a:rPr sz="1200" b="0">
                <a:solidFill>
                  <a:srgbClr val="5B6372"/>
                </a:solidFill>
                <a:latin typeface="Arial"/>
              </a:rPr>
              <a:t>The cabling layout and the data flow can differ — describe both when documenting.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1.6 · TOPOLOGIES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Choosing a Topology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Topology</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Resilience</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Cost</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Best fit</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Star</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Low (center fails)</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Low</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Access LANs</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Full mesh</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Highest</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Highest</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Small WAN cores</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Partial mesh</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High</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Medium</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Regional WANs</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Hub-and-spoke</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Low</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Low</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Branch-to-HQ, SD-WAN</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Point-to-point</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Per-link</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Low</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Site interconnects</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Count the links before you promise resilience — every extra path is money and management.</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1.6 · ARCHITECTURES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Three-Tier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328879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13817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817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Core</a:t>
            </a:r>
          </a:p>
        </p:txBody>
      </p:sp>
      <p:sp>
        <p:nvSpPr>
          <p:cNvPr id="12" name="TextBox 11"/>
          <p:cNvSpPr txBox="1"/>
          <p:nvPr/>
        </p:nvSpPr>
        <p:spPr>
          <a:xfrm>
            <a:off x="86868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fast, resilient L3</a:t>
            </a:r>
          </a:p>
        </p:txBody>
      </p:sp>
      <p:cxnSp>
        <p:nvCxnSpPr>
          <p:cNvPr id="13" name="Connector 12"/>
          <p:cNvCxnSpPr/>
          <p:nvPr/>
        </p:nvCxnSpPr>
        <p:spPr>
          <a:xfrm>
            <a:off x="412089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45008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50080" y="2148840"/>
            <a:ext cx="328879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457809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Distribution</a:t>
            </a:r>
          </a:p>
        </p:txBody>
      </p:sp>
      <p:sp>
        <p:nvSpPr>
          <p:cNvPr id="19" name="TextBox 18"/>
          <p:cNvSpPr txBox="1"/>
          <p:nvPr/>
        </p:nvSpPr>
        <p:spPr>
          <a:xfrm>
            <a:off x="454152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policy + routing</a:t>
            </a:r>
          </a:p>
        </p:txBody>
      </p:sp>
      <p:cxnSp>
        <p:nvCxnSpPr>
          <p:cNvPr id="20" name="Connector 19"/>
          <p:cNvCxnSpPr/>
          <p:nvPr/>
        </p:nvCxnSpPr>
        <p:spPr>
          <a:xfrm>
            <a:off x="779373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2292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2920" y="2148840"/>
            <a:ext cx="328879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48385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8385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825093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Access</a:t>
            </a:r>
          </a:p>
        </p:txBody>
      </p:sp>
      <p:sp>
        <p:nvSpPr>
          <p:cNvPr id="26" name="TextBox 25"/>
          <p:cNvSpPr txBox="1"/>
          <p:nvPr/>
        </p:nvSpPr>
        <p:spPr>
          <a:xfrm>
            <a:off x="821436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user &amp; server ports</a:t>
            </a:r>
          </a:p>
        </p:txBody>
      </p:sp>
      <p:sp>
        <p:nvSpPr>
          <p:cNvPr id="27" name="Rectangle 26"/>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WHY IT MATTERS</a:t>
            </a:r>
          </a:p>
        </p:txBody>
      </p:sp>
      <p:sp>
        <p:nvSpPr>
          <p:cNvPr id="30" name="TextBox 29"/>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Each tier has one job: access connects hosts, distribution applies policy, core moves packets fast. Collapsed core merges the top two for smaller sites.</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1.6 · ARCHITECTURES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Spine-and-Leaf vs Three-Tier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Three-tier (classic)</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Spine-and-leaf (modern DC)</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Optimised for north-south client traffic</a:t>
            </a:r>
          </a:p>
          <a:p>
            <a:pPr>
              <a:spcAft>
                <a:spcPts val="1000"/>
              </a:spcAft>
            </a:pPr>
            <a:r>
              <a:rPr sz="1600" b="0">
                <a:solidFill>
                  <a:srgbClr val="161B26"/>
                </a:solidFill>
                <a:latin typeface="Arial"/>
              </a:rPr>
              <a:t>•  Hosts can be several hops apart</a:t>
            </a:r>
          </a:p>
          <a:p>
            <a:pPr>
              <a:spcAft>
                <a:spcPts val="1000"/>
              </a:spcAft>
            </a:pPr>
            <a:r>
              <a:rPr sz="1600" b="0">
                <a:solidFill>
                  <a:srgbClr val="161B26"/>
                </a:solidFill>
                <a:latin typeface="Arial"/>
              </a:rPr>
              <a:t>•  STP blocks redundant links</a:t>
            </a:r>
          </a:p>
          <a:p>
            <a:pPr>
              <a:spcAft>
                <a:spcPts val="1000"/>
              </a:spcAft>
            </a:pPr>
            <a:r>
              <a:rPr sz="1600" b="0">
                <a:solidFill>
                  <a:srgbClr val="161B26"/>
                </a:solidFill>
                <a:latin typeface="Arial"/>
              </a:rPr>
              <a:t>•  Scale up: buy bigger core boxes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Optimised for east-west server traffic</a:t>
            </a:r>
          </a:p>
          <a:p>
            <a:pPr>
              <a:spcAft>
                <a:spcPts val="1000"/>
              </a:spcAft>
            </a:pPr>
            <a:r>
              <a:rPr sz="1600" b="0">
                <a:solidFill>
                  <a:srgbClr val="161B26"/>
                </a:solidFill>
                <a:latin typeface="Arial"/>
              </a:rPr>
              <a:t>•  Any leaf is two hops from any leaf</a:t>
            </a:r>
          </a:p>
          <a:p>
            <a:pPr>
              <a:spcAft>
                <a:spcPts val="1000"/>
              </a:spcAft>
            </a:pPr>
            <a:r>
              <a:rPr sz="1600" b="0">
                <a:solidFill>
                  <a:srgbClr val="161B26"/>
                </a:solidFill>
                <a:latin typeface="Arial"/>
              </a:rPr>
              <a:t>•  All links active with ECMP routing</a:t>
            </a:r>
          </a:p>
          <a:p>
            <a:pPr>
              <a:spcAft>
                <a:spcPts val="1000"/>
              </a:spcAft>
            </a:pPr>
            <a:r>
              <a:rPr sz="1600" b="0">
                <a:solidFill>
                  <a:srgbClr val="161B26"/>
                </a:solidFill>
                <a:latin typeface="Arial"/>
              </a:rPr>
              <a:t>•  Scale out: add spines and leaves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1.6 · NETWORK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Traffic Flows and Network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North-south</a:t>
            </a:r>
          </a:p>
          <a:p>
            <a:pPr algn="l">
              <a:spcAft>
                <a:spcPts val="300"/>
              </a:spcAft>
            </a:pPr>
            <a:r>
              <a:rPr sz="1200" b="0">
                <a:solidFill>
                  <a:srgbClr val="5B6372"/>
                </a:solidFill>
                <a:latin typeface="Arial"/>
              </a:rPr>
              <a:t>Traffic entering or leaving the data center — client to server.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East-west</a:t>
            </a:r>
          </a:p>
          <a:p>
            <a:pPr algn="l">
              <a:spcAft>
                <a:spcPts val="300"/>
              </a:spcAft>
            </a:pPr>
            <a:r>
              <a:rPr sz="1200" b="0">
                <a:solidFill>
                  <a:srgbClr val="5B6372"/>
                </a:solidFill>
                <a:latin typeface="Arial"/>
              </a:rPr>
              <a:t>Server-to-server traffic inside the DC — dominant since virtualization and microservices.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LAN / WLAN</a:t>
            </a:r>
          </a:p>
          <a:p>
            <a:pPr algn="l">
              <a:spcAft>
                <a:spcPts val="300"/>
              </a:spcAft>
            </a:pPr>
            <a:r>
              <a:rPr sz="1200" b="0">
                <a:solidFill>
                  <a:srgbClr val="5B6372"/>
                </a:solidFill>
                <a:latin typeface="Arial"/>
              </a:rPr>
              <a:t>A single site's wired or wireless network.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WAN</a:t>
            </a:r>
          </a:p>
          <a:p>
            <a:pPr algn="l">
              <a:spcAft>
                <a:spcPts val="300"/>
              </a:spcAft>
            </a:pPr>
            <a:r>
              <a:rPr sz="1200" b="0">
                <a:solidFill>
                  <a:srgbClr val="5B6372"/>
                </a:solidFill>
                <a:latin typeface="Arial"/>
              </a:rPr>
              <a:t>Links sites across geography — the Internet is the biggest WAN of all.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CAN / MAN</a:t>
            </a:r>
          </a:p>
          <a:p>
            <a:pPr algn="l">
              <a:spcAft>
                <a:spcPts val="300"/>
              </a:spcAft>
            </a:pPr>
            <a:r>
              <a:rPr sz="1200" b="0">
                <a:solidFill>
                  <a:srgbClr val="5B6372"/>
                </a:solidFill>
                <a:latin typeface="Arial"/>
              </a:rPr>
              <a:t>Campus and metropolitan scale sit between LAN and WAN.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PAN</a:t>
            </a:r>
          </a:p>
          <a:p>
            <a:pPr algn="l">
              <a:spcAft>
                <a:spcPts val="300"/>
              </a:spcAft>
            </a:pPr>
            <a:r>
              <a:rPr sz="1200" b="0">
                <a:solidFill>
                  <a:srgbClr val="5B6372"/>
                </a:solidFill>
                <a:latin typeface="Arial"/>
              </a:rPr>
              <a:t>Personal-area links: Bluetooth, USB tethering, wearables.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1.6 · NETWORK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Special-Purpose Networks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IoT devices</a:t>
            </a:r>
          </a:p>
          <a:p>
            <a:pPr algn="l">
              <a:spcAft>
                <a:spcPts val="300"/>
              </a:spcAft>
            </a:pPr>
            <a:r>
              <a:rPr sz="1200" b="0">
                <a:solidFill>
                  <a:srgbClr val="5B6372"/>
                </a:solidFill>
                <a:latin typeface="Arial"/>
              </a:rPr>
              <a:t>Sensors, cameras, controllers — isolate on their own SSID/VLAN with ACLs; patch firmware.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VoIP / UC</a:t>
            </a:r>
          </a:p>
          <a:p>
            <a:pPr algn="l">
              <a:spcAft>
                <a:spcPts val="300"/>
              </a:spcAft>
            </a:pPr>
            <a:r>
              <a:rPr sz="1200" b="0">
                <a:solidFill>
                  <a:srgbClr val="5B6372"/>
                </a:solidFill>
                <a:latin typeface="Arial"/>
              </a:rPr>
              <a:t>Voice, video and chat over IP: SIP signalling on 5060/5061, RTP media streams.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ICS / SCADA</a:t>
            </a:r>
          </a:p>
          <a:p>
            <a:pPr algn="l">
              <a:spcAft>
                <a:spcPts val="300"/>
              </a:spcAft>
            </a:pPr>
            <a:r>
              <a:rPr sz="1200" b="0">
                <a:solidFill>
                  <a:srgbClr val="5B6372"/>
                </a:solidFill>
                <a:latin typeface="Arial"/>
              </a:rPr>
              <a:t>Industrial control: PLCs, HMIs and RTUs supervised over wide areas — segment strictly from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Storage networks</a:t>
            </a:r>
          </a:p>
          <a:p>
            <a:pPr algn="l">
              <a:spcAft>
                <a:spcPts val="300"/>
              </a:spcAft>
            </a:pPr>
            <a:r>
              <a:rPr sz="1200" b="0">
                <a:solidFill>
                  <a:srgbClr val="5B6372"/>
                </a:solidFill>
                <a:latin typeface="Arial"/>
              </a:rPr>
              <a:t>NAS/SAN traffic often rides its own network for performance and isolation.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OBJ 1.7 · IPv4 ADDRESSING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IP addressing is the most-rewarded skill on the exam.</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Every router, firewall rule and cloud VPC starts with correct CIDR math — this section builds it from binary upward.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1.7 · IPv4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IPv4 Address Anatomy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32 bits, four octets</a:t>
            </a:r>
          </a:p>
          <a:p>
            <a:pPr algn="l">
              <a:spcAft>
                <a:spcPts val="300"/>
              </a:spcAft>
            </a:pPr>
            <a:r>
              <a:rPr sz="1200" b="0">
                <a:solidFill>
                  <a:srgbClr val="5B6372"/>
                </a:solidFill>
                <a:latin typeface="Arial"/>
              </a:rPr>
              <a:t>Dotted decimal such as 192.168.4.12 — each octet ranges 0-255.</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Network + host portions</a:t>
            </a:r>
          </a:p>
          <a:p>
            <a:pPr algn="l">
              <a:spcAft>
                <a:spcPts val="300"/>
              </a:spcAft>
            </a:pPr>
            <a:r>
              <a:rPr sz="1200" b="0">
                <a:solidFill>
                  <a:srgbClr val="5B6372"/>
                </a:solidFill>
                <a:latin typeface="Arial"/>
              </a:rPr>
              <a:t>The subnet mask draws the boundary line between the two.</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Binary underneath</a:t>
            </a:r>
          </a:p>
          <a:p>
            <a:pPr algn="l">
              <a:spcAft>
                <a:spcPts val="300"/>
              </a:spcAft>
            </a:pPr>
            <a:r>
              <a:rPr sz="1200" b="0">
                <a:solidFill>
                  <a:srgbClr val="5B6372"/>
                </a:solidFill>
                <a:latin typeface="Arial"/>
              </a:rPr>
              <a:t>192 is 11000000 — subnetting is just moving the 1s/0s boundary rightward.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Subnet mask</a:t>
            </a:r>
          </a:p>
          <a:p>
            <a:pPr algn="l">
              <a:spcAft>
                <a:spcPts val="300"/>
              </a:spcAft>
            </a:pPr>
            <a:r>
              <a:rPr sz="1200" b="0">
                <a:solidFill>
                  <a:srgbClr val="5B6372"/>
                </a:solidFill>
                <a:latin typeface="Arial"/>
              </a:rPr>
              <a:t>All 1s on the left, all 0s on the right — 255.255.255.0 is written /24 in CIDR.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Default gateway</a:t>
            </a:r>
          </a:p>
          <a:p>
            <a:pPr algn="l">
              <a:spcAft>
                <a:spcPts val="300"/>
              </a:spcAft>
            </a:pPr>
            <a:r>
              <a:rPr sz="1200" b="0">
                <a:solidFill>
                  <a:srgbClr val="5B6372"/>
                </a:solidFill>
                <a:latin typeface="Arial"/>
              </a:rPr>
              <a:t>The local router interface a host uses to reach remote networks.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Unique per network</a:t>
            </a:r>
          </a:p>
          <a:p>
            <a:pPr algn="l">
              <a:spcAft>
                <a:spcPts val="300"/>
              </a:spcAft>
            </a:pPr>
            <a:r>
              <a:rPr sz="1200" b="0">
                <a:solidFill>
                  <a:srgbClr val="5B6372"/>
                </a:solidFill>
                <a:latin typeface="Arial"/>
              </a:rPr>
              <a:t>Duplicate IPs break connectivity — usually a rogue static assignment.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1.7 · IPv4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Decimal to Binary, the Exam Way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Each octet is 8 bits with place values 128 64 32 16 8 4 2 1.</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Place: 128  64  32  16   8   4   2   1</a:t>
            </a:r>
          </a:p>
          <a:p>
            <a:pPr>
              <a:spcAft>
                <a:spcPts val="200"/>
              </a:spcAft>
            </a:pPr>
            <a:r>
              <a:rPr sz="1100">
                <a:solidFill>
                  <a:srgbClr val="9CDCFE"/>
                </a:solidFill>
                <a:latin typeface="Consolas"/>
              </a:rPr>
              <a:t/>
            </a:r>
          </a:p>
          <a:p>
            <a:pPr>
              <a:spcAft>
                <a:spcPts val="200"/>
              </a:spcAft>
            </a:pPr>
            <a:r>
              <a:rPr sz="1100">
                <a:solidFill>
                  <a:srgbClr val="9CDCFE"/>
                </a:solidFill>
                <a:latin typeface="Consolas"/>
              </a:rPr>
              <a:t>171 -&gt; 128? yes (43 left)   64? no</a:t>
            </a:r>
          </a:p>
          <a:p>
            <a:pPr>
              <a:spcAft>
                <a:spcPts val="200"/>
              </a:spcAft>
            </a:pPr>
            <a:r>
              <a:rPr sz="1100">
                <a:solidFill>
                  <a:srgbClr val="9CDCFE"/>
                </a:solidFill>
                <a:latin typeface="Consolas"/>
              </a:rPr>
              <a:t>        32? yes (11 left)   16? no</a:t>
            </a:r>
          </a:p>
          <a:p>
            <a:pPr>
              <a:spcAft>
                <a:spcPts val="200"/>
              </a:spcAft>
            </a:pPr>
            <a:r>
              <a:rPr sz="1100">
                <a:solidFill>
                  <a:srgbClr val="9CDCFE"/>
                </a:solidFill>
                <a:latin typeface="Consolas"/>
              </a:rPr>
              <a:t>         8? yes (3 left)     4? no</a:t>
            </a:r>
          </a:p>
          <a:p>
            <a:pPr>
              <a:spcAft>
                <a:spcPts val="200"/>
              </a:spcAft>
            </a:pPr>
            <a:r>
              <a:rPr sz="1100">
                <a:solidFill>
                  <a:srgbClr val="9CDCFE"/>
                </a:solidFill>
                <a:latin typeface="Consolas"/>
              </a:rPr>
              <a:t>         2? yes              1? yes</a:t>
            </a:r>
          </a:p>
          <a:p>
            <a:pPr>
              <a:spcAft>
                <a:spcPts val="200"/>
              </a:spcAft>
            </a:pPr>
            <a:r>
              <a:rPr sz="1100">
                <a:solidFill>
                  <a:srgbClr val="D4D4D4"/>
                </a:solidFill>
                <a:latin typeface="Consolas"/>
              </a:rPr>
              <a:t>171  =  1 0 1 0 1 0 1 1</a:t>
            </a:r>
          </a:p>
          <a:p>
            <a:pPr>
              <a:spcAft>
                <a:spcPts val="200"/>
              </a:spcAft>
            </a:pPr>
            <a:r>
              <a:rPr sz="1100">
                <a:solidFill>
                  <a:srgbClr val="9CDCFE"/>
                </a:solidFill>
                <a:latin typeface="Consolas"/>
              </a:rPr>
              <a:t/>
            </a:r>
          </a:p>
          <a:p>
            <a:pPr>
              <a:spcAft>
                <a:spcPts val="200"/>
              </a:spcAft>
            </a:pPr>
            <a:r>
              <a:rPr sz="1100">
                <a:solidFill>
                  <a:srgbClr val="D4D4D4"/>
                </a:solidFill>
                <a:latin typeface="Consolas"/>
              </a:rPr>
              <a:t>224  =  11100000     95 = 01011111</a:t>
            </a:r>
          </a:p>
          <a:p>
            <a:pPr>
              <a:spcAft>
                <a:spcPts val="200"/>
              </a:spcAft>
            </a:pPr>
            <a:r>
              <a:rPr sz="1100">
                <a:solidFill>
                  <a:srgbClr val="D4D4D4"/>
                </a:solidFill>
                <a:latin typeface="Consolas"/>
              </a:rPr>
              <a:t>255  =  11111111      0 = 00000000</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Method</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Subtract the largest place value that fits and write 1; write 0 where it does not fit.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Check</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place values you marked with 1 must sum back to the original number.</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Why bother</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Masks and CIDR boundaries only make sense at the bit level — this is the foundation.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OBJ 1.7 · IPv4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Classful Addressing (Historical)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Class</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First octet</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Default mask</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Purpose</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1-126</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/8 (255.0.0.0)</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Huge networks</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B</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128-191</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/16 (255.255.0.0)</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Medium networks</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192-223</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/24 (255.255.255.0)</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Small networks</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224-239</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Multicast</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240-255</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Experimental</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5B6372"/>
                </a:solidFill>
                <a:latin typeface="Arial"/>
              </a:rPr>
              <a:t>WHEN IT MATTERS  </a:t>
            </a:r>
            <a:r>
              <a:rPr sz="1200" b="0">
                <a:solidFill>
                  <a:srgbClr val="161B26"/>
                </a:solidFill>
                <a:latin typeface="Arial"/>
              </a:rPr>
              <a:t>127.x.x.x is reserved for loopback. CIDR replaced classes in 1993, but the exam still tests them.</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1.7 · IPv4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RFC 1918 Private Ranges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CIDR block</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Range</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Addresses</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Typical use</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10.0.0.0/8</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10.0.0.0 - 10.255.255.255</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16.7 M</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Enterprises, clouds</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172.16.0.0/12</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172.16.0.0 - 172.31.255.255</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1 M</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Mid-size nets, VPCs</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192.168.0.0/16</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192.168.0.0 - 192.168.255.255</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65,536</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Home and SOHO</a:t>
            </a:r>
          </a:p>
        </p:txBody>
      </p:sp>
      <p:sp>
        <p:nvSpPr>
          <p:cNvPr id="39" name="Rectangle 38"/>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4599432"/>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Private addresses never route on the Internet — NAT translates them at the edge.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1.7 · IPv4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Special IPv4 Addresses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127.0.0.1</a:t>
            </a:r>
          </a:p>
          <a:p>
            <a:pPr algn="l">
              <a:spcAft>
                <a:spcPts val="300"/>
              </a:spcAft>
            </a:pPr>
            <a:r>
              <a:rPr sz="1200" b="0">
                <a:solidFill>
                  <a:srgbClr val="5B6372"/>
                </a:solidFill>
                <a:latin typeface="Arial"/>
              </a:rPr>
              <a:t>IPv4 loopback — the host talking to itself; IPv6 uses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169.254.x.x (APIPA)</a:t>
            </a:r>
          </a:p>
          <a:p>
            <a:pPr algn="l">
              <a:spcAft>
                <a:spcPts val="300"/>
              </a:spcAft>
            </a:pPr>
            <a:r>
              <a:rPr sz="1200" b="0">
                <a:solidFill>
                  <a:srgbClr val="5B6372"/>
                </a:solidFill>
                <a:latin typeface="Arial"/>
              </a:rPr>
              <a:t>Self-assigned when DHCP fails — a client stuck here cannot reach its DHCP server.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Network address</a:t>
            </a:r>
          </a:p>
          <a:p>
            <a:pPr algn="l">
              <a:spcAft>
                <a:spcPts val="300"/>
              </a:spcAft>
            </a:pPr>
            <a:r>
              <a:rPr sz="1200" b="0">
                <a:solidFill>
                  <a:srgbClr val="5B6372"/>
                </a:solidFill>
                <a:latin typeface="Arial"/>
              </a:rPr>
              <a:t>Host bits all 0 — names the subnet itself; never assignable to a host.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Broadcast address</a:t>
            </a:r>
          </a:p>
          <a:p>
            <a:pPr algn="l">
              <a:spcAft>
                <a:spcPts val="300"/>
              </a:spcAft>
            </a:pPr>
            <a:r>
              <a:rPr sz="1200" b="0">
                <a:solidFill>
                  <a:srgbClr val="5B6372"/>
                </a:solidFill>
                <a:latin typeface="Arial"/>
              </a:rPr>
              <a:t>Host bits all 1 — reaches every host on the subnet.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0.0.0.0</a:t>
            </a:r>
          </a:p>
          <a:p>
            <a:pPr algn="l">
              <a:spcAft>
                <a:spcPts val="300"/>
              </a:spcAft>
            </a:pPr>
            <a:r>
              <a:rPr sz="1200" b="0">
                <a:solidFill>
                  <a:srgbClr val="5B6372"/>
                </a:solidFill>
                <a:latin typeface="Arial"/>
              </a:rPr>
              <a:t>The 'any' address — unconfigured source, or the default route 0.0.0.0/0.</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Public addresses</a:t>
            </a:r>
          </a:p>
          <a:p>
            <a:pPr algn="l">
              <a:spcAft>
                <a:spcPts val="300"/>
              </a:spcAft>
            </a:pPr>
            <a:r>
              <a:rPr sz="1200" b="0">
                <a:solidFill>
                  <a:srgbClr val="5B6372"/>
                </a:solidFill>
                <a:latin typeface="Arial"/>
              </a:rPr>
              <a:t>Everything routable outside private/reserved space — allocated through RIRs.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1.7 · IPv4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NAT Hides Private Addresses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Host 192.168.1.10 sends toward 8.8.8.8</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Edge router swaps source to its public IP</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Translation recorded in the NAT table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Reply arrives at the public address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Router maps it back to the private host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1.7 · ARP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ARP: Gluing Layer 3 to Layer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problem</a:t>
            </a:r>
          </a:p>
          <a:p>
            <a:pPr algn="l">
              <a:spcAft>
                <a:spcPts val="300"/>
              </a:spcAft>
            </a:pPr>
            <a:r>
              <a:rPr sz="1200" b="0">
                <a:solidFill>
                  <a:srgbClr val="5B6372"/>
                </a:solidFill>
                <a:latin typeface="Arial"/>
              </a:rPr>
              <a:t>A host knows the destination IP, but the frame it builds needs a destination MAC.</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ARP request</a:t>
            </a:r>
          </a:p>
          <a:p>
            <a:pPr algn="l">
              <a:spcAft>
                <a:spcPts val="300"/>
              </a:spcAft>
            </a:pPr>
            <a:r>
              <a:rPr sz="1200" b="0">
                <a:solidFill>
                  <a:srgbClr val="5B6372"/>
                </a:solidFill>
                <a:latin typeface="Arial"/>
              </a:rPr>
              <a:t>Broadcast: 'Who has 192.168.1.1?' — every host in the broadcast domain hears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ARP reply</a:t>
            </a:r>
          </a:p>
          <a:p>
            <a:pPr algn="l">
              <a:spcAft>
                <a:spcPts val="300"/>
              </a:spcAft>
            </a:pPr>
            <a:r>
              <a:rPr sz="1200" b="0">
                <a:solidFill>
                  <a:srgbClr val="5B6372"/>
                </a:solidFill>
                <a:latin typeface="Arial"/>
              </a:rPr>
              <a:t>The owner answers unicast with its MAC; the mapping is cached for reuse.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arp -a / ip neigh</a:t>
            </a:r>
          </a:p>
          <a:p>
            <a:pPr algn="l">
              <a:spcAft>
                <a:spcPts val="300"/>
              </a:spcAft>
            </a:pPr>
            <a:r>
              <a:rPr sz="1200" b="0">
                <a:solidFill>
                  <a:srgbClr val="5B6372"/>
                </a:solidFill>
                <a:latin typeface="Arial"/>
              </a:rPr>
              <a:t>Inspect the cache — stale or poisoned entries cause 'unreachable' faults.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1.7 · IPv4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Local or Remote? The Mask Decides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AND your IP with the subnet mask</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AND the destination with the same mask</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Results equal? The destination is local</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Local: ARP for the destination's MAC</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Remote: ARP for the default gateway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1.7 · SUBNETTING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CIDR: Splitting a /24 into /26s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Borrow 2 host bits: 2^2 = 4 subnets, 2^6 - 2 = 62 hosts each.</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192.168.10.0/24  -&gt;  four /26 blocks of 64</a:t>
            </a:r>
          </a:p>
          <a:p>
            <a:pPr>
              <a:spcAft>
                <a:spcPts val="200"/>
              </a:spcAft>
            </a:pPr>
            <a:r>
              <a:rPr sz="1100">
                <a:solidFill>
                  <a:srgbClr val="9CDCFE"/>
                </a:solidFill>
                <a:latin typeface="Consolas"/>
              </a:rPr>
              <a:t/>
            </a:r>
          </a:p>
          <a:p>
            <a:pPr>
              <a:spcAft>
                <a:spcPts val="200"/>
              </a:spcAft>
            </a:pPr>
            <a:r>
              <a:rPr sz="1100">
                <a:solidFill>
                  <a:srgbClr val="9CDCFE"/>
                </a:solidFill>
                <a:latin typeface="Consolas"/>
              </a:rPr>
              <a:t>Sub  Network         First  Last   Bcast</a:t>
            </a:r>
          </a:p>
          <a:p>
            <a:pPr>
              <a:spcAft>
                <a:spcPts val="200"/>
              </a:spcAft>
            </a:pPr>
            <a:r>
              <a:rPr sz="1100">
                <a:solidFill>
                  <a:srgbClr val="9CDCFE"/>
                </a:solidFill>
                <a:latin typeface="Consolas"/>
              </a:rPr>
              <a:t>1    192.168.10.0    .1     .62    .63</a:t>
            </a:r>
          </a:p>
          <a:p>
            <a:pPr>
              <a:spcAft>
                <a:spcPts val="200"/>
              </a:spcAft>
            </a:pPr>
            <a:r>
              <a:rPr sz="1100">
                <a:solidFill>
                  <a:srgbClr val="9CDCFE"/>
                </a:solidFill>
                <a:latin typeface="Consolas"/>
              </a:rPr>
              <a:t>2    192.168.10.64   .65    .126   .127</a:t>
            </a:r>
          </a:p>
          <a:p>
            <a:pPr>
              <a:spcAft>
                <a:spcPts val="200"/>
              </a:spcAft>
            </a:pPr>
            <a:r>
              <a:rPr sz="1100">
                <a:solidFill>
                  <a:srgbClr val="9CDCFE"/>
                </a:solidFill>
                <a:latin typeface="Consolas"/>
              </a:rPr>
              <a:t>3    192.168.10.128  .129   .190   .191</a:t>
            </a:r>
          </a:p>
          <a:p>
            <a:pPr>
              <a:spcAft>
                <a:spcPts val="200"/>
              </a:spcAft>
            </a:pPr>
            <a:r>
              <a:rPr sz="1100">
                <a:solidFill>
                  <a:srgbClr val="9CDCFE"/>
                </a:solidFill>
                <a:latin typeface="Consolas"/>
              </a:rPr>
              <a:t>4    192.168.10.192  .193   .254   .255</a:t>
            </a:r>
          </a:p>
          <a:p>
            <a:pPr>
              <a:spcAft>
                <a:spcPts val="200"/>
              </a:spcAft>
            </a:pPr>
            <a:r>
              <a:rPr sz="1100">
                <a:solidFill>
                  <a:srgbClr val="9CDCFE"/>
                </a:solidFill>
                <a:latin typeface="Consolas"/>
              </a:rPr>
              <a:t/>
            </a:r>
          </a:p>
          <a:p>
            <a:pPr>
              <a:spcAft>
                <a:spcPts val="200"/>
              </a:spcAft>
            </a:pPr>
            <a:r>
              <a:rPr sz="1100">
                <a:solidFill>
                  <a:srgbClr val="D4D4D4"/>
                </a:solidFill>
                <a:latin typeface="Consolas"/>
              </a:rPr>
              <a:t>Mask /26 = 255.255.255.192  (...11000000)</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Block size</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256 - 192 = 64, so subnets start every 64: .0, .64, .128, .192.</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Usable hosts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64 addresses minus network and broadcast leaves 62 per subnet.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Verify</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TIS IP Calculator confirms every range — exactly what you do in Lab 2.</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1.7 · SUBNETTING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CIDR Host Counts to Memorise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Prefix</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Mask</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Subnets from a /24</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Usable hosts</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/25</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255.255.255.128</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126</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/26</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255.255.255.192</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4</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62</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/27</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255.255.255.224</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8</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30</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/28</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255.255.255.240</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16</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14</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/29</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255.255.255.248</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32</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6</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/30</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255.255.255.252</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64</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 (P2P links)</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Pattern: each bit borrowed doubles the subnets and roughly halves the hosts.</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1.7 · SUBNETTING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VLSM: Right-Sizing Subnets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idea</a:t>
            </a:r>
          </a:p>
          <a:p>
            <a:pPr algn="l">
              <a:spcAft>
                <a:spcPts val="300"/>
              </a:spcAft>
            </a:pPr>
            <a:r>
              <a:rPr sz="1200" b="0">
                <a:solidFill>
                  <a:srgbClr val="5B6372"/>
                </a:solidFill>
                <a:latin typeface="Arial"/>
              </a:rPr>
              <a:t>Carve one block into different-sized subnets matched to each segment's host count.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Largest first</a:t>
            </a:r>
          </a:p>
          <a:p>
            <a:pPr algn="l">
              <a:spcAft>
                <a:spcPts val="300"/>
              </a:spcAft>
            </a:pPr>
            <a:r>
              <a:rPr sz="1200" b="0">
                <a:solidFill>
                  <a:srgbClr val="5B6372"/>
                </a:solidFill>
                <a:latin typeface="Arial"/>
              </a:rPr>
              <a:t>Allocate the biggest requirement first, then continue at the next free boundary.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Worked example</a:t>
            </a:r>
          </a:p>
          <a:p>
            <a:pPr algn="l">
              <a:spcAft>
                <a:spcPts val="300"/>
              </a:spcAft>
            </a:pPr>
            <a:r>
              <a:rPr sz="1200" b="0">
                <a:solidFill>
                  <a:srgbClr val="5B6372"/>
                </a:solidFill>
                <a:latin typeface="Arial"/>
              </a:rPr>
              <a:t>From a /24: a /25 for 100 users, a /26 for 50 servers, /30s for router links.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Why it matters</a:t>
            </a:r>
          </a:p>
          <a:p>
            <a:pPr algn="l">
              <a:spcAft>
                <a:spcPts val="300"/>
              </a:spcAft>
            </a:pPr>
            <a:r>
              <a:rPr sz="1200" b="0">
                <a:solidFill>
                  <a:srgbClr val="5B6372"/>
                </a:solidFill>
                <a:latin typeface="Arial"/>
              </a:rPr>
              <a:t>No wasted space — critical in cloud VPCs, where the CIDR is fixed at creation.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1.7 · IPv4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IPv4 Addressing: Classic Fault Patterns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Duplicate IP address — two hosts configured statically with the same address</a:t>
            </a:r>
          </a:p>
          <a:p>
            <a:pPr>
              <a:spcAft>
                <a:spcPts val="1000"/>
              </a:spcAft>
            </a:pPr>
            <a:r>
              <a:rPr sz="1800" b="0">
                <a:solidFill>
                  <a:srgbClr val="161B26"/>
                </a:solidFill>
                <a:latin typeface="Arial"/>
              </a:rPr>
              <a:t>•  Duplicate MAC address — usually cloned virtual machines</a:t>
            </a:r>
          </a:p>
          <a:p>
            <a:pPr>
              <a:spcAft>
                <a:spcPts val="1000"/>
              </a:spcAft>
            </a:pPr>
            <a:r>
              <a:rPr sz="1800" b="0">
                <a:solidFill>
                  <a:srgbClr val="161B26"/>
                </a:solidFill>
                <a:latin typeface="Arial"/>
              </a:rPr>
              <a:t>•  Wrong default gateway — local traffic works, remote traffic fails</a:t>
            </a:r>
          </a:p>
          <a:p>
            <a:pPr>
              <a:spcAft>
                <a:spcPts val="1000"/>
              </a:spcAft>
            </a:pPr>
            <a:r>
              <a:rPr sz="1800" b="0">
                <a:solidFill>
                  <a:srgbClr val="161B26"/>
                </a:solidFill>
                <a:latin typeface="Arial"/>
              </a:rPr>
              <a:t>•  Wrong subnet mask — 'random' unreachable hosts on the same LAN</a:t>
            </a:r>
          </a:p>
          <a:p>
            <a:pPr>
              <a:spcAft>
                <a:spcPts val="1000"/>
              </a:spcAft>
            </a:pPr>
            <a:r>
              <a:rPr sz="1800" b="0">
                <a:solidFill>
                  <a:srgbClr val="161B26"/>
                </a:solidFill>
                <a:latin typeface="Arial"/>
              </a:rPr>
              <a:t>•  APIPA 169.254.x.x — the DHCP server never answered</a:t>
            </a:r>
          </a:p>
          <a:p>
            <a:pPr>
              <a:spcAft>
                <a:spcPts val="1000"/>
              </a:spcAft>
            </a:pPr>
            <a:r>
              <a:rPr sz="1800" b="0">
                <a:solidFill>
                  <a:srgbClr val="161B26"/>
                </a:solidFill>
                <a:latin typeface="Arial"/>
              </a:rPr>
              <a:t>•  Expired or exhausted lease — check scope size and lease times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1.0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IPv4 Subnetting and CIDR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Split a /24 into four /26 subnets and verify the math with the TIS IP Calculator.</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Use the TIS IP Calculator to break 192.168.10.0/24 into four /26 subnets, record each network, host range and broadcast, then assign an address from subnet 2 to a Linux interface.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four-subnet plan and a Linux interface carrying 192.168.10.65/26 as a labelled secondary address.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TIS IP Calculator (alfredang.github.io/ipcalculator), iproute2, Killercoda Ubuntu</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calculator shows 62 usable hosts and unique network/broadcast per /26, and ip -4 addr show eth0 lists inet 192.168.10.65/26 on label eth0:1.</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Open the TIS IP Calculator in a</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Calculate each /26 block</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26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Fill the subnet table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7</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Assign an address from subnet 2 to</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Clean up the address</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Split a /24 into four /26 subnets and verify the math with the TIS IP Calculator.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IPv4 Subnetting and CIDR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calculator shows 62 usable hosts and unique network/broadcast per /26, and ip -4 addr show eth0 lists inet 192.168.10.65/26 on label eth0:1.</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Calculator ranges look wrong</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entered prefix /26, not /24 — the prefix length drives every boundary.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RTNETLINK: File exists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address is already assigned — remove it first with ip addr del 192.168.10.65/26 dev eth0.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Address missing after add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as root and check you used dev eth0 — Killercoda's primary NIC is eth0.</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1.8 · IPv6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IPv6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128-bit addresses</a:t>
            </a:r>
          </a:p>
          <a:p>
            <a:pPr algn="l">
              <a:spcAft>
                <a:spcPts val="300"/>
              </a:spcAft>
            </a:pPr>
            <a:r>
              <a:rPr sz="1200" b="0">
                <a:solidFill>
                  <a:srgbClr val="5B6372"/>
                </a:solidFill>
                <a:latin typeface="Arial"/>
              </a:rPr>
              <a:t>2^128 addresses end exhaustion — written as eight hex groups separated by colons.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Shortening rules</a:t>
            </a:r>
          </a:p>
          <a:p>
            <a:pPr algn="l">
              <a:spcAft>
                <a:spcPts val="300"/>
              </a:spcAft>
            </a:pPr>
            <a:r>
              <a:rPr sz="1200" b="0">
                <a:solidFill>
                  <a:srgbClr val="5B6372"/>
                </a:solidFill>
                <a:latin typeface="Arial"/>
              </a:rPr>
              <a:t>Drop leading zeros in each group; compress one run of zero groups with :: (once only).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broadcast</a:t>
            </a:r>
          </a:p>
          <a:p>
            <a:pPr algn="l">
              <a:spcAft>
                <a:spcPts val="300"/>
              </a:spcAft>
            </a:pPr>
            <a:r>
              <a:rPr sz="1200" b="0">
                <a:solidFill>
                  <a:srgbClr val="5B6372"/>
                </a:solidFill>
                <a:latin typeface="Arial"/>
              </a:rPr>
              <a:t>IPv6 replaces broadcast with multicast (ff02::1 = all nodes) and anycast.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NAT required</a:t>
            </a:r>
          </a:p>
          <a:p>
            <a:pPr algn="l">
              <a:spcAft>
                <a:spcPts val="300"/>
              </a:spcAft>
            </a:pPr>
            <a:r>
              <a:rPr sz="1200" b="0">
                <a:solidFill>
                  <a:srgbClr val="5B6372"/>
                </a:solidFill>
                <a:latin typeface="Arial"/>
              </a:rPr>
              <a:t>End-to-end addressing returns; firewalls, not address translation, enforce the boundary.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Efficient header</a:t>
            </a:r>
          </a:p>
          <a:p>
            <a:pPr algn="l">
              <a:spcAft>
                <a:spcPts val="300"/>
              </a:spcAft>
            </a:pPr>
            <a:r>
              <a:rPr sz="1200" b="0">
                <a:solidFill>
                  <a:srgbClr val="5B6372"/>
                </a:solidFill>
                <a:latin typeface="Arial"/>
              </a:rPr>
              <a:t>Fixed 40-byte header and no router fragmentation — faster forwarding.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2001:db8::/32</a:t>
            </a:r>
          </a:p>
          <a:p>
            <a:pPr algn="l">
              <a:spcAft>
                <a:spcPts val="300"/>
              </a:spcAft>
            </a:pPr>
            <a:r>
              <a:rPr sz="1200" b="0">
                <a:solidFill>
                  <a:srgbClr val="5B6372"/>
                </a:solidFill>
                <a:latin typeface="Arial"/>
              </a:rPr>
              <a:t>The documentation prefix — always safe for labs, examples and courseware.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1.8 · IPv6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Shortening an IPv6 Address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Two rules: strip leading zeros per group, and compress one zero run with ::.</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Full:</a:t>
            </a:r>
          </a:p>
          <a:p>
            <a:pPr>
              <a:spcAft>
                <a:spcPts val="200"/>
              </a:spcAft>
            </a:pPr>
            <a:r>
              <a:rPr sz="1100">
                <a:solidFill>
                  <a:srgbClr val="9CDCFE"/>
                </a:solidFill>
                <a:latin typeface="Consolas"/>
              </a:rPr>
              <a:t>2001:0db8:0000:0000:0001:0000:0000:1234</a:t>
            </a:r>
          </a:p>
          <a:p>
            <a:pPr>
              <a:spcAft>
                <a:spcPts val="200"/>
              </a:spcAft>
            </a:pPr>
            <a:r>
              <a:rPr sz="1100">
                <a:solidFill>
                  <a:srgbClr val="9CDCFE"/>
                </a:solidFill>
                <a:latin typeface="Consolas"/>
              </a:rPr>
              <a:t/>
            </a:r>
          </a:p>
          <a:p>
            <a:pPr>
              <a:spcAft>
                <a:spcPts val="200"/>
              </a:spcAft>
            </a:pPr>
            <a:r>
              <a:rPr sz="1100">
                <a:solidFill>
                  <a:srgbClr val="9CDCFE"/>
                </a:solidFill>
                <a:latin typeface="Consolas"/>
              </a:rPr>
              <a:t>Rule 1 - drop leading zeros:</a:t>
            </a:r>
          </a:p>
          <a:p>
            <a:pPr>
              <a:spcAft>
                <a:spcPts val="200"/>
              </a:spcAft>
            </a:pPr>
            <a:r>
              <a:rPr sz="1100">
                <a:solidFill>
                  <a:srgbClr val="9CDCFE"/>
                </a:solidFill>
                <a:latin typeface="Consolas"/>
              </a:rPr>
              <a:t>2001:db8:0:0:1:0:0:1234</a:t>
            </a:r>
          </a:p>
          <a:p>
            <a:pPr>
              <a:spcAft>
                <a:spcPts val="200"/>
              </a:spcAft>
            </a:pPr>
            <a:r>
              <a:rPr sz="1100">
                <a:solidFill>
                  <a:srgbClr val="9CDCFE"/>
                </a:solidFill>
                <a:latin typeface="Consolas"/>
              </a:rPr>
              <a:t/>
            </a:r>
          </a:p>
          <a:p>
            <a:pPr>
              <a:spcAft>
                <a:spcPts val="200"/>
              </a:spcAft>
            </a:pPr>
            <a:r>
              <a:rPr sz="1100">
                <a:solidFill>
                  <a:srgbClr val="9CDCFE"/>
                </a:solidFill>
                <a:latin typeface="Consolas"/>
              </a:rPr>
              <a:t>Rule 2 - compress ONE zero run:</a:t>
            </a:r>
          </a:p>
          <a:p>
            <a:pPr>
              <a:spcAft>
                <a:spcPts val="200"/>
              </a:spcAft>
            </a:pPr>
            <a:r>
              <a:rPr sz="1100">
                <a:solidFill>
                  <a:srgbClr val="9CDCFE"/>
                </a:solidFill>
                <a:latin typeface="Consolas"/>
              </a:rPr>
              <a:t>2001:db8::1:0:0:1234</a:t>
            </a:r>
          </a:p>
          <a:p>
            <a:pPr>
              <a:spcAft>
                <a:spcPts val="200"/>
              </a:spcAft>
            </a:pPr>
            <a:r>
              <a:rPr sz="1100">
                <a:solidFill>
                  <a:srgbClr val="9CDCFE"/>
                </a:solidFill>
                <a:latin typeface="Consolas"/>
              </a:rPr>
              <a:t/>
            </a:r>
          </a:p>
          <a:p>
            <a:pPr>
              <a:spcAft>
                <a:spcPts val="200"/>
              </a:spcAft>
            </a:pPr>
            <a:r>
              <a:rPr sz="1100">
                <a:solidFill>
                  <a:srgbClr val="9CDCFE"/>
                </a:solidFill>
                <a:latin typeface="Consolas"/>
              </a:rPr>
              <a:t>Wrong: 2001:db8::1::1234  (two ::)</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Only one ::</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Two compressions would be ambiguous — the parser could not count the missing groups.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Pick the longest run</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When two zero runs tie, compress the leftmost — the convention resolvers use.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Exam trap</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Expanding a shortened address back to eight groups is a favourite question.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1.8 · IPv6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IPv6 Address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Prefix</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Role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Global unicast</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2000::/3</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Public, Internet-routable</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Link-local</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fe80::/10</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Auto on every interface; one link only</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Unique local</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fc00::/7</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Private — the RFC1918 analogue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Multicast</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ff00::/8</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ff02::1 all nodes, ff02::2 routers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Loopback</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::1/128</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Same role as 127.0.0.1</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Every IPv6 interface always holds a link-local address — even with no router or DHCP anywhere.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1.8 · IPv6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SLAAC: An Address Without a Server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Link-local</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fe80:: self-made</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host asks routers</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RA</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prefix + gateway</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Address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prefix + intf ID</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duplicate check</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v6 host configures itself from router advertisements alone — DHCPv6 is optional, used only when you need central control or extra options like DNS.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1.8 · IPv6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Interface IDs and Coexistence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EUI-64</a:t>
            </a:r>
          </a:p>
          <a:p>
            <a:pPr algn="l">
              <a:spcAft>
                <a:spcPts val="300"/>
              </a:spcAft>
            </a:pPr>
            <a:r>
              <a:rPr sz="1200" b="0">
                <a:solidFill>
                  <a:srgbClr val="5B6372"/>
                </a:solidFill>
                <a:latin typeface="Arial"/>
              </a:rPr>
              <a:t>Builds the 64-bit interface ID from the MAC: split it, insert FFFE, flip bit 7.</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Privacy extensions</a:t>
            </a:r>
          </a:p>
          <a:p>
            <a:pPr algn="l">
              <a:spcAft>
                <a:spcPts val="300"/>
              </a:spcAft>
            </a:pPr>
            <a:r>
              <a:rPr sz="1200" b="0">
                <a:solidFill>
                  <a:srgbClr val="5B6372"/>
                </a:solidFill>
                <a:latin typeface="Arial"/>
              </a:rPr>
              <a:t>Random interface IDs defeat device tracking — the default on modern OSes.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Dual stack</a:t>
            </a:r>
          </a:p>
          <a:p>
            <a:pPr algn="l">
              <a:spcAft>
                <a:spcPts val="300"/>
              </a:spcAft>
            </a:pPr>
            <a:r>
              <a:rPr sz="1200" b="0">
                <a:solidFill>
                  <a:srgbClr val="5B6372"/>
                </a:solidFill>
                <a:latin typeface="Arial"/>
              </a:rPr>
              <a:t>Run IPv4 and IPv6 side by side — today's standard migration strategy.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Tunnels and NAT64</a:t>
            </a:r>
          </a:p>
          <a:p>
            <a:pPr algn="l">
              <a:spcAft>
                <a:spcPts val="300"/>
              </a:spcAft>
            </a:pPr>
            <a:r>
              <a:rPr sz="1200" b="0">
                <a:solidFill>
                  <a:srgbClr val="5B6372"/>
                </a:solidFill>
                <a:latin typeface="Arial"/>
              </a:rPr>
              <a:t>6to4/Teredo carry v6 inside v4; NAT64/DNS64 lets v6-only clients reach v4 servers.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1.8 · IPv6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IPv6 Subnetting Conventions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Every LAN is a /64</a:t>
            </a:r>
          </a:p>
          <a:p>
            <a:pPr algn="l">
              <a:spcAft>
                <a:spcPts val="300"/>
              </a:spcAft>
            </a:pPr>
            <a:r>
              <a:rPr sz="1200" b="0">
                <a:solidFill>
                  <a:srgbClr val="5B6372"/>
                </a:solidFill>
                <a:latin typeface="Arial"/>
              </a:rPr>
              <a:t>SLAAC needs 64 bits of interface ID — never subnet a LAN smaller than /64.</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 site gets a /48</a:t>
            </a:r>
          </a:p>
          <a:p>
            <a:pPr algn="l">
              <a:spcAft>
                <a:spcPts val="300"/>
              </a:spcAft>
            </a:pPr>
            <a:r>
              <a:rPr sz="1200" b="0">
                <a:solidFill>
                  <a:srgbClr val="5B6372"/>
                </a:solidFill>
                <a:latin typeface="Arial"/>
              </a:rPr>
              <a:t>That is 65,536 /64 subnets — plan generously, address conservation is over.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Nibble boundaries</a:t>
            </a:r>
          </a:p>
          <a:p>
            <a:pPr algn="l">
              <a:spcAft>
                <a:spcPts val="300"/>
              </a:spcAft>
            </a:pPr>
            <a:r>
              <a:rPr sz="1200" b="0">
                <a:solidFill>
                  <a:srgbClr val="5B6372"/>
                </a:solidFill>
                <a:latin typeface="Arial"/>
              </a:rPr>
              <a:t>Subnet in 4-bit steps so prefixes stay readable in hex.</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Zone IDs</a:t>
            </a:r>
          </a:p>
          <a:p>
            <a:pPr algn="l">
              <a:spcAft>
                <a:spcPts val="300"/>
              </a:spcAft>
            </a:pPr>
            <a:r>
              <a:rPr sz="1200" b="0">
                <a:solidFill>
                  <a:srgbClr val="5B6372"/>
                </a:solidFill>
                <a:latin typeface="Arial"/>
              </a:rPr>
              <a:t>Link-local commands need %eth0 to choose the interface — exactly as in Lab 3.</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1.0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IPv6 Addressing and Link-Local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Plan an IPv6 /64, add a global address, and ping link-local using a zone ID.</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Break down 2001:db8::/64 in the TIS IP Calculator's IPv6 mode, add a documentation-range global address to eth0, observe the auto-generated fe80:: link-local address, and ping across both.</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interface holding both a link-local fe80:: address and a global 2001:db8::10/64, verified by ping.</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TIS IP Calculator (alfredang.github.io/ipcalculator), iproute2, ping6, Killercoda</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-6 addr show eth0 lists both fe80::... and 2001:db8::10/64, and both pings reply (the ff02::1 ping needs the %eth0 zone suffix).</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Open the IP Calculator in IPv6 mode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Inspect the existing IPv6 config</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Verify both addresses are present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Ping the all-nodes multicast with a</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ping6 · step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Clean up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Plan an IPv6 /64, add a global address, and ping link-local using a zone ID.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IPv6 Addressing and Link-Local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ip -6 addr show eth0 lists both fe80::... and 2001:db8::10/64, and both pings reply (the ff02::1 ping needs the %eth0 zone suffix).</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ping6: Invalid argument</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Link-local targets need a zone — use ff02::1%eth0 so the kernel knows the egress interface.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fe80:: address on eth0</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IPv6 is disabled — sysctl -w net.ipv6.conf.eth0.disable_ipv6=0, then re-check.</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Global ping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the add worked: ip -6 addr show eth0 must list 2001:db8::10/64 before you ping.</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1.4 · PORTS &amp;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Port Numbers: The L4 Address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0-1023 well-known</a:t>
            </a:r>
          </a:p>
          <a:p>
            <a:pPr algn="l">
              <a:spcAft>
                <a:spcPts val="300"/>
              </a:spcAft>
            </a:pPr>
            <a:r>
              <a:rPr sz="1200" b="0">
                <a:solidFill>
                  <a:srgbClr val="5B6372"/>
                </a:solidFill>
                <a:latin typeface="Arial"/>
              </a:rPr>
              <a:t>Reserved for standard services — HTTP 80, SSH 22, DNS 53. Memorise these.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1024-49151 registered</a:t>
            </a:r>
          </a:p>
          <a:p>
            <a:pPr algn="l">
              <a:spcAft>
                <a:spcPts val="300"/>
              </a:spcAft>
            </a:pPr>
            <a:r>
              <a:rPr sz="1200" b="0">
                <a:solidFill>
                  <a:srgbClr val="5B6372"/>
                </a:solidFill>
                <a:latin typeface="Arial"/>
              </a:rPr>
              <a:t>Vendor-registered applications: RDP 3389, MySQL 3306, SIP 5060.</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49152-65535 ephemeral</a:t>
            </a:r>
          </a:p>
          <a:p>
            <a:pPr algn="l">
              <a:spcAft>
                <a:spcPts val="300"/>
              </a:spcAft>
            </a:pPr>
            <a:r>
              <a:rPr sz="1200" b="0">
                <a:solidFill>
                  <a:srgbClr val="5B6372"/>
                </a:solidFill>
                <a:latin typeface="Arial"/>
              </a:rPr>
              <a:t>Random client-side source ports, recycled per connection.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socket pair</a:t>
            </a:r>
          </a:p>
          <a:p>
            <a:pPr algn="l">
              <a:spcAft>
                <a:spcPts val="300"/>
              </a:spcAft>
            </a:pPr>
            <a:r>
              <a:rPr sz="1200" b="0">
                <a:solidFill>
                  <a:srgbClr val="5B6372"/>
                </a:solidFill>
                <a:latin typeface="Arial"/>
              </a:rPr>
              <a:t>Source IP:port plus destination IP:port uniquely identifies every conversation.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1.4 · PORTS &amp;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TCP vs UDP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TCP — connection-oriented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UDP — connectionless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Three-way handshake before any data</a:t>
            </a:r>
          </a:p>
          <a:p>
            <a:pPr>
              <a:spcAft>
                <a:spcPts val="1000"/>
              </a:spcAft>
            </a:pPr>
            <a:r>
              <a:rPr sz="1600" b="0">
                <a:solidFill>
                  <a:srgbClr val="161B26"/>
                </a:solidFill>
                <a:latin typeface="Arial"/>
              </a:rPr>
              <a:t>•  Sequencing, ACKs and retransmission</a:t>
            </a:r>
          </a:p>
          <a:p>
            <a:pPr>
              <a:spcAft>
                <a:spcPts val="1000"/>
              </a:spcAft>
            </a:pPr>
            <a:r>
              <a:rPr sz="1600" b="0">
                <a:solidFill>
                  <a:srgbClr val="161B26"/>
                </a:solidFill>
                <a:latin typeface="Arial"/>
              </a:rPr>
              <a:t>•  Flow and congestion control</a:t>
            </a:r>
          </a:p>
          <a:p>
            <a:pPr>
              <a:spcAft>
                <a:spcPts val="1000"/>
              </a:spcAft>
            </a:pPr>
            <a:r>
              <a:rPr sz="1600" b="0">
                <a:solidFill>
                  <a:srgbClr val="161B26"/>
                </a:solidFill>
                <a:latin typeface="Arial"/>
              </a:rPr>
              <a:t>•  HTTP(S), SSH, SMTP, FTP, RDP</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No handshake — just send</a:t>
            </a:r>
          </a:p>
          <a:p>
            <a:pPr>
              <a:spcAft>
                <a:spcPts val="1000"/>
              </a:spcAft>
            </a:pPr>
            <a:r>
              <a:rPr sz="1600" b="0">
                <a:solidFill>
                  <a:srgbClr val="161B26"/>
                </a:solidFill>
                <a:latin typeface="Arial"/>
              </a:rPr>
              <a:t>•  No delivery guarantee, low overhead</a:t>
            </a:r>
          </a:p>
          <a:p>
            <a:pPr>
              <a:spcAft>
                <a:spcPts val="1000"/>
              </a:spcAft>
            </a:pPr>
            <a:r>
              <a:rPr sz="1600" b="0">
                <a:solidFill>
                  <a:srgbClr val="161B26"/>
                </a:solidFill>
                <a:latin typeface="Arial"/>
              </a:rPr>
              <a:t>•  Ideal for real-time and tiny queries</a:t>
            </a:r>
          </a:p>
          <a:p>
            <a:pPr>
              <a:spcAft>
                <a:spcPts val="1000"/>
              </a:spcAft>
            </a:pPr>
            <a:r>
              <a:rPr sz="1600" b="0">
                <a:solidFill>
                  <a:srgbClr val="161B26"/>
                </a:solidFill>
                <a:latin typeface="Arial"/>
              </a:rPr>
              <a:t>•  DNS, DHCP, TFTP, NTP, SNMP, RTP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1.4 · TCP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TCP Three-Way Handshake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13817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817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SYN</a:t>
            </a:r>
          </a:p>
        </p:txBody>
      </p:sp>
      <p:sp>
        <p:nvSpPr>
          <p:cNvPr id="12" name="TextBox 11"/>
          <p:cNvSpPr txBox="1"/>
          <p:nvPr/>
        </p:nvSpPr>
        <p:spPr>
          <a:xfrm>
            <a:off x="86868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client, seq = x</a:t>
            </a:r>
          </a:p>
        </p:txBody>
      </p:sp>
      <p:cxnSp>
        <p:nvCxnSpPr>
          <p:cNvPr id="13" name="Connector 12"/>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45008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5008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457809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SYN-ACK</a:t>
            </a:r>
          </a:p>
        </p:txBody>
      </p:sp>
      <p:sp>
        <p:nvSpPr>
          <p:cNvPr id="19" name="TextBox 18"/>
          <p:cNvSpPr txBox="1"/>
          <p:nvPr/>
        </p:nvSpPr>
        <p:spPr>
          <a:xfrm>
            <a:off x="454152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server, ack = x+1</a:t>
            </a:r>
          </a:p>
        </p:txBody>
      </p:sp>
      <p:cxnSp>
        <p:nvCxnSpPr>
          <p:cNvPr id="20" name="Connector 19"/>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2292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292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48385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8385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825093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ACK</a:t>
            </a:r>
          </a:p>
        </p:txBody>
      </p:sp>
      <p:sp>
        <p:nvSpPr>
          <p:cNvPr id="26" name="TextBox 25"/>
          <p:cNvSpPr txBox="1"/>
          <p:nvPr/>
        </p:nvSpPr>
        <p:spPr>
          <a:xfrm>
            <a:off x="821436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open, data flows</a:t>
            </a:r>
          </a:p>
        </p:txBody>
      </p:sp>
      <p:sp>
        <p:nvSpPr>
          <p:cNvPr id="27" name="Rectangle 26"/>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30" name="TextBox 29"/>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[S] flag you captured in Lab 1 is step one of this exchange — and half-open handshakes are how SYN floods and stealth scans work.</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1.4 · PORTS &amp;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TCP or UDP for Your Application?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Must every byte arrive,
in order, guaranteed?</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use TCP</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Pay the handshake and header overhead to gain sequencing, acknowledgements and retransmission — right for web, mail, file transfer.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use UDP</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Skip the ceremony for speed: lost packets are ignored or handled by the app — right for voice, video, DNS lookups and telemetry.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QUIC (HTTP/3) builds TCP-like reliability on top of UDP — know that it exists.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1.4 · PORTS &amp;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ICMP, IGMP, GRE and IPsec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ICMP</a:t>
            </a:r>
          </a:p>
          <a:p>
            <a:pPr algn="l">
              <a:spcAft>
                <a:spcPts val="300"/>
              </a:spcAft>
            </a:pPr>
            <a:r>
              <a:rPr sz="1200" b="0">
                <a:solidFill>
                  <a:srgbClr val="5B6372"/>
                </a:solidFill>
                <a:latin typeface="Arial"/>
              </a:rPr>
              <a:t>Layer 3 control messages — echo (ping), destination unreachable, TTL exceeded. No ports.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IGMP</a:t>
            </a:r>
          </a:p>
          <a:p>
            <a:pPr algn="l">
              <a:spcAft>
                <a:spcPts val="300"/>
              </a:spcAft>
            </a:pPr>
            <a:r>
              <a:rPr sz="1200" b="0">
                <a:solidFill>
                  <a:srgbClr val="5B6372"/>
                </a:solidFill>
                <a:latin typeface="Arial"/>
              </a:rPr>
              <a:t>Hosts join and leave IPv4 multicast groups in 224.0.0.0/4.</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GRE</a:t>
            </a:r>
          </a:p>
          <a:p>
            <a:pPr algn="l">
              <a:spcAft>
                <a:spcPts val="300"/>
              </a:spcAft>
            </a:pPr>
            <a:r>
              <a:rPr sz="1200" b="0">
                <a:solidFill>
                  <a:srgbClr val="5B6372"/>
                </a:solidFill>
                <a:latin typeface="Arial"/>
              </a:rPr>
              <a:t>A generic tunnel that wraps any protocol inside IP — no encryption of its own.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IPsec AH</a:t>
            </a:r>
          </a:p>
          <a:p>
            <a:pPr algn="l">
              <a:spcAft>
                <a:spcPts val="300"/>
              </a:spcAft>
            </a:pPr>
            <a:r>
              <a:rPr sz="1200" b="0">
                <a:solidFill>
                  <a:srgbClr val="5B6372"/>
                </a:solidFill>
                <a:latin typeface="Arial"/>
              </a:rPr>
              <a:t>Authentication Header: integrity and origin proof, but no confidentiality.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IPsec ESP</a:t>
            </a:r>
          </a:p>
          <a:p>
            <a:pPr algn="l">
              <a:spcAft>
                <a:spcPts val="300"/>
              </a:spcAft>
            </a:pPr>
            <a:r>
              <a:rPr sz="1200" b="0">
                <a:solidFill>
                  <a:srgbClr val="5B6372"/>
                </a:solidFill>
                <a:latin typeface="Arial"/>
              </a:rPr>
              <a:t>Encapsulating Security Payload: encryption — the workhorse of site-to-site VPNs.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IKE</a:t>
            </a:r>
          </a:p>
          <a:p>
            <a:pPr algn="l">
              <a:spcAft>
                <a:spcPts val="300"/>
              </a:spcAft>
            </a:pPr>
            <a:r>
              <a:rPr sz="1200" b="0">
                <a:solidFill>
                  <a:srgbClr val="5B6372"/>
                </a:solidFill>
                <a:latin typeface="Arial"/>
              </a:rPr>
              <a:t>Negotiates IPsec keys and security associations over UDP 500/4500.</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1.4 · PORTS &amp;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Ports: File Transfer and Remote Access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Port</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Protocol</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Transport</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Security note</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20/21</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FTP data / control</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Cleartext — avoid</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22</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SSH and SFTP</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Encrypted channel</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23</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Telnet</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Cleartext — use SSH</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69</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TFTP</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UDP</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LAN boot/config only</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445</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SMB</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Windows file sharing</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3389</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RDP</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TLS-protected desktop</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Pairs to contrast on the exam: 21 vs 22 (SFTP), 23 vs 22 (SSH), 69 vs 21.</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1.4 · PORTS &amp;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Ports: Web, Mail and Name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Port</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Protocol</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Transport</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Notes</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80 / 443</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HTTP / HTTPS</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443 adds TLS</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25 / 587</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SMTP / submission</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587 = STARTTLS sending</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110 / 995</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POP3 / POP3S</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Download-and-delete mail</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143 / 993</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IMAP / IMAPS</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Server-side mailboxes</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53</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DNS</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UDP + TCP</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 for zone transfers</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67 / 68</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DHCP</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UDP</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Server 67, client 68</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Mail flows: SMTP sends between servers, POP3/IMAP retrieve to clients — the S-suffixed ports add TLS.</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1.4 · PORTS &amp;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Securing E-mail: The Port Story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Legacy trio</a:t>
            </a:r>
          </a:p>
          <a:p>
            <a:pPr algn="l">
              <a:spcAft>
                <a:spcPts val="300"/>
              </a:spcAft>
            </a:pPr>
            <a:r>
              <a:rPr sz="1200" b="0">
                <a:solidFill>
                  <a:srgbClr val="5B6372"/>
                </a:solidFill>
                <a:latin typeface="Arial"/>
              </a:rPr>
              <a:t>SMTP 25, POP3 110, IMAP 143 — all cleartext, all still on the exam.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Implicit TLS</a:t>
            </a:r>
          </a:p>
          <a:p>
            <a:pPr algn="l">
              <a:spcAft>
                <a:spcPts val="300"/>
              </a:spcAft>
            </a:pPr>
            <a:r>
              <a:rPr sz="1200" b="0">
                <a:solidFill>
                  <a:srgbClr val="5B6372"/>
                </a:solidFill>
                <a:latin typeface="Arial"/>
              </a:rPr>
              <a:t>Wrapped-in-TLS variants: SMTPS 465, POP3S 995, IMAPS 993.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STARTTLS on 587</a:t>
            </a:r>
          </a:p>
          <a:p>
            <a:pPr algn="l">
              <a:spcAft>
                <a:spcPts val="300"/>
              </a:spcAft>
            </a:pPr>
            <a:r>
              <a:rPr sz="1200" b="0">
                <a:solidFill>
                  <a:srgbClr val="5B6372"/>
                </a:solidFill>
                <a:latin typeface="Arial"/>
              </a:rPr>
              <a:t>The modern client-submission port: starts plain, upgrades to TLS in-band.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Anti-spoofing</a:t>
            </a:r>
          </a:p>
          <a:p>
            <a:pPr algn="l">
              <a:spcAft>
                <a:spcPts val="300"/>
              </a:spcAft>
            </a:pPr>
            <a:r>
              <a:rPr sz="1200" b="0">
                <a:solidFill>
                  <a:srgbClr val="5B6372"/>
                </a:solidFill>
                <a:latin typeface="Arial"/>
              </a:rPr>
              <a:t>SPF, DKIM and DMARC live in DNS TXT records — covered again in the DNS lab.</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1.4 · PORTS &amp;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Ports: Infrastructure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Port</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Protocol</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Transport</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Notes</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123</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NTP</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UDP</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Clock sync, stratum tree</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161 / 162</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SNMP / traps</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UDP</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Monitoring; v3 adds crypto</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389 / 636</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LDAP / LDAPS</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TCP</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Directory queries</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514</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Syslog</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UDP</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Central log collection</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5060 / 5061</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SIP / SIP-TLS</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UDP/TCP</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VoIP call signalling</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500 / 4500</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IKE / NAT-T</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UDP</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IPsec key negotiation</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These six rows plus the previous two tables cover every port listed in objective 1.4.</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1.4 · PORTS &amp;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ss and nmap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Two commands cover both directions: what you expose, and what a target exposes.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6A9955"/>
                </a:solidFill>
                <a:latin typeface="Consolas"/>
              </a:rPr>
              <a:t># ss -tulnp          (your own listeners)</a:t>
            </a:r>
          </a:p>
          <a:p>
            <a:pPr>
              <a:spcAft>
                <a:spcPts val="200"/>
              </a:spcAft>
            </a:pPr>
            <a:r>
              <a:rPr sz="1100">
                <a:solidFill>
                  <a:srgbClr val="9CDCFE"/>
                </a:solidFill>
                <a:latin typeface="Consolas"/>
              </a:rPr>
              <a:t>tcp  LISTEN  0.0.0.0:22    sshd</a:t>
            </a:r>
          </a:p>
          <a:p>
            <a:pPr>
              <a:spcAft>
                <a:spcPts val="200"/>
              </a:spcAft>
            </a:pPr>
            <a:r>
              <a:rPr sz="1100">
                <a:solidFill>
                  <a:srgbClr val="9CDCFE"/>
                </a:solidFill>
                <a:latin typeface="Consolas"/>
              </a:rPr>
              <a:t>udp  UNCONN  127.0.0.53:53 systemd-resolve</a:t>
            </a:r>
          </a:p>
          <a:p>
            <a:pPr>
              <a:spcAft>
                <a:spcPts val="200"/>
              </a:spcAft>
            </a:pPr>
            <a:r>
              <a:rPr sz="1100">
                <a:solidFill>
                  <a:srgbClr val="9CDCFE"/>
                </a:solidFill>
                <a:latin typeface="Consolas"/>
              </a:rPr>
              <a:t/>
            </a:r>
          </a:p>
          <a:p>
            <a:pPr>
              <a:spcAft>
                <a:spcPts val="200"/>
              </a:spcAft>
            </a:pPr>
            <a:r>
              <a:rPr sz="1100">
                <a:solidFill>
                  <a:srgbClr val="6A9955"/>
                </a:solidFill>
                <a:latin typeface="Consolas"/>
              </a:rPr>
              <a:t># nmap -sT -p 1-1024 scanme.nmap.org</a:t>
            </a:r>
          </a:p>
          <a:p>
            <a:pPr>
              <a:spcAft>
                <a:spcPts val="200"/>
              </a:spcAft>
            </a:pPr>
            <a:r>
              <a:rPr sz="1100">
                <a:solidFill>
                  <a:srgbClr val="9CDCFE"/>
                </a:solidFill>
                <a:latin typeface="Consolas"/>
              </a:rPr>
              <a:t>22/tcp  open      ssh</a:t>
            </a:r>
          </a:p>
          <a:p>
            <a:pPr>
              <a:spcAft>
                <a:spcPts val="200"/>
              </a:spcAft>
            </a:pPr>
            <a:r>
              <a:rPr sz="1100">
                <a:solidFill>
                  <a:srgbClr val="9CDCFE"/>
                </a:solidFill>
                <a:latin typeface="Consolas"/>
              </a:rPr>
              <a:t>80/tcp  open      http</a:t>
            </a:r>
          </a:p>
          <a:p>
            <a:pPr>
              <a:spcAft>
                <a:spcPts val="200"/>
              </a:spcAft>
            </a:pPr>
            <a:r>
              <a:rPr sz="1100">
                <a:solidFill>
                  <a:srgbClr val="9CDCFE"/>
                </a:solidFill>
                <a:latin typeface="Consolas"/>
              </a:rPr>
              <a:t>25/tcp  filtered  smtp</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LISTEN vs open</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ss shows sockets bound locally; nmap shows what a remote host answers on.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filtered</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firewall silently dropped the probe — no RST ever came back.</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Stay numeric</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-n flags keep raw port numbers visible so you learn numbers, not names.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1.0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Common Ports and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Connect protocol names to well-known port numbers using ss and nmap.</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Enumerate the listening TCP/UDP sockets on your own host with ss, scan the well-known port range of scanme.nmap.org with nmap, and map every open port you find to the N10-009 protocol list.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port-to-protocol map covering your own listeners and the remote scan results.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nmap, ss, net-tools (netstat), getent, Killercoda Ubuntu</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ss shows local listeners with numeric ports; nmap reports open ports on scanme.nmap.org (expect 22 and 80); getent services https returns 443/tcp.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nmap and net-tools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List TCP/UDP listeners on your own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ss · step 2</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Scan the well-known range on the Nmap</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nmap · step 3</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Map each open port to the exam list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Resolve service names to port numbers</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getent · step 5</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Connect protocol names to well-known port numbers using ss and nmap.</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Common Ports and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ss shows local listeners with numeric ports; nmap reports open ports on scanme.nmap.org (expect 22 and 80); getent services https returns 443/tcp.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nmap scan returns nothing</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egress with ping scanme.nmap.org — playground networks can be slow; re-run the scan.</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ss: command not found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Use netstat -tulnp from net-tools instead — both list the same listening sockets.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Ports show names, not numbers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Keep the -n flag (ss -tulnp) so output stays numeric and you learn the numbers.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1.4 · DNS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The Internet's Directory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FQDN</a:t>
            </a:r>
          </a:p>
          <a:p>
            <a:pPr algn="l">
              <a:spcAft>
                <a:spcPts val="300"/>
              </a:spcAft>
            </a:pPr>
            <a:r>
              <a:rPr sz="1200" b="0">
                <a:solidFill>
                  <a:srgbClr val="5B6372"/>
                </a:solidFill>
                <a:latin typeface="Arial"/>
              </a:rPr>
              <a:t>host.domain.tld — www.example.com is read right to left, ending at the root.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Hierarchy</a:t>
            </a:r>
          </a:p>
          <a:p>
            <a:pPr algn="l">
              <a:spcAft>
                <a:spcPts val="300"/>
              </a:spcAft>
            </a:pPr>
            <a:r>
              <a:rPr sz="1200" b="0">
                <a:solidFill>
                  <a:srgbClr val="5B6372"/>
                </a:solidFill>
                <a:latin typeface="Arial"/>
              </a:rPr>
              <a:t>Root servers -&gt; TLD servers (.com, .sg) -&gt; authoritative servers for each zone.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Recursive resolver</a:t>
            </a:r>
          </a:p>
          <a:p>
            <a:pPr algn="l">
              <a:spcAft>
                <a:spcPts val="300"/>
              </a:spcAft>
            </a:pPr>
            <a:r>
              <a:rPr sz="1200" b="0">
                <a:solidFill>
                  <a:srgbClr val="5B6372"/>
                </a:solidFill>
                <a:latin typeface="Arial"/>
              </a:rPr>
              <a:t>Your configured server (e.g. 8.8.8.8) chases referrals and caches the answers.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UDP/TCP 53</a:t>
            </a:r>
          </a:p>
          <a:p>
            <a:pPr algn="l">
              <a:spcAft>
                <a:spcPts val="300"/>
              </a:spcAft>
            </a:pPr>
            <a:r>
              <a:rPr sz="1200" b="0">
                <a:solidFill>
                  <a:srgbClr val="5B6372"/>
                </a:solidFill>
                <a:latin typeface="Arial"/>
              </a:rPr>
              <a:t>Queries ride UDP 53; zone transfers and oversized answers switch to TCP 53.</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1.4 · DNS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DNS Lookup,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Client asks its recursive resolver</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Cache hit? Answer returns instantly</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Miss: resolver asks root, then .com TLD</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TLD refers to the authoritative server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 record returned and cached per TTL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1.4 · DNS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Server Roles and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Authoritative</a:t>
            </a:r>
          </a:p>
          <a:p>
            <a:pPr algn="l">
              <a:spcAft>
                <a:spcPts val="300"/>
              </a:spcAft>
            </a:pPr>
            <a:r>
              <a:rPr sz="1200" b="0">
                <a:solidFill>
                  <a:srgbClr val="5B6372"/>
                </a:solidFill>
                <a:latin typeface="Arial"/>
              </a:rPr>
              <a:t>Holds the zone file and gives the definitive answer for its domains.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Recursive / caching</a:t>
            </a:r>
          </a:p>
          <a:p>
            <a:pPr algn="l">
              <a:spcAft>
                <a:spcPts val="300"/>
              </a:spcAft>
            </a:pPr>
            <a:r>
              <a:rPr sz="1200" b="0">
                <a:solidFill>
                  <a:srgbClr val="5B6372"/>
                </a:solidFill>
                <a:latin typeface="Arial"/>
              </a:rPr>
              <a:t>Resolves on behalf of clients and remembers answers for the TTL.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Internal DNS</a:t>
            </a:r>
          </a:p>
          <a:p>
            <a:pPr algn="l">
              <a:spcAft>
                <a:spcPts val="300"/>
              </a:spcAft>
            </a:pPr>
            <a:r>
              <a:rPr sz="1200" b="0">
                <a:solidFill>
                  <a:srgbClr val="5B6372"/>
                </a:solidFill>
                <a:latin typeface="Arial"/>
              </a:rPr>
              <a:t>Private zones for corp resources — split horizon keeps them invisible outside.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Dynamic DNS</a:t>
            </a:r>
          </a:p>
          <a:p>
            <a:pPr algn="l">
              <a:spcAft>
                <a:spcPts val="300"/>
              </a:spcAft>
            </a:pPr>
            <a:r>
              <a:rPr sz="1200" b="0">
                <a:solidFill>
                  <a:srgbClr val="5B6372"/>
                </a:solidFill>
                <a:latin typeface="Arial"/>
              </a:rPr>
              <a:t>Clients or DHCP update records automatically as addresses change.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1.4 · DNS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Record Types on the Exam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Record</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Maps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 / note</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 / AAAA</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Name -&gt; IPv4 / IPv6</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bread-and-butter records</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CNAME</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Name -&gt; another name</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An alias — never points to an IP</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MX</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Domain -&gt; mail host</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Priority number: lower wins</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NS / SOA</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Zone -&gt; servers / authority</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SOA holds serial and timers</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PTR</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IP -&gt; name</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Reverse zones; mail server checks</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TXT / SRV</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Text / service + port</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SPF and DKIM live in TXT</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Lab 5 queries every one of these with dig against live domains.</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1.4 · DNS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 in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dig +short strips the noise and prints only the answer — perfect for learning records.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dig +short A google.com</a:t>
            </a:r>
          </a:p>
          <a:p>
            <a:pPr>
              <a:spcAft>
                <a:spcPts val="200"/>
              </a:spcAft>
            </a:pPr>
            <a:r>
              <a:rPr sz="1100">
                <a:solidFill>
                  <a:srgbClr val="9CDCFE"/>
                </a:solidFill>
                <a:latin typeface="Consolas"/>
              </a:rPr>
              <a:t>142.250.4.100</a:t>
            </a:r>
          </a:p>
          <a:p>
            <a:pPr>
              <a:spcAft>
                <a:spcPts val="200"/>
              </a:spcAft>
            </a:pPr>
            <a:r>
              <a:rPr sz="1100">
                <a:solidFill>
                  <a:srgbClr val="9CDCFE"/>
                </a:solidFill>
                <a:latin typeface="Consolas"/>
              </a:rPr>
              <a:t/>
            </a:r>
          </a:p>
          <a:p>
            <a:pPr>
              <a:spcAft>
                <a:spcPts val="200"/>
              </a:spcAft>
            </a:pPr>
            <a:r>
              <a:rPr sz="1100">
                <a:solidFill>
                  <a:srgbClr val="9CDCFE"/>
                </a:solidFill>
                <a:latin typeface="Consolas"/>
              </a:rPr>
              <a:t>$ dig +short MX google.com</a:t>
            </a:r>
          </a:p>
          <a:p>
            <a:pPr>
              <a:spcAft>
                <a:spcPts val="200"/>
              </a:spcAft>
            </a:pPr>
            <a:r>
              <a:rPr sz="1100">
                <a:solidFill>
                  <a:srgbClr val="9CDCFE"/>
                </a:solidFill>
                <a:latin typeface="Consolas"/>
              </a:rPr>
              <a:t>10 smtp.google.com.</a:t>
            </a:r>
          </a:p>
          <a:p>
            <a:pPr>
              <a:spcAft>
                <a:spcPts val="200"/>
              </a:spcAft>
            </a:pPr>
            <a:r>
              <a:rPr sz="1100">
                <a:solidFill>
                  <a:srgbClr val="9CDCFE"/>
                </a:solidFill>
                <a:latin typeface="Consolas"/>
              </a:rPr>
              <a:t/>
            </a:r>
          </a:p>
          <a:p>
            <a:pPr>
              <a:spcAft>
                <a:spcPts val="200"/>
              </a:spcAft>
            </a:pPr>
            <a:r>
              <a:rPr sz="1100">
                <a:solidFill>
                  <a:srgbClr val="9CDCFE"/>
                </a:solidFill>
                <a:latin typeface="Consolas"/>
              </a:rPr>
              <a:t>$ dig +short -x 8.8.8.8</a:t>
            </a:r>
          </a:p>
          <a:p>
            <a:pPr>
              <a:spcAft>
                <a:spcPts val="200"/>
              </a:spcAft>
            </a:pPr>
            <a:r>
              <a:rPr sz="1100">
                <a:solidFill>
                  <a:srgbClr val="9CDCFE"/>
                </a:solidFill>
                <a:latin typeface="Consolas"/>
              </a:rPr>
              <a:t>dns.google.</a:t>
            </a:r>
          </a:p>
          <a:p>
            <a:pPr>
              <a:spcAft>
                <a:spcPts val="200"/>
              </a:spcAft>
            </a:pPr>
            <a:r>
              <a:rPr sz="1100">
                <a:solidFill>
                  <a:srgbClr val="9CDCFE"/>
                </a:solidFill>
                <a:latin typeface="Consolas"/>
              </a:rPr>
              <a:t/>
            </a:r>
          </a:p>
          <a:p>
            <a:pPr>
              <a:spcAft>
                <a:spcPts val="200"/>
              </a:spcAft>
            </a:pPr>
            <a:r>
              <a:rPr sz="1100">
                <a:solidFill>
                  <a:srgbClr val="9CDCFE"/>
                </a:solidFill>
                <a:latin typeface="Consolas"/>
              </a:rPr>
              <a:t>$ dig +short CNAME www.github.com</a:t>
            </a:r>
          </a:p>
          <a:p>
            <a:pPr>
              <a:spcAft>
                <a:spcPts val="200"/>
              </a:spcAft>
            </a:pPr>
            <a:r>
              <a:rPr sz="1100">
                <a:solidFill>
                  <a:srgbClr val="9CDCFE"/>
                </a:solidFill>
                <a:latin typeface="Consolas"/>
              </a:rPr>
              <a:t>github.com.</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MX priority</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leading 10 is the preference — lower numbers are tried first.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-x reverses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Turns 8.8.8.8 into its PTR name from the in-addr.arpa reverse zone.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CNAME chains</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www.github.com is an alias for github.com — the resolver follows the chain.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1.0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Record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Query every N10-009 DNS record type with dig and interpret the answers.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Use dig to query A, AAAA, MX, TXT, NS, CNAME, PTR, SOA and SRV records against live domains, reading addresses, mail priorities, aliases and zone-authority data from the answers.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worked set of dig queries — one per record type on the exam — with each answer interpreted.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dig, nslookup, host (dnsutils), Killercoda Ubuntu</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dig query returns an answer: A gives IPv4, AAAA gives IPv6, MX shows priorities, -x 8.8.8.8 returns dns.google, and the SOA lists the primary NS and serial.</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dnsutils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Query the AAAA record</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dig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Query TXT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dig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Reverse-resolve an IP to a name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dig · step 7</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Locate a service with an SRV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dig · step 9</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Query every N10-009 DNS record type with dig and interpret the answers.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Record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dig query returns an answer: A gives IPv4, AAAA gives IPv6, MX shows priorities, -x 8.8.8.8 returns dns.google, and the SOA lists the primary NS and serial.</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dig: command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Install the tools: apt update &amp;&amp; apt install -y dnsutils.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Empty answer for CNAME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Not every name has one — query an alias such as www.github.com, not the bare domain.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SERVFAIL or timeout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Query an explicit resolver: dig @8.8.8.8 +short A google.com to bypass the local stub.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1.4 · DHCP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DORA: How a Lease Happens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Discover</a:t>
            </a:r>
          </a:p>
        </p:txBody>
      </p:sp>
      <p:sp>
        <p:nvSpPr>
          <p:cNvPr id="12" name="TextBox 11"/>
          <p:cNvSpPr txBox="1"/>
          <p:nvPr/>
        </p:nvSpPr>
        <p:spPr>
          <a:xfrm>
            <a:off x="86868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bcast from 0.0.0.0</a:t>
            </a:r>
          </a:p>
        </p:txBody>
      </p:sp>
      <p:cxnSp>
        <p:nvCxnSpPr>
          <p:cNvPr id="13" name="Connector 12"/>
          <p:cNvCxnSpPr/>
          <p:nvPr/>
        </p:nvCxnSpPr>
        <p:spPr>
          <a:xfrm>
            <a:off x="320268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Offer</a:t>
            </a:r>
          </a:p>
        </p:txBody>
      </p:sp>
      <p:sp>
        <p:nvSpPr>
          <p:cNvPr id="19" name="TextBox 18"/>
          <p:cNvSpPr txBox="1"/>
          <p:nvPr/>
        </p:nvSpPr>
        <p:spPr>
          <a:xfrm>
            <a:off x="362331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server proposes IP</a:t>
            </a:r>
          </a:p>
        </p:txBody>
      </p:sp>
      <p:cxnSp>
        <p:nvCxnSpPr>
          <p:cNvPr id="20" name="Connector 19"/>
          <p:cNvCxnSpPr/>
          <p:nvPr/>
        </p:nvCxnSpPr>
        <p:spPr>
          <a:xfrm>
            <a:off x="595731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Request</a:t>
            </a:r>
          </a:p>
        </p:txBody>
      </p:sp>
      <p:sp>
        <p:nvSpPr>
          <p:cNvPr id="26" name="TextBox 25"/>
          <p:cNvSpPr txBox="1"/>
          <p:nvPr/>
        </p:nvSpPr>
        <p:spPr>
          <a:xfrm>
            <a:off x="637794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client accepts one</a:t>
            </a:r>
          </a:p>
        </p:txBody>
      </p:sp>
      <p:cxnSp>
        <p:nvCxnSpPr>
          <p:cNvPr id="27" name="Connector 26"/>
          <p:cNvCxnSpPr/>
          <p:nvPr/>
        </p:nvCxnSpPr>
        <p:spPr>
          <a:xfrm>
            <a:off x="871194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Acknowledge</a:t>
            </a:r>
          </a:p>
        </p:txBody>
      </p:sp>
      <p:sp>
        <p:nvSpPr>
          <p:cNvPr id="33" name="TextBox 32"/>
          <p:cNvSpPr txBox="1"/>
          <p:nvPr/>
        </p:nvSpPr>
        <p:spPr>
          <a:xfrm>
            <a:off x="913257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lease confirmed</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WHY IT MATTERS</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Discover and Request are broadcasts on UDP 67/68 — which is why every broadcast domain needs its own DHCP server or a relay pointing to one.</a:t>
            </a:r>
          </a:p>
        </p:txBody>
      </p:sp>
      <p:sp>
        <p:nvSpPr>
          <p:cNvPr id="75" name="TextBox 7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76" name="TextBox 7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1.4 · DHCP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DHCP Server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Scope / pool</a:t>
            </a:r>
          </a:p>
          <a:p>
            <a:pPr algn="l">
              <a:spcAft>
                <a:spcPts val="300"/>
              </a:spcAft>
            </a:pPr>
            <a:r>
              <a:rPr sz="1200" b="0">
                <a:solidFill>
                  <a:srgbClr val="5B6372"/>
                </a:solidFill>
                <a:latin typeface="Arial"/>
              </a:rPr>
              <a:t>The range of addresses the server may hand out on a subnet.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Lease time</a:t>
            </a:r>
          </a:p>
          <a:p>
            <a:pPr algn="l">
              <a:spcAft>
                <a:spcPts val="300"/>
              </a:spcAft>
            </a:pPr>
            <a:r>
              <a:rPr sz="1200" b="0">
                <a:solidFill>
                  <a:srgbClr val="5B6372"/>
                </a:solidFill>
                <a:latin typeface="Arial"/>
              </a:rPr>
              <a:t>Addresses are borrowed — clients try to renew at 50% of the lease.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Reservation</a:t>
            </a:r>
          </a:p>
          <a:p>
            <a:pPr algn="l">
              <a:spcAft>
                <a:spcPts val="300"/>
              </a:spcAft>
            </a:pPr>
            <a:r>
              <a:rPr sz="1200" b="0">
                <a:solidFill>
                  <a:srgbClr val="5B6372"/>
                </a:solidFill>
                <a:latin typeface="Arial"/>
              </a:rPr>
              <a:t>A fixed IP tied to a MAC address — printers and servers stay stable.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Exclusion range</a:t>
            </a:r>
          </a:p>
          <a:p>
            <a:pPr algn="l">
              <a:spcAft>
                <a:spcPts val="300"/>
              </a:spcAft>
            </a:pPr>
            <a:r>
              <a:rPr sz="1200" b="0">
                <a:solidFill>
                  <a:srgbClr val="5B6372"/>
                </a:solidFill>
                <a:latin typeface="Arial"/>
              </a:rPr>
              <a:t>Addresses inside the scope the server must never assign.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Options</a:t>
            </a:r>
          </a:p>
          <a:p>
            <a:pPr algn="l">
              <a:spcAft>
                <a:spcPts val="300"/>
              </a:spcAft>
            </a:pPr>
            <a:r>
              <a:rPr sz="1200" b="0">
                <a:solidFill>
                  <a:srgbClr val="5B6372"/>
                </a:solidFill>
                <a:latin typeface="Arial"/>
              </a:rPr>
              <a:t>The lease also carries mask, gateway, DNS servers, NTP and more.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Relay / IP helper</a:t>
            </a:r>
          </a:p>
          <a:p>
            <a:pPr algn="l">
              <a:spcAft>
                <a:spcPts val="300"/>
              </a:spcAft>
            </a:pPr>
            <a:r>
              <a:rPr sz="1200" b="0">
                <a:solidFill>
                  <a:srgbClr val="5B6372"/>
                </a:solidFill>
                <a:latin typeface="Arial"/>
              </a:rPr>
              <a:t>Forwards client broadcasts to a central DHCP server across subnets.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1.4 · DHCP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Static vs Dynamic vs APIPA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Static assignment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Manually configured per host</a:t>
            </a:r>
          </a:p>
          <a:p>
            <a:pPr>
              <a:spcAft>
                <a:spcPts val="900"/>
              </a:spcAft>
            </a:pPr>
            <a:r>
              <a:rPr sz="1400" b="0">
                <a:solidFill>
                  <a:srgbClr val="161B26"/>
                </a:solidFill>
                <a:latin typeface="Arial"/>
              </a:rPr>
              <a:t>•  For routers, servers, printers</a:t>
            </a:r>
          </a:p>
          <a:p>
            <a:pPr>
              <a:spcAft>
                <a:spcPts val="900"/>
              </a:spcAft>
            </a:pPr>
            <a:r>
              <a:rPr sz="1400" b="0">
                <a:solidFill>
                  <a:srgbClr val="161B26"/>
                </a:solidFill>
                <a:latin typeface="Arial"/>
              </a:rPr>
              <a:t>•  No dependency on DHCP</a:t>
            </a:r>
          </a:p>
          <a:p>
            <a:pPr>
              <a:spcAft>
                <a:spcPts val="900"/>
              </a:spcAft>
            </a:pPr>
            <a:r>
              <a:rPr sz="1400" b="0">
                <a:solidFill>
                  <a:srgbClr val="161B26"/>
                </a:solidFill>
                <a:latin typeface="Arial"/>
              </a:rPr>
              <a:t>•  Risk: typos, duplicates, drift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Dynamic (DHCP)</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Automatic from a scope</a:t>
            </a:r>
          </a:p>
          <a:p>
            <a:pPr>
              <a:spcAft>
                <a:spcPts val="900"/>
              </a:spcAft>
            </a:pPr>
            <a:r>
              <a:rPr sz="1400" b="0">
                <a:solidFill>
                  <a:srgbClr val="161B26"/>
                </a:solidFill>
                <a:latin typeface="Arial"/>
              </a:rPr>
              <a:t>•  Self-documenting via leases</a:t>
            </a:r>
          </a:p>
          <a:p>
            <a:pPr>
              <a:spcAft>
                <a:spcPts val="900"/>
              </a:spcAft>
            </a:pPr>
            <a:r>
              <a:rPr sz="1400" b="0">
                <a:solidFill>
                  <a:srgbClr val="161B26"/>
                </a:solidFill>
                <a:latin typeface="Arial"/>
              </a:rPr>
              <a:t>•  Scales to thousands of hosts</a:t>
            </a:r>
          </a:p>
          <a:p>
            <a:pPr>
              <a:spcAft>
                <a:spcPts val="900"/>
              </a:spcAft>
            </a:pPr>
            <a:r>
              <a:rPr sz="1400" b="0">
                <a:solidFill>
                  <a:srgbClr val="161B26"/>
                </a:solidFill>
                <a:latin typeface="Arial"/>
              </a:rPr>
              <a:t>•  One server per broadcast domain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APIPA fallback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169.254.0.0/16 self-assigned</a:t>
            </a:r>
          </a:p>
          <a:p>
            <a:pPr>
              <a:spcAft>
                <a:spcPts val="900"/>
              </a:spcAft>
            </a:pPr>
            <a:r>
              <a:rPr sz="1400" b="0">
                <a:solidFill>
                  <a:srgbClr val="161B26"/>
                </a:solidFill>
                <a:latin typeface="Arial"/>
              </a:rPr>
              <a:t>•  Means DHCP was unreachable</a:t>
            </a:r>
          </a:p>
          <a:p>
            <a:pPr>
              <a:spcAft>
                <a:spcPts val="900"/>
              </a:spcAft>
            </a:pPr>
            <a:r>
              <a:rPr sz="1400" b="0">
                <a:solidFill>
                  <a:srgbClr val="161B26"/>
                </a:solidFill>
                <a:latin typeface="Arial"/>
              </a:rPr>
              <a:t>•  Link-local talk only, no gateway</a:t>
            </a:r>
          </a:p>
          <a:p>
            <a:pPr>
              <a:spcAft>
                <a:spcPts val="900"/>
              </a:spcAft>
            </a:pPr>
            <a:r>
              <a:rPr sz="1400" b="0">
                <a:solidFill>
                  <a:srgbClr val="161B26"/>
                </a:solidFill>
                <a:latin typeface="Arial"/>
              </a:rPr>
              <a:t>•  A diagnostic clue, not a fix</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1.4 · DHCP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Watching DORA in tcpdump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Filter on 'port 67 or port 68' and renew a lease — all four messages appear.</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6A9955"/>
                </a:solidFill>
                <a:latin typeface="Consolas"/>
              </a:rPr>
              <a:t># tcpdump -i eth0 -nn -v 'port 67 or port 68'</a:t>
            </a:r>
          </a:p>
          <a:p>
            <a:pPr>
              <a:spcAft>
                <a:spcPts val="200"/>
              </a:spcAft>
            </a:pPr>
            <a:r>
              <a:rPr sz="1100">
                <a:solidFill>
                  <a:srgbClr val="9CDCFE"/>
                </a:solidFill>
                <a:latin typeface="Consolas"/>
              </a:rPr>
              <a:t>0.0.0.0.68 &gt; 255.255.255.255.67:</a:t>
            </a:r>
          </a:p>
          <a:p>
            <a:pPr>
              <a:spcAft>
                <a:spcPts val="200"/>
              </a:spcAft>
            </a:pPr>
            <a:r>
              <a:rPr sz="1100">
                <a:solidFill>
                  <a:srgbClr val="9CDCFE"/>
                </a:solidFill>
                <a:latin typeface="Consolas"/>
              </a:rPr>
              <a:t>   DHCP-Message: Discover</a:t>
            </a:r>
          </a:p>
          <a:p>
            <a:pPr>
              <a:spcAft>
                <a:spcPts val="200"/>
              </a:spcAft>
            </a:pPr>
            <a:r>
              <a:rPr sz="1100">
                <a:solidFill>
                  <a:srgbClr val="9CDCFE"/>
                </a:solidFill>
                <a:latin typeface="Consolas"/>
              </a:rPr>
              <a:t>10.244.0.1.67 &gt; 255.255.255.255.68:</a:t>
            </a:r>
          </a:p>
          <a:p>
            <a:pPr>
              <a:spcAft>
                <a:spcPts val="200"/>
              </a:spcAft>
            </a:pPr>
            <a:r>
              <a:rPr sz="1100">
                <a:solidFill>
                  <a:srgbClr val="9CDCFE"/>
                </a:solidFill>
                <a:latin typeface="Consolas"/>
              </a:rPr>
              <a:t>   DHCP-Message: Offer  (your-ip 10.244.0.5)</a:t>
            </a:r>
          </a:p>
          <a:p>
            <a:pPr>
              <a:spcAft>
                <a:spcPts val="200"/>
              </a:spcAft>
            </a:pPr>
            <a:r>
              <a:rPr sz="1100">
                <a:solidFill>
                  <a:srgbClr val="9CDCFE"/>
                </a:solidFill>
                <a:latin typeface="Consolas"/>
              </a:rPr>
              <a:t>0.0.0.0.68 &gt; 255.255.255.255.67:</a:t>
            </a:r>
          </a:p>
          <a:p>
            <a:pPr>
              <a:spcAft>
                <a:spcPts val="200"/>
              </a:spcAft>
            </a:pPr>
            <a:r>
              <a:rPr sz="1100">
                <a:solidFill>
                  <a:srgbClr val="9CDCFE"/>
                </a:solidFill>
                <a:latin typeface="Consolas"/>
              </a:rPr>
              <a:t>   DHCP-Message: Request</a:t>
            </a:r>
          </a:p>
          <a:p>
            <a:pPr>
              <a:spcAft>
                <a:spcPts val="200"/>
              </a:spcAft>
            </a:pPr>
            <a:r>
              <a:rPr sz="1100">
                <a:solidFill>
                  <a:srgbClr val="9CDCFE"/>
                </a:solidFill>
                <a:latin typeface="Consolas"/>
              </a:rPr>
              <a:t>10.244.0.1.67 &gt; 255.255.255.255.68:</a:t>
            </a:r>
          </a:p>
          <a:p>
            <a:pPr>
              <a:spcAft>
                <a:spcPts val="200"/>
              </a:spcAft>
            </a:pPr>
            <a:r>
              <a:rPr sz="1100">
                <a:solidFill>
                  <a:srgbClr val="9CDCFE"/>
                </a:solidFill>
                <a:latin typeface="Consolas"/>
              </a:rPr>
              <a:t>   DHCP-Message: ACK  (lease-time 3600)</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Broadcasts</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client has no address yet, so Discover and Request come from 0.0.0.0.</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The Offer</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Carries the proposed IP, mask, gateway, DNS and lease time in DHCP options.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ACK seals it</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Only after the ACK may the client actually use the address.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1.4 · DHCP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When DHCP Goes Wrong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Exhausted scope</a:t>
            </a:r>
          </a:p>
          <a:p>
            <a:pPr algn="l">
              <a:spcAft>
                <a:spcPts val="300"/>
              </a:spcAft>
            </a:pPr>
            <a:r>
              <a:rPr sz="1200" b="0">
                <a:solidFill>
                  <a:srgbClr val="5B6372"/>
                </a:solidFill>
                <a:latin typeface="Arial"/>
              </a:rPr>
              <a:t>More devices than addresses — shrink lease times or widen the scope.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Rogue DHCP server</a:t>
            </a:r>
          </a:p>
          <a:p>
            <a:pPr algn="l">
              <a:spcAft>
                <a:spcPts val="300"/>
              </a:spcAft>
            </a:pPr>
            <a:r>
              <a:rPr sz="1200" b="0">
                <a:solidFill>
                  <a:srgbClr val="5B6372"/>
                </a:solidFill>
                <a:latin typeface="Arial"/>
              </a:rPr>
              <a:t>An unauthorised server hands out bad leases — find it, then enable DHCP snooping.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Missing relay</a:t>
            </a:r>
          </a:p>
          <a:p>
            <a:pPr algn="l">
              <a:spcAft>
                <a:spcPts val="300"/>
              </a:spcAft>
            </a:pPr>
            <a:r>
              <a:rPr sz="1200" b="0">
                <a:solidFill>
                  <a:srgbClr val="5B6372"/>
                </a:solidFill>
                <a:latin typeface="Arial"/>
              </a:rPr>
              <a:t>Clients across a router never reach the server — configure an IP helper address.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IPAM</a:t>
            </a:r>
          </a:p>
          <a:p>
            <a:pPr algn="l">
              <a:spcAft>
                <a:spcPts val="300"/>
              </a:spcAft>
            </a:pPr>
            <a:r>
              <a:rPr sz="1200" b="0">
                <a:solidFill>
                  <a:srgbClr val="5B6372"/>
                </a:solidFill>
                <a:latin typeface="Arial"/>
              </a:rPr>
              <a:t>IP address management tools track scopes, leases and reservations across sites.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1.0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DHCP Lease Capture (DORA)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Capture all four DHCP DORA messages during a live lease renewal.</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Run tcpdump against UDP ports 67/68 while releasing and re-requesting your DHCP lease with dhclient, then identify the Discover, Offer, Request and Acknowledge messages in the capture.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capture showing the full DORA exchange and a freshly renewed lease on eth0.</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isc-dhcp-client (dhclient), tcpdump, Killercoda Ubuntu</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capture shows DHCPDISCOVER broadcast from 0.0.0.0 to 255.255.255.255, followed by Offer, Request and Ack; dhclient reports the address it bound.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Install the DHCP client and capture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Start a background capture on the DHCP</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tcpdump · step 2</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Release the current lease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dhclient · step 3</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 Discover</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Stop the capture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kill · step 6</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Capture all four DHCP DORA messages during a live lease renewal.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DHCP Lease Capture (DORA)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capture shows DHCPDISCOVER broadcast from 0.0.0.0 to 255.255.255.255, followed by Offer, Request and Ack; dhclient reports the address it bound.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Connectivity lost after release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Expected — dhclient -v eth0 re-acquires a lease; if the session breaks, reload the playground.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DHCP packets in capture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filter is 'port 67 or port 68' and start the capture before releasing.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dhclient: command not found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Install it: apt update &amp;&amp; apt install -y isc-dhcp-client.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OBJ 1.3 · CLOUD</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network is now software.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Hypervisors, NFV and cloud VPCs rebuild every concept in this domain — switches, routers, firewalls, subnets — as code you can deploy in seconds.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1.3 · VIRTUALIZATION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Virtualization Foundations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Type 1 hypervisor</a:t>
            </a:r>
          </a:p>
          <a:p>
            <a:pPr algn="l">
              <a:spcAft>
                <a:spcPts val="300"/>
              </a:spcAft>
            </a:pPr>
            <a:r>
              <a:rPr sz="1200" b="0">
                <a:solidFill>
                  <a:srgbClr val="5B6372"/>
                </a:solidFill>
                <a:latin typeface="Arial"/>
              </a:rPr>
              <a:t>Bare-metal: ESXi, Hyper-V, KVM — the production data center standard.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Type 2 hypervisor</a:t>
            </a:r>
          </a:p>
          <a:p>
            <a:pPr algn="l">
              <a:spcAft>
                <a:spcPts val="300"/>
              </a:spcAft>
            </a:pPr>
            <a:r>
              <a:rPr sz="1200" b="0">
                <a:solidFill>
                  <a:srgbClr val="5B6372"/>
                </a:solidFill>
                <a:latin typeface="Arial"/>
              </a:rPr>
              <a:t>Hosted on a desktop OS: VirtualBox, VMware Workstation — labs and testing.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virtualize</a:t>
            </a:r>
          </a:p>
          <a:p>
            <a:pPr algn="l">
              <a:spcAft>
                <a:spcPts val="300"/>
              </a:spcAft>
            </a:pPr>
            <a:r>
              <a:rPr sz="1200" b="0">
                <a:solidFill>
                  <a:srgbClr val="5B6372"/>
                </a:solidFill>
                <a:latin typeface="Arial"/>
              </a:rPr>
              <a:t>Consolidation, power savings, snapshots and fast recovery of whole systems.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vSwitch</a:t>
            </a:r>
          </a:p>
          <a:p>
            <a:pPr algn="l">
              <a:spcAft>
                <a:spcPts val="300"/>
              </a:spcAft>
            </a:pPr>
            <a:r>
              <a:rPr sz="1200" b="0">
                <a:solidFill>
                  <a:srgbClr val="5B6372"/>
                </a:solidFill>
                <a:latin typeface="Arial"/>
              </a:rPr>
              <a:t>A software switch connecting VM NICs — configure it like a physical switch.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Virtual disks</a:t>
            </a:r>
          </a:p>
          <a:p>
            <a:pPr algn="l">
              <a:spcAft>
                <a:spcPts val="300"/>
              </a:spcAft>
            </a:pPr>
            <a:r>
              <a:rPr sz="1200" b="0">
                <a:solidFill>
                  <a:srgbClr val="5B6372"/>
                </a:solidFill>
                <a:latin typeface="Arial"/>
              </a:rPr>
              <a:t>VHD/VHDX/VMDK files hold entire machines — portable and snapshottable.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Not emulation</a:t>
            </a:r>
          </a:p>
          <a:p>
            <a:pPr algn="l">
              <a:spcAft>
                <a:spcPts val="300"/>
              </a:spcAft>
            </a:pPr>
            <a:r>
              <a:rPr sz="1200" b="0">
                <a:solidFill>
                  <a:srgbClr val="5B6372"/>
                </a:solidFill>
                <a:latin typeface="Arial"/>
              </a:rPr>
              <a:t>Virtualization shares real CPU hardware; emulation imitates different hardware.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1.8 · MODERN NETWORKS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NFV and SDN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NFV</a:t>
            </a:r>
          </a:p>
          <a:p>
            <a:pPr algn="l">
              <a:spcAft>
                <a:spcPts val="300"/>
              </a:spcAft>
            </a:pPr>
            <a:r>
              <a:rPr sz="1200" b="0">
                <a:solidFill>
                  <a:srgbClr val="5B6372"/>
                </a:solidFill>
                <a:latin typeface="Arial"/>
              </a:rPr>
              <a:t>Network functions — router, firewall, load balancer — shipped as software appliances.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SDN</a:t>
            </a:r>
          </a:p>
          <a:p>
            <a:pPr algn="l">
              <a:spcAft>
                <a:spcPts val="300"/>
              </a:spcAft>
            </a:pPr>
            <a:r>
              <a:rPr sz="1200" b="0">
                <a:solidFill>
                  <a:srgbClr val="5B6372"/>
                </a:solidFill>
                <a:latin typeface="Arial"/>
              </a:rPr>
              <a:t>Splits the control plane from the data plane; the network is programmed centrally.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planes</a:t>
            </a:r>
          </a:p>
          <a:p>
            <a:pPr algn="l">
              <a:spcAft>
                <a:spcPts val="300"/>
              </a:spcAft>
            </a:pPr>
            <a:r>
              <a:rPr sz="1200" b="0">
                <a:solidFill>
                  <a:srgbClr val="5B6372"/>
                </a:solidFill>
                <a:latin typeface="Arial"/>
              </a:rPr>
              <a:t>Data forwards packets, control decides routes, management configures it all.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Distributed switching</a:t>
            </a:r>
          </a:p>
          <a:p>
            <a:pPr algn="l">
              <a:spcAft>
                <a:spcPts val="300"/>
              </a:spcAft>
            </a:pPr>
            <a:r>
              <a:rPr sz="1200" b="0">
                <a:solidFill>
                  <a:srgbClr val="5B6372"/>
                </a:solidFill>
                <a:latin typeface="Arial"/>
              </a:rPr>
              <a:t>One logical switch spans every host — configure once, applied everywhere.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1.3 · CLOUD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 Service Models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Model</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Provider manages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You manage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IaaS</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Hardware, hypervisor</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OS, apps, data</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AWS EC2</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PaaS</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Up to the runtime</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Code and data</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Heroku, App Service</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SaaS</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The whole stack</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Usage and config</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Microsoft 365</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DaaS</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Virtual desktops</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Profiles, policy</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Windows 365</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more the provider manages, the less you control — pick per workload, not per company.</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1.3 · CLOUD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 Deployment Models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Model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Who uses it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Trade-off</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Public</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Anyone, shared infrastructure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Lowest cost, least control</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Private</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One organisation</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Full control, full cost</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Hybrid</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mix of both</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Flexibility + complexity</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Community</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shared-interest group</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Split compliance costs</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Hybrid is the enterprise norm: sensitive systems stay private, elastic workloads burst to public.</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1.3 · CLOUD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 Characteristics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Scalability</a:t>
            </a:r>
          </a:p>
          <a:p>
            <a:pPr algn="l">
              <a:spcAft>
                <a:spcPts val="300"/>
              </a:spcAft>
            </a:pPr>
            <a:r>
              <a:rPr sz="1200" b="0">
                <a:solidFill>
                  <a:srgbClr val="5B6372"/>
                </a:solidFill>
                <a:latin typeface="Arial"/>
              </a:rPr>
              <a:t>Grow capacity on demand without buying or racking hardware.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Elasticity</a:t>
            </a:r>
          </a:p>
          <a:p>
            <a:pPr algn="l">
              <a:spcAft>
                <a:spcPts val="300"/>
              </a:spcAft>
            </a:pPr>
            <a:r>
              <a:rPr sz="1200" b="0">
                <a:solidFill>
                  <a:srgbClr val="5B6372"/>
                </a:solidFill>
                <a:latin typeface="Arial"/>
              </a:rPr>
              <a:t>Grow and shrink automatically with load — pay only for what runs.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Multitenancy</a:t>
            </a:r>
          </a:p>
          <a:p>
            <a:pPr algn="l">
              <a:spcAft>
                <a:spcPts val="300"/>
              </a:spcAft>
            </a:pPr>
            <a:r>
              <a:rPr sz="1200" b="0">
                <a:solidFill>
                  <a:srgbClr val="5B6372"/>
                </a:solidFill>
                <a:latin typeface="Arial"/>
              </a:rPr>
              <a:t>Many customers share the provider's infrastructure, isolated logically.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Least privilege</a:t>
            </a:r>
          </a:p>
          <a:p>
            <a:pPr algn="l">
              <a:spcAft>
                <a:spcPts val="300"/>
              </a:spcAft>
            </a:pPr>
            <a:r>
              <a:rPr sz="1200" b="0">
                <a:solidFill>
                  <a:srgbClr val="5B6372"/>
                </a:solidFill>
                <a:latin typeface="Arial"/>
              </a:rPr>
              <a:t>Cloud IAM grants every identity only the access it needs — nothing more.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1.3 · CLOUD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Inside a VPC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VPC</a:t>
            </a:r>
          </a:p>
          <a:p>
            <a:pPr algn="l">
              <a:spcAft>
                <a:spcPts val="300"/>
              </a:spcAft>
            </a:pPr>
            <a:r>
              <a:rPr sz="1200" b="0">
                <a:solidFill>
                  <a:srgbClr val="5B6372"/>
                </a:solidFill>
                <a:latin typeface="Arial"/>
              </a:rPr>
              <a:t>Your private software-defined network in a cloud region, with a CIDR block you choose.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Subnets</a:t>
            </a:r>
          </a:p>
          <a:p>
            <a:pPr algn="l">
              <a:spcAft>
                <a:spcPts val="300"/>
              </a:spcAft>
            </a:pPr>
            <a:r>
              <a:rPr sz="1200" b="0">
                <a:solidFill>
                  <a:srgbClr val="5B6372"/>
                </a:solidFill>
                <a:latin typeface="Arial"/>
              </a:rPr>
              <a:t>Carve the VPC CIDR per availability zone; public subnets route to an internet gateway.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Route tables</a:t>
            </a:r>
          </a:p>
          <a:p>
            <a:pPr algn="l">
              <a:spcAft>
                <a:spcPts val="300"/>
              </a:spcAft>
            </a:pPr>
            <a:r>
              <a:rPr sz="1200" b="0">
                <a:solidFill>
                  <a:srgbClr val="5B6372"/>
                </a:solidFill>
                <a:latin typeface="Arial"/>
              </a:rPr>
              <a:t>Decide where each subnet's traffic goes — the VPC's built-in routers.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Security groups</a:t>
            </a:r>
          </a:p>
          <a:p>
            <a:pPr algn="l">
              <a:spcAft>
                <a:spcPts val="300"/>
              </a:spcAft>
            </a:pPr>
            <a:r>
              <a:rPr sz="1200" b="0">
                <a:solidFill>
                  <a:srgbClr val="5B6372"/>
                </a:solidFill>
                <a:latin typeface="Arial"/>
              </a:rPr>
              <a:t>Stateful per-instance firewalls — allow rules only, replies pass automatically.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Network ACLs</a:t>
            </a:r>
          </a:p>
          <a:p>
            <a:pPr algn="l">
              <a:spcAft>
                <a:spcPts val="300"/>
              </a:spcAft>
            </a:pPr>
            <a:r>
              <a:rPr sz="1200" b="0">
                <a:solidFill>
                  <a:srgbClr val="5B6372"/>
                </a:solidFill>
                <a:latin typeface="Arial"/>
              </a:rPr>
              <a:t>Stateless subnet-level filters supporting both allow and deny rules.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Gateways</a:t>
            </a:r>
          </a:p>
          <a:p>
            <a:pPr algn="l">
              <a:spcAft>
                <a:spcPts val="300"/>
              </a:spcAft>
            </a:pPr>
            <a:r>
              <a:rPr sz="1200" b="0">
                <a:solidFill>
                  <a:srgbClr val="5B6372"/>
                </a:solidFill>
                <a:latin typeface="Arial"/>
              </a:rPr>
              <a:t>Internet, NAT and VPN gateways connect the VPC to everything outside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1.3 · CLOUD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Security Groups vs Network ACLs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Security group (instance level)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Network ACL (subnet level)</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Stateful — return traffic auto-allowed</a:t>
            </a:r>
          </a:p>
          <a:p>
            <a:pPr>
              <a:spcAft>
                <a:spcPts val="1000"/>
              </a:spcAft>
            </a:pPr>
            <a:r>
              <a:rPr sz="1600" b="0">
                <a:solidFill>
                  <a:srgbClr val="161B26"/>
                </a:solidFill>
                <a:latin typeface="Arial"/>
              </a:rPr>
              <a:t>•  Allow rules only</a:t>
            </a:r>
          </a:p>
          <a:p>
            <a:pPr>
              <a:spcAft>
                <a:spcPts val="1000"/>
              </a:spcAft>
            </a:pPr>
            <a:r>
              <a:rPr sz="1600" b="0">
                <a:solidFill>
                  <a:srgbClr val="161B26"/>
                </a:solidFill>
                <a:latin typeface="Arial"/>
              </a:rPr>
              <a:t>•  Attached to instances / NICs</a:t>
            </a:r>
          </a:p>
          <a:p>
            <a:pPr>
              <a:spcAft>
                <a:spcPts val="1000"/>
              </a:spcAft>
            </a:pPr>
            <a:r>
              <a:rPr sz="1600" b="0">
                <a:solidFill>
                  <a:srgbClr val="161B26"/>
                </a:solidFill>
                <a:latin typeface="Arial"/>
              </a:rPr>
              <a:t>•  First line for app-tier isolation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Stateless — reply needs its own rule</a:t>
            </a:r>
          </a:p>
          <a:p>
            <a:pPr>
              <a:spcAft>
                <a:spcPts val="1000"/>
              </a:spcAft>
            </a:pPr>
            <a:r>
              <a:rPr sz="1600" b="0">
                <a:solidFill>
                  <a:srgbClr val="161B26"/>
                </a:solidFill>
                <a:latin typeface="Arial"/>
              </a:rPr>
              <a:t>•  Allow and deny rules, numbered</a:t>
            </a:r>
          </a:p>
          <a:p>
            <a:pPr>
              <a:spcAft>
                <a:spcPts val="1000"/>
              </a:spcAft>
            </a:pPr>
            <a:r>
              <a:rPr sz="1600" b="0">
                <a:solidFill>
                  <a:srgbClr val="161B26"/>
                </a:solidFill>
                <a:latin typeface="Arial"/>
              </a:rPr>
              <a:t>•  Applies to everything in the subnet</a:t>
            </a:r>
          </a:p>
          <a:p>
            <a:pPr>
              <a:spcAft>
                <a:spcPts val="1000"/>
              </a:spcAft>
            </a:pPr>
            <a:r>
              <a:rPr sz="1600" b="0">
                <a:solidFill>
                  <a:srgbClr val="161B26"/>
                </a:solidFill>
                <a:latin typeface="Arial"/>
              </a:rPr>
              <a:t>•  Broad guardrails and IP blacklists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1.3 · CLOUD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Packet Leaves Your VPC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SG egress check</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Subnet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NACL evaluated</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Route table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0.0.0.0/0 -&gt; GW</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Gateway</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IGW or NAT GW</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Internet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public source IP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Cloud troubleshooting is this pipeline in order: instance firewall, subnet ACL, route, gateway — the same layered thinking as the OSI model.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1.3 · CLOUD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Connecting to the Cloud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VPN over Internet</a:t>
            </a:r>
          </a:p>
          <a:p>
            <a:pPr algn="l">
              <a:spcAft>
                <a:spcPts val="300"/>
              </a:spcAft>
            </a:pPr>
            <a:r>
              <a:rPr sz="1200" b="0">
                <a:solidFill>
                  <a:srgbClr val="5B6372"/>
                </a:solidFill>
                <a:latin typeface="Arial"/>
              </a:rPr>
              <a:t>IPsec tunnels to a cloud VPN gateway — quick, cheap, encrypted.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Direct Connect</a:t>
            </a:r>
          </a:p>
          <a:p>
            <a:pPr algn="l">
              <a:spcAft>
                <a:spcPts val="300"/>
              </a:spcAft>
            </a:pPr>
            <a:r>
              <a:rPr sz="1200" b="0">
                <a:solidFill>
                  <a:srgbClr val="5B6372"/>
                </a:solidFill>
                <a:latin typeface="Arial"/>
              </a:rPr>
              <a:t>Private circuits (ExpressRoute, Direct Connect) — predictable latency and bandwidth.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Transit gateways</a:t>
            </a:r>
          </a:p>
          <a:p>
            <a:pPr algn="l">
              <a:spcAft>
                <a:spcPts val="300"/>
              </a:spcAft>
            </a:pPr>
            <a:r>
              <a:rPr sz="1200" b="0">
                <a:solidFill>
                  <a:srgbClr val="5B6372"/>
                </a:solidFill>
                <a:latin typeface="Arial"/>
              </a:rPr>
              <a:t>Hub-and-spoke interconnect for many VPCs and on-prem sites.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NAT gateway</a:t>
            </a:r>
          </a:p>
          <a:p>
            <a:pPr algn="l">
              <a:spcAft>
                <a:spcPts val="300"/>
              </a:spcAft>
            </a:pPr>
            <a:r>
              <a:rPr sz="1200" b="0">
                <a:solidFill>
                  <a:srgbClr val="5B6372"/>
                </a:solidFill>
                <a:latin typeface="Arial"/>
              </a:rPr>
              <a:t>Lets private subnets reach out to the Internet without being reachable inbound.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1.8 · MODERN NETWORKS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Infrastructure as Code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IaC</a:t>
            </a:r>
          </a:p>
          <a:p>
            <a:pPr algn="l">
              <a:spcAft>
                <a:spcPts val="300"/>
              </a:spcAft>
            </a:pPr>
            <a:r>
              <a:rPr sz="1200" b="0">
                <a:solidFill>
                  <a:srgbClr val="5B6372"/>
                </a:solidFill>
                <a:latin typeface="Arial"/>
              </a:rPr>
              <a:t>Networks described in files (Terraform, CloudFormation) — versioned like source code.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Automation</a:t>
            </a:r>
          </a:p>
          <a:p>
            <a:pPr algn="l">
              <a:spcAft>
                <a:spcPts val="300"/>
              </a:spcAft>
            </a:pPr>
            <a:r>
              <a:rPr sz="1200" b="0">
                <a:solidFill>
                  <a:srgbClr val="5B6372"/>
                </a:solidFill>
                <a:latin typeface="Arial"/>
              </a:rPr>
              <a:t>Provisioning without manual steps: consistent, repeatable, reviewable.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Orchestration</a:t>
            </a:r>
          </a:p>
          <a:p>
            <a:pPr algn="l">
              <a:spcAft>
                <a:spcPts val="300"/>
              </a:spcAft>
            </a:pPr>
            <a:r>
              <a:rPr sz="1200" b="0">
                <a:solidFill>
                  <a:srgbClr val="5B6372"/>
                </a:solidFill>
                <a:latin typeface="Arial"/>
              </a:rPr>
              <a:t>Chains automated tasks into whole-environment deployments.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Why it wins</a:t>
            </a:r>
          </a:p>
          <a:p>
            <a:pPr algn="l">
              <a:spcAft>
                <a:spcPts val="300"/>
              </a:spcAft>
            </a:pPr>
            <a:r>
              <a:rPr sz="1200" b="0">
                <a:solidFill>
                  <a:srgbClr val="5B6372"/>
                </a:solidFill>
                <a:latin typeface="Arial"/>
              </a:rPr>
              <a:t>A VPC built from code can be rebuilt identically in minutes — Lab 7 does it by hand once.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1.3 · CLOUD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Public, Private or Hybrid?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Does compliance or data residency
force workloads on-premises?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private or hybrid</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Keep regulated data on private infrastructure and burst stateless workloads to public cloud through a hybrid design.</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public first</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Start public for elasticity and low capital cost; revisit only if scale, latency or new rules demand it.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Cost surprises come from egress traffic — model data flows before you commit.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1.0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Simulating a Cloud VPC with Namespaces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Build a VPC-style virtual network from namespaces, a bridge and veth pairs.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Recreate cloud VPC building blocks on one Linux host: two network namespaces act as VMs, a Linux bridge acts as the virtual switch, and veth pairs cable them together on subnet 10.0.1.0/24.</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Two isolated 'VMs' (web and db) pinging each other through a Linux bridge — a working VPC subnet.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iproute2 (ip netns, ip link, veth, bridge), Killercoda Ubuntu</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netns exec web ping -c2 10.0.1.20 returns two replies — two isolated hosts sharing one subnet through a bridge, with no router involved.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two namespaces to act as the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a veth 'virtual cable' for each</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Move the VM-side ends into their</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Assign IPs in the same /24 and bring</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Clean up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Build a VPC-style virtual network from namespaces, a bridge and veth pairs.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Simulating a Cloud VPC with Namespaces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ip netns exec web ping -c2 10.0.1.20 returns two replies — two isolated hosts sharing one subnet through a bridge, with no router involved.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Network is unreachable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Bring interfaces up in both namespaces, including lo, and re-check the 10.0.1.x addresses.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Destination Host Unreachable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Verify both bridge-side ends are enslaved and up: ip link set br-web master br0 (and br-db).</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Cannot find device veth-web</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That end now lives inside the namespace — manage it via ip netns exec web ip link ...</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1 Exam-Day Anchors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OSI in order</a:t>
            </a:r>
          </a:p>
          <a:p>
            <a:pPr algn="l">
              <a:spcAft>
                <a:spcPts val="300"/>
              </a:spcAft>
            </a:pPr>
            <a:r>
              <a:rPr sz="1200" b="0">
                <a:solidFill>
                  <a:srgbClr val="5B6372"/>
                </a:solidFill>
                <a:latin typeface="Arial"/>
              </a:rPr>
              <a:t>Please Do Not Throw Sausage Pizza Away — and PDUs: bits, frame, packet, segment, data.</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Port table cold</a:t>
            </a:r>
          </a:p>
          <a:p>
            <a:pPr algn="l">
              <a:spcAft>
                <a:spcPts val="300"/>
              </a:spcAft>
            </a:pPr>
            <a:r>
              <a:rPr sz="1200" b="0">
                <a:solidFill>
                  <a:srgbClr val="5B6372"/>
                </a:solidFill>
                <a:latin typeface="Arial"/>
              </a:rPr>
              <a:t>FTP 21, SSH 22, DNS 53, DHCP 67/68, HTTP 80, HTTPS 443, NTP 123, RDP 3389.</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RFC1918 ranges</a:t>
            </a:r>
          </a:p>
          <a:p>
            <a:pPr algn="l">
              <a:spcAft>
                <a:spcPts val="300"/>
              </a:spcAft>
            </a:pPr>
            <a:r>
              <a:rPr sz="1200" b="0">
                <a:solidFill>
                  <a:srgbClr val="5B6372"/>
                </a:solidFill>
                <a:latin typeface="Arial"/>
              </a:rPr>
              <a:t>10/8, 172.16/12, 192.168/16 — private, NATed, never routed publicly.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Subnet math</a:t>
            </a:r>
          </a:p>
          <a:p>
            <a:pPr algn="l">
              <a:spcAft>
                <a:spcPts val="300"/>
              </a:spcAft>
            </a:pPr>
            <a:r>
              <a:rPr sz="1200" b="0">
                <a:solidFill>
                  <a:srgbClr val="5B6372"/>
                </a:solidFill>
                <a:latin typeface="Arial"/>
              </a:rPr>
              <a:t>Block size = 256 minus the mask's last octet; hosts = 2^host-bits minus 2.</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DORA + SLAAC</a:t>
            </a:r>
          </a:p>
          <a:p>
            <a:pPr algn="l">
              <a:spcAft>
                <a:spcPts val="300"/>
              </a:spcAft>
            </a:pPr>
            <a:r>
              <a:rPr sz="1200" b="0">
                <a:solidFill>
                  <a:srgbClr val="5B6372"/>
                </a:solidFill>
                <a:latin typeface="Arial"/>
              </a:rPr>
              <a:t>DHCP is Discover-Offer-Request-Ack; IPv6 can self-configure from an RA.</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Cloud layers</a:t>
            </a:r>
          </a:p>
          <a:p>
            <a:pPr algn="l">
              <a:spcAft>
                <a:spcPts val="300"/>
              </a:spcAft>
            </a:pPr>
            <a:r>
              <a:rPr sz="1200" b="0">
                <a:solidFill>
                  <a:srgbClr val="5B6372"/>
                </a:solidFill>
                <a:latin typeface="Arial"/>
              </a:rPr>
              <a:t>SG then NACL then route then gateway — the packet pipeline of every VPC.</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NEXT · DOMAIN 2</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Concepts are the map. Everything else is the road.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Domain 2 puts these concepts to work: routing, switching, VLANs and wireless — built on the addressing and models you now own.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1.0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Networking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You can now: Capture live traffic and map each protocol header to its OSI layer.</a:t>
            </a:r>
          </a:p>
          <a:p>
            <a:pPr>
              <a:spcAft>
                <a:spcPts val="1000"/>
              </a:spcAft>
            </a:pPr>
            <a:r>
              <a:rPr sz="1600" b="0">
                <a:solidFill>
                  <a:srgbClr val="161B26"/>
                </a:solidFill>
                <a:latin typeface="Arial"/>
              </a:rPr>
              <a:t>•  You can now: Split a /24 into four /26 subnets and verify the math with the TIS IP Calculator.</a:t>
            </a:r>
          </a:p>
          <a:p>
            <a:pPr>
              <a:spcAft>
                <a:spcPts val="1000"/>
              </a:spcAft>
            </a:pPr>
            <a:r>
              <a:rPr sz="1600" b="0">
                <a:solidFill>
                  <a:srgbClr val="161B26"/>
                </a:solidFill>
                <a:latin typeface="Arial"/>
              </a:rPr>
              <a:t>•  You can now: Plan an IPv6 /64, add a global address, and ping link-local using a zone ID.</a:t>
            </a:r>
          </a:p>
          <a:p>
            <a:pPr>
              <a:spcAft>
                <a:spcPts val="1000"/>
              </a:spcAft>
            </a:pPr>
            <a:r>
              <a:rPr sz="1600" b="0">
                <a:solidFill>
                  <a:srgbClr val="161B26"/>
                </a:solidFill>
                <a:latin typeface="Arial"/>
              </a:rPr>
              <a:t>•  You can now: Connect protocol names to well-known port numbers using ss and nmap.</a:t>
            </a:r>
          </a:p>
          <a:p>
            <a:pPr>
              <a:spcAft>
                <a:spcPts val="1000"/>
              </a:spcAft>
            </a:pPr>
            <a:r>
              <a:rPr sz="1600" b="0">
                <a:solidFill>
                  <a:srgbClr val="161B26"/>
                </a:solidFill>
                <a:latin typeface="Arial"/>
              </a:rPr>
              <a:t>•  You can now: Query every N10-009 DNS record type with dig and interpret the answers.</a:t>
            </a:r>
          </a:p>
          <a:p>
            <a:pPr>
              <a:spcAft>
                <a:spcPts val="1000"/>
              </a:spcAft>
            </a:pPr>
            <a:r>
              <a:rPr sz="1600" b="0">
                <a:solidFill>
                  <a:srgbClr val="161B26"/>
                </a:solidFill>
                <a:latin typeface="Arial"/>
              </a:rPr>
              <a:t>•  You can now: Capture all four DHCP DORA messages during a live lease renewal.</a:t>
            </a:r>
          </a:p>
          <a:p>
            <a:pPr>
              <a:spcAft>
                <a:spcPts val="1000"/>
              </a:spcAft>
            </a:pPr>
            <a:r>
              <a:rPr sz="1600" b="0">
                <a:solidFill>
                  <a:srgbClr val="161B26"/>
                </a:solidFill>
                <a:latin typeface="Arial"/>
              </a:rPr>
              <a:t>•  You can now: Build a VPC-style virtual network from namespaces, a bridge and veth pairs.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2.0  ·  20%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 Implementation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Routing technologies · switching technologies · wireless devices · physical installations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2.0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med" advClick="1">
    <p:push dir="l"/>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8–10</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Static Routing Between Two Subnets</a:t>
            </a:r>
          </a:p>
          <a:p>
            <a:pPr>
              <a:spcAft>
                <a:spcPts val="900"/>
              </a:spcAft>
            </a:pPr>
            <a:r>
              <a:rPr sz="1400" b="0">
                <a:solidFill>
                  <a:srgbClr val="161B26"/>
                </a:solidFill>
                <a:latin typeface="Arial"/>
              </a:rPr>
              <a:t>•  802.1Q VLAN Tagging</a:t>
            </a:r>
          </a:p>
          <a:p>
            <a:pPr>
              <a:spcAft>
                <a:spcPts val="900"/>
              </a:spcAft>
            </a:pPr>
            <a:r>
              <a:rPr sz="1400" b="0">
                <a:solidFill>
                  <a:srgbClr val="161B26"/>
                </a:solidFill>
                <a:latin typeface="Arial"/>
              </a:rPr>
              <a:t>•  Link Aggregation (LACP Bond)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11–13</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Wireless Concepts and Channel Survey</a:t>
            </a:r>
          </a:p>
          <a:p>
            <a:pPr>
              <a:spcAft>
                <a:spcPts val="900"/>
              </a:spcAft>
            </a:pPr>
            <a:r>
              <a:rPr sz="1400" b="0">
                <a:solidFill>
                  <a:srgbClr val="161B26"/>
                </a:solidFill>
                <a:latin typeface="Arial"/>
              </a:rPr>
              <a:t>•  NAT and PAT with iptables</a:t>
            </a:r>
          </a:p>
          <a:p>
            <a:pPr>
              <a:spcAft>
                <a:spcPts val="900"/>
              </a:spcAft>
            </a:pPr>
            <a:r>
              <a:rPr sz="1400" b="0">
                <a:solidFill>
                  <a:srgbClr val="161B26"/>
                </a:solidFill>
                <a:latin typeface="Arial"/>
              </a:rPr>
              <a:t>•  DHCP Server with isc-dhcp-server</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Authoritative DNS with BIND9</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20% OF THE EXAM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Domain 2 — Network Implementation.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Routing, switching, wireless and physical installations — 20% of the N10-009 exam and the heart of the build-it job role.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Routers Connect Network IDs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Routers care about destinations</a:t>
            </a:r>
          </a:p>
          <a:p>
            <a:pPr algn="l">
              <a:spcAft>
                <a:spcPts val="300"/>
              </a:spcAft>
            </a:pPr>
            <a:r>
              <a:rPr sz="1200" b="0">
                <a:solidFill>
                  <a:srgbClr val="5B6372"/>
                </a:solidFill>
                <a:latin typeface="Arial"/>
              </a:rPr>
              <a:t>A router reads the destination network ID, looks it up in its routing table and forwards out the matching interface.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Any medium</a:t>
            </a:r>
          </a:p>
          <a:p>
            <a:pPr algn="l">
              <a:spcAft>
                <a:spcPts val="300"/>
              </a:spcAft>
            </a:pPr>
            <a:r>
              <a:rPr sz="1200" b="0">
                <a:solidFill>
                  <a:srgbClr val="5B6372"/>
                </a:solidFill>
                <a:latin typeface="Arial"/>
              </a:rPr>
              <a:t>Routing is Layer 3 — a router joins Ethernet, fiber and wireless segments because IP is independent of the link below.</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Every router has a routing table</a:t>
            </a:r>
          </a:p>
          <a:p>
            <a:pPr algn="l">
              <a:spcAft>
                <a:spcPts val="300"/>
              </a:spcAft>
            </a:pPr>
            <a:r>
              <a:rPr sz="1200" b="0">
                <a:solidFill>
                  <a:srgbClr val="5B6372"/>
                </a:solidFill>
                <a:latin typeface="Arial"/>
              </a:rPr>
              <a:t>The table maps destination networks to a next hop or exit interface; no match and no default route means the packet is dropped.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Default route</a:t>
            </a:r>
          </a:p>
          <a:p>
            <a:pPr algn="l">
              <a:spcAft>
                <a:spcPts val="300"/>
              </a:spcAft>
            </a:pPr>
            <a:r>
              <a:rPr sz="1200" b="0">
                <a:solidFill>
                  <a:srgbClr val="5B6372"/>
                </a:solidFill>
                <a:latin typeface="Arial"/>
              </a:rPr>
              <a:t>0.0.0.0/0 is the gateway of last resort — everything without a more specific match goes there, usually upstream.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Gateway router</a:t>
            </a:r>
          </a:p>
          <a:p>
            <a:pPr algn="l">
              <a:spcAft>
                <a:spcPts val="300"/>
              </a:spcAft>
            </a:pPr>
            <a:r>
              <a:rPr sz="1200" b="0">
                <a:solidFill>
                  <a:srgbClr val="5B6372"/>
                </a:solidFill>
                <a:latin typeface="Arial"/>
              </a:rPr>
              <a:t>The router end hosts point at (their default gateway); it moves traffic between the LAN and everything beyond.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Upstream router</a:t>
            </a:r>
          </a:p>
          <a:p>
            <a:pPr algn="l">
              <a:spcAft>
                <a:spcPts val="300"/>
              </a:spcAft>
            </a:pPr>
            <a:r>
              <a:rPr sz="1200" b="0">
                <a:solidFill>
                  <a:srgbClr val="5B6372"/>
                </a:solidFill>
                <a:latin typeface="Arial"/>
              </a:rPr>
              <a:t>The next router towards the ISP and Internet core — SOHO gateways simply default-route everything upstream.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Routing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Destination + prefix</a:t>
            </a:r>
          </a:p>
          <a:p>
            <a:pPr algn="l">
              <a:spcAft>
                <a:spcPts val="300"/>
              </a:spcAft>
            </a:pPr>
            <a:r>
              <a:rPr sz="1200" b="0">
                <a:solidFill>
                  <a:srgbClr val="5B6372"/>
                </a:solidFill>
                <a:latin typeface="Arial"/>
              </a:rPr>
              <a:t>The network this row matches, e.g. 10.2.2.0/24 — the prefix length says how many leading bits must match.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Next hop (via)</a:t>
            </a:r>
          </a:p>
          <a:p>
            <a:pPr algn="l">
              <a:spcAft>
                <a:spcPts val="300"/>
              </a:spcAft>
            </a:pPr>
            <a:r>
              <a:rPr sz="1200" b="0">
                <a:solidFill>
                  <a:srgbClr val="5B6372"/>
                </a:solidFill>
                <a:latin typeface="Arial"/>
              </a:rPr>
              <a:t>The neighbouring router's IP the packet is handed to; it must sit on a directly connected subnet.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Interface (dev)</a:t>
            </a:r>
          </a:p>
          <a:p>
            <a:pPr algn="l">
              <a:spcAft>
                <a:spcPts val="300"/>
              </a:spcAft>
            </a:pPr>
            <a:r>
              <a:rPr sz="1200" b="0">
                <a:solidFill>
                  <a:srgbClr val="5B6372"/>
                </a:solidFill>
                <a:latin typeface="Arial"/>
              </a:rPr>
              <a:t>Which NIC the frame leaves on; connected routes appear automatically when an IP is configured.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Metric</a:t>
            </a:r>
          </a:p>
          <a:p>
            <a:pPr algn="l">
              <a:spcAft>
                <a:spcPts val="300"/>
              </a:spcAft>
            </a:pPr>
            <a:r>
              <a:rPr sz="1200" b="0">
                <a:solidFill>
                  <a:srgbClr val="5B6372"/>
                </a:solidFill>
                <a:latin typeface="Arial"/>
              </a:rPr>
              <a:t>Tie-breaker between equal routes from the same protocol — lower wins.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See it yourself</a:t>
            </a:r>
          </a:p>
          <a:p>
            <a:pPr algn="l">
              <a:spcAft>
                <a:spcPts val="300"/>
              </a:spcAft>
            </a:pPr>
            <a:r>
              <a:rPr sz="1200" b="0">
                <a:solidFill>
                  <a:srgbClr val="5B6372"/>
                </a:solidFill>
                <a:latin typeface="Arial"/>
              </a:rPr>
              <a:t>Linux: ip route. Windows: route print or netstat -r. Cisco: show ip route.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Loopback &amp; multicast</a:t>
            </a:r>
          </a:p>
          <a:p>
            <a:pPr algn="l">
              <a:spcAft>
                <a:spcPts val="300"/>
              </a:spcAft>
            </a:pPr>
            <a:r>
              <a:rPr sz="1200" b="0">
                <a:solidFill>
                  <a:srgbClr val="5B6372"/>
                </a:solidFill>
                <a:latin typeface="Arial"/>
              </a:rPr>
              <a:t>127.0.0.0/8 stays on-box; 224.0.0.0/4 (class D) is multicast — both appear as special rows.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Metrics and Convergence — Key Terms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Hop count</a:t>
            </a:r>
          </a:p>
          <a:p>
            <a:pPr algn="l">
              <a:spcAft>
                <a:spcPts val="300"/>
              </a:spcAft>
            </a:pPr>
            <a:r>
              <a:rPr sz="1200" b="0">
                <a:solidFill>
                  <a:srgbClr val="5B6372"/>
                </a:solidFill>
                <a:latin typeface="Arial"/>
              </a:rPr>
              <a:t>Routers crossed to reach the destination — RIP's only measure, blind to link speed.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Bandwidth / cost</a:t>
            </a:r>
          </a:p>
          <a:p>
            <a:pPr algn="l">
              <a:spcAft>
                <a:spcPts val="300"/>
              </a:spcAft>
            </a:pPr>
            <a:r>
              <a:rPr sz="1200" b="0">
                <a:solidFill>
                  <a:srgbClr val="5B6372"/>
                </a:solidFill>
                <a:latin typeface="Arial"/>
              </a:rPr>
              <a:t>OSPF derives cost from interface bandwidth, so a 3-hop 10G path beats a 1-hop 100M link.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Latency / delay</a:t>
            </a:r>
          </a:p>
          <a:p>
            <a:pPr algn="l">
              <a:spcAft>
                <a:spcPts val="300"/>
              </a:spcAft>
            </a:pPr>
            <a:r>
              <a:rPr sz="1200" b="0">
                <a:solidFill>
                  <a:srgbClr val="5B6372"/>
                </a:solidFill>
                <a:latin typeface="Arial"/>
              </a:rPr>
              <a:t>EIGRP factors delay into its composite metric; satellite links get penalised.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MTU</a:t>
            </a:r>
          </a:p>
          <a:p>
            <a:pPr algn="l">
              <a:spcAft>
                <a:spcPts val="300"/>
              </a:spcAft>
            </a:pPr>
            <a:r>
              <a:rPr sz="1200" b="0">
                <a:solidFill>
                  <a:srgbClr val="5B6372"/>
                </a:solidFill>
                <a:latin typeface="Arial"/>
              </a:rPr>
              <a:t>Maximum transmission unit per link — mismatches cause fragmentation or silent drops (Lab 33).</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Convergence</a:t>
            </a:r>
          </a:p>
          <a:p>
            <a:pPr algn="l">
              <a:spcAft>
                <a:spcPts val="300"/>
              </a:spcAft>
            </a:pPr>
            <a:r>
              <a:rPr sz="1200" b="0">
                <a:solidFill>
                  <a:srgbClr val="5B6372"/>
                </a:solidFill>
                <a:latin typeface="Arial"/>
              </a:rPr>
              <a:t>The state where every router's table reflects the current topology; faster is better.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Convergence window</a:t>
            </a:r>
          </a:p>
          <a:p>
            <a:pPr algn="l">
              <a:spcAft>
                <a:spcPts val="300"/>
              </a:spcAft>
            </a:pPr>
            <a:r>
              <a:rPr sz="1200" b="0">
                <a:solidFill>
                  <a:srgbClr val="5B6372"/>
                </a:solidFill>
                <a:latin typeface="Arial"/>
              </a:rPr>
              <a:t>Between failure and re-convergence, packets can loop or blackhole — protocols race to shrink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Static vs Dynamic Routing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Static routing</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Dynamic routing</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Admin types each route by hand — persistent until removed</a:t>
            </a:r>
          </a:p>
          <a:p>
            <a:pPr>
              <a:spcAft>
                <a:spcPts val="1000"/>
              </a:spcAft>
            </a:pPr>
            <a:r>
              <a:rPr sz="1600" b="0">
                <a:solidFill>
                  <a:srgbClr val="161B26"/>
                </a:solidFill>
                <a:latin typeface="Arial"/>
              </a:rPr>
              <a:t>•  Zero protocol overhead: no hellos, no updates, no CPU</a:t>
            </a:r>
          </a:p>
          <a:p>
            <a:pPr>
              <a:spcAft>
                <a:spcPts val="1000"/>
              </a:spcAft>
            </a:pPr>
            <a:r>
              <a:rPr sz="1600" b="0">
                <a:solidFill>
                  <a:srgbClr val="161B26"/>
                </a:solidFill>
                <a:latin typeface="Arial"/>
              </a:rPr>
              <a:t>•  Predictable and secure — nothing advertises a bad route</a:t>
            </a:r>
          </a:p>
          <a:p>
            <a:pPr>
              <a:spcAft>
                <a:spcPts val="1000"/>
              </a:spcAft>
            </a:pPr>
            <a:r>
              <a:rPr sz="1600" b="0">
                <a:solidFill>
                  <a:srgbClr val="161B26"/>
                </a:solidFill>
                <a:latin typeface="Arial"/>
              </a:rPr>
              <a:t>•  Does not adapt: a failed link means manual repair</a:t>
            </a:r>
          </a:p>
          <a:p>
            <a:pPr>
              <a:spcAft>
                <a:spcPts val="1000"/>
              </a:spcAft>
            </a:pPr>
            <a:r>
              <a:rPr sz="1600" b="0">
                <a:solidFill>
                  <a:srgbClr val="161B26"/>
                </a:solidFill>
                <a:latin typeface="Arial"/>
              </a:rPr>
              <a:t>•  Best for stubs, labs and default routes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Routers exchange reachability via a routing protocol</a:t>
            </a:r>
          </a:p>
          <a:p>
            <a:pPr>
              <a:spcAft>
                <a:spcPts val="1000"/>
              </a:spcAft>
            </a:pPr>
            <a:r>
              <a:rPr sz="1600" b="0">
                <a:solidFill>
                  <a:srgbClr val="161B26"/>
                </a:solidFill>
                <a:latin typeface="Arial"/>
              </a:rPr>
              <a:t>•  Learns new subnets and routes around failures itself</a:t>
            </a:r>
          </a:p>
          <a:p>
            <a:pPr>
              <a:spcAft>
                <a:spcPts val="1000"/>
              </a:spcAft>
            </a:pPr>
            <a:r>
              <a:rPr sz="1600" b="0">
                <a:solidFill>
                  <a:srgbClr val="161B26"/>
                </a:solidFill>
                <a:latin typeface="Arial"/>
              </a:rPr>
              <a:t>•  Costs CPU, bandwidth and a convergence window</a:t>
            </a:r>
          </a:p>
          <a:p>
            <a:pPr>
              <a:spcAft>
                <a:spcPts val="1000"/>
              </a:spcAft>
            </a:pPr>
            <a:r>
              <a:rPr sz="1600" b="0">
                <a:solidFill>
                  <a:srgbClr val="161B26"/>
                </a:solidFill>
                <a:latin typeface="Arial"/>
              </a:rPr>
              <a:t>•  Needs securing (authentication) against rogue peers</a:t>
            </a:r>
          </a:p>
          <a:p>
            <a:pPr>
              <a:spcAft>
                <a:spcPts val="1000"/>
              </a:spcAft>
            </a:pPr>
            <a:r>
              <a:rPr sz="1600" b="0">
                <a:solidFill>
                  <a:srgbClr val="161B26"/>
                </a:solidFill>
                <a:latin typeface="Arial"/>
              </a:rPr>
              <a:t>•  Best for anything beyond a handful of routers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Choosing a Routing Approach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Does the topology change often
or span many routers?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DYNAMIC ROUTING</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Run OSPF (open) or EIGRP (Cisco); routers learn and re-converge around failures automatically. Use BGP between autonomous systems.</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STATIC ROUTES</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 handful of fixed routes is simpler, uses zero CPU or bandwidth and cannot be poisoned by a rogue peer — ideal for stub networks.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Most real networks mix both: dynamic in the core, static at stubs and for the default route.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IGP vs EGP — Where Protocols Live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Autonomous System (AS)</a:t>
            </a:r>
          </a:p>
          <a:p>
            <a:pPr algn="l">
              <a:spcAft>
                <a:spcPts val="300"/>
              </a:spcAft>
            </a:pPr>
            <a:r>
              <a:rPr sz="1200" b="0">
                <a:solidFill>
                  <a:srgbClr val="5B6372"/>
                </a:solidFill>
                <a:latin typeface="Arial"/>
              </a:rPr>
              <a:t>One organisation's network under a single routing policy, identified by an AS number — your ISP is one, Google is another.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IGP — interior</a:t>
            </a:r>
          </a:p>
          <a:p>
            <a:pPr algn="l">
              <a:spcAft>
                <a:spcPts val="300"/>
              </a:spcAft>
            </a:pPr>
            <a:r>
              <a:rPr sz="1200" b="0">
                <a:solidFill>
                  <a:srgbClr val="5B6372"/>
                </a:solidFill>
                <a:latin typeface="Arial"/>
              </a:rPr>
              <a:t>Runs INSIDE one AS: OSPF, EIGRP, RIP, IS-IS. Optimises for fast paths and quick convergence.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EGP — exterior</a:t>
            </a:r>
          </a:p>
          <a:p>
            <a:pPr algn="l">
              <a:spcAft>
                <a:spcPts val="300"/>
              </a:spcAft>
            </a:pPr>
            <a:r>
              <a:rPr sz="1200" b="0">
                <a:solidFill>
                  <a:srgbClr val="5B6372"/>
                </a:solidFill>
                <a:latin typeface="Arial"/>
              </a:rPr>
              <a:t>Runs BETWEEN ASes. BGP is the only EGP in use — it optimises for policy and reachability, not speed.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Distance vector</a:t>
            </a:r>
          </a:p>
          <a:p>
            <a:pPr algn="l">
              <a:spcAft>
                <a:spcPts val="300"/>
              </a:spcAft>
            </a:pPr>
            <a:r>
              <a:rPr sz="1200" b="0">
                <a:solidFill>
                  <a:srgbClr val="5B6372"/>
                </a:solidFill>
                <a:latin typeface="Arial"/>
              </a:rPr>
              <a:t>Routers tell neighbours their whole table periodically ('routing by rumour') — RIP.</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Link state</a:t>
            </a:r>
          </a:p>
          <a:p>
            <a:pPr algn="l">
              <a:spcAft>
                <a:spcPts val="300"/>
              </a:spcAft>
            </a:pPr>
            <a:r>
              <a:rPr sz="1200" b="0">
                <a:solidFill>
                  <a:srgbClr val="5B6372"/>
                </a:solidFill>
                <a:latin typeface="Arial"/>
              </a:rPr>
              <a:t>Routers flood link advertisements so everyone builds the same map, then run Dijkstra — OSPF, IS-IS.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Path vector</a:t>
            </a:r>
          </a:p>
          <a:p>
            <a:pPr algn="l">
              <a:spcAft>
                <a:spcPts val="300"/>
              </a:spcAft>
            </a:pPr>
            <a:r>
              <a:rPr sz="1200" b="0">
                <a:solidFill>
                  <a:srgbClr val="5B6372"/>
                </a:solidFill>
                <a:latin typeface="Arial"/>
              </a:rPr>
              <a:t>BGP advertises the full AS path per prefix; a router seeing its own AS number detects the loop.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Administrative Distance — Who Do You Trust?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Route source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Trust level</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Connected</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0</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Directly attached — always wins</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Static</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1</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Manually configured</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eBGP</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20</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External BGP peers</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EIGRP</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90</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Cisco IGP</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OSPF</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110</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Standards-based IGP</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RIP</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120</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Legacy — least trusted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When two protocols offer the SAME prefix, the lower AD wins before any metric is compared.</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Selection — The Order That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Longest prefix match</a:t>
            </a:r>
          </a:p>
        </p:txBody>
      </p:sp>
      <p:sp>
        <p:nvSpPr>
          <p:cNvPr id="12" name="TextBox 11"/>
          <p:cNvSpPr txBox="1"/>
          <p:nvPr/>
        </p:nvSpPr>
        <p:spPr>
          <a:xfrm>
            <a:off x="86868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most specific wins</a:t>
            </a:r>
          </a:p>
        </p:txBody>
      </p:sp>
      <p:cxnSp>
        <p:nvCxnSpPr>
          <p:cNvPr id="13" name="Connector 12"/>
          <p:cNvCxnSpPr/>
          <p:nvPr/>
        </p:nvCxnSpPr>
        <p:spPr>
          <a:xfrm>
            <a:off x="320268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Lowest AD</a:t>
            </a:r>
          </a:p>
        </p:txBody>
      </p:sp>
      <p:sp>
        <p:nvSpPr>
          <p:cNvPr id="19" name="TextBox 18"/>
          <p:cNvSpPr txBox="1"/>
          <p:nvPr/>
        </p:nvSpPr>
        <p:spPr>
          <a:xfrm>
            <a:off x="362331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most trusted source</a:t>
            </a:r>
          </a:p>
        </p:txBody>
      </p:sp>
      <p:cxnSp>
        <p:nvCxnSpPr>
          <p:cNvPr id="20" name="Connector 19"/>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Lowest metric</a:t>
            </a:r>
          </a:p>
        </p:txBody>
      </p:sp>
      <p:sp>
        <p:nvSpPr>
          <p:cNvPr id="26" name="TextBox 25"/>
          <p:cNvSpPr txBox="1"/>
          <p:nvPr/>
        </p:nvSpPr>
        <p:spPr>
          <a:xfrm>
            <a:off x="637794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best path in protocol</a:t>
            </a:r>
          </a:p>
        </p:txBody>
      </p:sp>
      <p:cxnSp>
        <p:nvCxnSpPr>
          <p:cNvPr id="27" name="Connector 26"/>
          <p:cNvCxnSpPr/>
          <p:nvPr/>
        </p:nvCxnSpPr>
        <p:spPr>
          <a:xfrm>
            <a:off x="871194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Forward / balance</a:t>
            </a:r>
          </a:p>
        </p:txBody>
      </p:sp>
      <p:sp>
        <p:nvSpPr>
          <p:cNvPr id="33" name="TextBox 32"/>
          <p:cNvSpPr txBox="1"/>
          <p:nvPr/>
        </p:nvSpPr>
        <p:spPr>
          <a:xfrm>
            <a:off x="913257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send the packet</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/32 static route beats an OSPF /16 every time — prefix length is compared before AD or metric, a classic exam trap.</a:t>
            </a:r>
          </a:p>
        </p:txBody>
      </p:sp>
      <p:sp>
        <p:nvSpPr>
          <p:cNvPr id="75" name="TextBox 7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76" name="TextBox 7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Protocols Compared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Protocol</a:t>
            </a:r>
          </a:p>
        </p:txBody>
      </p:sp>
      <p:sp>
        <p:nvSpPr>
          <p:cNvPr id="9" name="Rectangle 8"/>
          <p:cNvSpPr/>
          <p:nvPr/>
        </p:nvSpPr>
        <p:spPr>
          <a:xfrm>
            <a:off x="3542202" y="1783080"/>
            <a:ext cx="1967377"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11" name="Rectangle 10"/>
          <p:cNvSpPr/>
          <p:nvPr/>
        </p:nvSpPr>
        <p:spPr>
          <a:xfrm>
            <a:off x="5509579" y="1783080"/>
            <a:ext cx="1967377"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37595"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Metric</a:t>
            </a:r>
          </a:p>
        </p:txBody>
      </p:sp>
      <p:sp>
        <p:nvSpPr>
          <p:cNvPr id="13" name="Rectangle 12"/>
          <p:cNvSpPr/>
          <p:nvPr/>
        </p:nvSpPr>
        <p:spPr>
          <a:xfrm>
            <a:off x="7476956" y="1783080"/>
            <a:ext cx="1967377"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04972"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AD</a:t>
            </a:r>
          </a:p>
        </p:txBody>
      </p:sp>
      <p:sp>
        <p:nvSpPr>
          <p:cNvPr id="15" name="Rectangle 14"/>
          <p:cNvSpPr/>
          <p:nvPr/>
        </p:nvSpPr>
        <p:spPr>
          <a:xfrm>
            <a:off x="9444333" y="1783080"/>
            <a:ext cx="1967377"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72349"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Role</a:t>
            </a:r>
          </a:p>
        </p:txBody>
      </p:sp>
      <p:sp>
        <p:nvSpPr>
          <p:cNvPr id="17" name="Rectangle 16"/>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RIP</a:t>
            </a:r>
          </a:p>
        </p:txBody>
      </p:sp>
      <p:sp>
        <p:nvSpPr>
          <p:cNvPr id="19" name="Rectangle 18"/>
          <p:cNvSpPr/>
          <p:nvPr/>
        </p:nvSpPr>
        <p:spPr>
          <a:xfrm>
            <a:off x="3542202" y="2258568"/>
            <a:ext cx="1967377"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0218" y="2258568"/>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Distance vector</a:t>
            </a:r>
          </a:p>
        </p:txBody>
      </p:sp>
      <p:sp>
        <p:nvSpPr>
          <p:cNvPr id="21" name="Rectangle 20"/>
          <p:cNvSpPr/>
          <p:nvPr/>
        </p:nvSpPr>
        <p:spPr>
          <a:xfrm>
            <a:off x="5509579" y="2258568"/>
            <a:ext cx="1967377"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37595" y="2258568"/>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Hop count (max 15)</a:t>
            </a:r>
          </a:p>
        </p:txBody>
      </p:sp>
      <p:sp>
        <p:nvSpPr>
          <p:cNvPr id="23" name="Rectangle 22"/>
          <p:cNvSpPr/>
          <p:nvPr/>
        </p:nvSpPr>
        <p:spPr>
          <a:xfrm>
            <a:off x="7476956" y="2258568"/>
            <a:ext cx="1967377"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2" y="2258568"/>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120</a:t>
            </a:r>
          </a:p>
        </p:txBody>
      </p:sp>
      <p:sp>
        <p:nvSpPr>
          <p:cNvPr id="25" name="Rectangle 24"/>
          <p:cNvSpPr/>
          <p:nvPr/>
        </p:nvSpPr>
        <p:spPr>
          <a:xfrm>
            <a:off x="9444333" y="2258568"/>
            <a:ext cx="1967377"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72349" y="2258568"/>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Legacy small LANs</a:t>
            </a:r>
          </a:p>
        </p:txBody>
      </p:sp>
      <p:sp>
        <p:nvSpPr>
          <p:cNvPr id="27" name="Rectangle 26"/>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OSPF</a:t>
            </a:r>
          </a:p>
        </p:txBody>
      </p:sp>
      <p:sp>
        <p:nvSpPr>
          <p:cNvPr id="29" name="Rectangle 28"/>
          <p:cNvSpPr/>
          <p:nvPr/>
        </p:nvSpPr>
        <p:spPr>
          <a:xfrm>
            <a:off x="3542202" y="2971800"/>
            <a:ext cx="1967377"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2971800"/>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Link state</a:t>
            </a:r>
          </a:p>
        </p:txBody>
      </p:sp>
      <p:sp>
        <p:nvSpPr>
          <p:cNvPr id="31" name="Rectangle 30"/>
          <p:cNvSpPr/>
          <p:nvPr/>
        </p:nvSpPr>
        <p:spPr>
          <a:xfrm>
            <a:off x="5509579" y="2971800"/>
            <a:ext cx="1967377"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37595" y="2971800"/>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Cost (bandwidth)</a:t>
            </a:r>
          </a:p>
        </p:txBody>
      </p:sp>
      <p:sp>
        <p:nvSpPr>
          <p:cNvPr id="33" name="Rectangle 32"/>
          <p:cNvSpPr/>
          <p:nvPr/>
        </p:nvSpPr>
        <p:spPr>
          <a:xfrm>
            <a:off x="7476956" y="2971800"/>
            <a:ext cx="1967377"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4972" y="2971800"/>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110</a:t>
            </a:r>
          </a:p>
        </p:txBody>
      </p:sp>
      <p:sp>
        <p:nvSpPr>
          <p:cNvPr id="35" name="Rectangle 34"/>
          <p:cNvSpPr/>
          <p:nvPr/>
        </p:nvSpPr>
        <p:spPr>
          <a:xfrm>
            <a:off x="9444333" y="2971800"/>
            <a:ext cx="1967377"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72349" y="2971800"/>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Enterprise IGP</a:t>
            </a:r>
          </a:p>
        </p:txBody>
      </p:sp>
      <p:sp>
        <p:nvSpPr>
          <p:cNvPr id="37" name="Rectangle 36"/>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EIGRP</a:t>
            </a:r>
          </a:p>
        </p:txBody>
      </p:sp>
      <p:sp>
        <p:nvSpPr>
          <p:cNvPr id="39" name="Rectangle 38"/>
          <p:cNvSpPr/>
          <p:nvPr/>
        </p:nvSpPr>
        <p:spPr>
          <a:xfrm>
            <a:off x="3542202" y="3685032"/>
            <a:ext cx="1967377"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685032"/>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Adv. distance vector</a:t>
            </a:r>
          </a:p>
        </p:txBody>
      </p:sp>
      <p:sp>
        <p:nvSpPr>
          <p:cNvPr id="41" name="Rectangle 40"/>
          <p:cNvSpPr/>
          <p:nvPr/>
        </p:nvSpPr>
        <p:spPr>
          <a:xfrm>
            <a:off x="5509579" y="3685032"/>
            <a:ext cx="1967377"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37595" y="3685032"/>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Bandwidth + delay</a:t>
            </a:r>
          </a:p>
        </p:txBody>
      </p:sp>
      <p:sp>
        <p:nvSpPr>
          <p:cNvPr id="43" name="Rectangle 42"/>
          <p:cNvSpPr/>
          <p:nvPr/>
        </p:nvSpPr>
        <p:spPr>
          <a:xfrm>
            <a:off x="7476956" y="3685032"/>
            <a:ext cx="1967377"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04972" y="3685032"/>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90</a:t>
            </a:r>
          </a:p>
        </p:txBody>
      </p:sp>
      <p:sp>
        <p:nvSpPr>
          <p:cNvPr id="45" name="Rectangle 44"/>
          <p:cNvSpPr/>
          <p:nvPr/>
        </p:nvSpPr>
        <p:spPr>
          <a:xfrm>
            <a:off x="9444333" y="3685032"/>
            <a:ext cx="1967377"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72349" y="3685032"/>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Cisco networks</a:t>
            </a:r>
          </a:p>
        </p:txBody>
      </p:sp>
      <p:sp>
        <p:nvSpPr>
          <p:cNvPr id="47" name="Rectangle 46"/>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BGP</a:t>
            </a:r>
          </a:p>
        </p:txBody>
      </p:sp>
      <p:sp>
        <p:nvSpPr>
          <p:cNvPr id="49" name="Rectangle 48"/>
          <p:cNvSpPr/>
          <p:nvPr/>
        </p:nvSpPr>
        <p:spPr>
          <a:xfrm>
            <a:off x="3542202" y="4398264"/>
            <a:ext cx="1967377"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398264"/>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Path vector</a:t>
            </a:r>
          </a:p>
        </p:txBody>
      </p:sp>
      <p:sp>
        <p:nvSpPr>
          <p:cNvPr id="51" name="Rectangle 50"/>
          <p:cNvSpPr/>
          <p:nvPr/>
        </p:nvSpPr>
        <p:spPr>
          <a:xfrm>
            <a:off x="5509579" y="4398264"/>
            <a:ext cx="1967377"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37595" y="4398264"/>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AS-path + attributes</a:t>
            </a:r>
          </a:p>
        </p:txBody>
      </p:sp>
      <p:sp>
        <p:nvSpPr>
          <p:cNvPr id="53" name="Rectangle 52"/>
          <p:cNvSpPr/>
          <p:nvPr/>
        </p:nvSpPr>
        <p:spPr>
          <a:xfrm>
            <a:off x="7476956" y="4398264"/>
            <a:ext cx="1967377"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2" y="4398264"/>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20 eBGP</a:t>
            </a:r>
          </a:p>
        </p:txBody>
      </p:sp>
      <p:sp>
        <p:nvSpPr>
          <p:cNvPr id="55" name="Rectangle 54"/>
          <p:cNvSpPr/>
          <p:nvPr/>
        </p:nvSpPr>
        <p:spPr>
          <a:xfrm>
            <a:off x="9444333" y="4398264"/>
            <a:ext cx="1967377"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72349" y="4398264"/>
            <a:ext cx="1711345" cy="713232"/>
          </a:xfrm>
          <a:prstGeom prst="rect">
            <a:avLst/>
          </a:prstGeom>
          <a:noFill/>
        </p:spPr>
        <p:txBody>
          <a:bodyPr wrap="square" anchor="ctr">
            <a:spAutoFit/>
          </a:bodyPr>
          <a:lstStyle/>
          <a:p>
            <a:pPr algn="l">
              <a:spcAft>
                <a:spcPts val="400"/>
              </a:spcAft>
            </a:pPr>
            <a:r>
              <a:rPr sz="1150" b="0">
                <a:solidFill>
                  <a:srgbClr val="5B6372"/>
                </a:solidFill>
                <a:latin typeface="Arial"/>
              </a:rPr>
              <a:t>The Internet's EGP</a:t>
            </a:r>
          </a:p>
        </p:txBody>
      </p:sp>
      <p:sp>
        <p:nvSpPr>
          <p:cNvPr id="57" name="Rectangle 5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77240" y="531266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Know the AD column cold — it is the most-tested fact on this slide.</a:t>
            </a:r>
          </a:p>
        </p:txBody>
      </p:sp>
      <p:sp>
        <p:nvSpPr>
          <p:cNvPr id="60" name="TextBox 5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61" name="TextBox 6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2" name="TextBox 6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RIP — Routing Information Protocol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Distance vector</a:t>
            </a:r>
          </a:p>
          <a:p>
            <a:pPr algn="l">
              <a:spcAft>
                <a:spcPts val="300"/>
              </a:spcAft>
            </a:pPr>
            <a:r>
              <a:rPr sz="1200" b="0">
                <a:solidFill>
                  <a:srgbClr val="5B6372"/>
                </a:solidFill>
                <a:latin typeface="Arial"/>
              </a:rPr>
              <a:t>Advertises its full table to neighbours every 30 seconds; routes by hop count alone.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Max 15 hops</a:t>
            </a:r>
          </a:p>
          <a:p>
            <a:pPr algn="l">
              <a:spcAft>
                <a:spcPts val="300"/>
              </a:spcAft>
            </a:pPr>
            <a:r>
              <a:rPr sz="1200" b="0">
                <a:solidFill>
                  <a:srgbClr val="5B6372"/>
                </a:solidFill>
                <a:latin typeface="Arial"/>
              </a:rPr>
              <a:t>Hop 16 means unreachable — a hard diameter limit that rules RIP out of large networks.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RIPv1 vs RIPv2</a:t>
            </a:r>
          </a:p>
          <a:p>
            <a:pPr algn="l">
              <a:spcAft>
                <a:spcPts val="300"/>
              </a:spcAft>
            </a:pPr>
            <a:r>
              <a:rPr sz="1200" b="0">
                <a:solidFill>
                  <a:srgbClr val="5B6372"/>
                </a:solidFill>
                <a:latin typeface="Arial"/>
              </a:rPr>
              <a:t>v1 was classful (no masks in updates); v2 added masks, multicast updates and authentication.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Slow convergence</a:t>
            </a:r>
          </a:p>
          <a:p>
            <a:pPr algn="l">
              <a:spcAft>
                <a:spcPts val="300"/>
              </a:spcAft>
            </a:pPr>
            <a:r>
              <a:rPr sz="1200" b="0">
                <a:solidFill>
                  <a:srgbClr val="5B6372"/>
                </a:solidFill>
                <a:latin typeface="Arial"/>
              </a:rPr>
              <a:t>Minutes to stabilise after a failure, with loop-prevention hacks (split horizon, poison reverse).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Where you'll see it</a:t>
            </a:r>
          </a:p>
          <a:p>
            <a:pPr algn="l">
              <a:spcAft>
                <a:spcPts val="300"/>
              </a:spcAft>
            </a:pPr>
            <a:r>
              <a:rPr sz="1200" b="0">
                <a:solidFill>
                  <a:srgbClr val="5B6372"/>
                </a:solidFill>
                <a:latin typeface="Arial"/>
              </a:rPr>
              <a:t>Legacy gear and tiny stub networks; on the exam it is the 'AD 120, hop-count, max 15' answer.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OSPF — Open Shortest Path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Link state</a:t>
            </a:r>
          </a:p>
          <a:p>
            <a:pPr algn="l">
              <a:spcAft>
                <a:spcPts val="300"/>
              </a:spcAft>
            </a:pPr>
            <a:r>
              <a:rPr sz="1200" b="0">
                <a:solidFill>
                  <a:srgbClr val="5B6372"/>
                </a:solidFill>
                <a:latin typeface="Arial"/>
              </a:rPr>
              <a:t>Floods LSAs so every router shares an identical topology map, then computes shortest paths (SPF/Dijkstra).</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Cost metric</a:t>
            </a:r>
          </a:p>
          <a:p>
            <a:pPr algn="l">
              <a:spcAft>
                <a:spcPts val="300"/>
              </a:spcAft>
            </a:pPr>
            <a:r>
              <a:rPr sz="1200" b="0">
                <a:solidFill>
                  <a:srgbClr val="5B6372"/>
                </a:solidFill>
                <a:latin typeface="Arial"/>
              </a:rPr>
              <a:t>Cost = reference bandwidth / link bandwidth — the protocol prefers fast links, not few hops.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Areas</a:t>
            </a:r>
          </a:p>
          <a:p>
            <a:pPr algn="l">
              <a:spcAft>
                <a:spcPts val="300"/>
              </a:spcAft>
            </a:pPr>
            <a:r>
              <a:rPr sz="1200" b="0">
                <a:solidFill>
                  <a:srgbClr val="5B6372"/>
                </a:solidFill>
                <a:latin typeface="Arial"/>
              </a:rPr>
              <a:t>Area 0 is the backbone; other areas attach to it, shrinking each router's database and SPF workload.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Neighbors &amp; adjacency</a:t>
            </a:r>
          </a:p>
          <a:p>
            <a:pPr algn="l">
              <a:spcAft>
                <a:spcPts val="300"/>
              </a:spcAft>
            </a:pPr>
            <a:r>
              <a:rPr sz="1200" b="0">
                <a:solidFill>
                  <a:srgbClr val="5B6372"/>
                </a:solidFill>
                <a:latin typeface="Arial"/>
              </a:rPr>
              <a:t>Routers hello on 224.0.0.5, become neighbours, then synchronise databases to reach FULL.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Fast convergence</a:t>
            </a:r>
          </a:p>
          <a:p>
            <a:pPr algn="l">
              <a:spcAft>
                <a:spcPts val="300"/>
              </a:spcAft>
            </a:pPr>
            <a:r>
              <a:rPr sz="1200" b="0">
                <a:solidFill>
                  <a:srgbClr val="5B6372"/>
                </a:solidFill>
                <a:latin typeface="Arial"/>
              </a:rPr>
              <a:t>Seconds after a change — triggered updates, no periodic full-table floods.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standard</a:t>
            </a:r>
          </a:p>
          <a:p>
            <a:pPr algn="l">
              <a:spcAft>
                <a:spcPts val="300"/>
              </a:spcAft>
            </a:pPr>
            <a:r>
              <a:rPr sz="1200" b="0">
                <a:solidFill>
                  <a:srgbClr val="5B6372"/>
                </a:solidFill>
                <a:latin typeface="Arial"/>
              </a:rPr>
              <a:t>RFC-standard, multi-vendor, AD 110 — the default enterprise IGP choice.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EIGRP — Enhanced Interior Gateway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Advanced distance vector</a:t>
            </a:r>
          </a:p>
          <a:p>
            <a:pPr algn="l">
              <a:spcAft>
                <a:spcPts val="300"/>
              </a:spcAft>
            </a:pPr>
            <a:r>
              <a:rPr sz="1200" b="0">
                <a:solidFill>
                  <a:srgbClr val="5B6372"/>
                </a:solidFill>
                <a:latin typeface="Arial"/>
              </a:rPr>
              <a:t>Cisco's hybrid: neighbour-based updates like distance vector, but fast and loop-free via DUAL.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Composite metric</a:t>
            </a:r>
          </a:p>
          <a:p>
            <a:pPr algn="l">
              <a:spcAft>
                <a:spcPts val="300"/>
              </a:spcAft>
            </a:pPr>
            <a:r>
              <a:rPr sz="1200" b="0">
                <a:solidFill>
                  <a:srgbClr val="5B6372"/>
                </a:solidFill>
                <a:latin typeface="Arial"/>
              </a:rPr>
              <a:t>Bandwidth + delay by default (load and reliability optional) — far smarter than hop count.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Feasible successor</a:t>
            </a:r>
          </a:p>
          <a:p>
            <a:pPr algn="l">
              <a:spcAft>
                <a:spcPts val="300"/>
              </a:spcAft>
            </a:pPr>
            <a:r>
              <a:rPr sz="1200" b="0">
                <a:solidFill>
                  <a:srgbClr val="5B6372"/>
                </a:solidFill>
                <a:latin typeface="Arial"/>
              </a:rPr>
              <a:t>A pre-computed backup route lets EIGRP fail over almost instantly without recomputing.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Partial updates</a:t>
            </a:r>
          </a:p>
          <a:p>
            <a:pPr algn="l">
              <a:spcAft>
                <a:spcPts val="300"/>
              </a:spcAft>
            </a:pPr>
            <a:r>
              <a:rPr sz="1200" b="0">
                <a:solidFill>
                  <a:srgbClr val="5B6372"/>
                </a:solidFill>
                <a:latin typeface="Arial"/>
              </a:rPr>
              <a:t>Sends only changes, only to affected neighbours — very low steady-state overhead.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AD 90</a:t>
            </a:r>
          </a:p>
          <a:p>
            <a:pPr algn="l">
              <a:spcAft>
                <a:spcPts val="300"/>
              </a:spcAft>
            </a:pPr>
            <a:r>
              <a:rPr sz="1200" b="0">
                <a:solidFill>
                  <a:srgbClr val="5B6372"/>
                </a:solidFill>
                <a:latin typeface="Arial"/>
              </a:rPr>
              <a:t>More trusted than OSPF (110) on Cisco boxes; now an open RFC but still mostly Cisco shops.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BGP — The Internet's Routing Protocol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Path vector EGP</a:t>
            </a:r>
          </a:p>
          <a:p>
            <a:pPr algn="l">
              <a:spcAft>
                <a:spcPts val="300"/>
              </a:spcAft>
            </a:pPr>
            <a:r>
              <a:rPr sz="1200" b="0">
                <a:solidFill>
                  <a:srgbClr val="5B6372"/>
                </a:solidFill>
                <a:latin typeface="Arial"/>
              </a:rPr>
              <a:t>The routing protocol of the Internet — every ISP exchanges reachability with BGP.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Autonomous systems</a:t>
            </a:r>
          </a:p>
          <a:p>
            <a:pPr algn="l">
              <a:spcAft>
                <a:spcPts val="300"/>
              </a:spcAft>
            </a:pPr>
            <a:r>
              <a:rPr sz="1200" b="0">
                <a:solidFill>
                  <a:srgbClr val="5B6372"/>
                </a:solidFill>
                <a:latin typeface="Arial"/>
              </a:rPr>
              <a:t>Prefixes are advertised with the full AS path; policy decides which path wins, not speed.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eBGP vs iBGP</a:t>
            </a:r>
          </a:p>
          <a:p>
            <a:pPr algn="l">
              <a:spcAft>
                <a:spcPts val="300"/>
              </a:spcAft>
            </a:pPr>
            <a:r>
              <a:rPr sz="1200" b="0">
                <a:solidFill>
                  <a:srgbClr val="5B6372"/>
                </a:solidFill>
                <a:latin typeface="Arial"/>
              </a:rPr>
              <a:t>eBGP peers between different ASes (AD 20); iBGP carries those routes inside your AS (AD 200).</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Attributes over metrics</a:t>
            </a:r>
          </a:p>
          <a:p>
            <a:pPr algn="l">
              <a:spcAft>
                <a:spcPts val="300"/>
              </a:spcAft>
            </a:pPr>
            <a:r>
              <a:rPr sz="1200" b="0">
                <a:solidFill>
                  <a:srgbClr val="5B6372"/>
                </a:solidFill>
                <a:latin typeface="Arial"/>
              </a:rPr>
              <a:t>Selection walks attributes in order: weight, local preference, AS-path length, MED...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Slow and steady</a:t>
            </a:r>
          </a:p>
          <a:p>
            <a:pPr algn="l">
              <a:spcAft>
                <a:spcPts val="300"/>
              </a:spcAft>
            </a:pPr>
            <a:r>
              <a:rPr sz="1200" b="0">
                <a:solidFill>
                  <a:srgbClr val="5B6372"/>
                </a:solidFill>
                <a:latin typeface="Arial"/>
              </a:rPr>
              <a:t>Over a million Internet routes; convergence takes time — stability and policy beat speed here.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TCP 179</a:t>
            </a:r>
          </a:p>
          <a:p>
            <a:pPr algn="l">
              <a:spcAft>
                <a:spcPts val="300"/>
              </a:spcAft>
            </a:pPr>
            <a:r>
              <a:rPr sz="1200" b="0">
                <a:solidFill>
                  <a:srgbClr val="5B6372"/>
                </a:solidFill>
                <a:latin typeface="Arial"/>
              </a:rPr>
              <a:t>BGP peers over a TCP session — a filter or reachability problem shows up as a dropped peering.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Worked: Checking an OSPF Neighbor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Two commands tell you whether OSPF is healthy and what it learned.</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R1# show ip ospf neighbor</a:t>
            </a:r>
          </a:p>
          <a:p>
            <a:pPr>
              <a:spcAft>
                <a:spcPts val="200"/>
              </a:spcAft>
            </a:pPr>
            <a:r>
              <a:rPr sz="1100">
                <a:solidFill>
                  <a:srgbClr val="9CDCFE"/>
                </a:solidFill>
                <a:latin typeface="Consolas"/>
              </a:rPr>
              <a:t/>
            </a:r>
          </a:p>
          <a:p>
            <a:pPr>
              <a:spcAft>
                <a:spcPts val="200"/>
              </a:spcAft>
            </a:pPr>
            <a:r>
              <a:rPr sz="1100">
                <a:solidFill>
                  <a:srgbClr val="9CDCFE"/>
                </a:solidFill>
                <a:latin typeface="Consolas"/>
              </a:rPr>
              <a:t>Neighbor ID   Pri  State     Address     Interface</a:t>
            </a:r>
          </a:p>
          <a:p>
            <a:pPr>
              <a:spcAft>
                <a:spcPts val="200"/>
              </a:spcAft>
            </a:pPr>
            <a:r>
              <a:rPr sz="1100">
                <a:solidFill>
                  <a:srgbClr val="9CDCFE"/>
                </a:solidFill>
                <a:latin typeface="Consolas"/>
              </a:rPr>
              <a:t>2.2.2.2       1    FULL/DR   10.0.12.2   Gi0/0</a:t>
            </a:r>
          </a:p>
          <a:p>
            <a:pPr>
              <a:spcAft>
                <a:spcPts val="200"/>
              </a:spcAft>
            </a:pPr>
            <a:r>
              <a:rPr sz="1100">
                <a:solidFill>
                  <a:srgbClr val="9CDCFE"/>
                </a:solidFill>
                <a:latin typeface="Consolas"/>
              </a:rPr>
              <a:t>3.3.3.3       1    FULL/BDR  10.0.13.2   Gi0/1</a:t>
            </a:r>
          </a:p>
          <a:p>
            <a:pPr>
              <a:spcAft>
                <a:spcPts val="200"/>
              </a:spcAft>
            </a:pPr>
            <a:r>
              <a:rPr sz="1100">
                <a:solidFill>
                  <a:srgbClr val="9CDCFE"/>
                </a:solidFill>
                <a:latin typeface="Consolas"/>
              </a:rPr>
              <a:t/>
            </a:r>
          </a:p>
          <a:p>
            <a:pPr>
              <a:spcAft>
                <a:spcPts val="200"/>
              </a:spcAft>
            </a:pPr>
            <a:r>
              <a:rPr sz="1100">
                <a:solidFill>
                  <a:srgbClr val="9CDCFE"/>
                </a:solidFill>
                <a:latin typeface="Consolas"/>
              </a:rPr>
              <a:t>R1# show ip route ospf</a:t>
            </a:r>
          </a:p>
          <a:p>
            <a:pPr>
              <a:spcAft>
                <a:spcPts val="200"/>
              </a:spcAft>
            </a:pPr>
            <a:r>
              <a:rPr sz="1100">
                <a:solidFill>
                  <a:srgbClr val="9CDCFE"/>
                </a:solidFill>
                <a:latin typeface="Consolas"/>
              </a:rPr>
              <a:t>O  10.2.2.0/24 [110/2] via 10.0.12.2, Gi0/0</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FULL state</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Adjacency complete — databases synchronised; anything stuck in EXSTART or 2-WAY needs checking</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DR / BDR</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On multi-access LANs routers elect a Designated Router to cut LSA flooding</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[110/2]</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AD 110 (OSPF) / metric 2 — cost summed from interface bandwidths along the path</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First Hop Redundancy — VRRP &amp; HSRP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problem</a:t>
            </a:r>
          </a:p>
          <a:p>
            <a:pPr algn="l">
              <a:spcAft>
                <a:spcPts val="300"/>
              </a:spcAft>
            </a:pPr>
            <a:r>
              <a:rPr sz="1200" b="0">
                <a:solidFill>
                  <a:srgbClr val="5B6372"/>
                </a:solidFill>
                <a:latin typeface="Arial"/>
              </a:rPr>
              <a:t>Hosts have ONE default gateway; if that router dies the whole subnet is offline while a second router sits idle.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FHRP</a:t>
            </a:r>
          </a:p>
          <a:p>
            <a:pPr algn="l">
              <a:spcAft>
                <a:spcPts val="300"/>
              </a:spcAft>
            </a:pPr>
            <a:r>
              <a:rPr sz="1200" b="0">
                <a:solidFill>
                  <a:srgbClr val="5B6372"/>
                </a:solidFill>
                <a:latin typeface="Arial"/>
              </a:rPr>
              <a:t>First Hop Redundancy Protocols let two or more routers share one virtual IP that hosts use as their gateway.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VRRP</a:t>
            </a:r>
          </a:p>
          <a:p>
            <a:pPr algn="l">
              <a:spcAft>
                <a:spcPts val="300"/>
              </a:spcAft>
            </a:pPr>
            <a:r>
              <a:rPr sz="1200" b="0">
                <a:solidFill>
                  <a:srgbClr val="5B6372"/>
                </a:solidFill>
                <a:latin typeface="Arial"/>
              </a:rPr>
              <a:t>Open standard: one master answers the VIP, backups take over on failure — election by priority.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HSRP</a:t>
            </a:r>
          </a:p>
          <a:p>
            <a:pPr algn="l">
              <a:spcAft>
                <a:spcPts val="300"/>
              </a:spcAft>
            </a:pPr>
            <a:r>
              <a:rPr sz="1200" b="0">
                <a:solidFill>
                  <a:srgbClr val="5B6372"/>
                </a:solidFill>
                <a:latin typeface="Arial"/>
              </a:rPr>
              <a:t>Cisco's equivalent: active and standby routers exchange hellos; preempt lets the preferred router reclaim.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Virtual IP + MAC</a:t>
            </a:r>
          </a:p>
          <a:p>
            <a:pPr algn="l">
              <a:spcAft>
                <a:spcPts val="300"/>
              </a:spcAft>
            </a:pPr>
            <a:r>
              <a:rPr sz="1200" b="0">
                <a:solidFill>
                  <a:srgbClr val="5B6372"/>
                </a:solidFill>
                <a:latin typeface="Arial"/>
              </a:rPr>
              <a:t>The VIP and a virtual MAC float to whichever router is active — hosts never notice the failover.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GLBP</a:t>
            </a:r>
          </a:p>
          <a:p>
            <a:pPr algn="l">
              <a:spcAft>
                <a:spcPts val="300"/>
              </a:spcAft>
            </a:pPr>
            <a:r>
              <a:rPr sz="1200" b="0">
                <a:solidFill>
                  <a:srgbClr val="5B6372"/>
                </a:solidFill>
                <a:latin typeface="Arial"/>
              </a:rPr>
              <a:t>Cisco's load-balancing FHRP — multiple gateways forward simultaneously.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SOHO vs Enterprise Routers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SOHO router</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Enterprise router</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Router + switch + WAP + firewall in one box</a:t>
            </a:r>
          </a:p>
          <a:p>
            <a:pPr>
              <a:spcAft>
                <a:spcPts val="1000"/>
              </a:spcAft>
            </a:pPr>
            <a:r>
              <a:rPr sz="1600" b="0">
                <a:solidFill>
                  <a:srgbClr val="161B26"/>
                </a:solidFill>
                <a:latin typeface="Arial"/>
              </a:rPr>
              <a:t>•  Web GUI; default IP, username, password — change them</a:t>
            </a:r>
          </a:p>
          <a:p>
            <a:pPr>
              <a:spcAft>
                <a:spcPts val="1000"/>
              </a:spcAft>
            </a:pPr>
            <a:r>
              <a:rPr sz="1600" b="0">
                <a:solidFill>
                  <a:srgbClr val="161B26"/>
                </a:solidFill>
                <a:latin typeface="Arial"/>
              </a:rPr>
              <a:t>•  NAT and a DHCP server enabled by default</a:t>
            </a:r>
          </a:p>
          <a:p>
            <a:pPr>
              <a:spcAft>
                <a:spcPts val="1000"/>
              </a:spcAft>
            </a:pPr>
            <a:r>
              <a:rPr sz="1600" b="0">
                <a:solidFill>
                  <a:srgbClr val="161B26"/>
                </a:solidFill>
                <a:latin typeface="Arial"/>
              </a:rPr>
              <a:t>•  WAN port is usually a DHCP client</a:t>
            </a:r>
          </a:p>
          <a:p>
            <a:pPr>
              <a:spcAft>
                <a:spcPts val="1000"/>
              </a:spcAft>
            </a:pPr>
            <a:r>
              <a:rPr sz="1600" b="0">
                <a:solidFill>
                  <a:srgbClr val="161B26"/>
                </a:solidFill>
                <a:latin typeface="Arial"/>
              </a:rPr>
              <a:t>•  Sized for a handful of devices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Dedicated routing hardware, modular interfaces</a:t>
            </a:r>
          </a:p>
          <a:p>
            <a:pPr>
              <a:spcAft>
                <a:spcPts val="1000"/>
              </a:spcAft>
            </a:pPr>
            <a:r>
              <a:rPr sz="1600" b="0">
                <a:solidFill>
                  <a:srgbClr val="161B26"/>
                </a:solidFill>
                <a:latin typeface="Arial"/>
              </a:rPr>
              <a:t>•  CLI-driven OS (e.g. Cisco IOS); config as files</a:t>
            </a:r>
          </a:p>
          <a:p>
            <a:pPr>
              <a:spcAft>
                <a:spcPts val="1000"/>
              </a:spcAft>
            </a:pPr>
            <a:r>
              <a:rPr sz="1600" b="0">
                <a:solidFill>
                  <a:srgbClr val="161B26"/>
                </a:solidFill>
                <a:latin typeface="Arial"/>
              </a:rPr>
              <a:t>•  Runs OSPF/BGP, FHRP and QoS at line rate</a:t>
            </a:r>
          </a:p>
          <a:p>
            <a:pPr>
              <a:spcAft>
                <a:spcPts val="1000"/>
              </a:spcAft>
            </a:pPr>
            <a:r>
              <a:rPr sz="1600" b="0">
                <a:solidFill>
                  <a:srgbClr val="161B26"/>
                </a:solidFill>
                <a:latin typeface="Arial"/>
              </a:rPr>
              <a:t>•  100x the throughput and connection capacity</a:t>
            </a:r>
          </a:p>
          <a:p>
            <a:pPr>
              <a:spcAft>
                <a:spcPts val="1000"/>
              </a:spcAft>
            </a:pPr>
            <a:r>
              <a:rPr sz="1600" b="0">
                <a:solidFill>
                  <a:srgbClr val="161B26"/>
                </a:solidFill>
                <a:latin typeface="Arial"/>
              </a:rPr>
              <a:t>•  Managed via SSH/console with AAA</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2.1 · ROUTING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Worked: Static Routes on Linux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exact commands Lab 8 uses to route between 10.1.1.0/24 and 10.2.2.0/24.</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6A9955"/>
                </a:solidFill>
                <a:latin typeface="Consolas"/>
              </a:rPr>
              <a:t># on the router r1</a:t>
            </a:r>
          </a:p>
          <a:p>
            <a:pPr>
              <a:spcAft>
                <a:spcPts val="200"/>
              </a:spcAft>
            </a:pPr>
            <a:r>
              <a:rPr sz="1100">
                <a:solidFill>
                  <a:srgbClr val="D4D4D4"/>
                </a:solidFill>
                <a:latin typeface="Consolas"/>
              </a:rPr>
              <a:t>sysctl -w net.ipv4.ip_forward=1</a:t>
            </a:r>
          </a:p>
          <a:p>
            <a:pPr>
              <a:spcAft>
                <a:spcPts val="200"/>
              </a:spcAft>
            </a:pPr>
            <a:r>
              <a:rPr sz="1100">
                <a:solidFill>
                  <a:srgbClr val="9CDCFE"/>
                </a:solidFill>
                <a:latin typeface="Consolas"/>
              </a:rPr>
              <a:t/>
            </a:r>
          </a:p>
          <a:p>
            <a:pPr>
              <a:spcAft>
                <a:spcPts val="200"/>
              </a:spcAft>
            </a:pPr>
            <a:r>
              <a:rPr sz="1100">
                <a:solidFill>
                  <a:srgbClr val="6A9955"/>
                </a:solidFill>
                <a:latin typeface="Consolas"/>
              </a:rPr>
              <a:t># on host A (10.1.1.2)</a:t>
            </a:r>
          </a:p>
          <a:p>
            <a:pPr>
              <a:spcAft>
                <a:spcPts val="200"/>
              </a:spcAft>
            </a:pPr>
            <a:r>
              <a:rPr sz="1100">
                <a:solidFill>
                  <a:srgbClr val="9CDCFE"/>
                </a:solidFill>
                <a:latin typeface="Consolas"/>
              </a:rPr>
              <a:t>ip route add 10.2.2.0/24 via 10.1.1.1</a:t>
            </a:r>
          </a:p>
          <a:p>
            <a:pPr>
              <a:spcAft>
                <a:spcPts val="200"/>
              </a:spcAft>
            </a:pPr>
            <a:r>
              <a:rPr sz="1100">
                <a:solidFill>
                  <a:srgbClr val="9CDCFE"/>
                </a:solidFill>
                <a:latin typeface="Consolas"/>
              </a:rPr>
              <a:t/>
            </a:r>
          </a:p>
          <a:p>
            <a:pPr>
              <a:spcAft>
                <a:spcPts val="200"/>
              </a:spcAft>
            </a:pPr>
            <a:r>
              <a:rPr sz="1100">
                <a:solidFill>
                  <a:srgbClr val="6A9955"/>
                </a:solidFill>
                <a:latin typeface="Consolas"/>
              </a:rPr>
              <a:t># on host B (10.2.2.2)</a:t>
            </a:r>
          </a:p>
          <a:p>
            <a:pPr>
              <a:spcAft>
                <a:spcPts val="200"/>
              </a:spcAft>
            </a:pPr>
            <a:r>
              <a:rPr sz="1100">
                <a:solidFill>
                  <a:srgbClr val="9CDCFE"/>
                </a:solidFill>
                <a:latin typeface="Consolas"/>
              </a:rPr>
              <a:t>ip route add 10.1.1.0/24 via 10.2.2.1</a:t>
            </a:r>
          </a:p>
          <a:p>
            <a:pPr>
              <a:spcAft>
                <a:spcPts val="200"/>
              </a:spcAft>
            </a:pPr>
            <a:r>
              <a:rPr sz="1100">
                <a:solidFill>
                  <a:srgbClr val="9CDCFE"/>
                </a:solidFill>
                <a:latin typeface="Consolas"/>
              </a:rPr>
              <a:t/>
            </a:r>
          </a:p>
          <a:p>
            <a:pPr>
              <a:spcAft>
                <a:spcPts val="200"/>
              </a:spcAft>
            </a:pPr>
            <a:r>
              <a:rPr sz="1100">
                <a:solidFill>
                  <a:srgbClr val="9CDCFE"/>
                </a:solidFill>
                <a:latin typeface="Consolas"/>
              </a:rPr>
              <a:t>ip route        # verify the table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ip_forward</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Linux box only forwards packets between interfaces when this kernel switch is on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via 10.1.1.1</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next hop — must be on a directly connected subnet the host can already reach</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Symmetry</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Both sides need a route; a one-way route gives replies no path back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2.0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Static Routing Between Two Subnets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Build a two-subnet topology and route between them with static routes.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three network namespaces (host A, router R1, host B), wire them with veth pairs, enable IP forwarding on R1 and add the static routes that let 10.1.1.0/24 reach 10.2.2.0/24.</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working routed path A -&gt; R1 -&gt; B with hand-written static routes on both end hosts.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iproute2, ip netns, sysctl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netns exec a ping -c2 10.2.2.2 succeeds, and ip route inside namespace a shows 10.2.2.0/24 via 10.1.1.1.</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Create three namespaces; r1 is the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Move each veth end into its namespace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Bring up loopbacks and all veth</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for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Enable IP forwarding on the router</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Verify with ping</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Build a two-subnet topology and route between them with static routes.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Static Routing Between Two Subnets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ip netns exec a ping -c2 10.2.2.2 succeeds, and ip route inside namespace a shows 10.2.2.0/24 via 10.1.1.1.</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Ping A to B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forwarding: ip netns exec r1 sysctl net.ipv4.ip_forward must return 1</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Network is unreachable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static route is missing — re-add: ip route add 10.2.2.0/24 via 10.1.1.1</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Interface shows DOWN</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Bring up BOTH ends of each veth pair with ip link set &lt;if&gt; up</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Managed Switches and Switch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Unmanaged switch</a:t>
            </a:r>
          </a:p>
          <a:p>
            <a:pPr algn="l">
              <a:spcAft>
                <a:spcPts val="300"/>
              </a:spcAft>
            </a:pPr>
            <a:r>
              <a:rPr sz="1200" b="0">
                <a:solidFill>
                  <a:srgbClr val="5B6372"/>
                </a:solidFill>
                <a:latin typeface="Arial"/>
              </a:rPr>
              <a:t>Plug and play, zero configuration, no VLANs — fine for a desk, invisible to the network team.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Managed switch</a:t>
            </a:r>
          </a:p>
          <a:p>
            <a:pPr algn="l">
              <a:spcAft>
                <a:spcPts val="300"/>
              </a:spcAft>
            </a:pPr>
            <a:r>
              <a:rPr sz="1200" b="0">
                <a:solidFill>
                  <a:srgbClr val="5B6372"/>
                </a:solidFill>
                <a:latin typeface="Arial"/>
              </a:rPr>
              <a:t>Configurable: VLANs, trunks, STP, LACP, mirroring, SNMP. Everything in this domain assumes one.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Management IP / SVI</a:t>
            </a:r>
          </a:p>
          <a:p>
            <a:pPr algn="l">
              <a:spcAft>
                <a:spcPts val="300"/>
              </a:spcAft>
            </a:pPr>
            <a:r>
              <a:rPr sz="1200" b="0">
                <a:solidFill>
                  <a:srgbClr val="5B6372"/>
                </a:solidFill>
                <a:latin typeface="Arial"/>
              </a:rPr>
              <a:t>Give a management VLAN interface an address; your PC must be able to reach that subnet to manage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Change the defaults</a:t>
            </a:r>
          </a:p>
          <a:p>
            <a:pPr algn="l">
              <a:spcAft>
                <a:spcPts val="300"/>
              </a:spcAft>
            </a:pPr>
            <a:r>
              <a:rPr sz="1200" b="0">
                <a:solidFill>
                  <a:srgbClr val="5B6372"/>
                </a:solidFill>
                <a:latin typeface="Arial"/>
              </a:rPr>
              <a:t>Default admin passwords on switches are public knowledge — change them before the switch carries traffic.</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Console access</a:t>
            </a:r>
          </a:p>
          <a:p>
            <a:pPr algn="l">
              <a:spcAft>
                <a:spcPts val="300"/>
              </a:spcAft>
            </a:pPr>
            <a:r>
              <a:rPr sz="1200" b="0">
                <a:solidFill>
                  <a:srgbClr val="5B6372"/>
                </a:solidFill>
                <a:latin typeface="Arial"/>
              </a:rPr>
              <a:t>A console/rollover cable gives CLI access with no network at all — your lifeline when config breaks.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Out-of-band mgmt</a:t>
            </a:r>
          </a:p>
          <a:p>
            <a:pPr algn="l">
              <a:spcAft>
                <a:spcPts val="300"/>
              </a:spcAft>
            </a:pPr>
            <a:r>
              <a:rPr sz="1200" b="0">
                <a:solidFill>
                  <a:srgbClr val="5B6372"/>
                </a:solidFill>
                <a:latin typeface="Arial"/>
              </a:rPr>
              <a:t>A separate management network keeps control access alive when the production LAN is down.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VLAN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a VLAN is</a:t>
            </a:r>
          </a:p>
          <a:p>
            <a:pPr algn="l">
              <a:spcAft>
                <a:spcPts val="300"/>
              </a:spcAft>
            </a:pPr>
            <a:r>
              <a:rPr sz="1200" b="0">
                <a:solidFill>
                  <a:srgbClr val="5B6372"/>
                </a:solidFill>
                <a:latin typeface="Arial"/>
              </a:rPr>
              <a:t>One physical switch split into multiple logical switches — each VLAN is its own broadcast domain.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segment</a:t>
            </a:r>
          </a:p>
          <a:p>
            <a:pPr algn="l">
              <a:spcAft>
                <a:spcPts val="300"/>
              </a:spcAft>
            </a:pPr>
            <a:r>
              <a:rPr sz="1200" b="0">
                <a:solidFill>
                  <a:srgbClr val="5B6372"/>
                </a:solidFill>
                <a:latin typeface="Arial"/>
              </a:rPr>
              <a:t>Smaller broadcast domains, failure containment, and policy boundaries between departments and device types.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VLAN ID</a:t>
            </a:r>
          </a:p>
          <a:p>
            <a:pPr algn="l">
              <a:spcAft>
                <a:spcPts val="300"/>
              </a:spcAft>
            </a:pPr>
            <a:r>
              <a:rPr sz="1200" b="0">
                <a:solidFill>
                  <a:srgbClr val="5B6372"/>
                </a:solidFill>
                <a:latin typeface="Arial"/>
              </a:rPr>
              <a:t>12-bit field: 1-4094 usable. VLAN 1 is the default everywhere — move production traffic off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VLAN</a:t>
            </a:r>
          </a:p>
          <a:p>
            <a:pPr algn="l">
              <a:spcAft>
                <a:spcPts val="300"/>
              </a:spcAft>
            </a:pPr>
            <a:r>
              <a:rPr sz="1200" b="0">
                <a:solidFill>
                  <a:srgbClr val="5B6372"/>
                </a:solidFill>
                <a:latin typeface="Arial"/>
              </a:rPr>
              <a:t>Ordinary user traffic — PCs, laptops and servers grouped by function or department.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Voice VLAN</a:t>
            </a:r>
          </a:p>
          <a:p>
            <a:pPr algn="l">
              <a:spcAft>
                <a:spcPts val="300"/>
              </a:spcAft>
            </a:pPr>
            <a:r>
              <a:rPr sz="1200" b="0">
                <a:solidFill>
                  <a:srgbClr val="5B6372"/>
                </a:solidFill>
                <a:latin typeface="Arial"/>
              </a:rPr>
              <a:t>IP phones get their own tagged VLAN for QoS and clean troubleshooting; the PC daisy-chains through the phone.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Crossing VLANs</a:t>
            </a:r>
          </a:p>
          <a:p>
            <a:pPr algn="l">
              <a:spcAft>
                <a:spcPts val="300"/>
              </a:spcAft>
            </a:pPr>
            <a:r>
              <a:rPr sz="1200" b="0">
                <a:solidFill>
                  <a:srgbClr val="5B6372"/>
                </a:solidFill>
                <a:latin typeface="Arial"/>
              </a:rPr>
              <a:t>Traffic between VLANs must be ROUTED — a Layer 3 hop, covered two slides 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Inside the 802.1Q Tag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4-byte tag</a:t>
            </a:r>
          </a:p>
          <a:p>
            <a:pPr algn="l">
              <a:spcAft>
                <a:spcPts val="300"/>
              </a:spcAft>
            </a:pPr>
            <a:r>
              <a:rPr sz="1200" b="0">
                <a:solidFill>
                  <a:srgbClr val="5B6372"/>
                </a:solidFill>
                <a:latin typeface="Arial"/>
              </a:rPr>
              <a:t>802.1Q inserts 4 bytes into the Ethernet header after the source MAC — Lab 9 captures one live.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TPID 0x8100</a:t>
            </a:r>
          </a:p>
          <a:p>
            <a:pPr algn="l">
              <a:spcAft>
                <a:spcPts val="300"/>
              </a:spcAft>
            </a:pPr>
            <a:r>
              <a:rPr sz="1200" b="0">
                <a:solidFill>
                  <a:srgbClr val="5B6372"/>
                </a:solidFill>
                <a:latin typeface="Arial"/>
              </a:rPr>
              <a:t>The first 2 bytes announce 'this frame is tagged' so receivers parse the rest of the tag.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VLAN ID (12 bits)</a:t>
            </a:r>
          </a:p>
          <a:p>
            <a:pPr algn="l">
              <a:spcAft>
                <a:spcPts val="300"/>
              </a:spcAft>
            </a:pPr>
            <a:r>
              <a:rPr sz="1200" b="0">
                <a:solidFill>
                  <a:srgbClr val="5B6372"/>
                </a:solidFill>
                <a:latin typeface="Arial"/>
              </a:rPr>
              <a:t>Which VLAN the frame belongs to — switches use it to keep traffic separated on trunks.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PCP (3 bits)</a:t>
            </a:r>
          </a:p>
          <a:p>
            <a:pPr algn="l">
              <a:spcAft>
                <a:spcPts val="300"/>
              </a:spcAft>
            </a:pPr>
            <a:r>
              <a:rPr sz="1200" b="0">
                <a:solidFill>
                  <a:srgbClr val="5B6372"/>
                </a:solidFill>
                <a:latin typeface="Arial"/>
              </a:rPr>
              <a:t>Priority Code Point — the Class of Service marking QoS uses to prioritise voice and video.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Tag lifecycle</a:t>
            </a:r>
          </a:p>
          <a:p>
            <a:pPr algn="l">
              <a:spcAft>
                <a:spcPts val="300"/>
              </a:spcAft>
            </a:pPr>
            <a:r>
              <a:rPr sz="1200" b="0">
                <a:solidFill>
                  <a:srgbClr val="5B6372"/>
                </a:solidFill>
                <a:latin typeface="Arial"/>
              </a:rPr>
              <a:t>Added when a frame enters a trunk, stripped when it exits an access port — hosts normally never see tags.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Linux view</a:t>
            </a:r>
          </a:p>
          <a:p>
            <a:pPr algn="l">
              <a:spcAft>
                <a:spcPts val="300"/>
              </a:spcAft>
            </a:pPr>
            <a:r>
              <a:rPr sz="1200" b="0">
                <a:solidFill>
                  <a:srgbClr val="5B6372"/>
                </a:solidFill>
                <a:latin typeface="Arial"/>
              </a:rPr>
              <a:t>A sub-interface eth0.10 tags everything VID 10 on the way out — exactly how Lab 9 models a trunk.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Access Ports vs Trunk Ports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Access port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Trunk port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Carries a single VLAN, untagged</a:t>
            </a:r>
          </a:p>
          <a:p>
            <a:pPr>
              <a:spcAft>
                <a:spcPts val="1000"/>
              </a:spcAft>
            </a:pPr>
            <a:r>
              <a:rPr sz="1600" b="0">
                <a:solidFill>
                  <a:srgbClr val="161B26"/>
                </a:solidFill>
                <a:latin typeface="Arial"/>
              </a:rPr>
              <a:t>•  Connects end devices: PCs, printers, cameras</a:t>
            </a:r>
          </a:p>
          <a:p>
            <a:pPr>
              <a:spcAft>
                <a:spcPts val="1000"/>
              </a:spcAft>
            </a:pPr>
            <a:r>
              <a:rPr sz="1600" b="0">
                <a:solidFill>
                  <a:srgbClr val="161B26"/>
                </a:solidFill>
                <a:latin typeface="Arial"/>
              </a:rPr>
              <a:t>•  switchport mode access + access vlan 10</a:t>
            </a:r>
          </a:p>
          <a:p>
            <a:pPr>
              <a:spcAft>
                <a:spcPts val="1000"/>
              </a:spcAft>
            </a:pPr>
            <a:r>
              <a:rPr sz="1600" b="0">
                <a:solidFill>
                  <a:srgbClr val="161B26"/>
                </a:solidFill>
                <a:latin typeface="Arial"/>
              </a:rPr>
              <a:t>•  Voice VLAN rides alongside, tagged with CoS</a:t>
            </a:r>
          </a:p>
          <a:p>
            <a:pPr>
              <a:spcAft>
                <a:spcPts val="1000"/>
              </a:spcAft>
            </a:pPr>
            <a:r>
              <a:rPr sz="1600" b="0">
                <a:solidFill>
                  <a:srgbClr val="161B26"/>
                </a:solidFill>
                <a:latin typeface="Arial"/>
              </a:rPr>
              <a:t>•  Protect with port security and BPDU guard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Carries many VLANs between switches/routers</a:t>
            </a:r>
          </a:p>
          <a:p>
            <a:pPr>
              <a:spcAft>
                <a:spcPts val="1000"/>
              </a:spcAft>
            </a:pPr>
            <a:r>
              <a:rPr sz="1600" b="0">
                <a:solidFill>
                  <a:srgbClr val="161B26"/>
                </a:solidFill>
                <a:latin typeface="Arial"/>
              </a:rPr>
              <a:t>•  Every frame tagged 802.1Q except the native VLAN</a:t>
            </a:r>
          </a:p>
          <a:p>
            <a:pPr>
              <a:spcAft>
                <a:spcPts val="1000"/>
              </a:spcAft>
            </a:pPr>
            <a:r>
              <a:rPr sz="1600" b="0">
                <a:solidFill>
                  <a:srgbClr val="161B26"/>
                </a:solidFill>
                <a:latin typeface="Arial"/>
              </a:rPr>
              <a:t>•  switchport mode trunk + allowed vlan list</a:t>
            </a:r>
          </a:p>
          <a:p>
            <a:pPr>
              <a:spcAft>
                <a:spcPts val="1000"/>
              </a:spcAft>
            </a:pPr>
            <a:r>
              <a:rPr sz="1600" b="0">
                <a:solidFill>
                  <a:srgbClr val="161B26"/>
                </a:solidFill>
                <a:latin typeface="Arial"/>
              </a:rPr>
              <a:t>•  Native VLAN must match both ends (not VLAN 1)</a:t>
            </a:r>
          </a:p>
          <a:p>
            <a:pPr>
              <a:spcAft>
                <a:spcPts val="1000"/>
              </a:spcAft>
            </a:pPr>
            <a:r>
              <a:rPr sz="1600" b="0">
                <a:solidFill>
                  <a:srgbClr val="161B26"/>
                </a:solidFill>
                <a:latin typeface="Arial"/>
              </a:rPr>
              <a:t>•  Linux models it as eth0.&lt;id&gt; sub-interfaces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Native VLAN, Voice VLAN and VTP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Native VLAN</a:t>
            </a:r>
          </a:p>
          <a:p>
            <a:pPr algn="l">
              <a:spcAft>
                <a:spcPts val="300"/>
              </a:spcAft>
            </a:pPr>
            <a:r>
              <a:rPr sz="1200" b="0">
                <a:solidFill>
                  <a:srgbClr val="5B6372"/>
                </a:solidFill>
                <a:latin typeface="Arial"/>
              </a:rPr>
              <a:t>The one VLAN a trunk carries UNTAGGED. Frames arriving untagged on the trunk land here.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Mismatch danger</a:t>
            </a:r>
          </a:p>
          <a:p>
            <a:pPr algn="l">
              <a:spcAft>
                <a:spcPts val="300"/>
              </a:spcAft>
            </a:pPr>
            <a:r>
              <a:rPr sz="1200" b="0">
                <a:solidFill>
                  <a:srgbClr val="5B6372"/>
                </a:solidFill>
                <a:latin typeface="Arial"/>
              </a:rPr>
              <a:t>If the two ends disagree on the native VLAN, frames silently leak between VLANs — CDP/LLDP will warn.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Best practice</a:t>
            </a:r>
          </a:p>
          <a:p>
            <a:pPr algn="l">
              <a:spcAft>
                <a:spcPts val="300"/>
              </a:spcAft>
            </a:pPr>
            <a:r>
              <a:rPr sz="1200" b="0">
                <a:solidFill>
                  <a:srgbClr val="5B6372"/>
                </a:solidFill>
                <a:latin typeface="Arial"/>
              </a:rPr>
              <a:t>Set the native VLAN to an unused ID (not 1) with no user traffic — blunts VLAN-hopping attacks.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Voice VLAN config</a:t>
            </a:r>
          </a:p>
          <a:p>
            <a:pPr algn="l">
              <a:spcAft>
                <a:spcPts val="300"/>
              </a:spcAft>
            </a:pPr>
            <a:r>
              <a:rPr sz="1200" b="0">
                <a:solidFill>
                  <a:srgbClr val="5B6372"/>
                </a:solidFill>
                <a:latin typeface="Arial"/>
              </a:rPr>
              <a:t>switchport voice vlan 20: phone traffic tagged with CoS; the PC behind the phone stays untagged.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VTP</a:t>
            </a:r>
          </a:p>
          <a:p>
            <a:pPr algn="l">
              <a:spcAft>
                <a:spcPts val="300"/>
              </a:spcAft>
            </a:pPr>
            <a:r>
              <a:rPr sz="1200" b="0">
                <a:solidFill>
                  <a:srgbClr val="5B6372"/>
                </a:solidFill>
                <a:latin typeface="Arial"/>
              </a:rPr>
              <a:t>Cisco's VLAN Trunking Protocol syncs the VLAN database between switches — convenient, and dangerous if a stale switch joins.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InterVLAN Routing — Three Designs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needed</a:t>
            </a:r>
          </a:p>
          <a:p>
            <a:pPr algn="l">
              <a:spcAft>
                <a:spcPts val="300"/>
              </a:spcAft>
            </a:pPr>
            <a:r>
              <a:rPr sz="1200" b="0">
                <a:solidFill>
                  <a:srgbClr val="5B6372"/>
                </a:solidFill>
                <a:latin typeface="Arial"/>
              </a:rPr>
              <a:t>VLANs are separate broadcast domains — without a router, SALES can never reach the printer in OPS.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Router-on-a-stick</a:t>
            </a:r>
          </a:p>
          <a:p>
            <a:pPr algn="l">
              <a:spcAft>
                <a:spcPts val="300"/>
              </a:spcAft>
            </a:pPr>
            <a:r>
              <a:rPr sz="1200" b="0">
                <a:solidFill>
                  <a:srgbClr val="5B6372"/>
                </a:solidFill>
                <a:latin typeface="Arial"/>
              </a:rPr>
              <a:t>One router interface split into 802.1Q subinterfaces (g0/0.10, g0/0.20) — one per VLAN, each that VLAN's gateway.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Subinterface config</a:t>
            </a:r>
          </a:p>
          <a:p>
            <a:pPr algn="l">
              <a:spcAft>
                <a:spcPts val="300"/>
              </a:spcAft>
            </a:pPr>
            <a:r>
              <a:rPr sz="1200" b="0">
                <a:solidFill>
                  <a:srgbClr val="5B6372"/>
                </a:solidFill>
                <a:latin typeface="Arial"/>
              </a:rPr>
              <a:t>encapsulation dot1q 10 plus an IP in VLAN 10's subnet — logical interfaces on one trunk cable.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SVI</a:t>
            </a:r>
          </a:p>
          <a:p>
            <a:pPr algn="l">
              <a:spcAft>
                <a:spcPts val="300"/>
              </a:spcAft>
            </a:pPr>
            <a:r>
              <a:rPr sz="1200" b="0">
                <a:solidFill>
                  <a:srgbClr val="5B6372"/>
                </a:solidFill>
                <a:latin typeface="Arial"/>
              </a:rPr>
              <a:t>On a Layer 3 switch, 'interface vlan 10' is a virtual routed interface — no external router needed.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Layer 3 switch</a:t>
            </a:r>
          </a:p>
          <a:p>
            <a:pPr algn="l">
              <a:spcAft>
                <a:spcPts val="300"/>
              </a:spcAft>
            </a:pPr>
            <a:r>
              <a:rPr sz="1200" b="0">
                <a:solidFill>
                  <a:srgbClr val="5B6372"/>
                </a:solidFill>
                <a:latin typeface="Arial"/>
              </a:rPr>
              <a:t>Routes between SVIs in hardware at wire speed — the standard enterprise design.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Which to pick</a:t>
            </a:r>
          </a:p>
          <a:p>
            <a:pPr algn="l">
              <a:spcAft>
                <a:spcPts val="300"/>
              </a:spcAft>
            </a:pPr>
            <a:r>
              <a:rPr sz="1200" b="0">
                <a:solidFill>
                  <a:srgbClr val="5B6372"/>
                </a:solidFill>
                <a:latin typeface="Arial"/>
              </a:rPr>
              <a:t>Router-on-a-stick for labs and small sites (the one cable is the bottleneck); SVIs everywhere else.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Worked: VLAN + Trunk on Cisco 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Reading the config that puts a PC in VLAN 10 and uplinks over a trunk.</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Switch(config)# vlan 10</a:t>
            </a:r>
          </a:p>
          <a:p>
            <a:pPr>
              <a:spcAft>
                <a:spcPts val="200"/>
              </a:spcAft>
            </a:pPr>
            <a:r>
              <a:rPr sz="1100">
                <a:solidFill>
                  <a:srgbClr val="9CDCFE"/>
                </a:solidFill>
                <a:latin typeface="Consolas"/>
              </a:rPr>
              <a:t>Switch(config-vlan)# name SALES</a:t>
            </a:r>
          </a:p>
          <a:p>
            <a:pPr>
              <a:spcAft>
                <a:spcPts val="200"/>
              </a:spcAft>
            </a:pPr>
            <a:r>
              <a:rPr sz="1100">
                <a:solidFill>
                  <a:srgbClr val="9CDCFE"/>
                </a:solidFill>
                <a:latin typeface="Consolas"/>
              </a:rPr>
              <a:t>Switch(config)# interface gi0/1</a:t>
            </a:r>
          </a:p>
          <a:p>
            <a:pPr>
              <a:spcAft>
                <a:spcPts val="200"/>
              </a:spcAft>
            </a:pPr>
            <a:r>
              <a:rPr sz="1100">
                <a:solidFill>
                  <a:srgbClr val="9CDCFE"/>
                </a:solidFill>
                <a:latin typeface="Consolas"/>
              </a:rPr>
              <a:t>Switch(config-if)# switchport mode access</a:t>
            </a:r>
          </a:p>
          <a:p>
            <a:pPr>
              <a:spcAft>
                <a:spcPts val="200"/>
              </a:spcAft>
            </a:pPr>
            <a:r>
              <a:rPr sz="1100">
                <a:solidFill>
                  <a:srgbClr val="9CDCFE"/>
                </a:solidFill>
                <a:latin typeface="Consolas"/>
              </a:rPr>
              <a:t>Switch(config-if)# switchport access vlan 10</a:t>
            </a:r>
          </a:p>
          <a:p>
            <a:pPr>
              <a:spcAft>
                <a:spcPts val="200"/>
              </a:spcAft>
            </a:pPr>
            <a:r>
              <a:rPr sz="1100">
                <a:solidFill>
                  <a:srgbClr val="9CDCFE"/>
                </a:solidFill>
                <a:latin typeface="Consolas"/>
              </a:rPr>
              <a:t>Switch(config)# interface gi0/24</a:t>
            </a:r>
          </a:p>
          <a:p>
            <a:pPr>
              <a:spcAft>
                <a:spcPts val="200"/>
              </a:spcAft>
            </a:pPr>
            <a:r>
              <a:rPr sz="1100">
                <a:solidFill>
                  <a:srgbClr val="9CDCFE"/>
                </a:solidFill>
                <a:latin typeface="Consolas"/>
              </a:rPr>
              <a:t>Switch(config-if)# switchport mode trunk</a:t>
            </a:r>
          </a:p>
          <a:p>
            <a:pPr>
              <a:spcAft>
                <a:spcPts val="200"/>
              </a:spcAft>
            </a:pPr>
            <a:r>
              <a:rPr sz="1100">
                <a:solidFill>
                  <a:srgbClr val="9CDCFE"/>
                </a:solidFill>
                <a:latin typeface="Consolas"/>
              </a:rPr>
              <a:t>Switch(config-if)# switchport trunk native vlan 99</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access vlan 10</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End-device ports carry one untagged VLAN; the PC never sees a tag</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mode trunk</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uplink carries every VLAN, each frame tagged 802.1Q with its VLAN ID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native vlan 99</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Untagged trunk frames fall into the native VLAN — move it off VLAN 1 for security</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Interface Configuration: Speed &amp; Duplex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Speed &amp; duplex</a:t>
            </a:r>
          </a:p>
          <a:p>
            <a:pPr algn="l">
              <a:spcAft>
                <a:spcPts val="300"/>
              </a:spcAft>
            </a:pPr>
            <a:r>
              <a:rPr sz="1200" b="0">
                <a:solidFill>
                  <a:srgbClr val="5B6372"/>
                </a:solidFill>
                <a:latin typeface="Arial"/>
              </a:rPr>
              <a:t>Modern ports autonegotiate 10/100/1000/10G full duplex; hard-coding only one side breaks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Duplex mismatch</a:t>
            </a:r>
          </a:p>
          <a:p>
            <a:pPr algn="l">
              <a:spcAft>
                <a:spcPts val="300"/>
              </a:spcAft>
            </a:pPr>
            <a:r>
              <a:rPr sz="1200" b="0">
                <a:solidFill>
                  <a:srgbClr val="5B6372"/>
                </a:solidFill>
                <a:latin typeface="Arial"/>
              </a:rPr>
              <a:t>One side full, one half: late collisions, CRC errors, terrible throughput — a classic exam symptom.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Autonegotiation rule</a:t>
            </a:r>
          </a:p>
          <a:p>
            <a:pPr algn="l">
              <a:spcAft>
                <a:spcPts val="300"/>
              </a:spcAft>
            </a:pPr>
            <a:r>
              <a:rPr sz="1200" b="0">
                <a:solidFill>
                  <a:srgbClr val="5B6372"/>
                </a:solidFill>
                <a:latin typeface="Arial"/>
              </a:rPr>
              <a:t>Both sides auto, or both sides forced identically — never mixed.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Runts &amp; giants</a:t>
            </a:r>
          </a:p>
          <a:p>
            <a:pPr algn="l">
              <a:spcAft>
                <a:spcPts val="300"/>
              </a:spcAft>
            </a:pPr>
            <a:r>
              <a:rPr sz="1200" b="0">
                <a:solidFill>
                  <a:srgbClr val="5B6372"/>
                </a:solidFill>
                <a:latin typeface="Arial"/>
              </a:rPr>
              <a:t>Frames under 64 bytes (runts) or oversize (giants) usually signal duplex, cable or MTU faults.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show interface</a:t>
            </a:r>
          </a:p>
          <a:p>
            <a:pPr algn="l">
              <a:spcAft>
                <a:spcPts val="300"/>
              </a:spcAft>
            </a:pPr>
            <a:r>
              <a:rPr sz="1200" b="0">
                <a:solidFill>
                  <a:srgbClr val="5B6372"/>
                </a:solidFill>
                <a:latin typeface="Arial"/>
              </a:rPr>
              <a:t>Errors, drops, and the speed/duplex actually negotiated — first stop for a slow-port complaint.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Err-disabled</a:t>
            </a:r>
          </a:p>
          <a:p>
            <a:pPr algn="l">
              <a:spcAft>
                <a:spcPts val="300"/>
              </a:spcAft>
            </a:pPr>
            <a:r>
              <a:rPr sz="1200" b="0">
                <a:solidFill>
                  <a:srgbClr val="5B6372"/>
                </a:solidFill>
                <a:latin typeface="Arial"/>
              </a:rPr>
              <a:t>Violations (port security, BPDU guard) shut the port to err-disabled; it stays down until recovered.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MTU and Jumbo Frames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MTU 1500</a:t>
            </a:r>
          </a:p>
          <a:p>
            <a:pPr algn="l">
              <a:spcAft>
                <a:spcPts val="300"/>
              </a:spcAft>
            </a:pPr>
            <a:r>
              <a:rPr sz="1200" b="0">
                <a:solidFill>
                  <a:srgbClr val="5B6372"/>
                </a:solidFill>
                <a:latin typeface="Arial"/>
              </a:rPr>
              <a:t>The Ethernet default payload size — every hop must handle a packet's size or fragment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Jumbo frames</a:t>
            </a:r>
          </a:p>
          <a:p>
            <a:pPr algn="l">
              <a:spcAft>
                <a:spcPts val="300"/>
              </a:spcAft>
            </a:pPr>
            <a:r>
              <a:rPr sz="1200" b="0">
                <a:solidFill>
                  <a:srgbClr val="5B6372"/>
                </a:solidFill>
                <a:latin typeface="Arial"/>
              </a:rPr>
              <a:t>MTU up to ~9000 bytes: fewer frames per gigabyte and less CPU — used on storage and backup networks.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End-to-end rule</a:t>
            </a:r>
          </a:p>
          <a:p>
            <a:pPr algn="l">
              <a:spcAft>
                <a:spcPts val="300"/>
              </a:spcAft>
            </a:pPr>
            <a:r>
              <a:rPr sz="1200" b="0">
                <a:solidFill>
                  <a:srgbClr val="5B6372"/>
                </a:solidFill>
                <a:latin typeface="Arial"/>
              </a:rPr>
              <a:t>EVERY device in the path (switches and both hosts) must agree on jumbo MTU or traffic mysteriously fails.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Fragmentation</a:t>
            </a:r>
          </a:p>
          <a:p>
            <a:pPr algn="l">
              <a:spcAft>
                <a:spcPts val="300"/>
              </a:spcAft>
            </a:pPr>
            <a:r>
              <a:rPr sz="1200" b="0">
                <a:solidFill>
                  <a:srgbClr val="5B6372"/>
                </a:solidFill>
                <a:latin typeface="Arial"/>
              </a:rPr>
              <a:t>Routers fragment oversized IPv4 packets unless DF is set; IPv6 never fragments in transit.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Black holes</a:t>
            </a:r>
          </a:p>
          <a:p>
            <a:pPr algn="l">
              <a:spcAft>
                <a:spcPts val="300"/>
              </a:spcAft>
            </a:pPr>
            <a:r>
              <a:rPr sz="1200" b="0">
                <a:solidFill>
                  <a:srgbClr val="5B6372"/>
                </a:solidFill>
                <a:latin typeface="Arial"/>
              </a:rPr>
              <a:t>If DF is set and ICMP 'frag needed' is filtered, big packets vanish silently — Lab 33 reproduces this.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2.0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802.1Q VLAN Tagging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Create 802.1Q VLAN sub-interfaces and capture a tagged frame.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Load the 8021q kernel module, create eth0.10 and eth0.20 sub-interfaces each with its own subnet, verify the VLAN IDs with ip -d link, then capture a live tagged frame with tcpdump -e.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Two VLAN sub-interfaces on one NIC — a Linux model of a trunk port — plus a captured 802.1Q tag.</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iproute2, 8021q module, tcpdump</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-d link show eth0.10 reports 'vlan id 10', and the tcpdump output shows the 802.1Q tag (vlan 10) in the Ethernet header.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Load the 802.1Q kernel module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modprobe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Create the VLAN 20 sub-interface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Verify the VLAN ID with detailed link</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Start a capture that prints Ethernet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tcpdump · step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Clean up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Create 802.1Q VLAN sub-interfaces and capture a tagged frame.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802.1Q VLAN Tagging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ip -d link show eth0.10 reports 'vlan id 10', and the tcpdump output shows the 802.1Q tag (vlan 10) in the Ethernet header.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modprobe: module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apt update first; the 8021q module ships with standard Ubuntu kernels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vlan tag in tcpdump output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Capture on the parent eth0 with -e; tags are already stripped on the sub-interface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RTNETLINK: File exists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sub-interface already exists — ip link del eth0.10, then recreate it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Loops, Storms and Spanning Tree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loop problem</a:t>
            </a:r>
          </a:p>
          <a:p>
            <a:pPr algn="l">
              <a:spcAft>
                <a:spcPts val="300"/>
              </a:spcAft>
            </a:pPr>
            <a:r>
              <a:rPr sz="1200" b="0">
                <a:solidFill>
                  <a:srgbClr val="5B6372"/>
                </a:solidFill>
                <a:latin typeface="Arial"/>
              </a:rPr>
              <a:t>Ethernet frames have no TTL — two links between switches and one broadcast circulates forever.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Broadcast storm</a:t>
            </a:r>
          </a:p>
          <a:p>
            <a:pPr algn="l">
              <a:spcAft>
                <a:spcPts val="300"/>
              </a:spcAft>
            </a:pPr>
            <a:r>
              <a:rPr sz="1200" b="0">
                <a:solidFill>
                  <a:srgbClr val="5B6372"/>
                </a:solidFill>
                <a:latin typeface="Arial"/>
              </a:rPr>
              <a:t>The loop amplifies every broadcast; CPU and links saturate and the LAN 'melts' until a cable is pulled.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MAC flapping</a:t>
            </a:r>
          </a:p>
          <a:p>
            <a:pPr algn="l">
              <a:spcAft>
                <a:spcPts val="300"/>
              </a:spcAft>
            </a:pPr>
            <a:r>
              <a:rPr sz="1200" b="0">
                <a:solidFill>
                  <a:srgbClr val="5B6372"/>
                </a:solidFill>
                <a:latin typeface="Arial"/>
              </a:rPr>
              <a:t>The same source MAC arrives on two ports alternately; the MAC table thrashes and delivery breaks.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STP (802.1D)</a:t>
            </a:r>
          </a:p>
          <a:p>
            <a:pPr algn="l">
              <a:spcAft>
                <a:spcPts val="300"/>
              </a:spcAft>
            </a:pPr>
            <a:r>
              <a:rPr sz="1200" b="0">
                <a:solidFill>
                  <a:srgbClr val="5B6372"/>
                </a:solidFill>
                <a:latin typeface="Arial"/>
              </a:rPr>
              <a:t>Switches elect a root bridge and block redundant ports, pruning the mesh into a loop-free logical tree.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BPDU</a:t>
            </a:r>
          </a:p>
          <a:p>
            <a:pPr algn="l">
              <a:spcAft>
                <a:spcPts val="300"/>
              </a:spcAft>
            </a:pPr>
            <a:r>
              <a:rPr sz="1200" b="0">
                <a:solidFill>
                  <a:srgbClr val="5B6372"/>
                </a:solidFill>
                <a:latin typeface="Arial"/>
              </a:rPr>
              <a:t>Bridge Protocol Data Units — hello frames exchanged every 2 s to build and maintain the tree.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Bridge ID</a:t>
            </a:r>
          </a:p>
          <a:p>
            <a:pPr algn="l">
              <a:spcAft>
                <a:spcPts val="300"/>
              </a:spcAft>
            </a:pPr>
            <a:r>
              <a:rPr sz="1200" b="0">
                <a:solidFill>
                  <a:srgbClr val="5B6372"/>
                </a:solidFill>
                <a:latin typeface="Arial"/>
              </a:rPr>
              <a:t>Priority + MAC; lowest wins root. Set priority so YOUR core is root, not a random access switch.</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ransition spd="fast" advClick="1">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Spanning Tree Converges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Elect root bridge</a:t>
            </a:r>
          </a:p>
        </p:txBody>
      </p:sp>
      <p:sp>
        <p:nvSpPr>
          <p:cNvPr id="12" name="TextBox 11"/>
          <p:cNvSpPr txBox="1"/>
          <p:nvPr/>
        </p:nvSpPr>
        <p:spPr>
          <a:xfrm>
            <a:off x="86868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lowest bridge ID wins</a:t>
            </a:r>
          </a:p>
        </p:txBody>
      </p:sp>
      <p:cxnSp>
        <p:nvCxnSpPr>
          <p:cNvPr id="13" name="Connector 12"/>
          <p:cNvCxnSpPr/>
          <p:nvPr/>
        </p:nvCxnSpPr>
        <p:spPr>
          <a:xfrm>
            <a:off x="320268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Pick root ports</a:t>
            </a:r>
          </a:p>
        </p:txBody>
      </p:sp>
      <p:sp>
        <p:nvSpPr>
          <p:cNvPr id="19" name="TextBox 18"/>
          <p:cNvSpPr txBox="1"/>
          <p:nvPr/>
        </p:nvSpPr>
        <p:spPr>
          <a:xfrm>
            <a:off x="362331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cheapest path to root</a:t>
            </a:r>
          </a:p>
        </p:txBody>
      </p:sp>
      <p:cxnSp>
        <p:nvCxnSpPr>
          <p:cNvPr id="20" name="Connector 19"/>
          <p:cNvCxnSpPr/>
          <p:nvPr/>
        </p:nvCxnSpPr>
        <p:spPr>
          <a:xfrm>
            <a:off x="595731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Pick designated ports</a:t>
            </a:r>
          </a:p>
        </p:txBody>
      </p:sp>
      <p:sp>
        <p:nvSpPr>
          <p:cNvPr id="26" name="TextBox 25"/>
          <p:cNvSpPr txBox="1"/>
          <p:nvPr/>
        </p:nvSpPr>
        <p:spPr>
          <a:xfrm>
            <a:off x="637794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one per segment</a:t>
            </a:r>
          </a:p>
        </p:txBody>
      </p:sp>
      <p:cxnSp>
        <p:nvCxnSpPr>
          <p:cNvPr id="27" name="Connector 26"/>
          <p:cNvCxnSpPr/>
          <p:nvPr/>
        </p:nvCxnSpPr>
        <p:spPr>
          <a:xfrm>
            <a:off x="871194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Block the rest</a:t>
            </a:r>
          </a:p>
        </p:txBody>
      </p:sp>
      <p:sp>
        <p:nvSpPr>
          <p:cNvPr id="33" name="TextBox 32"/>
          <p:cNvSpPr txBox="1"/>
          <p:nvPr/>
        </p:nvSpPr>
        <p:spPr>
          <a:xfrm>
            <a:off x="913257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loops broken</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WHY IT MATTERS</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One logical tree, no loops: a cabling mistake no longer melts the LAN in a broadcast storm — and RSTP re-converges in about a second.</a:t>
            </a:r>
          </a:p>
        </p:txBody>
      </p:sp>
      <p:sp>
        <p:nvSpPr>
          <p:cNvPr id="75" name="TextBox 7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76" name="TextBox 7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STP Port States — 802.1D vs RSTP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802.1D state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Learns MACs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Forwards</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RSTP (802.1w)</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Blocking</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Discarding (alt/backup)</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Listening</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Discarding</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Learning</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Yes</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Learning</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Forwarding</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Yes</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Yes</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Forwarding</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Legacy STP takes 30-50 s to converge; RSTP cuts it to about a second — always prefer RSTP/MSTP.</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Protecting Switch Ports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Port security</a:t>
            </a:r>
          </a:p>
          <a:p>
            <a:pPr algn="l">
              <a:spcAft>
                <a:spcPts val="300"/>
              </a:spcAft>
            </a:pPr>
            <a:r>
              <a:rPr sz="1200" b="0">
                <a:solidFill>
                  <a:srgbClr val="5B6372"/>
                </a:solidFill>
                <a:latin typeface="Arial"/>
              </a:rPr>
              <a:t>Limit which and how many MACs may use an access port; violations err-disable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BPDU guard</a:t>
            </a:r>
          </a:p>
          <a:p>
            <a:pPr algn="l">
              <a:spcAft>
                <a:spcPts val="300"/>
              </a:spcAft>
            </a:pPr>
            <a:r>
              <a:rPr sz="1200" b="0">
                <a:solidFill>
                  <a:srgbClr val="5B6372"/>
                </a:solidFill>
                <a:latin typeface="Arial"/>
              </a:rPr>
              <a:t>Access ports should never receive BPDUs — if one arrives (rogue switch!), kill the port.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Root guard</a:t>
            </a:r>
          </a:p>
          <a:p>
            <a:pPr algn="l">
              <a:spcAft>
                <a:spcPts val="300"/>
              </a:spcAft>
            </a:pPr>
            <a:r>
              <a:rPr sz="1200" b="0">
                <a:solidFill>
                  <a:srgbClr val="5B6372"/>
                </a:solidFill>
                <a:latin typeface="Arial"/>
              </a:rPr>
              <a:t>Stops a downstream switch from hijacking the root role — protects your tree design.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Loop guard</a:t>
            </a:r>
          </a:p>
          <a:p>
            <a:pPr algn="l">
              <a:spcAft>
                <a:spcPts val="300"/>
              </a:spcAft>
            </a:pPr>
            <a:r>
              <a:rPr sz="1200" b="0">
                <a:solidFill>
                  <a:srgbClr val="5B6372"/>
                </a:solidFill>
                <a:latin typeface="Arial"/>
              </a:rPr>
              <a:t>Blocks a port that stops hearing BPDUs instead of trusting it — belt and braces against loops.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DHCP snooping</a:t>
            </a:r>
          </a:p>
          <a:p>
            <a:pPr algn="l">
              <a:spcAft>
                <a:spcPts val="300"/>
              </a:spcAft>
            </a:pPr>
            <a:r>
              <a:rPr sz="1200" b="0">
                <a:solidFill>
                  <a:srgbClr val="5B6372"/>
                </a:solidFill>
                <a:latin typeface="Arial"/>
              </a:rPr>
              <a:t>The switch tracks legit DHCP servers per port; rogue OFFERs from untrusted ports are dropped.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Dynamic ARP inspection</a:t>
            </a:r>
          </a:p>
          <a:p>
            <a:pPr algn="l">
              <a:spcAft>
                <a:spcPts val="300"/>
              </a:spcAft>
            </a:pPr>
            <a:r>
              <a:rPr sz="1200" b="0">
                <a:solidFill>
                  <a:srgbClr val="5B6372"/>
                </a:solidFill>
                <a:latin typeface="Arial"/>
              </a:rPr>
              <a:t>Uses the snooping table to drop spoofed ARP replies — kills on-LAN man-in-the-middle.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Link Aggregation and LACP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Port bonding / aggregation</a:t>
            </a:r>
          </a:p>
          <a:p>
            <a:pPr algn="l">
              <a:spcAft>
                <a:spcPts val="300"/>
              </a:spcAft>
            </a:pPr>
            <a:r>
              <a:rPr sz="1200" b="0">
                <a:solidFill>
                  <a:srgbClr val="5B6372"/>
                </a:solidFill>
                <a:latin typeface="Arial"/>
              </a:rPr>
              <a:t>Bundle 2-8 physical links into one logical port-channel — more bandwidth AND redundancy.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LACP (802.3ad / 802.1AX)</a:t>
            </a:r>
          </a:p>
          <a:p>
            <a:pPr algn="l">
              <a:spcAft>
                <a:spcPts val="300"/>
              </a:spcAft>
            </a:pPr>
            <a:r>
              <a:rPr sz="1200" b="0">
                <a:solidFill>
                  <a:srgbClr val="5B6372"/>
                </a:solidFill>
                <a:latin typeface="Arial"/>
              </a:rPr>
              <a:t>The standard negotiation protocol: both ends agree the bundle — mismatches stay down safely.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Modes</a:t>
            </a:r>
          </a:p>
          <a:p>
            <a:pPr algn="l">
              <a:spcAft>
                <a:spcPts val="300"/>
              </a:spcAft>
            </a:pPr>
            <a:r>
              <a:rPr sz="1200" b="0">
                <a:solidFill>
                  <a:srgbClr val="5B6372"/>
                </a:solidFill>
                <a:latin typeface="Arial"/>
              </a:rPr>
              <a:t>active/active and active/passive form a channel; passive/passive never negotiates — exam favourite.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Hashing, not magic</a:t>
            </a:r>
          </a:p>
          <a:p>
            <a:pPr algn="l">
              <a:spcAft>
                <a:spcPts val="300"/>
              </a:spcAft>
            </a:pPr>
            <a:r>
              <a:rPr sz="1200" b="0">
                <a:solidFill>
                  <a:srgbClr val="5B6372"/>
                </a:solidFill>
                <a:latin typeface="Arial"/>
              </a:rPr>
              <a:t>Each flow hashes onto ONE member link — a single big transfer never exceeds one link's speed.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NIC teaming</a:t>
            </a:r>
          </a:p>
          <a:p>
            <a:pPr algn="l">
              <a:spcAft>
                <a:spcPts val="300"/>
              </a:spcAft>
            </a:pPr>
            <a:r>
              <a:rPr sz="1200" b="0">
                <a:solidFill>
                  <a:srgbClr val="5B6372"/>
                </a:solidFill>
                <a:latin typeface="Arial"/>
              </a:rPr>
              <a:t>The server-side twin: bond NICs for redundancy (active-backup) or throughput (802.3ad to the switch).</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Linux bonding</a:t>
            </a:r>
          </a:p>
          <a:p>
            <a:pPr algn="l">
              <a:spcAft>
                <a:spcPts val="300"/>
              </a:spcAft>
            </a:pPr>
            <a:r>
              <a:rPr sz="1200" b="0">
                <a:solidFill>
                  <a:srgbClr val="5B6372"/>
                </a:solidFill>
                <a:latin typeface="Arial"/>
              </a:rPr>
              <a:t>modprobe bonding mode=802.3ad — /proc/net/bonding/bond0 shows partner and slave state (Lab 10).</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2.2 · SWITCHING TECHNOLOGIES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Port Mirroring (SPAN)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SPAN / port mirror</a:t>
            </a:r>
          </a:p>
          <a:p>
            <a:pPr algn="l">
              <a:spcAft>
                <a:spcPts val="300"/>
              </a:spcAft>
            </a:pPr>
            <a:r>
              <a:rPr sz="1200" b="0">
                <a:solidFill>
                  <a:srgbClr val="5B6372"/>
                </a:solidFill>
                <a:latin typeface="Arial"/>
              </a:rPr>
              <a:t>The switch copies frames from source ports or a VLAN to a destination port for analysis.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a:t>
            </a:r>
          </a:p>
          <a:p>
            <a:pPr algn="l">
              <a:spcAft>
                <a:spcPts val="300"/>
              </a:spcAft>
            </a:pPr>
            <a:r>
              <a:rPr sz="1200" b="0">
                <a:solidFill>
                  <a:srgbClr val="5B6372"/>
                </a:solidFill>
                <a:latin typeface="Arial"/>
              </a:rPr>
              <a:t>Switches deliver frames only to their destination — without a mirror your sniffer sees almost nothing.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Setup</a:t>
            </a:r>
          </a:p>
          <a:p>
            <a:pPr algn="l">
              <a:spcAft>
                <a:spcPts val="300"/>
              </a:spcAft>
            </a:pPr>
            <a:r>
              <a:rPr sz="1200" b="0">
                <a:solidFill>
                  <a:srgbClr val="5B6372"/>
                </a:solidFill>
                <a:latin typeface="Arial"/>
              </a:rPr>
              <a:t>Choose the source (port or VLAN; rx, tx or both) and the destination port where Wireshark or an IDS listens.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Remote SPAN</a:t>
            </a:r>
          </a:p>
          <a:p>
            <a:pPr algn="l">
              <a:spcAft>
                <a:spcPts val="300"/>
              </a:spcAft>
            </a:pPr>
            <a:r>
              <a:rPr sz="1200" b="0">
                <a:solidFill>
                  <a:srgbClr val="5B6372"/>
                </a:solidFill>
                <a:latin typeface="Arial"/>
              </a:rPr>
              <a:t>RSPAN carries the mirror across a dedicated VLAN to a sniffer on another switch.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TAP alternative</a:t>
            </a:r>
          </a:p>
          <a:p>
            <a:pPr algn="l">
              <a:spcAft>
                <a:spcPts val="300"/>
              </a:spcAft>
            </a:pPr>
            <a:r>
              <a:rPr sz="1200" b="0">
                <a:solidFill>
                  <a:srgbClr val="5B6372"/>
                </a:solidFill>
                <a:latin typeface="Arial"/>
              </a:rPr>
              <a:t>A hardware test access point copies traffic passively — no switch CPU load, no drops under load.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2.0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Link Aggregation (LACP Bond)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Bundle interfaces into an LACP (802.3ad) bond and inspect its state.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Install ifenslave, load the bonding driver in 802.3ad mode, create bond0, enslave a NIC and read the LACP aggregator, partner MAC and per-slave link state from /proc/net/bonding/bond0.</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bond0 interface running LACP with aggregator and slave state visible in /proc/net/bonding/bond0.</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ifenslave, bonding module, iproute2</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cat /proc/net/bonding/bond0 shows 'Bonding Mode: IEEE 802.3ad Dynamic link aggregation' plus the slave's MII status and aggregator ID.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ifenslave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Create the bond interface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Enslave the NIC</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Bring up the slave and the bond</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Clean up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Bundle interfaces into an LACP (802.3ad) bond and inspect its state.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Link Aggregation (LACP Bond)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cat /proc/net/bonding/bond0 shows 'Bonding Mode: IEEE 802.3ad Dynamic link aggregation' plus the slave's MII status and aggregator ID.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Playground disconnects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Enslaving the only NIC drops Killercoda — rebuild the playground or use a multi-NIC VM</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bond0 shows no partner MAC</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peer must speak LACP too; without an 802.3ad partner the aggregator stays down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Cannot enslave eth0</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Set the interface down first (ip link set eth0 down), then set master bond0</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ransition spd="fast" advClick="1">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1.2 · NETWORK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Quality of Service and Traffic Shaping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QoS</a:t>
            </a:r>
          </a:p>
          <a:p>
            <a:pPr algn="l">
              <a:spcAft>
                <a:spcPts val="300"/>
              </a:spcAft>
            </a:pPr>
            <a:r>
              <a:rPr sz="1200" b="0">
                <a:solidFill>
                  <a:srgbClr val="5B6372"/>
                </a:solidFill>
                <a:latin typeface="Arial"/>
              </a:rPr>
              <a:t>When a link congests something must be dropped — QoS decides what suffers so voice and video do not.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Classify &amp; mark</a:t>
            </a:r>
          </a:p>
          <a:p>
            <a:pPr algn="l">
              <a:spcAft>
                <a:spcPts val="300"/>
              </a:spcAft>
            </a:pPr>
            <a:r>
              <a:rPr sz="1200" b="0">
                <a:solidFill>
                  <a:srgbClr val="5B6372"/>
                </a:solidFill>
                <a:latin typeface="Arial"/>
              </a:rPr>
              <a:t>Traffic is identified and marked (802.1p CoS at L2, DSCP at L3) so every hop honours the same policy.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Queuing</a:t>
            </a:r>
          </a:p>
          <a:p>
            <a:pPr algn="l">
              <a:spcAft>
                <a:spcPts val="300"/>
              </a:spcAft>
            </a:pPr>
            <a:r>
              <a:rPr sz="1200" b="0">
                <a:solidFill>
                  <a:srgbClr val="5B6372"/>
                </a:solidFill>
                <a:latin typeface="Arial"/>
              </a:rPr>
              <a:t>Priority queues drain first — a VoIP packet jumps the line ahead of a backup transfer.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Traffic shaping</a:t>
            </a:r>
          </a:p>
          <a:p>
            <a:pPr algn="l">
              <a:spcAft>
                <a:spcPts val="300"/>
              </a:spcAft>
            </a:pPr>
            <a:r>
              <a:rPr sz="1200" b="0">
                <a:solidFill>
                  <a:srgbClr val="5B6372"/>
                </a:solidFill>
                <a:latin typeface="Arial"/>
              </a:rPr>
              <a:t>Buffers and smooths traffic to a target rate; policing simply drops the excess.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SOHO QoS</a:t>
            </a:r>
          </a:p>
          <a:p>
            <a:pPr algn="l">
              <a:spcAft>
                <a:spcPts val="300"/>
              </a:spcAft>
            </a:pPr>
            <a:r>
              <a:rPr sz="1200" b="0">
                <a:solidFill>
                  <a:srgbClr val="5B6372"/>
                </a:solidFill>
                <a:latin typeface="Arial"/>
              </a:rPr>
              <a:t>Home routers offer simple per-protocol or per-device priorities — the same idea, one checkbox.</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1.2 · NETWORK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IDS vs IPS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IDS — detect and alert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IPS — detect and act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Out-of-band: watches a COPY (port mirror or TAP)</a:t>
            </a:r>
          </a:p>
          <a:p>
            <a:pPr>
              <a:spcAft>
                <a:spcPts val="1000"/>
              </a:spcAft>
            </a:pPr>
            <a:r>
              <a:rPr sz="1600" b="0">
                <a:solidFill>
                  <a:srgbClr val="161B26"/>
                </a:solidFill>
                <a:latin typeface="Arial"/>
              </a:rPr>
              <a:t>•  Detects and alerts; humans respond</a:t>
            </a:r>
          </a:p>
          <a:p>
            <a:pPr>
              <a:spcAft>
                <a:spcPts val="1000"/>
              </a:spcAft>
            </a:pPr>
            <a:r>
              <a:rPr sz="1600" b="0">
                <a:solidFill>
                  <a:srgbClr val="161B26"/>
                </a:solidFill>
                <a:latin typeface="Arial"/>
              </a:rPr>
              <a:t>•  Cannot block, so it cannot break traffic</a:t>
            </a:r>
          </a:p>
          <a:p>
            <a:pPr>
              <a:spcAft>
                <a:spcPts val="1000"/>
              </a:spcAft>
            </a:pPr>
            <a:r>
              <a:rPr sz="1600" b="0">
                <a:solidFill>
                  <a:srgbClr val="161B26"/>
                </a:solidFill>
                <a:latin typeface="Arial"/>
              </a:rPr>
              <a:t>•  False positives cost analyst time only</a:t>
            </a:r>
          </a:p>
          <a:p>
            <a:pPr>
              <a:spcAft>
                <a:spcPts val="1000"/>
              </a:spcAft>
            </a:pPr>
            <a:r>
              <a:rPr sz="1600" b="0">
                <a:solidFill>
                  <a:srgbClr val="161B26"/>
                </a:solidFill>
                <a:latin typeface="Arial"/>
              </a:rPr>
              <a:t>•  Example: Suricata in IDS mode (Lab 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In-band (inline): real traffic flows through it</a:t>
            </a:r>
          </a:p>
          <a:p>
            <a:pPr>
              <a:spcAft>
                <a:spcPts val="1000"/>
              </a:spcAft>
            </a:pPr>
            <a:r>
              <a:rPr sz="1600" b="0">
                <a:solidFill>
                  <a:srgbClr val="161B26"/>
                </a:solidFill>
                <a:latin typeface="Arial"/>
              </a:rPr>
              <a:t>•  Drops or resets malicious flows automatically</a:t>
            </a:r>
          </a:p>
          <a:p>
            <a:pPr>
              <a:spcAft>
                <a:spcPts val="1000"/>
              </a:spcAft>
            </a:pPr>
            <a:r>
              <a:rPr sz="1600" b="0">
                <a:solidFill>
                  <a:srgbClr val="161B26"/>
                </a:solidFill>
                <a:latin typeface="Arial"/>
              </a:rPr>
              <a:t>•  A false positive can block good traffic</a:t>
            </a:r>
          </a:p>
          <a:p>
            <a:pPr>
              <a:spcAft>
                <a:spcPts val="1000"/>
              </a:spcAft>
            </a:pPr>
            <a:r>
              <a:rPr sz="1600" b="0">
                <a:solidFill>
                  <a:srgbClr val="161B26"/>
                </a:solidFill>
                <a:latin typeface="Arial"/>
              </a:rPr>
              <a:t>•  Needs throughput matching the link</a:t>
            </a:r>
          </a:p>
          <a:p>
            <a:pPr>
              <a:spcAft>
                <a:spcPts val="1000"/>
              </a:spcAft>
            </a:pPr>
            <a:r>
              <a:rPr sz="1600" b="0">
                <a:solidFill>
                  <a:srgbClr val="161B26"/>
                </a:solidFill>
                <a:latin typeface="Arial"/>
              </a:rPr>
              <a:t>•  A firewall filters, an IDS notifies, an IPS acts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1.2 · NETWORK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Proxy Servers — Three Flavours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Forward proxy</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Sits in front of clients</a:t>
            </a:r>
          </a:p>
          <a:p>
            <a:pPr>
              <a:spcAft>
                <a:spcPts val="900"/>
              </a:spcAft>
            </a:pPr>
            <a:r>
              <a:rPr sz="1400" b="0">
                <a:solidFill>
                  <a:srgbClr val="161B26"/>
                </a:solidFill>
                <a:latin typeface="Arial"/>
              </a:rPr>
              <a:t>•  Caching and content filtering</a:t>
            </a:r>
          </a:p>
          <a:p>
            <a:pPr>
              <a:spcAft>
                <a:spcPts val="900"/>
              </a:spcAft>
            </a:pPr>
            <a:r>
              <a:rPr sz="1400" b="0">
                <a:solidFill>
                  <a:srgbClr val="161B26"/>
                </a:solidFill>
                <a:latin typeface="Arial"/>
              </a:rPr>
              <a:t>•  Hides clients from servers</a:t>
            </a:r>
          </a:p>
          <a:p>
            <a:pPr>
              <a:spcAft>
                <a:spcPts val="900"/>
              </a:spcAft>
            </a:pPr>
            <a:r>
              <a:rPr sz="1400" b="0">
                <a:solidFill>
                  <a:srgbClr val="161B26"/>
                </a:solidFill>
                <a:latin typeface="Arial"/>
              </a:rPr>
              <a:t>•  Common in schools and offices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Transparent proxy</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No client configuration</a:t>
            </a:r>
          </a:p>
          <a:p>
            <a:pPr>
              <a:spcAft>
                <a:spcPts val="900"/>
              </a:spcAft>
            </a:pPr>
            <a:r>
              <a:rPr sz="1400" b="0">
                <a:solidFill>
                  <a:srgbClr val="161B26"/>
                </a:solidFill>
                <a:latin typeface="Arial"/>
              </a:rPr>
              <a:t>•  Must sit inline in the path</a:t>
            </a:r>
          </a:p>
          <a:p>
            <a:pPr>
              <a:spcAft>
                <a:spcPts val="900"/>
              </a:spcAft>
            </a:pPr>
            <a:r>
              <a:rPr sz="1400" b="0">
                <a:solidFill>
                  <a:srgbClr val="161B26"/>
                </a:solidFill>
                <a:latin typeface="Arial"/>
              </a:rPr>
              <a:t>•  Intercepts traffic silently</a:t>
            </a:r>
          </a:p>
          <a:p>
            <a:pPr>
              <a:spcAft>
                <a:spcPts val="900"/>
              </a:spcAft>
            </a:pPr>
            <a:r>
              <a:rPr sz="1400" b="0">
                <a:solidFill>
                  <a:srgbClr val="161B26"/>
                </a:solidFill>
                <a:latin typeface="Arial"/>
              </a:rPr>
              <a:t>•  Often at the network edge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Reverse proxy</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Sits in front of servers</a:t>
            </a:r>
          </a:p>
          <a:p>
            <a:pPr>
              <a:spcAft>
                <a:spcPts val="900"/>
              </a:spcAft>
            </a:pPr>
            <a:r>
              <a:rPr sz="1400" b="0">
                <a:solidFill>
                  <a:srgbClr val="161B26"/>
                </a:solidFill>
                <a:latin typeface="Arial"/>
              </a:rPr>
              <a:t>•  Load balancing plus caching</a:t>
            </a:r>
          </a:p>
          <a:p>
            <a:pPr>
              <a:spcAft>
                <a:spcPts val="900"/>
              </a:spcAft>
            </a:pPr>
            <a:r>
              <a:rPr sz="1400" b="0">
                <a:solidFill>
                  <a:srgbClr val="161B26"/>
                </a:solidFill>
                <a:latin typeface="Arial"/>
              </a:rPr>
              <a:t>•  TLS offload / crypto acceleration</a:t>
            </a:r>
          </a:p>
          <a:p>
            <a:pPr>
              <a:spcAft>
                <a:spcPts val="900"/>
              </a:spcAft>
            </a:pPr>
            <a:r>
              <a:rPr sz="1400" b="0">
                <a:solidFill>
                  <a:srgbClr val="161B26"/>
                </a:solidFill>
                <a:latin typeface="Arial"/>
              </a:rPr>
              <a:t>•  Absorbs DoS attacks</a:t>
            </a:r>
          </a:p>
          <a:p>
            <a:pPr>
              <a:spcAft>
                <a:spcPts val="900"/>
              </a:spcAft>
            </a:pPr>
            <a:r>
              <a:rPr sz="1400" b="0">
                <a:solidFill>
                  <a:srgbClr val="161B26"/>
                </a:solidFill>
                <a:latin typeface="Arial"/>
              </a:rPr>
              <a:t>•  Hides the server fleet</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ransition spd="fast" advClick="1">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1.2 · NETWORK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Balancing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it does</a:t>
            </a:r>
          </a:p>
          <a:p>
            <a:pPr algn="l">
              <a:spcAft>
                <a:spcPts val="300"/>
              </a:spcAft>
            </a:pPr>
            <a:r>
              <a:rPr sz="1200" b="0">
                <a:solidFill>
                  <a:srgbClr val="5B6372"/>
                </a:solidFill>
                <a:latin typeface="Arial"/>
              </a:rPr>
              <a:t>Spreads client requests across a pool of servers — capacity AND availability behind one VIP.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Round robin</a:t>
            </a:r>
          </a:p>
          <a:p>
            <a:pPr algn="l">
              <a:spcAft>
                <a:spcPts val="300"/>
              </a:spcAft>
            </a:pPr>
            <a:r>
              <a:rPr sz="1200" b="0">
                <a:solidFill>
                  <a:srgbClr val="5B6372"/>
                </a:solidFill>
                <a:latin typeface="Arial"/>
              </a:rPr>
              <a:t>Each request goes to the next server in the list; DNS round robin is the zero-hardware version.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Least connections</a:t>
            </a:r>
          </a:p>
          <a:p>
            <a:pPr algn="l">
              <a:spcAft>
                <a:spcPts val="300"/>
              </a:spcAft>
            </a:pPr>
            <a:r>
              <a:rPr sz="1200" b="0">
                <a:solidFill>
                  <a:srgbClr val="5B6372"/>
                </a:solidFill>
                <a:latin typeface="Arial"/>
              </a:rPr>
              <a:t>Smarter schedulers send work to the server that is actually least busy right now.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Health checks</a:t>
            </a:r>
          </a:p>
          <a:p>
            <a:pPr algn="l">
              <a:spcAft>
                <a:spcPts val="300"/>
              </a:spcAft>
            </a:pPr>
            <a:r>
              <a:rPr sz="1200" b="0">
                <a:solidFill>
                  <a:srgbClr val="5B6372"/>
                </a:solidFill>
                <a:latin typeface="Arial"/>
              </a:rPr>
              <a:t>Dead servers are pulled from rotation automatically — users never see the failure.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Persistence</a:t>
            </a:r>
          </a:p>
          <a:p>
            <a:pPr algn="l">
              <a:spcAft>
                <a:spcPts val="300"/>
              </a:spcAft>
            </a:pPr>
            <a:r>
              <a:rPr sz="1200" b="0">
                <a:solidFill>
                  <a:srgbClr val="5B6372"/>
                </a:solidFill>
                <a:latin typeface="Arial"/>
              </a:rPr>
              <a:t>Sticky sessions pin a client to one backend when the application keeps state locally.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Where it lives</a:t>
            </a:r>
          </a:p>
          <a:p>
            <a:pPr algn="l">
              <a:spcAft>
                <a:spcPts val="300"/>
              </a:spcAft>
            </a:pPr>
            <a:r>
              <a:rPr sz="1200" b="0">
                <a:solidFill>
                  <a:srgbClr val="5B6372"/>
                </a:solidFill>
                <a:latin typeface="Arial"/>
              </a:rPr>
              <a:t>Dedicated appliances, reverse proxies (nginx, HAProxy) or cloud load-balancer services.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ransition spd="fast" advClick="1">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1.2 · NETWORK APPLIANCES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Device Placement — Edge to Core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Screened subnet (DMZ)</a:t>
            </a:r>
          </a:p>
          <a:p>
            <a:pPr algn="l">
              <a:spcAft>
                <a:spcPts val="300"/>
              </a:spcAft>
            </a:pPr>
            <a:r>
              <a:rPr sz="1200" b="0">
                <a:solidFill>
                  <a:srgbClr val="5B6372"/>
                </a:solidFill>
                <a:latin typeface="Arial"/>
              </a:rPr>
              <a:t>Public-facing servers live in an isolated zone between two firewall layers — a breach there stays there.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Edge firewall</a:t>
            </a:r>
          </a:p>
          <a:p>
            <a:pPr algn="l">
              <a:spcAft>
                <a:spcPts val="300"/>
              </a:spcAft>
            </a:pPr>
            <a:r>
              <a:rPr sz="1200" b="0">
                <a:solidFill>
                  <a:srgbClr val="5B6372"/>
                </a:solidFill>
                <a:latin typeface="Arial"/>
              </a:rPr>
              <a:t>Faces the Internet: allows unsolicited traffic only to published screened-subnet services.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Interior firewall</a:t>
            </a:r>
          </a:p>
          <a:p>
            <a:pPr algn="l">
              <a:spcAft>
                <a:spcPts val="300"/>
              </a:spcAft>
            </a:pPr>
            <a:r>
              <a:rPr sz="1200" b="0">
                <a:solidFill>
                  <a:srgbClr val="5B6372"/>
                </a:solidFill>
                <a:latin typeface="Arial"/>
              </a:rPr>
              <a:t>Second layer between the DMZ and LAN — nothing from the DMZ initiates into the private network.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Inline IPS</a:t>
            </a:r>
          </a:p>
          <a:p>
            <a:pPr algn="l">
              <a:spcAft>
                <a:spcPts val="300"/>
              </a:spcAft>
            </a:pPr>
            <a:r>
              <a:rPr sz="1200" b="0">
                <a:solidFill>
                  <a:srgbClr val="5B6372"/>
                </a:solidFill>
                <a:latin typeface="Arial"/>
              </a:rPr>
              <a:t>Sits in-band just inside the edge so it can act on attacks before they spread.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Internal segmentation</a:t>
            </a:r>
          </a:p>
          <a:p>
            <a:pPr algn="l">
              <a:spcAft>
                <a:spcPts val="300"/>
              </a:spcAft>
            </a:pPr>
            <a:r>
              <a:rPr sz="1200" b="0">
                <a:solidFill>
                  <a:srgbClr val="5B6372"/>
                </a:solidFill>
                <a:latin typeface="Arial"/>
              </a:rPr>
              <a:t>Extra firewalls and ACLs around HR, finance and OT — blast-radius control inside the domain.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SOHO 'DMZ host'</a:t>
            </a:r>
          </a:p>
          <a:p>
            <a:pPr algn="l">
              <a:spcAft>
                <a:spcPts val="300"/>
              </a:spcAft>
            </a:pPr>
            <a:r>
              <a:rPr sz="1200" b="0">
                <a:solidFill>
                  <a:srgbClr val="5B6372"/>
                </a:solidFill>
                <a:latin typeface="Arial"/>
              </a:rPr>
              <a:t>A home router's DMZ setting forwards ALL ports to one host — outside protection, not a real DMZ.</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OBJ 2.3 · WIRELESS DEVICES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No cables. Same rules.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Wireless swaps copper for radio — but VLANs, DHCP, security and troubleshooting all still apply on the far side of the access point.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ransition spd="fast" advClick="1">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802.11 Building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Access point (WAP)</a:t>
            </a:r>
          </a:p>
          <a:p>
            <a:pPr algn="l">
              <a:spcAft>
                <a:spcPts val="300"/>
              </a:spcAft>
            </a:pPr>
            <a:r>
              <a:rPr sz="1200" b="0">
                <a:solidFill>
                  <a:srgbClr val="5B6372"/>
                </a:solidFill>
                <a:latin typeface="Arial"/>
              </a:rPr>
              <a:t>A Layer 2 bridge between 802.11 radio and 802.3 Ethernet — wireless clients join the wired LAN through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SSID</a:t>
            </a:r>
          </a:p>
          <a:p>
            <a:pPr algn="l">
              <a:spcAft>
                <a:spcPts val="300"/>
              </a:spcAft>
            </a:pPr>
            <a:r>
              <a:rPr sz="1200" b="0">
                <a:solidFill>
                  <a:srgbClr val="5B6372"/>
                </a:solidFill>
                <a:latin typeface="Arial"/>
              </a:rPr>
              <a:t>The network name a human selects — a word or phrase up to 32 bytes.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BSSID</a:t>
            </a:r>
          </a:p>
          <a:p>
            <a:pPr algn="l">
              <a:spcAft>
                <a:spcPts val="300"/>
              </a:spcAft>
            </a:pPr>
            <a:r>
              <a:rPr sz="1200" b="0">
                <a:solidFill>
                  <a:srgbClr val="5B6372"/>
                </a:solidFill>
                <a:latin typeface="Arial"/>
              </a:rPr>
              <a:t>The MAC address of one AP's radio — the identifier your NIC actually associates with.</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ESSID</a:t>
            </a:r>
          </a:p>
          <a:p>
            <a:pPr algn="l">
              <a:spcAft>
                <a:spcPts val="300"/>
              </a:spcAft>
            </a:pPr>
            <a:r>
              <a:rPr sz="1200" b="0">
                <a:solidFill>
                  <a:srgbClr val="5B6372"/>
                </a:solidFill>
                <a:latin typeface="Arial"/>
              </a:rPr>
              <a:t>Several APs sharing one SSID form an Extended Service Set — clients roam between BSSIDs seamlessly.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CSMA/CA</a:t>
            </a:r>
          </a:p>
          <a:p>
            <a:pPr algn="l">
              <a:spcAft>
                <a:spcPts val="300"/>
              </a:spcAft>
            </a:pPr>
            <a:r>
              <a:rPr sz="1200" b="0">
                <a:solidFill>
                  <a:srgbClr val="5B6372"/>
                </a:solidFill>
                <a:latin typeface="Arial"/>
              </a:rPr>
              <a:t>Radios cannot detect collisions, so they AVOID them: listen first, back off randomly, then transmit.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Half duplex on air</a:t>
            </a:r>
          </a:p>
          <a:p>
            <a:pPr algn="l">
              <a:spcAft>
                <a:spcPts val="300"/>
              </a:spcAft>
            </a:pPr>
            <a:r>
              <a:rPr sz="1200" b="0">
                <a:solidFill>
                  <a:srgbClr val="5B6372"/>
                </a:solidFill>
                <a:latin typeface="Arial"/>
              </a:rPr>
              <a:t>Only one station talks per channel at a time — airtime is the shared resource to protect.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ransition spd="fast" advClick="1">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Network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Infrastructure</a:t>
            </a:r>
          </a:p>
          <a:p>
            <a:pPr algn="l">
              <a:spcAft>
                <a:spcPts val="300"/>
              </a:spcAft>
            </a:pPr>
            <a:r>
              <a:rPr sz="1200" b="0">
                <a:solidFill>
                  <a:srgbClr val="5B6372"/>
                </a:solidFill>
                <a:latin typeface="Arial"/>
              </a:rPr>
              <a:t>Clients talk through an AP wired into the LAN — the normal enterprise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Ad hoc (IBSS)</a:t>
            </a:r>
          </a:p>
          <a:p>
            <a:pPr algn="l">
              <a:spcAft>
                <a:spcPts val="300"/>
              </a:spcAft>
            </a:pPr>
            <a:r>
              <a:rPr sz="1200" b="0">
                <a:solidFill>
                  <a:srgbClr val="5B6372"/>
                </a:solidFill>
                <a:latin typeface="Arial"/>
              </a:rPr>
              <a:t>Client-to-client with no AP — a quick file share between two laptops, nothing more.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Mesh</a:t>
            </a:r>
          </a:p>
          <a:p>
            <a:pPr algn="l">
              <a:spcAft>
                <a:spcPts val="300"/>
              </a:spcAft>
            </a:pPr>
            <a:r>
              <a:rPr sz="1200" b="0">
                <a:solidFill>
                  <a:srgbClr val="5B6372"/>
                </a:solidFill>
                <a:latin typeface="Arial"/>
              </a:rPr>
              <a:t>APs relay traffic wirelessly to each other — coverage without pulling cable to every node.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Point-to-point</a:t>
            </a:r>
          </a:p>
          <a:p>
            <a:pPr algn="l">
              <a:spcAft>
                <a:spcPts val="300"/>
              </a:spcAft>
            </a:pPr>
            <a:r>
              <a:rPr sz="1200" b="0">
                <a:solidFill>
                  <a:srgbClr val="5B6372"/>
                </a:solidFill>
                <a:latin typeface="Arial"/>
              </a:rPr>
              <a:t>Two directional antennas bridge buildings — a wireless leased line.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Wireless bridge</a:t>
            </a:r>
          </a:p>
          <a:p>
            <a:pPr algn="l">
              <a:spcAft>
                <a:spcPts val="300"/>
              </a:spcAft>
            </a:pPr>
            <a:r>
              <a:rPr sz="1200" b="0">
                <a:solidFill>
                  <a:srgbClr val="5B6372"/>
                </a:solidFill>
                <a:latin typeface="Arial"/>
              </a:rPr>
              <a:t>Joins two wired segments over radio — often the role at each end of a point-to-point link.</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spd="fast" advClick="1">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802.11 Standards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Standard</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Wi-Fi name</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Band</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Max PHY rate</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802.11b</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2.4 GHz</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11 Mbps</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802.11a</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5 GHz</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54 Mbps</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802.11g</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2.4 GHz</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54 Mbps</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802.11n</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Wi-Fi 4</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2.4 / 5 GHz</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600 Mbps (MIMO)</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802.11ac</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Wi-Fi 5</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5 GHz</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6.9 Gbps (MU-MIMO)</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802.11ax</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Wi-Fi 6 / 6E</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2.4 / 5 / 6 GHz</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9.6 Gbps (OFDMA)</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 introduced MIMO; ac added MU-MIMO; ax adds OFDMA and, as 6E, the 6 GHz band.</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spd="fast" advClick="1">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Ceilings by Generation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Each generation multiplies the ceiling — nearly 900x from b to ax. Real throughput is roughly half the PHY rate; airtime and interference decide the rest.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ransition spd="fast" advClick="1">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Frequency Bands: 2.4 vs 5 vs 6 GHz</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Band</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Clean channels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Widths</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Notes</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2.4 GHz</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1, 6, 11 only</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20 MHz</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Long range; congested</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5 GHz</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36-165 (DFS mid)</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20/40/80/160</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More channels; radar DFS</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6 GHz (6E)</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PSC channels</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20-160+</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WPA3 mandatory; short range</a:t>
            </a:r>
          </a:p>
        </p:txBody>
      </p:sp>
      <p:sp>
        <p:nvSpPr>
          <p:cNvPr id="39" name="Rectangle 38"/>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4599432"/>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Lower frequency travels further and penetrates better; higher frequency carries more data over less distance.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ransition spd="fast" advClick="1">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Channels and Channel Width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Channel</a:t>
            </a:r>
          </a:p>
          <a:p>
            <a:pPr algn="l">
              <a:spcAft>
                <a:spcPts val="300"/>
              </a:spcAft>
            </a:pPr>
            <a:r>
              <a:rPr sz="1200" b="0">
                <a:solidFill>
                  <a:srgbClr val="5B6372"/>
                </a:solidFill>
                <a:latin typeface="Arial"/>
              </a:rPr>
              <a:t>The slice of the band an AP transmits on — neighbouring APs must use different, non-overlapping channels.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2.4 GHz reality</a:t>
            </a:r>
          </a:p>
          <a:p>
            <a:pPr algn="l">
              <a:spcAft>
                <a:spcPts val="300"/>
              </a:spcAft>
            </a:pPr>
            <a:r>
              <a:rPr sz="1200" b="0">
                <a:solidFill>
                  <a:srgbClr val="5B6372"/>
                </a:solidFill>
                <a:latin typeface="Arial"/>
              </a:rPr>
              <a:t>Channels overlap heavily; only 1, 6 and 11 are clean of each other — the classic honeycomb plan.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Channel width</a:t>
            </a:r>
          </a:p>
          <a:p>
            <a:pPr algn="l">
              <a:spcAft>
                <a:spcPts val="300"/>
              </a:spcAft>
            </a:pPr>
            <a:r>
              <a:rPr sz="1200" b="0">
                <a:solidFill>
                  <a:srgbClr val="5B6372"/>
                </a:solidFill>
                <a:latin typeface="Arial"/>
              </a:rPr>
              <a:t>20 MHz standard; 40/80/160 MHz bond channels for speed but eat spectrum and invite interference.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DFS</a:t>
            </a:r>
          </a:p>
          <a:p>
            <a:pPr algn="l">
              <a:spcAft>
                <a:spcPts val="300"/>
              </a:spcAft>
            </a:pPr>
            <a:r>
              <a:rPr sz="1200" b="0">
                <a:solidFill>
                  <a:srgbClr val="5B6372"/>
                </a:solidFill>
                <a:latin typeface="Arial"/>
              </a:rPr>
              <a:t>Dynamic Frequency Selection: mid-band 5 GHz shares with radar — the AP must vacate on detection.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GHz PSC</a:t>
            </a:r>
          </a:p>
          <a:p>
            <a:pPr algn="l">
              <a:spcAft>
                <a:spcPts val="300"/>
              </a:spcAft>
            </a:pPr>
            <a:r>
              <a:rPr sz="1200" b="0">
                <a:solidFill>
                  <a:srgbClr val="5B6372"/>
                </a:solidFill>
                <a:latin typeface="Arial"/>
              </a:rPr>
              <a:t>Preferred Scanning Channels help clients discover 6E networks in the huge new band.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Wider is not better</a:t>
            </a:r>
          </a:p>
          <a:p>
            <a:pPr algn="l">
              <a:spcAft>
                <a:spcPts val="300"/>
              </a:spcAft>
            </a:pPr>
            <a:r>
              <a:rPr sz="1200" b="0">
                <a:solidFill>
                  <a:srgbClr val="5B6372"/>
                </a:solidFill>
                <a:latin typeface="Arial"/>
              </a:rPr>
              <a:t>In dense offices many 20/40 MHz cells beat a few 160 MHz cells — airtime reuse wins.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Antenna Types and Patterns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Antenna</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Pattern</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Gain</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Typical use</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Omni / dipole</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360-degree doughnut</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Low</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Ceiling APs, open offices</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Patch</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Half-sphere from a wall</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Medium</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Exterior walls, corridors</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Yagi</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Narrow directional beam</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High</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Long halls, building links</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Parabolic</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Very narrow beam</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Very high</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Point-to-point bridges</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Gain (dBi) trades coverage width for reach — match the radiation pattern to the room, not the other way round.</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Power over Ethernet Standards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Standard</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Name</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Power (PSE)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Typically powers</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802.3af</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PoE</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15.4 W</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VoIP phones, basic WAPs</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802.3at</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PoE+</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30 W</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Wi-Fi 6 WAPs, PTZ cameras</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802.3bt</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PoE++</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60-90 W</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Displays, laptops, kiosks</a:t>
            </a:r>
          </a:p>
        </p:txBody>
      </p:sp>
      <p:sp>
        <p:nvSpPr>
          <p:cNvPr id="39" name="Rectangle 38"/>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4599432"/>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Power comes from a PoE switch or a midspan injector — no mains socket needed at the AP's ceiling mount.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ransition spd="fast" advClick="1">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Security: WEP to WPA3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Mode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Encryption</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Key exchange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Notes</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WEP</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RC4, static keys</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None</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Broken — never use</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WPA</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TKIP (RC4)</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PSK 4-way</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Stopgap; deprecated</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WPA2-PSK</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AES-CCMP</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4-way handshake</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PMKID/offline attacks</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WPA2-Enterprise</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AES-CCMP</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802.1X / RADIUS</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Per-user credentials</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WPA3-SAE</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AES-CCMP/GCMP</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SAE (Dragonfly)</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Forward secrecy</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WPA3-Ent 192-bit</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GCMP-256</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802.1X</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Government grade</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Deploy WPA3 where clients allow; WPA2/WPA3 transition mode bridges the gap. Wi-Fi 6E mandates WPA3.</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PSK or Enterprise Authentication?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 users need individual
credentials and revocation?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WPA3-ENTERPRISE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802.1X with RADIUS (EAP-TLS or PEAP): per-user authentication, per-session keys, revoke one account without touching the rest.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WPA3-SAE (PSK)</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One shared passphrase, zero infrastructure. SAE resists offline guessing — but anyone with the phrase gets in; rotate on staff exit.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Guest traffic belongs on its own SSID with client isolation and a captive portal.</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802.1X — Who Does What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Supplicant</a:t>
            </a:r>
          </a:p>
          <a:p>
            <a:pPr algn="l">
              <a:spcAft>
                <a:spcPts val="300"/>
              </a:spcAft>
            </a:pPr>
            <a:r>
              <a:rPr sz="1200" b="0">
                <a:solidFill>
                  <a:srgbClr val="5B6372"/>
                </a:solidFill>
                <a:latin typeface="Arial"/>
              </a:rPr>
              <a:t>The client software asking to join — built into every modern OS.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Authenticator</a:t>
            </a:r>
          </a:p>
          <a:p>
            <a:pPr algn="l">
              <a:spcAft>
                <a:spcPts val="300"/>
              </a:spcAft>
            </a:pPr>
            <a:r>
              <a:rPr sz="1200" b="0">
                <a:solidFill>
                  <a:srgbClr val="5B6372"/>
                </a:solidFill>
                <a:latin typeface="Arial"/>
              </a:rPr>
              <a:t>The AP (or switch) that relays credentials; it never sees the password itself.</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RADIUS server</a:t>
            </a:r>
          </a:p>
          <a:p>
            <a:pPr algn="l">
              <a:spcAft>
                <a:spcPts val="300"/>
              </a:spcAft>
            </a:pPr>
            <a:r>
              <a:rPr sz="1200" b="0">
                <a:solidFill>
                  <a:srgbClr val="5B6372"/>
                </a:solidFill>
                <a:latin typeface="Arial"/>
              </a:rPr>
              <a:t>Checks credentials against AD/LDAP and returns accept or reject plus keying material (UDP 1812).</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EAP methods</a:t>
            </a:r>
          </a:p>
          <a:p>
            <a:pPr algn="l">
              <a:spcAft>
                <a:spcPts val="300"/>
              </a:spcAft>
            </a:pPr>
            <a:r>
              <a:rPr sz="1200" b="0">
                <a:solidFill>
                  <a:srgbClr val="5B6372"/>
                </a:solidFill>
                <a:latin typeface="Arial"/>
              </a:rPr>
              <a:t>EAP-TLS (certificates, strongest) and PEAP/MS-CHAPv2 (username + password) are the common choices.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Per-session keys</a:t>
            </a:r>
          </a:p>
          <a:p>
            <a:pPr algn="l">
              <a:spcAft>
                <a:spcPts val="300"/>
              </a:spcAft>
            </a:pPr>
            <a:r>
              <a:rPr sz="1200" b="0">
                <a:solidFill>
                  <a:srgbClr val="5B6372"/>
                </a:solidFill>
                <a:latin typeface="Arial"/>
              </a:rPr>
              <a:t>Every user gets unique encryption keys — one compromised laptop never exposes others' traffic.</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Same on wires</a:t>
            </a:r>
          </a:p>
          <a:p>
            <a:pPr algn="l">
              <a:spcAft>
                <a:spcPts val="300"/>
              </a:spcAft>
            </a:pPr>
            <a:r>
              <a:rPr sz="1200" b="0">
                <a:solidFill>
                  <a:srgbClr val="5B6372"/>
                </a:solidFill>
                <a:latin typeface="Arial"/>
              </a:rPr>
              <a:t>802.1X also gates Ethernet ports — network access control for the whole access layer.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Guest Networks and Captive Portals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Separate SSID</a:t>
            </a:r>
          </a:p>
          <a:p>
            <a:pPr algn="l">
              <a:spcAft>
                <a:spcPts val="300"/>
              </a:spcAft>
            </a:pPr>
            <a:r>
              <a:rPr sz="1200" b="0">
                <a:solidFill>
                  <a:srgbClr val="5B6372"/>
                </a:solidFill>
                <a:latin typeface="Arial"/>
              </a:rPr>
              <a:t>Guests get their own SSID mapped to its own VLAN — never the corporate network.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Captive portal</a:t>
            </a:r>
          </a:p>
          <a:p>
            <a:pPr algn="l">
              <a:spcAft>
                <a:spcPts val="300"/>
              </a:spcAft>
            </a:pPr>
            <a:r>
              <a:rPr sz="1200" b="0">
                <a:solidFill>
                  <a:srgbClr val="5B6372"/>
                </a:solidFill>
                <a:latin typeface="Arial"/>
              </a:rPr>
              <a:t>A web page intercepts the first request: accept terms, enter a voucher or log in before Internet access.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Client isolation</a:t>
            </a:r>
          </a:p>
          <a:p>
            <a:pPr algn="l">
              <a:spcAft>
                <a:spcPts val="300"/>
              </a:spcAft>
            </a:pPr>
            <a:r>
              <a:rPr sz="1200" b="0">
                <a:solidFill>
                  <a:srgbClr val="5B6372"/>
                </a:solidFill>
                <a:latin typeface="Arial"/>
              </a:rPr>
              <a:t>Guests cannot see each other's devices — blocks lateral snooping inside the hotspot.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Internet-only ACL</a:t>
            </a:r>
          </a:p>
          <a:p>
            <a:pPr algn="l">
              <a:spcAft>
                <a:spcPts val="300"/>
              </a:spcAft>
            </a:pPr>
            <a:r>
              <a:rPr sz="1200" b="0">
                <a:solidFill>
                  <a:srgbClr val="5B6372"/>
                </a:solidFill>
                <a:latin typeface="Arial"/>
              </a:rPr>
              <a:t>The guest VLAN routes to the Internet and NOTHING internal — enforced at the firewall.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Bandwidth limits</a:t>
            </a:r>
          </a:p>
          <a:p>
            <a:pPr algn="l">
              <a:spcAft>
                <a:spcPts val="300"/>
              </a:spcAft>
            </a:pPr>
            <a:r>
              <a:rPr sz="1200" b="0">
                <a:solidFill>
                  <a:srgbClr val="5B6372"/>
                </a:solidFill>
                <a:latin typeface="Arial"/>
              </a:rPr>
              <a:t>Rate-limit the guest SSID so visitors cannot starve production airtime.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Hardening the WLAN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Change defaults</a:t>
            </a:r>
          </a:p>
          <a:p>
            <a:pPr algn="l">
              <a:spcAft>
                <a:spcPts val="300"/>
              </a:spcAft>
            </a:pPr>
            <a:r>
              <a:rPr sz="1200" b="0">
                <a:solidFill>
                  <a:srgbClr val="5B6372"/>
                </a:solidFill>
                <a:latin typeface="Arial"/>
              </a:rPr>
              <a:t>Default admin credentials and IPs are in every manual online — the first thing an attacker tries.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Disable WPS</a:t>
            </a:r>
          </a:p>
          <a:p>
            <a:pPr algn="l">
              <a:spcAft>
                <a:spcPts val="300"/>
              </a:spcAft>
            </a:pPr>
            <a:r>
              <a:rPr sz="1200" b="0">
                <a:solidFill>
                  <a:srgbClr val="5B6372"/>
                </a:solidFill>
                <a:latin typeface="Arial"/>
              </a:rPr>
              <a:t>The 8-digit PIN brute-forces in hours; turn WPS off everywhere.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Management access</a:t>
            </a:r>
          </a:p>
          <a:p>
            <a:pPr algn="l">
              <a:spcAft>
                <a:spcPts val="300"/>
              </a:spcAft>
            </a:pPr>
            <a:r>
              <a:rPr sz="1200" b="0">
                <a:solidFill>
                  <a:srgbClr val="5B6372"/>
                </a:solidFill>
                <a:latin typeface="Arial"/>
              </a:rPr>
              <a:t>Disable remote/WAN management; administer APs from a wired admin VLAN over HTTPS or SSH.</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SSID hiding &amp; MAC filters</a:t>
            </a:r>
          </a:p>
          <a:p>
            <a:pPr algn="l">
              <a:spcAft>
                <a:spcPts val="300"/>
              </a:spcAft>
            </a:pPr>
            <a:r>
              <a:rPr sz="1200" b="0">
                <a:solidFill>
                  <a:srgbClr val="5B6372"/>
                </a:solidFill>
                <a:latin typeface="Arial"/>
              </a:rPr>
              <a:t>Both are trivially sniffed — they stop only casual users; treat as tidiness, not security.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Firmware updates</a:t>
            </a:r>
          </a:p>
          <a:p>
            <a:pPr algn="l">
              <a:spcAft>
                <a:spcPts val="300"/>
              </a:spcAft>
            </a:pPr>
            <a:r>
              <a:rPr sz="1200" b="0">
                <a:solidFill>
                  <a:srgbClr val="5B6372"/>
                </a:solidFill>
                <a:latin typeface="Arial"/>
              </a:rPr>
              <a:t>AP vulnerabilities (KRACK and friends) are fixed in firmware — patch APs like servers.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Strong passphrase</a:t>
            </a:r>
          </a:p>
          <a:p>
            <a:pPr algn="l">
              <a:spcAft>
                <a:spcPts val="300"/>
              </a:spcAft>
            </a:pPr>
            <a:r>
              <a:rPr sz="1200" b="0">
                <a:solidFill>
                  <a:srgbClr val="5B6372"/>
                </a:solidFill>
                <a:latin typeface="Arial"/>
              </a:rPr>
              <a:t>For PSK networks a long random passphrase resists offline cracking; rotate on staff exit.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Threats to Your Wireless Network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Rogue AP</a:t>
            </a:r>
          </a:p>
          <a:p>
            <a:pPr algn="l">
              <a:spcAft>
                <a:spcPts val="300"/>
              </a:spcAft>
            </a:pPr>
            <a:r>
              <a:rPr sz="1200" b="0">
                <a:solidFill>
                  <a:srgbClr val="5B6372"/>
                </a:solidFill>
                <a:latin typeface="Arial"/>
              </a:rPr>
              <a:t>An unauthorised AP on your LAN — often an employee's convenience — punches a hole in the perimeter.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Evil twin</a:t>
            </a:r>
          </a:p>
          <a:p>
            <a:pPr algn="l">
              <a:spcAft>
                <a:spcPts val="300"/>
              </a:spcAft>
            </a:pPr>
            <a:r>
              <a:rPr sz="1200" b="0">
                <a:solidFill>
                  <a:srgbClr val="5B6372"/>
                </a:solidFill>
                <a:latin typeface="Arial"/>
              </a:rPr>
              <a:t>An attacker clones your SSID with a stronger signal; victims associate and hand over their traffic.</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Deauth attack</a:t>
            </a:r>
          </a:p>
          <a:p>
            <a:pPr algn="l">
              <a:spcAft>
                <a:spcPts val="300"/>
              </a:spcAft>
            </a:pPr>
            <a:r>
              <a:rPr sz="1200" b="0">
                <a:solidFill>
                  <a:srgbClr val="5B6372"/>
                </a:solidFill>
                <a:latin typeface="Arial"/>
              </a:rPr>
              <a:t>Spoofed deauthentication frames kick clients off — DoS, or bait for the evil twin. 802.11w (PMF) blocks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Jamming</a:t>
            </a:r>
          </a:p>
          <a:p>
            <a:pPr algn="l">
              <a:spcAft>
                <a:spcPts val="300"/>
              </a:spcAft>
            </a:pPr>
            <a:r>
              <a:rPr sz="1200" b="0">
                <a:solidFill>
                  <a:srgbClr val="5B6372"/>
                </a:solidFill>
                <a:latin typeface="Arial"/>
              </a:rPr>
              <a:t>Illegal RF noise floods the band — nothing associates until the source is found with a spectrum analyser.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Wardriving</a:t>
            </a:r>
          </a:p>
          <a:p>
            <a:pPr algn="l">
              <a:spcAft>
                <a:spcPts val="300"/>
              </a:spcAft>
            </a:pPr>
            <a:r>
              <a:rPr sz="1200" b="0">
                <a:solidFill>
                  <a:srgbClr val="5B6372"/>
                </a:solidFill>
                <a:latin typeface="Arial"/>
              </a:rPr>
              <a:t>Attackers map weak networks in bulk — WPA3 and monitoring make you a poor target.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WIPS</a:t>
            </a:r>
          </a:p>
          <a:p>
            <a:pPr algn="l">
              <a:spcAft>
                <a:spcPts val="300"/>
              </a:spcAft>
            </a:pPr>
            <a:r>
              <a:rPr sz="1200" b="0">
                <a:solidFill>
                  <a:srgbClr val="5B6372"/>
                </a:solidFill>
                <a:latin typeface="Arial"/>
              </a:rPr>
              <a:t>Wireless IPS sensors detect rogues, twins and deauth floods — and can contain them automatically.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ransition spd="fast" advClick="1">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Enterprise Wireless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Autonomous AP</a:t>
            </a:r>
          </a:p>
          <a:p>
            <a:pPr algn="l">
              <a:spcAft>
                <a:spcPts val="300"/>
              </a:spcAft>
            </a:pPr>
            <a:r>
              <a:rPr sz="1200" b="0">
                <a:solidFill>
                  <a:srgbClr val="5B6372"/>
                </a:solidFill>
                <a:latin typeface="Arial"/>
              </a:rPr>
              <a:t>Each AP configured on its own — fine for a handful, unmanageable at fifty.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Lightweight AP</a:t>
            </a:r>
          </a:p>
          <a:p>
            <a:pPr algn="l">
              <a:spcAft>
                <a:spcPts val="300"/>
              </a:spcAft>
            </a:pPr>
            <a:r>
              <a:rPr sz="1200" b="0">
                <a:solidFill>
                  <a:srgbClr val="5B6372"/>
                </a:solidFill>
                <a:latin typeface="Arial"/>
              </a:rPr>
              <a:t>A thin AP pulls config and firmware from a controller and tunnels traffic to it (CAPWAP).</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WLC</a:t>
            </a:r>
          </a:p>
          <a:p>
            <a:pPr algn="l">
              <a:spcAft>
                <a:spcPts val="300"/>
              </a:spcAft>
            </a:pPr>
            <a:r>
              <a:rPr sz="1200" b="0">
                <a:solidFill>
                  <a:srgbClr val="5B6372"/>
                </a:solidFill>
                <a:latin typeface="Arial"/>
              </a:rPr>
              <a:t>The Wireless LAN Controller pushes SSIDs, channels, power and security to every AP centrally.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Cloud-managed</a:t>
            </a:r>
          </a:p>
          <a:p>
            <a:pPr algn="l">
              <a:spcAft>
                <a:spcPts val="300"/>
              </a:spcAft>
            </a:pPr>
            <a:r>
              <a:rPr sz="1200" b="0">
                <a:solidFill>
                  <a:srgbClr val="5B6372"/>
                </a:solidFill>
                <a:latin typeface="Arial"/>
              </a:rPr>
              <a:t>Controller-in-the-cloud (Meraki-style) — the same model with a dashboard instead of an on-prem box.</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Roaming</a:t>
            </a:r>
          </a:p>
          <a:p>
            <a:pPr algn="l">
              <a:spcAft>
                <a:spcPts val="300"/>
              </a:spcAft>
            </a:pPr>
            <a:r>
              <a:rPr sz="1200" b="0">
                <a:solidFill>
                  <a:srgbClr val="5B6372"/>
                </a:solidFill>
                <a:latin typeface="Arial"/>
              </a:rPr>
              <a:t>Controllers coordinate fast handoff (802.11r) so a VoIP call survives a walk between APs.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RF management</a:t>
            </a:r>
          </a:p>
          <a:p>
            <a:pPr algn="l">
              <a:spcAft>
                <a:spcPts val="300"/>
              </a:spcAft>
            </a:pPr>
            <a:r>
              <a:rPr sz="1200" b="0">
                <a:solidFill>
                  <a:srgbClr val="5B6372"/>
                </a:solidFill>
                <a:latin typeface="Arial"/>
              </a:rPr>
              <a:t>The controller auto-tunes channels and power across APs to minimise co-channel interference.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2.3 · WIRELESS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Site Surveys and AP Placement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Site survey</a:t>
            </a:r>
          </a:p>
          <a:p>
            <a:pPr algn="l">
              <a:spcAft>
                <a:spcPts val="300"/>
              </a:spcAft>
            </a:pPr>
            <a:r>
              <a:rPr sz="1200" b="0">
                <a:solidFill>
                  <a:srgbClr val="5B6372"/>
                </a:solidFill>
                <a:latin typeface="Arial"/>
              </a:rPr>
              <a:t>Walk the space with a Wi-Fi analyser: map coverage, noise and neighbours BEFORE and after installing.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Interference</a:t>
            </a:r>
          </a:p>
          <a:p>
            <a:pPr algn="l">
              <a:spcAft>
                <a:spcPts val="300"/>
              </a:spcAft>
            </a:pPr>
            <a:r>
              <a:rPr sz="1200" b="0">
                <a:solidFill>
                  <a:srgbClr val="5B6372"/>
                </a:solidFill>
                <a:latin typeface="Arial"/>
              </a:rPr>
              <a:t>Microwaves, wireless peripherals, neighbouring APs — 2.4 GHz suffers most; prefer 5 or 6 GHz.</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Absorption &amp; reflection</a:t>
            </a:r>
          </a:p>
          <a:p>
            <a:pPr algn="l">
              <a:spcAft>
                <a:spcPts val="300"/>
              </a:spcAft>
            </a:pPr>
            <a:r>
              <a:rPr sz="1200" b="0">
                <a:solidFill>
                  <a:srgbClr val="5B6372"/>
                </a:solidFill>
                <a:latin typeface="Arial"/>
              </a:rPr>
              <a:t>Concrete, metal and water absorb or bounce signal; glass reflects — placement is physics.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SNR</a:t>
            </a:r>
          </a:p>
          <a:p>
            <a:pPr algn="l">
              <a:spcAft>
                <a:spcPts val="300"/>
              </a:spcAft>
            </a:pPr>
            <a:r>
              <a:rPr sz="1200" b="0">
                <a:solidFill>
                  <a:srgbClr val="5B6372"/>
                </a:solidFill>
                <a:latin typeface="Arial"/>
              </a:rPr>
              <a:t>Signal-to-noise ratio matters more than raw signal: aim for 25 dB or better, more for voice.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 placement</a:t>
            </a:r>
          </a:p>
          <a:p>
            <a:pPr algn="l">
              <a:spcAft>
                <a:spcPts val="300"/>
              </a:spcAft>
            </a:pPr>
            <a:r>
              <a:rPr sz="1200" b="0">
                <a:solidFill>
                  <a:srgbClr val="5B6372"/>
                </a:solidFill>
                <a:latin typeface="Arial"/>
              </a:rPr>
              <a:t>Central, ceiling-mounted, away from metal; match the antenna pattern to the room's shape.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and iterate</a:t>
            </a:r>
          </a:p>
          <a:p>
            <a:pPr algn="l">
              <a:spcAft>
                <a:spcPts val="300"/>
              </a:spcAft>
            </a:pPr>
            <a:r>
              <a:rPr sz="1200" b="0">
                <a:solidFill>
                  <a:srgbClr val="5B6372"/>
                </a:solidFill>
                <a:latin typeface="Arial"/>
              </a:rPr>
              <a:t>Antenna placement is part art — measure, adjust, re-measure. Lab 11 is your first survey.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2.0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Concepts and Channel Survey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Survey nearby wireless networks and map channels, bands and security modes.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Use iw on a wireless laptop (or WiFi Analyzer / Wireless Diagnostics) to scan nearby APs, recording each SSID's channel, signal and security mode, then map channels to bands and compare WEP through WPA3.</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site-survey table of nearby APs: SSID, band, channel, signal (dBm) and security mode.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iw, wavemon, WiFi Analyzer (Windows), Wireless Diagnostics (macOS)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scan output lists SSIDs with freq, signal and RSN/WPA details, and you can explain why 1, 6 and 11 are the only non-overlapping 2.4 GHz channels.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ransition spd="fast" advClick="1">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On a wireless laptop</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iw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Scan nearby APs for SSID</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iw · step 2</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Record each AP</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6</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Compare security modes from WEP to</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Quiz</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6</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Survey nearby wireless networks and map channels, bands and security modes.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Concepts and Channel Survey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scan output lists SSIDs with freq, signal and RSN/WPA details, and you can explain why 1, 6 and 11 are the only non-overlapping 2.4 GHz channels.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iw: command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apt install iw wavemon on Linux; on Windows/macOS use the free analyzer apps instead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Scan returns nothing</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as root, check the interface name with iw dev, and rfkill unblock wifi</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6 GHz networks visible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adapter must support Wi-Fi 6E; older NICs only report 2.4/5 GHz BSSs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transition spd="fast" advClick="1">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2.1 · NAT &amp; PAT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NAT Comes in Three Flavours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Static NAT (SNAT)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One private IP to one public IP</a:t>
            </a:r>
          </a:p>
          <a:p>
            <a:pPr>
              <a:spcAft>
                <a:spcPts val="900"/>
              </a:spcAft>
            </a:pPr>
            <a:r>
              <a:rPr sz="1400" b="0">
                <a:solidFill>
                  <a:srgbClr val="161B26"/>
                </a:solidFill>
                <a:latin typeface="Arial"/>
              </a:rPr>
              <a:t>•  The mapping never changes</a:t>
            </a:r>
          </a:p>
          <a:p>
            <a:pPr>
              <a:spcAft>
                <a:spcPts val="900"/>
              </a:spcAft>
            </a:pPr>
            <a:r>
              <a:rPr sz="1400" b="0">
                <a:solidFill>
                  <a:srgbClr val="161B26"/>
                </a:solidFill>
                <a:latin typeface="Arial"/>
              </a:rPr>
              <a:t>•  Publishes inside servers</a:t>
            </a:r>
          </a:p>
          <a:p>
            <a:pPr>
              <a:spcAft>
                <a:spcPts val="900"/>
              </a:spcAft>
            </a:pPr>
            <a:r>
              <a:rPr sz="1400" b="0">
                <a:solidFill>
                  <a:srgbClr val="161B26"/>
                </a:solidFill>
                <a:latin typeface="Arial"/>
              </a:rPr>
              <a:t>•  Wastes public addresses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Dynamic NAT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Pool of public addresses</a:t>
            </a:r>
          </a:p>
          <a:p>
            <a:pPr>
              <a:spcAft>
                <a:spcPts val="900"/>
              </a:spcAft>
            </a:pPr>
            <a:r>
              <a:rPr sz="1400" b="0">
                <a:solidFill>
                  <a:srgbClr val="161B26"/>
                </a:solidFill>
                <a:latin typeface="Arial"/>
              </a:rPr>
              <a:t>•  First come, first mapped</a:t>
            </a:r>
          </a:p>
          <a:p>
            <a:pPr>
              <a:spcAft>
                <a:spcPts val="900"/>
              </a:spcAft>
            </a:pPr>
            <a:r>
              <a:rPr sz="1400" b="0">
                <a:solidFill>
                  <a:srgbClr val="161B26"/>
                </a:solidFill>
                <a:latin typeface="Arial"/>
              </a:rPr>
              <a:t>•  Pool exhausts under load</a:t>
            </a:r>
          </a:p>
          <a:p>
            <a:pPr>
              <a:spcAft>
                <a:spcPts val="900"/>
              </a:spcAft>
            </a:pPr>
            <a:r>
              <a:rPr sz="1400" b="0">
                <a:solidFill>
                  <a:srgbClr val="161B26"/>
                </a:solidFill>
                <a:latin typeface="Arial"/>
              </a:rPr>
              <a:t>•  Still 1-to-1 while held</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PAT / NAT overload</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Many private to ONE public IP</a:t>
            </a:r>
          </a:p>
          <a:p>
            <a:pPr>
              <a:spcAft>
                <a:spcPts val="900"/>
              </a:spcAft>
            </a:pPr>
            <a:r>
              <a:rPr sz="1400" b="0">
                <a:solidFill>
                  <a:srgbClr val="161B26"/>
                </a:solidFill>
                <a:latin typeface="Arial"/>
              </a:rPr>
              <a:t>•  Tracks flows by source port</a:t>
            </a:r>
          </a:p>
          <a:p>
            <a:pPr>
              <a:spcAft>
                <a:spcPts val="900"/>
              </a:spcAft>
            </a:pPr>
            <a:r>
              <a:rPr sz="1400" b="0">
                <a:solidFill>
                  <a:srgbClr val="161B26"/>
                </a:solidFill>
                <a:latin typeface="Arial"/>
              </a:rPr>
              <a:t>•  What every SOHO router does</a:t>
            </a:r>
          </a:p>
          <a:p>
            <a:pPr>
              <a:spcAft>
                <a:spcPts val="900"/>
              </a:spcAft>
            </a:pPr>
            <a:r>
              <a:rPr sz="1400" b="0">
                <a:solidFill>
                  <a:srgbClr val="161B26"/>
                </a:solidFill>
                <a:latin typeface="Arial"/>
              </a:rPr>
              <a:t>•  Linux: iptables MASQUERADE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transition spd="fast" advClick="1">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2.1 · NAT &amp; PAT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PAT Translates a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Host sends packet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src 10.1.1.2:41712</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Router rewrites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src = public IP:port</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Track in table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conntrack entry</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Reply returns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dst = public:port</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Reverse lookup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back to 10.1.1.2</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Thousands of private hosts share one public IPv4 address — PAT is why IPv4 survives, and why unsolicited inbound needs port forwarding.</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2.1 · NAT &amp; PAT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Port Forwarding, Triggering and DMZ</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Port forwarding</a:t>
            </a:r>
          </a:p>
          <a:p>
            <a:pPr algn="l">
              <a:spcAft>
                <a:spcPts val="300"/>
              </a:spcAft>
            </a:pPr>
            <a:r>
              <a:rPr sz="1200" b="0">
                <a:solidFill>
                  <a:srgbClr val="5B6372"/>
                </a:solidFill>
                <a:latin typeface="Arial"/>
              </a:rPr>
              <a:t>The router maps inbound public:port to a chosen inside host:port — how a NATed server goes public.</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Port range forwarding</a:t>
            </a:r>
          </a:p>
          <a:p>
            <a:pPr algn="l">
              <a:spcAft>
                <a:spcPts val="300"/>
              </a:spcAft>
            </a:pPr>
            <a:r>
              <a:rPr sz="1200" b="0">
                <a:solidFill>
                  <a:srgbClr val="5B6372"/>
                </a:solidFill>
                <a:latin typeface="Arial"/>
              </a:rPr>
              <a:t>Forward a whole span of ports at once for applications that need many.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Port triggering</a:t>
            </a:r>
          </a:p>
          <a:p>
            <a:pPr algn="l">
              <a:spcAft>
                <a:spcPts val="300"/>
              </a:spcAft>
            </a:pPr>
            <a:r>
              <a:rPr sz="1200" b="0">
                <a:solidFill>
                  <a:srgbClr val="5B6372"/>
                </a:solidFill>
                <a:latin typeface="Arial"/>
              </a:rPr>
              <a:t>An outbound connection on the trigger port opens a temporary inbound port — classic for active FTP.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SOHO DMZ host</a:t>
            </a:r>
          </a:p>
          <a:p>
            <a:pPr algn="l">
              <a:spcAft>
                <a:spcPts val="300"/>
              </a:spcAft>
            </a:pPr>
            <a:r>
              <a:rPr sz="1200" b="0">
                <a:solidFill>
                  <a:srgbClr val="5B6372"/>
                </a:solidFill>
                <a:latin typeface="Arial"/>
              </a:rPr>
              <a:t>Forwards EVERYTHING to one host — that machine now lives outside the router's protection. Avoid.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NAT and servers</a:t>
            </a:r>
          </a:p>
          <a:p>
            <a:pPr algn="l">
              <a:spcAft>
                <a:spcPts val="300"/>
              </a:spcAft>
            </a:pPr>
            <a:r>
              <a:rPr sz="1200" b="0">
                <a:solidFill>
                  <a:srgbClr val="5B6372"/>
                </a:solidFill>
                <a:latin typeface="Arial"/>
              </a:rPr>
              <a:t>Without a forward rule PAT has no mapping for unsolicited inbound — connections die at the router.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transition spd="fast" advClick="1">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2.1 · NAT &amp; PAT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Worked: Reading a MASQUERADE Rule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one iptables line behind Lab 12, and the conntrack evidence it leaves.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iptables -t nat -A POSTROUTING \</a:t>
            </a:r>
          </a:p>
          <a:p>
            <a:pPr>
              <a:spcAft>
                <a:spcPts val="200"/>
              </a:spcAft>
            </a:pPr>
            <a:r>
              <a:rPr sz="1100">
                <a:solidFill>
                  <a:srgbClr val="9CDCFE"/>
                </a:solidFill>
                <a:latin typeface="Consolas"/>
              </a:rPr>
              <a:t>  -s 10.1.1.0/24 -o eth0 -j MASQUERADE</a:t>
            </a:r>
          </a:p>
          <a:p>
            <a:pPr>
              <a:spcAft>
                <a:spcPts val="200"/>
              </a:spcAft>
            </a:pPr>
            <a:r>
              <a:rPr sz="1100">
                <a:solidFill>
                  <a:srgbClr val="9CDCFE"/>
                </a:solidFill>
                <a:latin typeface="Consolas"/>
              </a:rPr>
              <a:t/>
            </a:r>
          </a:p>
          <a:p>
            <a:pPr>
              <a:spcAft>
                <a:spcPts val="200"/>
              </a:spcAft>
            </a:pPr>
            <a:r>
              <a:rPr sz="1100">
                <a:solidFill>
                  <a:srgbClr val="6A9955"/>
                </a:solidFill>
                <a:latin typeface="Consolas"/>
              </a:rPr>
              <a:t># live translation table</a:t>
            </a:r>
          </a:p>
          <a:p>
            <a:pPr>
              <a:spcAft>
                <a:spcPts val="200"/>
              </a:spcAft>
            </a:pPr>
            <a:r>
              <a:rPr sz="1100">
                <a:solidFill>
                  <a:srgbClr val="9CDCFE"/>
                </a:solidFill>
                <a:latin typeface="Consolas"/>
              </a:rPr>
              <a:t>conntrack -L | head -2</a:t>
            </a:r>
          </a:p>
          <a:p>
            <a:pPr>
              <a:spcAft>
                <a:spcPts val="200"/>
              </a:spcAft>
            </a:pPr>
            <a:r>
              <a:rPr sz="1100">
                <a:solidFill>
                  <a:srgbClr val="D4D4D4"/>
                </a:solidFill>
                <a:latin typeface="Consolas"/>
              </a:rPr>
              <a:t>tcp ... src=10.1.1.2 dst=8.8.8.8 sport=41712</a:t>
            </a:r>
          </a:p>
          <a:p>
            <a:pPr>
              <a:spcAft>
                <a:spcPts val="200"/>
              </a:spcAft>
            </a:pPr>
            <a:r>
              <a:rPr sz="1100">
                <a:solidFill>
                  <a:srgbClr val="D4D4D4"/>
                </a:solidFill>
                <a:latin typeface="Consolas"/>
              </a:rPr>
              <a:t>        src=8.8.8.8 dst=&lt;public-ip&gt; dport=41712</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POSTROUTING</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Source NAT happens after the routing decision, just before the packet leaves eth0</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MASQUERADE</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Dynamic SNAT that always uses the outgoing interface's current address — ideal for DHCP WANs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sport tracking</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PAT maps each inside flow to a unique public port so replies find their way back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transition spd="fast" advClick="1">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2.0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NAT and PAT with iptables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PAT with iptables MASQUERADE and verify live translations in conntrack.</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Rebuild a namespace client behind the host, enable forwarding, add a MASQUERADE rule on eth0, prove the source address is rewritten with curl ifconfig.me, and inspect the live translation table with conntrack -L.</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namespace reaching the Internet through the host's IP — many-to-one PAT exactly as a SOHO router does it.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iptables, conntrack, iproute2, curl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curl -s ifconfig.me from inside the namespace prints the host's public IP, not 10.1.1.2, and conntrack -L shows the translated flow with its ports.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transition spd="fast" advClick="1">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namespace a wired to the host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Enable IP forwarding on the host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sysctl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Add the MASQUERADE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iptables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Clean up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iptables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PAT with iptables MASQUERADE and verify live translations in conntrack.</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NAT and PAT with iptables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curl -s ifconfig.me from inside the namespace prints the host's public IP, not 10.1.1.2, and conntrack -L shows the translated flow with its ports.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Ping 8.8.8.8 fails from namespace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ip_forward=1 and that the default route inside a points at 10.1.1.1</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curl still shows 10.1.1.2</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MASQUERADE rule missing or wrong -o interface; list with iptables -t nat -L -v</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conntrack: command not found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apt install -y conntrack, then rerun conntrack -L</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transition spd="fast" advClick="1">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3.5 · REMOTE ACCESS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IP Tunneling and VPNs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Tunneling</a:t>
            </a:r>
          </a:p>
          <a:p>
            <a:pPr algn="l">
              <a:spcAft>
                <a:spcPts val="300"/>
              </a:spcAft>
            </a:pPr>
            <a:r>
              <a:rPr sz="1200" b="0">
                <a:solidFill>
                  <a:srgbClr val="5B6372"/>
                </a:solidFill>
                <a:latin typeface="Arial"/>
              </a:rPr>
              <a:t>Encapsulate one protocol inside another — usually to carry unencrypted traffic through an encrypted channel.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VPN</a:t>
            </a:r>
          </a:p>
          <a:p>
            <a:pPr algn="l">
              <a:spcAft>
                <a:spcPts val="300"/>
              </a:spcAft>
            </a:pPr>
            <a:r>
              <a:rPr sz="1200" b="0">
                <a:solidFill>
                  <a:srgbClr val="5B6372"/>
                </a:solidFill>
                <a:latin typeface="Arial"/>
              </a:rPr>
              <a:t>A tunnel that makes a remote machine or site behave as part of the local network.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Client-to-site</a:t>
            </a:r>
          </a:p>
          <a:p>
            <a:pPr algn="l">
              <a:spcAft>
                <a:spcPts val="300"/>
              </a:spcAft>
            </a:pPr>
            <a:r>
              <a:rPr sz="1200" b="0">
                <a:solidFill>
                  <a:srgbClr val="5B6372"/>
                </a:solidFill>
                <a:latin typeface="Arial"/>
              </a:rPr>
              <a:t>A laptop VPNs into HQ — remote-access VPN terminated on a concentrator or headend at the edge.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Site-to-site</a:t>
            </a:r>
          </a:p>
          <a:p>
            <a:pPr algn="l">
              <a:spcAft>
                <a:spcPts val="300"/>
              </a:spcAft>
            </a:pPr>
            <a:r>
              <a:rPr sz="1200" b="0">
                <a:solidFill>
                  <a:srgbClr val="5B6372"/>
                </a:solidFill>
                <a:latin typeface="Arial"/>
              </a:rPr>
              <a:t>Two offices' routers keep a permanent tunnel — one logical network across the Internet.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Protocols</a:t>
            </a:r>
          </a:p>
          <a:p>
            <a:pPr algn="l">
              <a:spcAft>
                <a:spcPts val="300"/>
              </a:spcAft>
            </a:pPr>
            <a:r>
              <a:rPr sz="1200" b="0">
                <a:solidFill>
                  <a:srgbClr val="5B6372"/>
                </a:solidFill>
                <a:latin typeface="Arial"/>
              </a:rPr>
              <a:t>IPsec/IKEv2 and WireGuard dominate today; OpenVPN where TLS-friendliness matters; GRE tunnels without encryption.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Split vs full tunnel</a:t>
            </a:r>
          </a:p>
          <a:p>
            <a:pPr algn="l">
              <a:spcAft>
                <a:spcPts val="300"/>
              </a:spcAft>
            </a:pPr>
            <a:r>
              <a:rPr sz="1200" b="0">
                <a:solidFill>
                  <a:srgbClr val="5B6372"/>
                </a:solidFill>
                <a:latin typeface="Arial"/>
              </a:rPr>
              <a:t>Full sends ALL traffic via HQ; split sends only corporate subnets — bandwidth vs inspection trade-off.</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transition spd="fast" advClick="1">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WAN CONNECTIVITY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WAN Technologies Compared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Technology</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Medium</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Speed class</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Notes</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DSL / VDSL</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Phone line (RJ-11)</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To ~100 Mbps</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Asymmetric; needs filters</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Cable (DOCSIS)</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Coax, F-type</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To ~1 Gbps</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Shared neighbourhood node</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Fiber / Metro</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Single-mode fiber</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1-100 Gbps</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DWDM multiplies capacity</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Satellite</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RG-6 to dish</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25-220 Mbps</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High latency (GEO)</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Cellular 5G</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Licensed radio</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0.1-10 Gbps</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Low/mid/high bands</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Match the technology to latency and symmetry needs, not just headline speed — satellite latency kills VoIP.</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transition spd="fast" advClick="1">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WAN CONNECTIVITY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MPLS, SD-WAN and Metro Ethernet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MPLS</a:t>
            </a:r>
          </a:p>
          <a:p>
            <a:pPr algn="l">
              <a:spcAft>
                <a:spcPts val="300"/>
              </a:spcAft>
            </a:pPr>
            <a:r>
              <a:rPr sz="1200" b="0">
                <a:solidFill>
                  <a:srgbClr val="5B6372"/>
                </a:solidFill>
                <a:latin typeface="Arial"/>
              </a:rPr>
              <a:t>Provider routers switch on short labels instead of IP lookups — predictable performance, traffic engineering.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Label edge</a:t>
            </a:r>
          </a:p>
          <a:p>
            <a:pPr algn="l">
              <a:spcAft>
                <a:spcPts val="300"/>
              </a:spcAft>
            </a:pPr>
            <a:r>
              <a:rPr sz="1200" b="0">
                <a:solidFill>
                  <a:srgbClr val="5B6372"/>
                </a:solidFill>
                <a:latin typeface="Arial"/>
              </a:rPr>
              <a:t>The provider edge pushes and pops labels; your traffic rides a private label-switched path, not the raw Internet.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SD-WAN</a:t>
            </a:r>
          </a:p>
          <a:p>
            <a:pPr algn="l">
              <a:spcAft>
                <a:spcPts val="300"/>
              </a:spcAft>
            </a:pPr>
            <a:r>
              <a:rPr sz="1200" b="0">
                <a:solidFill>
                  <a:srgbClr val="5B6372"/>
                </a:solidFill>
                <a:latin typeface="Arial"/>
              </a:rPr>
              <a:t>Software steers many transports (MPLS + broadband + LTE) as one WAN — app-aware paths, central policy.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SD-WAN won</a:t>
            </a:r>
          </a:p>
          <a:p>
            <a:pPr algn="l">
              <a:spcAft>
                <a:spcPts val="300"/>
              </a:spcAft>
            </a:pPr>
            <a:r>
              <a:rPr sz="1200" b="0">
                <a:solidFill>
                  <a:srgbClr val="5B6372"/>
                </a:solidFill>
                <a:latin typeface="Arial"/>
              </a:rPr>
              <a:t>Commodity Internet links at a fraction of MPLS cost, with encryption and failover built in.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Metro Ethernet</a:t>
            </a:r>
          </a:p>
          <a:p>
            <a:pPr algn="l">
              <a:spcAft>
                <a:spcPts val="300"/>
              </a:spcAft>
            </a:pPr>
            <a:r>
              <a:rPr sz="1200" b="0">
                <a:solidFill>
                  <a:srgbClr val="5B6372"/>
                </a:solidFill>
                <a:latin typeface="Arial"/>
              </a:rPr>
              <a:t>Carrier Ethernet across a city — a simple Layer 2 handoff at each site.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mGRE / DMVPN</a:t>
            </a:r>
          </a:p>
          <a:p>
            <a:pPr algn="l">
              <a:spcAft>
                <a:spcPts val="300"/>
              </a:spcAft>
            </a:pPr>
            <a:r>
              <a:rPr sz="1200" b="0">
                <a:solidFill>
                  <a:srgbClr val="5B6372"/>
                </a:solidFill>
                <a:latin typeface="Arial"/>
              </a:rPr>
              <a:t>Dynamic multipoint tunnels build a site mesh from one hub configuration.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transition spd="fast" advClick="1">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3.5 · REMOTE ACCESS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Remote Access 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RDP</a:t>
            </a:r>
          </a:p>
          <a:p>
            <a:pPr algn="l">
              <a:spcAft>
                <a:spcPts val="300"/>
              </a:spcAft>
            </a:pPr>
            <a:r>
              <a:rPr sz="1200" b="0">
                <a:solidFill>
                  <a:srgbClr val="5B6372"/>
                </a:solidFill>
                <a:latin typeface="Arial"/>
              </a:rPr>
              <a:t>Microsoft Remote Desktop Protocol, TCP 3389 — a full graphical session; never expose it raw to the Internet.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VNC</a:t>
            </a:r>
          </a:p>
          <a:p>
            <a:pPr algn="l">
              <a:spcAft>
                <a:spcPts val="300"/>
              </a:spcAft>
            </a:pPr>
            <a:r>
              <a:rPr sz="1200" b="0">
                <a:solidFill>
                  <a:srgbClr val="5B6372"/>
                </a:solidFill>
                <a:latin typeface="Arial"/>
              </a:rPr>
              <a:t>Cross-platform desktop sharing on TCP 5900 — weakly protected alone, so tunnel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SSH</a:t>
            </a:r>
          </a:p>
          <a:p>
            <a:pPr algn="l">
              <a:spcAft>
                <a:spcPts val="300"/>
              </a:spcAft>
            </a:pPr>
            <a:r>
              <a:rPr sz="1200" b="0">
                <a:solidFill>
                  <a:srgbClr val="5B6372"/>
                </a:solidFill>
                <a:latin typeface="Arial"/>
              </a:rPr>
              <a:t>Secure Shell, TCP 22 — encrypted CLI, file transfer (SFTP) and port tunnels; keys beat passwords (Lab 23).</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Jump box / bastion</a:t>
            </a:r>
          </a:p>
          <a:p>
            <a:pPr algn="l">
              <a:spcAft>
                <a:spcPts val="300"/>
              </a:spcAft>
            </a:pPr>
            <a:r>
              <a:rPr sz="1200" b="0">
                <a:solidFill>
                  <a:srgbClr val="5B6372"/>
                </a:solidFill>
                <a:latin typeface="Arial"/>
              </a:rPr>
              <a:t>One hardened, audited entry host placed in front of all management interfaces.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In-band vs out-of-band</a:t>
            </a:r>
          </a:p>
          <a:p>
            <a:pPr algn="l">
              <a:spcAft>
                <a:spcPts val="300"/>
              </a:spcAft>
            </a:pPr>
            <a:r>
              <a:rPr sz="1200" b="0">
                <a:solidFill>
                  <a:srgbClr val="5B6372"/>
                </a:solidFill>
                <a:latin typeface="Arial"/>
              </a:rPr>
              <a:t>Manage over the production network, or over a dedicated path or console that survives outages.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transition spd="fast" advClick="1">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1.6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DORA — How a Lease Happens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Discover</a:t>
            </a:r>
          </a:p>
        </p:txBody>
      </p:sp>
      <p:sp>
        <p:nvSpPr>
          <p:cNvPr id="12" name="TextBox 11"/>
          <p:cNvSpPr txBox="1"/>
          <p:nvPr/>
        </p:nvSpPr>
        <p:spPr>
          <a:xfrm>
            <a:off x="86868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client broadcast</a:t>
            </a:r>
          </a:p>
        </p:txBody>
      </p:sp>
      <p:cxnSp>
        <p:nvCxnSpPr>
          <p:cNvPr id="13" name="Connector 12"/>
          <p:cNvCxnSpPr/>
          <p:nvPr/>
        </p:nvCxnSpPr>
        <p:spPr>
          <a:xfrm>
            <a:off x="320268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Offer</a:t>
            </a:r>
          </a:p>
        </p:txBody>
      </p:sp>
      <p:sp>
        <p:nvSpPr>
          <p:cNvPr id="19" name="TextBox 18"/>
          <p:cNvSpPr txBox="1"/>
          <p:nvPr/>
        </p:nvSpPr>
        <p:spPr>
          <a:xfrm>
            <a:off x="362331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server proposes IP</a:t>
            </a:r>
          </a:p>
        </p:txBody>
      </p:sp>
      <p:cxnSp>
        <p:nvCxnSpPr>
          <p:cNvPr id="20" name="Connector 19"/>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Request</a:t>
            </a:r>
          </a:p>
        </p:txBody>
      </p:sp>
      <p:sp>
        <p:nvSpPr>
          <p:cNvPr id="26" name="TextBox 25"/>
          <p:cNvSpPr txBox="1"/>
          <p:nvPr/>
        </p:nvSpPr>
        <p:spPr>
          <a:xfrm>
            <a:off x="637794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client accepts one</a:t>
            </a:r>
          </a:p>
        </p:txBody>
      </p:sp>
      <p:cxnSp>
        <p:nvCxnSpPr>
          <p:cNvPr id="27" name="Connector 26"/>
          <p:cNvCxnSpPr/>
          <p:nvPr/>
        </p:nvCxnSpPr>
        <p:spPr>
          <a:xfrm>
            <a:off x="871194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Acknowledge</a:t>
            </a:r>
          </a:p>
        </p:txBody>
      </p:sp>
      <p:sp>
        <p:nvSpPr>
          <p:cNvPr id="33" name="TextBox 32"/>
          <p:cNvSpPr txBox="1"/>
          <p:nvPr/>
        </p:nvSpPr>
        <p:spPr>
          <a:xfrm>
            <a:off x="913257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lease confirmed</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first messages are broadcast because the client has no address yet — which is why remote subnets need a DHCP relay (IP helper).</a:t>
            </a:r>
          </a:p>
        </p:txBody>
      </p:sp>
      <p:sp>
        <p:nvSpPr>
          <p:cNvPr id="75" name="TextBox 7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76" name="TextBox 7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1.6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Designing a DHCP Scope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Scope / pool</a:t>
            </a:r>
          </a:p>
          <a:p>
            <a:pPr algn="l">
              <a:spcAft>
                <a:spcPts val="300"/>
              </a:spcAft>
            </a:pPr>
            <a:r>
              <a:rPr sz="1200" b="0">
                <a:solidFill>
                  <a:srgbClr val="5B6372"/>
                </a:solidFill>
                <a:latin typeface="Arial"/>
              </a:rPr>
              <a:t>The subnet plus the range of leasable addresses — keep infrastructure IPs outside the range.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Options</a:t>
            </a:r>
          </a:p>
          <a:p>
            <a:pPr algn="l">
              <a:spcAft>
                <a:spcPts val="300"/>
              </a:spcAft>
            </a:pPr>
            <a:r>
              <a:rPr sz="1200" b="0">
                <a:solidFill>
                  <a:srgbClr val="5B6372"/>
                </a:solidFill>
                <a:latin typeface="Arial"/>
              </a:rPr>
              <a:t>Alongside the lease the server hands out router (gateway), DNS servers and domain — one wrong option breaks every client.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Lease times</a:t>
            </a:r>
          </a:p>
          <a:p>
            <a:pPr algn="l">
              <a:spcAft>
                <a:spcPts val="300"/>
              </a:spcAft>
            </a:pPr>
            <a:r>
              <a:rPr sz="1200" b="0">
                <a:solidFill>
                  <a:srgbClr val="5B6372"/>
                </a:solidFill>
                <a:latin typeface="Arial"/>
              </a:rPr>
              <a:t>Short leases (minutes) suit guest churn; long leases (days) suit stable LANs — Lab 13 uses 600/7200 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Reservations</a:t>
            </a:r>
          </a:p>
          <a:p>
            <a:pPr algn="l">
              <a:spcAft>
                <a:spcPts val="300"/>
              </a:spcAft>
            </a:pPr>
            <a:r>
              <a:rPr sz="1200" b="0">
                <a:solidFill>
                  <a:srgbClr val="5B6372"/>
                </a:solidFill>
                <a:latin typeface="Arial"/>
              </a:rPr>
              <a:t>Pin a MAC to a fixed IP centrally — printers get stable addresses without static config.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Relay / IP helper</a:t>
            </a:r>
          </a:p>
          <a:p>
            <a:pPr algn="l">
              <a:spcAft>
                <a:spcPts val="300"/>
              </a:spcAft>
            </a:pPr>
            <a:r>
              <a:rPr sz="1200" b="0">
                <a:solidFill>
                  <a:srgbClr val="5B6372"/>
                </a:solidFill>
                <a:latin typeface="Arial"/>
              </a:rPr>
              <a:t>DHCP broadcasts do not cross routers; a relay on each subnet unicasts to the central server.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Rogue DHCP</a:t>
            </a:r>
          </a:p>
          <a:p>
            <a:pPr algn="l">
              <a:spcAft>
                <a:spcPts val="300"/>
              </a:spcAft>
            </a:pPr>
            <a:r>
              <a:rPr sz="1200" b="0">
                <a:solidFill>
                  <a:srgbClr val="5B6372"/>
                </a:solidFill>
                <a:latin typeface="Arial"/>
              </a:rPr>
              <a:t>A second server handing out bad gateways breaks a subnet — DHCP snooping is the defence.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transition spd="fast" advClick="1">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1.6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Worked: Reading dhcpd.conf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exact scope Lab 13 serves on dum0 — every line has a job.</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default-lease-time 600;</a:t>
            </a:r>
          </a:p>
          <a:p>
            <a:pPr>
              <a:spcAft>
                <a:spcPts val="200"/>
              </a:spcAft>
            </a:pPr>
            <a:r>
              <a:rPr sz="1100">
                <a:solidFill>
                  <a:srgbClr val="9CDCFE"/>
                </a:solidFill>
                <a:latin typeface="Consolas"/>
              </a:rPr>
              <a:t>max-lease-time 7200;</a:t>
            </a:r>
          </a:p>
          <a:p>
            <a:pPr>
              <a:spcAft>
                <a:spcPts val="200"/>
              </a:spcAft>
            </a:pPr>
            <a:r>
              <a:rPr sz="1100">
                <a:solidFill>
                  <a:srgbClr val="9CDCFE"/>
                </a:solidFill>
                <a:latin typeface="Consolas"/>
              </a:rPr>
              <a:t>authoritative;</a:t>
            </a:r>
          </a:p>
          <a:p>
            <a:pPr>
              <a:spcAft>
                <a:spcPts val="200"/>
              </a:spcAft>
            </a:pPr>
            <a:r>
              <a:rPr sz="1100">
                <a:solidFill>
                  <a:srgbClr val="9CDCFE"/>
                </a:solidFill>
                <a:latin typeface="Consolas"/>
              </a:rPr>
              <a:t/>
            </a:r>
          </a:p>
          <a:p>
            <a:pPr>
              <a:spcAft>
                <a:spcPts val="200"/>
              </a:spcAft>
            </a:pPr>
            <a:r>
              <a:rPr sz="1100">
                <a:solidFill>
                  <a:srgbClr val="9CDCFE"/>
                </a:solidFill>
                <a:latin typeface="Consolas"/>
              </a:rPr>
              <a:t>subnet 10.50.0.0 netmask 255.255.255.0 {</a:t>
            </a:r>
          </a:p>
          <a:p>
            <a:pPr>
              <a:spcAft>
                <a:spcPts val="200"/>
              </a:spcAft>
            </a:pPr>
            <a:r>
              <a:rPr sz="1100">
                <a:solidFill>
                  <a:srgbClr val="9CDCFE"/>
                </a:solidFill>
                <a:latin typeface="Consolas"/>
              </a:rPr>
              <a:t>  range 10.50.0.100 10.50.0.150;</a:t>
            </a:r>
          </a:p>
          <a:p>
            <a:pPr>
              <a:spcAft>
                <a:spcPts val="200"/>
              </a:spcAft>
            </a:pPr>
            <a:r>
              <a:rPr sz="1100">
                <a:solidFill>
                  <a:srgbClr val="9CDCFE"/>
                </a:solidFill>
                <a:latin typeface="Consolas"/>
              </a:rPr>
              <a:t>  option routers 10.50.0.1;</a:t>
            </a:r>
          </a:p>
          <a:p>
            <a:pPr>
              <a:spcAft>
                <a:spcPts val="200"/>
              </a:spcAft>
            </a:pPr>
            <a:r>
              <a:rPr sz="1100">
                <a:solidFill>
                  <a:srgbClr val="9CDCFE"/>
                </a:solidFill>
                <a:latin typeface="Consolas"/>
              </a:rPr>
              <a:t>  option domain-name-servers 1.1.1.1, 8.8.8.8;</a:t>
            </a:r>
          </a:p>
          <a:p>
            <a:pPr>
              <a:spcAft>
                <a:spcPts val="200"/>
              </a:spcAft>
            </a:pPr>
            <a:r>
              <a:rPr sz="1100">
                <a:solidFill>
                  <a:srgbClr val="9CDCFE"/>
                </a:solidFill>
                <a:latin typeface="Consolas"/>
              </a:rPr>
              <a:t>  option broadcast-address 10.50.0.255;</a:t>
            </a:r>
          </a:p>
          <a:p>
            <a:pPr>
              <a:spcAft>
                <a:spcPts val="200"/>
              </a:spcAft>
            </a:pPr>
            <a:r>
              <a:rPr sz="1100">
                <a:solidFill>
                  <a:srgbClr val="9CDCFE"/>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range</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pool the server may lease from — keep static servers outside it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option routers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Becomes each client's default gateway; a wrong value strands every client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authoritative</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server NAKs bogus lease requests instead of staying silent — one authority per subnet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transition spd="fast" advClick="1">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2.0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DHCP Server with isc-dhcp-server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isc-dhcp-server to lease addresses on a private subnet.</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Install isc-dhcp-server, create a dummy interface at 10.50.0.1/24, write a scope with range, router, DNS and lease-time options, bind the daemon to dum0 only, start it and inspect the leases file.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running authoritative DHCP server scoped to 10.50.0.100-150 on dum0, leaving eth0 untouched.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isc-dhcp-server, iproute2, systemd</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systemctl status isc-dhcp-server shows active (running) bound to dum0, and /var/lib/dhcp/dhcpd.leases exists, ready to record client leases.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transition spd="fast" advClick="1">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Install the ISC DHCP server</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Bring the dummy interface up</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Bind the daemon to dum0 only</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sed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Restart and check the service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systemctl · step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Clean up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systemctl · step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isc-dhcp-server to lease addresses on a private subnet.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DHCP Server with isc-dhcp-server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systemctl status isc-dhcp-server shows active (running) bound to dum0, and /var/lib/dhcp/dhcpd.leases exists, ready to record client leases.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Service fails to start</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Syntax-check with dhcpd -t; every option line in dhcpd.conf must end with a semicolon</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Daemon not listening on dum0</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INTERFACESv4="dum0" in /etc/default/isc-dhcp-server, then restart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Leases file is empty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Normal until a client DISCOVERs on 10.50.0.0/24; leases are appended as granted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transition spd="fast" advClick="1">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1.6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Running Authoritative DNS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Authoritative server</a:t>
            </a:r>
          </a:p>
          <a:p>
            <a:pPr algn="l">
              <a:spcAft>
                <a:spcPts val="300"/>
              </a:spcAft>
            </a:pPr>
            <a:r>
              <a:rPr sz="1200" b="0">
                <a:solidFill>
                  <a:srgbClr val="5B6372"/>
                </a:solidFill>
                <a:latin typeface="Arial"/>
              </a:rPr>
              <a:t>Holds the zone's actual records and answers with authority — what Lab 14 builds with BIND9.</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Recursive resolver</a:t>
            </a:r>
          </a:p>
          <a:p>
            <a:pPr algn="l">
              <a:spcAft>
                <a:spcPts val="300"/>
              </a:spcAft>
            </a:pPr>
            <a:r>
              <a:rPr sz="1200" b="0">
                <a:solidFill>
                  <a:srgbClr val="5B6372"/>
                </a:solidFill>
                <a:latin typeface="Arial"/>
              </a:rPr>
              <a:t>Chases referrals from root to TLD to authoritative on behalf of clients — the other half of DNS.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Zone</a:t>
            </a:r>
          </a:p>
          <a:p>
            <a:pPr algn="l">
              <a:spcAft>
                <a:spcPts val="300"/>
              </a:spcAft>
            </a:pPr>
            <a:r>
              <a:rPr sz="1200" b="0">
                <a:solidFill>
                  <a:srgbClr val="5B6372"/>
                </a:solidFill>
                <a:latin typeface="Arial"/>
              </a:rPr>
              <a:t>A delegated slice of the namespace (lab.local) stored as resource records in a zone file.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Primary / secondary</a:t>
            </a:r>
          </a:p>
          <a:p>
            <a:pPr algn="l">
              <a:spcAft>
                <a:spcPts val="300"/>
              </a:spcAft>
            </a:pPr>
            <a:r>
              <a:rPr sz="1200" b="0">
                <a:solidFill>
                  <a:srgbClr val="5B6372"/>
                </a:solidFill>
                <a:latin typeface="Arial"/>
              </a:rPr>
              <a:t>The primary holds the writable zone; secondaries pull copies (AXFR) whenever the serial rises.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named.conf</a:t>
            </a:r>
          </a:p>
          <a:p>
            <a:pPr algn="l">
              <a:spcAft>
                <a:spcPts val="300"/>
              </a:spcAft>
            </a:pPr>
            <a:r>
              <a:rPr sz="1200" b="0">
                <a:solidFill>
                  <a:srgbClr val="5B6372"/>
                </a:solidFill>
                <a:latin typeface="Arial"/>
              </a:rPr>
              <a:t>BIND's configuration: each zone block names the zone, its type (master/slave) and its file.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named-checkzone</a:t>
            </a:r>
          </a:p>
          <a:p>
            <a:pPr algn="l">
              <a:spcAft>
                <a:spcPts val="300"/>
              </a:spcAft>
            </a:pPr>
            <a:r>
              <a:rPr sz="1200" b="0">
                <a:solidFill>
                  <a:srgbClr val="5B6372"/>
                </a:solidFill>
                <a:latin typeface="Arial"/>
              </a:rPr>
              <a:t>Validate syntax BEFORE reloading — a broken zone otherwise takes your whole domain offline.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transition spd="fast" advClick="1">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1.6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Anatomy of the SOA Record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SOA field</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Lab 14 value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Meaning</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Serial</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2026051001</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Zone version — bump on every edit</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Refresh</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3600</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Secondary re-check interval (s)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Retry</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1800</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Re-poll after a failed refresh</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Expire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604800</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Secondary gives up after this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Minimum</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86400</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Negative-caching TTL</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Forget to bump the serial and your secondaries keep serving the OLD zone — a classic silent DNS failure.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transition spd="fast" advClick="1">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1.6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Worked: Reading a BIND Zone File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db.lab.local file from Lab 14, line by line.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$TTL 86400</a:t>
            </a:r>
          </a:p>
          <a:p>
            <a:pPr>
              <a:spcAft>
                <a:spcPts val="200"/>
              </a:spcAft>
            </a:pPr>
            <a:r>
              <a:rPr sz="1100">
                <a:solidFill>
                  <a:srgbClr val="9CDCFE"/>
                </a:solidFill>
                <a:latin typeface="Consolas"/>
              </a:rPr>
              <a:t>@   IN  SOA ns.lab.local. admin.lab.local. (</a:t>
            </a:r>
          </a:p>
          <a:p>
            <a:pPr>
              <a:spcAft>
                <a:spcPts val="200"/>
              </a:spcAft>
            </a:pPr>
            <a:r>
              <a:rPr sz="1100">
                <a:solidFill>
                  <a:srgbClr val="9CDCFE"/>
                </a:solidFill>
                <a:latin typeface="Consolas"/>
              </a:rPr>
              <a:t>        2026051001 ; serial</a:t>
            </a:r>
          </a:p>
          <a:p>
            <a:pPr>
              <a:spcAft>
                <a:spcPts val="200"/>
              </a:spcAft>
            </a:pPr>
            <a:r>
              <a:rPr sz="1100">
                <a:solidFill>
                  <a:srgbClr val="9CDCFE"/>
                </a:solidFill>
                <a:latin typeface="Consolas"/>
              </a:rPr>
              <a:t>        3600 1800 604800 86400 )</a:t>
            </a:r>
          </a:p>
          <a:p>
            <a:pPr>
              <a:spcAft>
                <a:spcPts val="200"/>
              </a:spcAft>
            </a:pPr>
            <a:r>
              <a:rPr sz="1100">
                <a:solidFill>
                  <a:srgbClr val="9CDCFE"/>
                </a:solidFill>
                <a:latin typeface="Consolas"/>
              </a:rPr>
              <a:t>@       IN  NS    ns.lab.local.</a:t>
            </a:r>
          </a:p>
          <a:p>
            <a:pPr>
              <a:spcAft>
                <a:spcPts val="200"/>
              </a:spcAft>
            </a:pPr>
            <a:r>
              <a:rPr sz="1100">
                <a:solidFill>
                  <a:srgbClr val="9CDCFE"/>
                </a:solidFill>
                <a:latin typeface="Consolas"/>
              </a:rPr>
              <a:t>ns      IN  A     127.0.0.1</a:t>
            </a:r>
          </a:p>
          <a:p>
            <a:pPr>
              <a:spcAft>
                <a:spcPts val="200"/>
              </a:spcAft>
            </a:pPr>
            <a:r>
              <a:rPr sz="1100">
                <a:solidFill>
                  <a:srgbClr val="9CDCFE"/>
                </a:solidFill>
                <a:latin typeface="Consolas"/>
              </a:rPr>
              <a:t>www     IN  A     10.0.0.10</a:t>
            </a:r>
          </a:p>
          <a:p>
            <a:pPr>
              <a:spcAft>
                <a:spcPts val="200"/>
              </a:spcAft>
            </a:pPr>
            <a:r>
              <a:rPr sz="1100">
                <a:solidFill>
                  <a:srgbClr val="9CDCFE"/>
                </a:solidFill>
                <a:latin typeface="Consolas"/>
              </a:rPr>
              <a:t>@       IN  MX 10 mail.lab.local.</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Trailing dot</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ns.lab.local. is absolute; omit the dot and BIND appends the zone name again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Serial</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Secondaries only transfer the zone when the serial increases — bump it on every edit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MX 10</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preference number — lower wins when several mail exchangers exist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transition spd="fast" advClick="1">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2.0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Authoritative DNS with BIND9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Host an authoritative DNS zone in BIND9 and query it with dig.</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Install bind9, write a zone file for lab.local with SOA, NS, A and MX records, register the zone in named.conf.local, validate the syntax with named-checkzone and query your own server with dig @127.0.0.1.</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local BIND9 server answering authoritatively for lab.local, with validated zone syntax.</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bind9, dnsutils (dig), named-checkzone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dig @127.0.0.1 www.lab.local returns A 10.0.0.10 with the aa (authoritative answer) flag, and dig @127.0.0.1 MX lab.local returns 'MX 10 mail.lab.local.'</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transition spd="fast" advClick="1">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BIND9 and dig</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Register zone lab.local as type master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cat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Validate the zone syntax before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named-checkzone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Restart BIND</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systemctl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Clean up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systemctl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Host an authoritative DNS zone in BIND9 and query it with dig.</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Authoritative DNS with BIND9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dig @127.0.0.1 www.lab.local returns A 10.0.0.10 with the aa (authoritative answer) flag, and dig @127.0.0.1 MX lab.local returns 'MX 10 mail.lab.local.'</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named-checkzone reports errors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SOA parentheses and the trailing dots on FQDNs like ns.lab.local.</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dig times out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BIND is not running — systemctl status bind9; verify config with named-checkconf</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SERVFAIL for lab.local</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zone failed to load; journalctl -u named shows the parse error — fix, restart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transition spd="fast" advClick="1">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2.4 · PHYSICAL INSTALLATIONS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MDF, IDF and the Rack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MDF</a:t>
            </a:r>
          </a:p>
          <a:p>
            <a:pPr algn="l">
              <a:spcAft>
                <a:spcPts val="300"/>
              </a:spcAft>
            </a:pPr>
            <a:r>
              <a:rPr sz="1200" b="0">
                <a:solidFill>
                  <a:srgbClr val="5B6372"/>
                </a:solidFill>
                <a:latin typeface="Arial"/>
              </a:rPr>
              <a:t>Main Distribution Frame — the building's core room: WAN handoff, core switches, routers, servers.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IDF</a:t>
            </a:r>
          </a:p>
          <a:p>
            <a:pPr algn="l">
              <a:spcAft>
                <a:spcPts val="300"/>
              </a:spcAft>
            </a:pPr>
            <a:r>
              <a:rPr sz="1200" b="0">
                <a:solidFill>
                  <a:srgbClr val="5B6372"/>
                </a:solidFill>
                <a:latin typeface="Arial"/>
              </a:rPr>
              <a:t>Intermediate Distribution Frames per floor or area — access switches within 90 m of their users.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Demarc</a:t>
            </a:r>
          </a:p>
          <a:p>
            <a:pPr algn="l">
              <a:spcAft>
                <a:spcPts val="300"/>
              </a:spcAft>
            </a:pPr>
            <a:r>
              <a:rPr sz="1200" b="0">
                <a:solidFill>
                  <a:srgbClr val="5B6372"/>
                </a:solidFill>
                <a:latin typeface="Arial"/>
              </a:rPr>
              <a:t>Where the carrier's responsibility ends and yours begins — the demarcation point, usually in the MDF.</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Rack units</a:t>
            </a:r>
          </a:p>
          <a:p>
            <a:pPr algn="l">
              <a:spcAft>
                <a:spcPts val="300"/>
              </a:spcAft>
            </a:pPr>
            <a:r>
              <a:rPr sz="1200" b="0">
                <a:solidFill>
                  <a:srgbClr val="5B6372"/>
                </a:solidFill>
                <a:latin typeface="Arial"/>
              </a:rPr>
              <a:t>Equipment is measured in U (1U = 1.75 in); plan space, airflow and growth before install day.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Patch panels</a:t>
            </a:r>
          </a:p>
          <a:p>
            <a:pPr algn="l">
              <a:spcAft>
                <a:spcPts val="300"/>
              </a:spcAft>
            </a:pPr>
            <a:r>
              <a:rPr sz="1200" b="0">
                <a:solidFill>
                  <a:srgbClr val="5B6372"/>
                </a:solidFill>
                <a:latin typeface="Arial"/>
              </a:rPr>
              <a:t>Horizontal runs terminate on panels; short patch leads jump to switch ports — never re-terminate walls.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Locked &amp; dedicated</a:t>
            </a:r>
          </a:p>
          <a:p>
            <a:pPr algn="l">
              <a:spcAft>
                <a:spcPts val="300"/>
              </a:spcAft>
            </a:pPr>
            <a:r>
              <a:rPr sz="1200" b="0">
                <a:solidFill>
                  <a:srgbClr val="5B6372"/>
                </a:solidFill>
                <a:latin typeface="Arial"/>
              </a:rPr>
              <a:t>Distribution rooms are locked and badge-controlled, free of storage and water pipes — security at layer 0.</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transition spd="fast" advClick="1">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2.4 · PHYSICAL INSTALLATIONS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Cable Management Done Right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Structured pathways</a:t>
            </a:r>
          </a:p>
          <a:p>
            <a:pPr algn="l">
              <a:spcAft>
                <a:spcPts val="300"/>
              </a:spcAft>
            </a:pPr>
            <a:r>
              <a:rPr sz="1200" b="0">
                <a:solidFill>
                  <a:srgbClr val="5B6372"/>
                </a:solidFill>
                <a:latin typeface="Arial"/>
              </a:rPr>
              <a:t>Ladder racks, trays and vertical managers — no cable stress, no spaghetti, airflow preserved.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Label everything</a:t>
            </a:r>
          </a:p>
          <a:p>
            <a:pPr algn="l">
              <a:spcAft>
                <a:spcPts val="300"/>
              </a:spcAft>
            </a:pPr>
            <a:r>
              <a:rPr sz="1200" b="0">
                <a:solidFill>
                  <a:srgbClr val="5B6372"/>
                </a:solidFill>
                <a:latin typeface="Arial"/>
              </a:rPr>
              <a:t>Both ends of every cable, every panel port, every drop — future-you troubleshoots at 2 a.m.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Bend radius &amp; slack</a:t>
            </a:r>
          </a:p>
          <a:p>
            <a:pPr algn="l">
              <a:spcAft>
                <a:spcPts val="300"/>
              </a:spcAft>
            </a:pPr>
            <a:r>
              <a:rPr sz="1200" b="0">
                <a:solidFill>
                  <a:srgbClr val="5B6372"/>
                </a:solidFill>
                <a:latin typeface="Arial"/>
              </a:rPr>
              <a:t>Respect the minimum bend radius (especially fiber); service loops allow moves without re-pulls.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Separation</a:t>
            </a:r>
          </a:p>
          <a:p>
            <a:pPr algn="l">
              <a:spcAft>
                <a:spcPts val="300"/>
              </a:spcAft>
            </a:pPr>
            <a:r>
              <a:rPr sz="1200" b="0">
                <a:solidFill>
                  <a:srgbClr val="5B6372"/>
                </a:solidFill>
                <a:latin typeface="Arial"/>
              </a:rPr>
              <a:t>Keep UTP away from fluorescent lights, motors and power runs — EMI is a Layer 1 gremlin.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Velcro, not zip ties</a:t>
            </a:r>
          </a:p>
          <a:p>
            <a:pPr algn="l">
              <a:spcAft>
                <a:spcPts val="300"/>
              </a:spcAft>
            </a:pPr>
            <a:r>
              <a:rPr sz="1200" b="0">
                <a:solidFill>
                  <a:srgbClr val="5B6372"/>
                </a:solidFill>
                <a:latin typeface="Arial"/>
              </a:rPr>
              <a:t>Over-tightened ties crush pairs and change cable geometry — velcro wraps are the standard.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Documentation</a:t>
            </a:r>
          </a:p>
          <a:p>
            <a:pPr algn="l">
              <a:spcAft>
                <a:spcPts val="300"/>
              </a:spcAft>
            </a:pPr>
            <a:r>
              <a:rPr sz="1200" b="0">
                <a:solidFill>
                  <a:srgbClr val="5B6372"/>
                </a:solidFill>
                <a:latin typeface="Arial"/>
              </a:rPr>
              <a:t>Port maps and as-built diagrams live with the rack — updated with every change.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transition spd="fast" advClick="1">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2.4 · PHYSICAL INSTALLATIONS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Power: UPS, PDU, Load and Voltage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UPS</a:t>
            </a:r>
          </a:p>
          <a:p>
            <a:pPr algn="l">
              <a:spcAft>
                <a:spcPts val="300"/>
              </a:spcAft>
            </a:pPr>
            <a:r>
              <a:rPr sz="1200" b="0">
                <a:solidFill>
                  <a:srgbClr val="5B6372"/>
                </a:solidFill>
                <a:latin typeface="Arial"/>
              </a:rPr>
              <a:t>The battery bridge over outages and brownouts — line-interactive, or online double-conversion for clean power.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Runtime vs capacity</a:t>
            </a:r>
          </a:p>
          <a:p>
            <a:pPr algn="l">
              <a:spcAft>
                <a:spcPts val="300"/>
              </a:spcAft>
            </a:pPr>
            <a:r>
              <a:rPr sz="1200" b="0">
                <a:solidFill>
                  <a:srgbClr val="5B6372"/>
                </a:solidFill>
                <a:latin typeface="Arial"/>
              </a:rPr>
              <a:t>Size the UPS in VA/watts for the load, then check minutes of runtime at that load — both matter.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PDU</a:t>
            </a:r>
          </a:p>
          <a:p>
            <a:pPr algn="l">
              <a:spcAft>
                <a:spcPts val="300"/>
              </a:spcAft>
            </a:pPr>
            <a:r>
              <a:rPr sz="1200" b="0">
                <a:solidFill>
                  <a:srgbClr val="5B6372"/>
                </a:solidFill>
                <a:latin typeface="Arial"/>
              </a:rPr>
              <a:t>Rack power distribution — metered and switched PDUs report draw and can remote-cycle an outlet.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Dual feeds</a:t>
            </a:r>
          </a:p>
          <a:p>
            <a:pPr algn="l">
              <a:spcAft>
                <a:spcPts val="300"/>
              </a:spcAft>
            </a:pPr>
            <a:r>
              <a:rPr sz="1200" b="0">
                <a:solidFill>
                  <a:srgbClr val="5B6372"/>
                </a:solidFill>
                <a:latin typeface="Arial"/>
              </a:rPr>
              <a:t>Dual power supplies on separate circuits and PDUs (A + B feeds) survive a tripped breaker.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Voltage &amp; circuits</a:t>
            </a:r>
          </a:p>
          <a:p>
            <a:pPr algn="l">
              <a:spcAft>
                <a:spcPts val="300"/>
              </a:spcAft>
            </a:pPr>
            <a:r>
              <a:rPr sz="1200" b="0">
                <a:solidFill>
                  <a:srgbClr val="5B6372"/>
                </a:solidFill>
                <a:latin typeface="Arial"/>
              </a:rPr>
              <a:t>Match equipment to the circuit (230 V in Singapore); dedicated circuits per rack, no daisy-chained strips.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Generator</a:t>
            </a:r>
          </a:p>
          <a:p>
            <a:pPr algn="l">
              <a:spcAft>
                <a:spcPts val="300"/>
              </a:spcAft>
            </a:pPr>
            <a:r>
              <a:rPr sz="1200" b="0">
                <a:solidFill>
                  <a:srgbClr val="5B6372"/>
                </a:solidFill>
                <a:latin typeface="Arial"/>
              </a:rPr>
              <a:t>For real continuity a generator backs the UPS: battery rides the seconds, diesel rides the hours.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transition spd="fast" advClick="1">
    <p:fade/>
  </p:transition>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2.4 · PHYSICAL INSTALLATIONS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Environment: HVAC, Humidity, Fire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HVAC</a:t>
            </a:r>
          </a:p>
          <a:p>
            <a:pPr algn="l">
              <a:spcAft>
                <a:spcPts val="300"/>
              </a:spcAft>
            </a:pPr>
            <a:r>
              <a:rPr sz="1200" b="0">
                <a:solidFill>
                  <a:srgbClr val="5B6372"/>
                </a:solidFill>
                <a:latin typeface="Arial"/>
              </a:rPr>
              <a:t>Racks emit constant heat; dedicated cooling with hot/cold-aisle layouts keeps intake air cold.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Temperature</a:t>
            </a:r>
          </a:p>
          <a:p>
            <a:pPr algn="l">
              <a:spcAft>
                <a:spcPts val="300"/>
              </a:spcAft>
            </a:pPr>
            <a:r>
              <a:rPr sz="1200" b="0">
                <a:solidFill>
                  <a:srgbClr val="5B6372"/>
                </a:solidFill>
                <a:latin typeface="Arial"/>
              </a:rPr>
              <a:t>Target roughly 18-27 C at the equipment intake; monitor per rack, not per room.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Humidity</a:t>
            </a:r>
          </a:p>
          <a:p>
            <a:pPr algn="l">
              <a:spcAft>
                <a:spcPts val="300"/>
              </a:spcAft>
            </a:pPr>
            <a:r>
              <a:rPr sz="1200" b="0">
                <a:solidFill>
                  <a:srgbClr val="5B6372"/>
                </a:solidFill>
                <a:latin typeface="Arial"/>
              </a:rPr>
              <a:t>40-60% relative humidity — too dry invites static discharge, too damp invites condensation and corrosion.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Fire suppression</a:t>
            </a:r>
          </a:p>
          <a:p>
            <a:pPr algn="l">
              <a:spcAft>
                <a:spcPts val="300"/>
              </a:spcAft>
            </a:pPr>
            <a:r>
              <a:rPr sz="1200" b="0">
                <a:solidFill>
                  <a:srgbClr val="5B6372"/>
                </a:solidFill>
                <a:latin typeface="Arial"/>
              </a:rPr>
              <a:t>Clean-agent gas (FM-200, Novec) or pre-action sprinklers — water and live electronics do not mix.</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Sensors</a:t>
            </a:r>
          </a:p>
          <a:p>
            <a:pPr algn="l">
              <a:spcAft>
                <a:spcPts val="300"/>
              </a:spcAft>
            </a:pPr>
            <a:r>
              <a:rPr sz="1200" b="0">
                <a:solidFill>
                  <a:srgbClr val="5B6372"/>
                </a:solidFill>
                <a:latin typeface="Arial"/>
              </a:rPr>
              <a:t>Temperature, humidity, leak and door sensors feed monitoring — alerts before hardware cooks.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Grounding</a:t>
            </a:r>
          </a:p>
          <a:p>
            <a:pPr algn="l">
              <a:spcAft>
                <a:spcPts val="300"/>
              </a:spcAft>
            </a:pPr>
            <a:r>
              <a:rPr sz="1200" b="0">
                <a:solidFill>
                  <a:srgbClr val="5B6372"/>
                </a:solidFill>
                <a:latin typeface="Arial"/>
              </a:rPr>
              <a:t>Bond racks to earth ground and use ESD straps on boards — invisible damage kills gear later.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p:transition spd="fast" advClick="1">
    <p:fade/>
  </p:transition>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2.4 · PHYSICAL INSTALLATIONS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Physical Installation, Start to Finish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Site survey and requirements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Design: MDF/IDF, pathways, power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Rack, label and cable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Test and validate every link</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Document and baseline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p:transition spd="fast" advClick="1">
    <p:fade/>
  </p:transition>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NEXT: NETWORK OPERATIONS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 built the network. Now run it.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Domain 3 turns to operations: monitoring, documentation and the disaster-recovery numbers that keep what you just built alive.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p:transition spd="fast" advClick="1">
    <p:fade/>
  </p:transition>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2.0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You can now: Build a two-subnet topology and route between them with static routes.</a:t>
            </a:r>
          </a:p>
          <a:p>
            <a:pPr>
              <a:spcAft>
                <a:spcPts val="1000"/>
              </a:spcAft>
            </a:pPr>
            <a:r>
              <a:rPr sz="1600" b="0">
                <a:solidFill>
                  <a:srgbClr val="161B26"/>
                </a:solidFill>
                <a:latin typeface="Arial"/>
              </a:rPr>
              <a:t>•  You can now: Create 802.1Q VLAN sub-interfaces and capture a tagged frame.</a:t>
            </a:r>
          </a:p>
          <a:p>
            <a:pPr>
              <a:spcAft>
                <a:spcPts val="1000"/>
              </a:spcAft>
            </a:pPr>
            <a:r>
              <a:rPr sz="1600" b="0">
                <a:solidFill>
                  <a:srgbClr val="161B26"/>
                </a:solidFill>
                <a:latin typeface="Arial"/>
              </a:rPr>
              <a:t>•  You can now: Bundle interfaces into an LACP (802.3ad) bond and inspect its state.</a:t>
            </a:r>
          </a:p>
          <a:p>
            <a:pPr>
              <a:spcAft>
                <a:spcPts val="1000"/>
              </a:spcAft>
            </a:pPr>
            <a:r>
              <a:rPr sz="1600" b="0">
                <a:solidFill>
                  <a:srgbClr val="161B26"/>
                </a:solidFill>
                <a:latin typeface="Arial"/>
              </a:rPr>
              <a:t>•  You can now: Survey nearby wireless networks and map channels, bands and security modes.</a:t>
            </a:r>
          </a:p>
          <a:p>
            <a:pPr>
              <a:spcAft>
                <a:spcPts val="1000"/>
              </a:spcAft>
            </a:pPr>
            <a:r>
              <a:rPr sz="1600" b="0">
                <a:solidFill>
                  <a:srgbClr val="161B26"/>
                </a:solidFill>
                <a:latin typeface="Arial"/>
              </a:rPr>
              <a:t>•  You can now: Configure PAT with iptables MASQUERADE and verify live translations in conntrack.</a:t>
            </a:r>
          </a:p>
          <a:p>
            <a:pPr>
              <a:spcAft>
                <a:spcPts val="1000"/>
              </a:spcAft>
            </a:pPr>
            <a:r>
              <a:rPr sz="1600" b="0">
                <a:solidFill>
                  <a:srgbClr val="161B26"/>
                </a:solidFill>
                <a:latin typeface="Arial"/>
              </a:rPr>
              <a:t>•  You can now: Configure isc-dhcp-server to lease addresses on a private subnet.</a:t>
            </a:r>
          </a:p>
          <a:p>
            <a:pPr>
              <a:spcAft>
                <a:spcPts val="1000"/>
              </a:spcAft>
            </a:pPr>
            <a:r>
              <a:rPr sz="1600" b="0">
                <a:solidFill>
                  <a:srgbClr val="161B26"/>
                </a:solidFill>
                <a:latin typeface="Arial"/>
              </a:rPr>
              <a:t>•  You can now: Host an authoritative DNS zone in BIND9 and query it with dig.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p:transition spd="fast" advClick="1">
    <p:fade/>
  </p:transition>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3.0  ·  19%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 Operations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Documentation · life-cycle · change &amp; configuration management · monitoring · DR · network services · access &amp; management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3.0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p:transition spd="med" advClick="1">
    <p:push dir="l"/>
  </p:transition>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15–16</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SNMP Monitoring</a:t>
            </a:r>
          </a:p>
          <a:p>
            <a:pPr>
              <a:spcAft>
                <a:spcPts val="900"/>
              </a:spcAft>
            </a:pPr>
            <a:r>
              <a:rPr sz="1400" b="0">
                <a:solidFill>
                  <a:srgbClr val="161B26"/>
                </a:solidFill>
                <a:latin typeface="Arial"/>
              </a:rPr>
              <a:t>•  NetFlow Analysis with nfdump</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17–18</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Centralised Logging with Rsyslog</a:t>
            </a:r>
          </a:p>
          <a:p>
            <a:pPr>
              <a:spcAft>
                <a:spcPts val="900"/>
              </a:spcAft>
            </a:pPr>
            <a:r>
              <a:rPr sz="1400" b="0">
                <a:solidFill>
                  <a:srgbClr val="161B26"/>
                </a:solidFill>
                <a:latin typeface="Arial"/>
              </a:rPr>
              <a:t>•  Time Synchronisation with Chrony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19–20</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Configuration Backup with Git</a:t>
            </a:r>
          </a:p>
          <a:p>
            <a:pPr>
              <a:spcAft>
                <a:spcPts val="900"/>
              </a:spcAft>
            </a:pPr>
            <a:r>
              <a:rPr sz="1400" b="0">
                <a:solidFill>
                  <a:srgbClr val="161B26"/>
                </a:solidFill>
                <a:latin typeface="Arial"/>
              </a:rPr>
              <a:t>•  Performance Baseline with iperf3</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p:transition spd="fast" advClick="1">
    <p:fade/>
  </p:transition>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19% OF THE EXAM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Domain 3 — Network Operations.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19% of the N10-009 exam: documentation, monitoring, disaster recovery, the network services everyone depends on, and secure access to your own infrastructure.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p:transition spd="fast" advClick="1">
    <p:fade/>
  </p:transition>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N10-009 · DOMAIN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3 Roadmap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OBJ 3.1 — Documentation &amp; processes</a:t>
            </a:r>
          </a:p>
          <a:p>
            <a:pPr algn="l">
              <a:spcAft>
                <a:spcPts val="300"/>
              </a:spcAft>
            </a:pPr>
            <a:r>
              <a:rPr sz="1200" b="0">
                <a:solidFill>
                  <a:srgbClr val="5B6372"/>
                </a:solidFill>
                <a:latin typeface="Arial"/>
              </a:rPr>
              <a:t>Physical and logical diagrams, rack diagrams, IPAM, asset inventory, life-cycle, change and configuration management.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OBJ 3.2 — Network monitoring</a:t>
            </a:r>
          </a:p>
          <a:p>
            <a:pPr algn="l">
              <a:spcAft>
                <a:spcPts val="300"/>
              </a:spcAft>
            </a:pPr>
            <a:r>
              <a:rPr sz="1200" b="0">
                <a:solidFill>
                  <a:srgbClr val="5B6372"/>
                </a:solidFill>
                <a:latin typeface="Arial"/>
              </a:rPr>
              <a:t>SNMP, flow data, packet capture, baselines, log aggregation and SIEM — knowing what the network is doing.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OBJ 3.3 — Disaster recovery</a:t>
            </a:r>
          </a:p>
          <a:p>
            <a:pPr algn="l">
              <a:spcAft>
                <a:spcPts val="300"/>
              </a:spcAft>
            </a:pPr>
            <a:r>
              <a:rPr sz="1200" b="0">
                <a:solidFill>
                  <a:srgbClr val="5B6372"/>
                </a:solidFill>
                <a:latin typeface="Arial"/>
              </a:rPr>
              <a:t>RPO/RTO, MTTR/MTBF, cold/warm/hot sites, active-active vs active-passive, and testing the plan.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OBJ 3.4 — Network services</a:t>
            </a:r>
          </a:p>
          <a:p>
            <a:pPr algn="l">
              <a:spcAft>
                <a:spcPts val="300"/>
              </a:spcAft>
            </a:pPr>
            <a:r>
              <a:rPr sz="1200" b="0">
                <a:solidFill>
                  <a:srgbClr val="5B6372"/>
                </a:solidFill>
                <a:latin typeface="Arial"/>
              </a:rPr>
              <a:t>DHCP, SLAAC, DNS and time services (NTP, PTP, NTS) — the quiet plumbing every network leans 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OBJ 3.5 — Access &amp; management</a:t>
            </a:r>
          </a:p>
          <a:p>
            <a:pPr algn="l">
              <a:spcAft>
                <a:spcPts val="300"/>
              </a:spcAft>
            </a:pPr>
            <a:r>
              <a:rPr sz="1200" b="0">
                <a:solidFill>
                  <a:srgbClr val="5B6372"/>
                </a:solidFill>
                <a:latin typeface="Arial"/>
              </a:rPr>
              <a:t>Site-to-site and client VPNs, SSH, APIs, console, out-of-band and jump boxes.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p:transition spd="fast" advClick="1">
    <p:fade/>
  </p:transition>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OBJ 3.1 · DOCUMENTATION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Documentation is the network's memory.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network that exists is the one in production; the network you can repair at 3 a.m. is the one in the documentation. Keeping them identical is an operations discipline.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p:transition spd="fast" advClick="1">
    <p:fade/>
  </p:transition>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Documenting the Network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Physical diagram</a:t>
            </a:r>
          </a:p>
          <a:p>
            <a:pPr algn="l">
              <a:spcAft>
                <a:spcPts val="300"/>
              </a:spcAft>
            </a:pPr>
            <a:r>
              <a:rPr sz="1200" b="0">
                <a:solidFill>
                  <a:srgbClr val="5B6372"/>
                </a:solidFill>
                <a:latin typeface="Arial"/>
              </a:rPr>
              <a:t>Where things ARE — rooms, racks, cable runs, patch panels. Follows the actual hardware and wiring.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Logical diagram</a:t>
            </a:r>
          </a:p>
          <a:p>
            <a:pPr algn="l">
              <a:spcAft>
                <a:spcPts val="300"/>
              </a:spcAft>
            </a:pPr>
            <a:r>
              <a:rPr sz="1200" b="0">
                <a:solidFill>
                  <a:srgbClr val="5B6372"/>
                </a:solidFill>
                <a:latin typeface="Arial"/>
              </a:rPr>
              <a:t>How data FLOWS — subnets, VLANs, routing paths, firewall zones. Independent of physical location.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Rack diagram</a:t>
            </a:r>
          </a:p>
          <a:p>
            <a:pPr algn="l">
              <a:spcAft>
                <a:spcPts val="300"/>
              </a:spcAft>
            </a:pPr>
            <a:r>
              <a:rPr sz="1200" b="0">
                <a:solidFill>
                  <a:srgbClr val="5B6372"/>
                </a:solidFill>
                <a:latin typeface="Arial"/>
              </a:rPr>
              <a:t>Elevation view of one rack: every rack unit numbered, each device drawn at its mounted position.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Cable map</a:t>
            </a:r>
          </a:p>
          <a:p>
            <a:pPr algn="l">
              <a:spcAft>
                <a:spcPts val="300"/>
              </a:spcAft>
            </a:pPr>
            <a:r>
              <a:rPr sz="1200" b="0">
                <a:solidFill>
                  <a:srgbClr val="5B6372"/>
                </a:solidFill>
                <a:latin typeface="Arial"/>
              </a:rPr>
              <a:t>Maps each patch-panel port to its wall jack and switch port so a tech can trace any link in seconds.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Asset inventory</a:t>
            </a:r>
          </a:p>
          <a:p>
            <a:pPr algn="l">
              <a:spcAft>
                <a:spcPts val="300"/>
              </a:spcAft>
            </a:pPr>
            <a:r>
              <a:rPr sz="1200" b="0">
                <a:solidFill>
                  <a:srgbClr val="5B6372"/>
                </a:solidFill>
                <a:latin typeface="Arial"/>
              </a:rPr>
              <a:t>Hardware, software, licensing and warranty per device — what you own, what it runs, when support ends.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IPAM</a:t>
            </a:r>
          </a:p>
          <a:p>
            <a:pPr algn="l">
              <a:spcAft>
                <a:spcPts val="300"/>
              </a:spcAft>
            </a:pPr>
            <a:r>
              <a:rPr sz="1200" b="0">
                <a:solidFill>
                  <a:srgbClr val="5B6372"/>
                </a:solidFill>
                <a:latin typeface="Arial"/>
              </a:rPr>
              <a:t>IP address management — tracks every subnet, assignment and DHCP scope so no address is allocated twice.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p:transition spd="fast" advClick="1">
    <p:fade/>
  </p:transition>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Physical vs Logical Diagrams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Physical (Layer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Logical (Layer 2/3)</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Rooms, racks, cable runs, patch panels</a:t>
            </a:r>
          </a:p>
          <a:p>
            <a:pPr>
              <a:spcAft>
                <a:spcPts val="1000"/>
              </a:spcAft>
            </a:pPr>
            <a:r>
              <a:rPr sz="1600" b="0">
                <a:solidFill>
                  <a:srgbClr val="161B26"/>
                </a:solidFill>
                <a:latin typeface="Arial"/>
              </a:rPr>
              <a:t>•  MDF and IDF locations and wiring</a:t>
            </a:r>
          </a:p>
          <a:p>
            <a:pPr>
              <a:spcAft>
                <a:spcPts val="1000"/>
              </a:spcAft>
            </a:pPr>
            <a:r>
              <a:rPr sz="1600" b="0">
                <a:solidFill>
                  <a:srgbClr val="161B26"/>
                </a:solidFill>
                <a:latin typeface="Arial"/>
              </a:rPr>
              <a:t>•  Follows the copper and the fibre</a:t>
            </a:r>
          </a:p>
          <a:p>
            <a:pPr>
              <a:spcAft>
                <a:spcPts val="1000"/>
              </a:spcAft>
            </a:pPr>
            <a:r>
              <a:rPr sz="1600" b="0">
                <a:solidFill>
                  <a:srgbClr val="161B26"/>
                </a:solidFill>
                <a:latin typeface="Arial"/>
              </a:rPr>
              <a:t>•  Used for moves, adds, changes, repairs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Subnets, VLANs and IP addressing</a:t>
            </a:r>
          </a:p>
          <a:p>
            <a:pPr>
              <a:spcAft>
                <a:spcPts val="1000"/>
              </a:spcAft>
            </a:pPr>
            <a:r>
              <a:rPr sz="1600" b="0">
                <a:solidFill>
                  <a:srgbClr val="161B26"/>
                </a:solidFill>
                <a:latin typeface="Arial"/>
              </a:rPr>
              <a:t>•  Routing paths and firewall zones</a:t>
            </a:r>
          </a:p>
          <a:p>
            <a:pPr>
              <a:spcAft>
                <a:spcPts val="1000"/>
              </a:spcAft>
            </a:pPr>
            <a:r>
              <a:rPr sz="1600" b="0">
                <a:solidFill>
                  <a:srgbClr val="161B26"/>
                </a:solidFill>
                <a:latin typeface="Arial"/>
              </a:rPr>
              <a:t>•  Follows the traffic flow</a:t>
            </a:r>
          </a:p>
          <a:p>
            <a:pPr>
              <a:spcAft>
                <a:spcPts val="1000"/>
              </a:spcAft>
            </a:pPr>
            <a:r>
              <a:rPr sz="1600" b="0">
                <a:solidFill>
                  <a:srgbClr val="161B26"/>
                </a:solidFill>
                <a:latin typeface="Arial"/>
              </a:rPr>
              <a:t>•  Used for design and troubleshooting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p:transition spd="fast" advClick="1">
    <p:fade/>
  </p:transition>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Network Diagrams by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Layer 1 — physical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Cables, ports and patch panels</a:t>
            </a:r>
          </a:p>
          <a:p>
            <a:pPr>
              <a:spcAft>
                <a:spcPts val="900"/>
              </a:spcAft>
            </a:pPr>
            <a:r>
              <a:rPr sz="1400" b="0">
                <a:solidFill>
                  <a:srgbClr val="161B26"/>
                </a:solidFill>
                <a:latin typeface="Arial"/>
              </a:rPr>
              <a:t>•  Rack elevations and RU positions</a:t>
            </a:r>
          </a:p>
          <a:p>
            <a:pPr>
              <a:spcAft>
                <a:spcPts val="900"/>
              </a:spcAft>
            </a:pPr>
            <a:r>
              <a:rPr sz="1400" b="0">
                <a:solidFill>
                  <a:srgbClr val="161B26"/>
                </a:solidFill>
                <a:latin typeface="Arial"/>
              </a:rPr>
              <a:t>•  Media types and cable labels</a:t>
            </a:r>
          </a:p>
          <a:p>
            <a:pPr>
              <a:spcAft>
                <a:spcPts val="900"/>
              </a:spcAft>
            </a:pPr>
            <a:r>
              <a:rPr sz="1400" b="0">
                <a:solidFill>
                  <a:srgbClr val="161B26"/>
                </a:solidFill>
                <a:latin typeface="Arial"/>
              </a:rPr>
              <a:t>•  TAP and mirror points marked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Layer 2 — switching</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Switches, VLANs and trunks</a:t>
            </a:r>
          </a:p>
          <a:p>
            <a:pPr>
              <a:spcAft>
                <a:spcPts val="900"/>
              </a:spcAft>
            </a:pPr>
            <a:r>
              <a:rPr sz="1400" b="0">
                <a:solidFill>
                  <a:srgbClr val="161B26"/>
                </a:solidFill>
                <a:latin typeface="Arial"/>
              </a:rPr>
              <a:t>•  STP topology and port channels</a:t>
            </a:r>
          </a:p>
          <a:p>
            <a:pPr>
              <a:spcAft>
                <a:spcPts val="900"/>
              </a:spcAft>
            </a:pPr>
            <a:r>
              <a:rPr sz="1400" b="0">
                <a:solidFill>
                  <a:srgbClr val="161B26"/>
                </a:solidFill>
                <a:latin typeface="Arial"/>
              </a:rPr>
              <a:t>•  MAC-level adjacencies</a:t>
            </a:r>
          </a:p>
          <a:p>
            <a:pPr>
              <a:spcAft>
                <a:spcPts val="900"/>
              </a:spcAft>
            </a:pPr>
            <a:r>
              <a:rPr sz="1400" b="0">
                <a:solidFill>
                  <a:srgbClr val="161B26"/>
                </a:solidFill>
                <a:latin typeface="Arial"/>
              </a:rPr>
              <a:t>•  Link speeds and duplex</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Layer 3 — routing</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Subnets and IP addressing</a:t>
            </a:r>
          </a:p>
          <a:p>
            <a:pPr>
              <a:spcAft>
                <a:spcPts val="900"/>
              </a:spcAft>
            </a:pPr>
            <a:r>
              <a:rPr sz="1400" b="0">
                <a:solidFill>
                  <a:srgbClr val="161B26"/>
                </a:solidFill>
                <a:latin typeface="Arial"/>
              </a:rPr>
              <a:t>•  Routers, SVIs and firewalls</a:t>
            </a:r>
          </a:p>
          <a:p>
            <a:pPr>
              <a:spcAft>
                <a:spcPts val="900"/>
              </a:spcAft>
            </a:pPr>
            <a:r>
              <a:rPr sz="1400" b="0">
                <a:solidFill>
                  <a:srgbClr val="161B26"/>
                </a:solidFill>
                <a:latin typeface="Arial"/>
              </a:rPr>
              <a:t>•  Routing protocols and next hops</a:t>
            </a:r>
          </a:p>
          <a:p>
            <a:pPr>
              <a:spcAft>
                <a:spcPts val="900"/>
              </a:spcAft>
            </a:pPr>
            <a:r>
              <a:rPr sz="1400" b="0">
                <a:solidFill>
                  <a:srgbClr val="161B26"/>
                </a:solidFill>
                <a:latin typeface="Arial"/>
              </a:rPr>
              <a:t>•  NAT boundaries and VPN tunnels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p:transition spd="fast" advClick="1">
    <p:fade/>
  </p:transition>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3.1 ·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MDF, IDF and the Rack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MDF</a:t>
            </a:r>
          </a:p>
          <a:p>
            <a:pPr algn="l">
              <a:spcAft>
                <a:spcPts val="300"/>
              </a:spcAft>
            </a:pPr>
            <a:r>
              <a:rPr sz="1200" b="0">
                <a:solidFill>
                  <a:srgbClr val="5B6372"/>
                </a:solidFill>
                <a:latin typeface="Arial"/>
              </a:rPr>
              <a:t>Main distribution frame — the primary wiring hub where WAN circuits land and core equipment lives.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IDF</a:t>
            </a:r>
          </a:p>
          <a:p>
            <a:pPr algn="l">
              <a:spcAft>
                <a:spcPts val="300"/>
              </a:spcAft>
            </a:pPr>
            <a:r>
              <a:rPr sz="1200" b="0">
                <a:solidFill>
                  <a:srgbClr val="5B6372"/>
                </a:solidFill>
                <a:latin typeface="Arial"/>
              </a:rPr>
              <a:t>Intermediate distribution frame — the per-floor closet linking local drops back to the MDF.</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Rack diagram</a:t>
            </a:r>
          </a:p>
          <a:p>
            <a:pPr algn="l">
              <a:spcAft>
                <a:spcPts val="300"/>
              </a:spcAft>
            </a:pPr>
            <a:r>
              <a:rPr sz="1200" b="0">
                <a:solidFill>
                  <a:srgbClr val="5B6372"/>
                </a:solidFill>
                <a:latin typeface="Arial"/>
              </a:rPr>
              <a:t>One column per rack, numbered in rack units (1U = 1.75 in); shows exactly what is mounted where.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Port maps</a:t>
            </a:r>
          </a:p>
          <a:p>
            <a:pPr algn="l">
              <a:spcAft>
                <a:spcPts val="300"/>
              </a:spcAft>
            </a:pPr>
            <a:r>
              <a:rPr sz="1200" b="0">
                <a:solidFill>
                  <a:srgbClr val="5B6372"/>
                </a:solidFill>
                <a:latin typeface="Arial"/>
              </a:rPr>
              <a:t>Patch panel and switch port labelling ties every user drop to its IDF termination — no more toning cables.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p:transition spd="fast" advClick="1">
    <p:fade/>
  </p:transition>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Documentation 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Document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Shows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Used when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Floor plan</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Rooms, racks, aisles, outlets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Planning space and power</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Rack diagram</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Devices by rack unit</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Installing or replacing gear</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Wiring diagram</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Terminations, runs, standards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Tracing a faulty link</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Logical diagram</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Subnets, VLANs, routing</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Design and troubleshooting</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Heat map</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Wi-Fi coverage by colour</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Fixing dead zones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Exam questions give a task — pick the document that answers it: physical for 'where', logical for 'how it flows'.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p:transition spd="fast" advClick="1">
    <p:fade/>
  </p:transition>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Asset Inventory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Hardware</a:t>
            </a:r>
          </a:p>
          <a:p>
            <a:pPr algn="l">
              <a:spcAft>
                <a:spcPts val="300"/>
              </a:spcAft>
            </a:pPr>
            <a:r>
              <a:rPr sz="1200" b="0">
                <a:solidFill>
                  <a:srgbClr val="5B6372"/>
                </a:solidFill>
                <a:latin typeface="Arial"/>
              </a:rPr>
              <a:t>Make, model, serial, location and owner for every device — the base record for audits and refresh planning.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Software</a:t>
            </a:r>
          </a:p>
          <a:p>
            <a:pPr algn="l">
              <a:spcAft>
                <a:spcPts val="300"/>
              </a:spcAft>
            </a:pPr>
            <a:r>
              <a:rPr sz="1200" b="0">
                <a:solidFill>
                  <a:srgbClr val="5B6372"/>
                </a:solidFill>
                <a:latin typeface="Arial"/>
              </a:rPr>
              <a:t>Installed OS and application versions per host — the record patch management works from.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Licensing</a:t>
            </a:r>
          </a:p>
          <a:p>
            <a:pPr algn="l">
              <a:spcAft>
                <a:spcPts val="300"/>
              </a:spcAft>
            </a:pPr>
            <a:r>
              <a:rPr sz="1200" b="0">
                <a:solidFill>
                  <a:srgbClr val="5B6372"/>
                </a:solidFill>
                <a:latin typeface="Arial"/>
              </a:rPr>
              <a:t>Which licences you hold, what they cover, when they renew — non-compliance is a legal and audit risk.</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Warranty &amp; support</a:t>
            </a:r>
          </a:p>
          <a:p>
            <a:pPr algn="l">
              <a:spcAft>
                <a:spcPts val="300"/>
              </a:spcAft>
            </a:pPr>
            <a:r>
              <a:rPr sz="1200" b="0">
                <a:solidFill>
                  <a:srgbClr val="5B6372"/>
                </a:solidFill>
                <a:latin typeface="Arial"/>
              </a:rPr>
              <a:t>Contract and warranty end dates drive refresh budgets and flag devices approaching end of support.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p:transition spd="fast" advClick="1">
    <p:fade/>
  </p:transition>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3.1 ·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IPAM — IP Address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Subnet tracking</a:t>
            </a:r>
          </a:p>
          <a:p>
            <a:pPr algn="l">
              <a:spcAft>
                <a:spcPts val="300"/>
              </a:spcAft>
            </a:pPr>
            <a:r>
              <a:rPr sz="1200" b="0">
                <a:solidFill>
                  <a:srgbClr val="5B6372"/>
                </a:solidFill>
                <a:latin typeface="Arial"/>
              </a:rPr>
              <a:t>Every prefix with its VLAN, gateway and purpose in one authoritative database — not a spreadsheet.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Assignment records</a:t>
            </a:r>
          </a:p>
          <a:p>
            <a:pPr algn="l">
              <a:spcAft>
                <a:spcPts val="300"/>
              </a:spcAft>
            </a:pPr>
            <a:r>
              <a:rPr sz="1200" b="0">
                <a:solidFill>
                  <a:srgbClr val="5B6372"/>
                </a:solidFill>
                <a:latin typeface="Arial"/>
              </a:rPr>
              <a:t>Static assignments and DHCP scopes recorded together so no address is ever allocated twice.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Discovery &amp; reconciliation</a:t>
            </a:r>
          </a:p>
          <a:p>
            <a:pPr algn="l">
              <a:spcAft>
                <a:spcPts val="300"/>
              </a:spcAft>
            </a:pPr>
            <a:r>
              <a:rPr sz="1200" b="0">
                <a:solidFill>
                  <a:srgbClr val="5B6372"/>
                </a:solidFill>
                <a:latin typeface="Arial"/>
              </a:rPr>
              <a:t>IPAM tools scan the network and reconcile what is actually on the wire against the plan.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DDI integration</a:t>
            </a:r>
          </a:p>
          <a:p>
            <a:pPr algn="l">
              <a:spcAft>
                <a:spcPts val="300"/>
              </a:spcAft>
            </a:pPr>
            <a:r>
              <a:rPr sz="1200" b="0">
                <a:solidFill>
                  <a:srgbClr val="5B6372"/>
                </a:solidFill>
                <a:latin typeface="Arial"/>
              </a:rPr>
              <a:t>DNS + DHCP + IPAM suites keep records, scopes and leases in sync automatically.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p:transition spd="fast" advClick="1">
    <p:fade/>
  </p:transition>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3.1 ·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Surveys &amp; Heat Maps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Predictive survey</a:t>
            </a:r>
          </a:p>
          <a:p>
            <a:pPr algn="l">
              <a:spcAft>
                <a:spcPts val="300"/>
              </a:spcAft>
            </a:pPr>
            <a:r>
              <a:rPr sz="1200" b="0">
                <a:solidFill>
                  <a:srgbClr val="5B6372"/>
                </a:solidFill>
                <a:latin typeface="Arial"/>
              </a:rPr>
              <a:t>Software models coverage from floor plans and wall materials before a single AP is mounted.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On-site survey</a:t>
            </a:r>
          </a:p>
          <a:p>
            <a:pPr algn="l">
              <a:spcAft>
                <a:spcPts val="300"/>
              </a:spcAft>
            </a:pPr>
            <a:r>
              <a:rPr sz="1200" b="0">
                <a:solidFill>
                  <a:srgbClr val="5B6372"/>
                </a:solidFill>
                <a:latin typeface="Arial"/>
              </a:rPr>
              <a:t>Walk the site measuring real signal, interference and attenuation with the actual AP placement.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Heat map</a:t>
            </a:r>
          </a:p>
          <a:p>
            <a:pPr algn="l">
              <a:spcAft>
                <a:spcPts val="300"/>
              </a:spcAft>
            </a:pPr>
            <a:r>
              <a:rPr sz="1200" b="0">
                <a:solidFill>
                  <a:srgbClr val="5B6372"/>
                </a:solidFill>
                <a:latin typeface="Arial"/>
              </a:rPr>
              <a:t>Colour-coded floor plan of signal strength — dead zones and channel overlap visible at a glance.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Validation survey</a:t>
            </a:r>
          </a:p>
          <a:p>
            <a:pPr algn="l">
              <a:spcAft>
                <a:spcPts val="300"/>
              </a:spcAft>
            </a:pPr>
            <a:r>
              <a:rPr sz="1200" b="0">
                <a:solidFill>
                  <a:srgbClr val="5B6372"/>
                </a:solidFill>
                <a:latin typeface="Arial"/>
              </a:rPr>
              <a:t>Repeat after deployment to prove the design targets (RSSI, SNR, throughput) are actually met.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p:transition spd="fast" advClick="1">
    <p:fade/>
  </p:transition>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3.1 ·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Business Documents — SLA, MOU, SOW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Document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Parties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defines</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SLA</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Provider + customer</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Service scope, uptime targets, penalties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MOU</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Two partners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Agreed duties where a contract is premature</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SOW</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Vendor + customer</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Deliverables, timeline, milestones</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NDA</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Org + staff / vendor</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Keeps sensitive information confidential</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AUP</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Org + users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What users may do on org systems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The SLA's uptime figure drives your redundancy design — 99.99% cannot be met with single points of failure.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p:transition spd="fast" advClick="1">
    <p:fade/>
  </p:transition>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3.1 · LIFE-CYCLE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Life-cycle Milestones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Milestone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Vendor stops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Your action</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End of sale</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Selling the product</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Stop new purchases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End of life (EOL)</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Feature development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Plan and budget replacement</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End of support (EOS)</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Patches, fixes, RMA</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Decommission by this date</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EOS is the hard deadline: gear past EOS gets no security patches, so every CVE against it stays open forever.</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p:transition spd="fast" advClick="1">
    <p:fade/>
  </p:transition>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LIFE-CYCLE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EOL vs EOS — Why the Difference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End of Life (EOL)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End of Support (EOS)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Vendor stops selling / developing</a:t>
            </a:r>
          </a:p>
          <a:p>
            <a:pPr>
              <a:spcAft>
                <a:spcPts val="1000"/>
              </a:spcAft>
            </a:pPr>
            <a:r>
              <a:rPr sz="1600" b="0">
                <a:solidFill>
                  <a:srgbClr val="161B26"/>
                </a:solidFill>
                <a:latin typeface="Arial"/>
              </a:rPr>
              <a:t>•  Existing units keep receiving fixes</a:t>
            </a:r>
          </a:p>
          <a:p>
            <a:pPr>
              <a:spcAft>
                <a:spcPts val="1000"/>
              </a:spcAft>
            </a:pPr>
            <a:r>
              <a:rPr sz="1600" b="0">
                <a:solidFill>
                  <a:srgbClr val="161B26"/>
                </a:solidFill>
                <a:latin typeface="Arial"/>
              </a:rPr>
              <a:t>•  Trigger to plan the replacement</a:t>
            </a:r>
          </a:p>
          <a:p>
            <a:pPr>
              <a:spcAft>
                <a:spcPts val="1000"/>
              </a:spcAft>
            </a:pPr>
            <a:r>
              <a:rPr sz="1600" b="0">
                <a:solidFill>
                  <a:srgbClr val="161B26"/>
                </a:solidFill>
                <a:latin typeface="Arial"/>
              </a:rPr>
              <a:t>•  Often years before EOS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No more patches — even for CVEs</a:t>
            </a:r>
          </a:p>
          <a:p>
            <a:pPr>
              <a:spcAft>
                <a:spcPts val="1000"/>
              </a:spcAft>
            </a:pPr>
            <a:r>
              <a:rPr sz="1600" b="0">
                <a:solidFill>
                  <a:srgbClr val="161B26"/>
                </a:solidFill>
                <a:latin typeface="Arial"/>
              </a:rPr>
              <a:t>•  Failing units cannot be RMA'd</a:t>
            </a:r>
          </a:p>
          <a:p>
            <a:pPr>
              <a:spcAft>
                <a:spcPts val="1000"/>
              </a:spcAft>
            </a:pPr>
            <a:r>
              <a:rPr sz="1600" b="0">
                <a:solidFill>
                  <a:srgbClr val="161B26"/>
                </a:solidFill>
                <a:latin typeface="Arial"/>
              </a:rPr>
              <a:t>•  Unpatched gear = standing audit finding</a:t>
            </a:r>
          </a:p>
          <a:p>
            <a:pPr>
              <a:spcAft>
                <a:spcPts val="1000"/>
              </a:spcAft>
            </a:pPr>
            <a:r>
              <a:rPr sz="1600" b="0">
                <a:solidFill>
                  <a:srgbClr val="161B26"/>
                </a:solidFill>
                <a:latin typeface="Arial"/>
              </a:rPr>
              <a:t>•  Hard deadline to decommission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p:transition spd="fast" advClick="1">
    <p:fade/>
  </p:transition>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LIFE-CYCLE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Software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OS updates</a:t>
            </a:r>
          </a:p>
          <a:p>
            <a:pPr algn="l">
              <a:spcAft>
                <a:spcPts val="300"/>
              </a:spcAft>
            </a:pPr>
            <a:r>
              <a:rPr sz="1200" b="0">
                <a:solidFill>
                  <a:srgbClr val="5B6372"/>
                </a:solidFill>
                <a:latin typeface="Arial"/>
              </a:rPr>
              <a:t>The most frequent patch type — schedule through change management, never ad hoc on network gear.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Firmware</a:t>
            </a:r>
          </a:p>
          <a:p>
            <a:pPr algn="l">
              <a:spcAft>
                <a:spcPts val="300"/>
              </a:spcAft>
            </a:pPr>
            <a:r>
              <a:rPr sz="1200" b="0">
                <a:solidFill>
                  <a:srgbClr val="5B6372"/>
                </a:solidFill>
                <a:latin typeface="Arial"/>
              </a:rPr>
              <a:t>Low-level device code; fixes hardware bugs and vulnerabilities — verify the image checksum before flashing.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Patch discipline</a:t>
            </a:r>
          </a:p>
          <a:p>
            <a:pPr algn="l">
              <a:spcAft>
                <a:spcPts val="300"/>
              </a:spcAft>
            </a:pPr>
            <a:r>
              <a:rPr sz="1200" b="0">
                <a:solidFill>
                  <a:srgbClr val="5B6372"/>
                </a:solidFill>
                <a:latin typeface="Arial"/>
              </a:rPr>
              <a:t>Research the release notes, test in a lab, back up the config, then deploy in a maintenance window.</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Rollback plan</a:t>
            </a:r>
          </a:p>
          <a:p>
            <a:pPr algn="l">
              <a:spcAft>
                <a:spcPts val="300"/>
              </a:spcAft>
            </a:pPr>
            <a:r>
              <a:rPr sz="1200" b="0">
                <a:solidFill>
                  <a:srgbClr val="5B6372"/>
                </a:solidFill>
                <a:latin typeface="Arial"/>
              </a:rPr>
              <a:t>Every update ships with a tested path back — keep the previous image and config within reach.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p:transition spd="fast" advClick="1">
    <p:fade/>
  </p:transition>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3.1 · LIFE-CYCLE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Decommissioning a Device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Remove from production</a:t>
            </a:r>
          </a:p>
        </p:txBody>
      </p:sp>
      <p:sp>
        <p:nvSpPr>
          <p:cNvPr id="12" name="TextBox 11"/>
          <p:cNvSpPr txBox="1"/>
          <p:nvPr/>
        </p:nvSpPr>
        <p:spPr>
          <a:xfrm>
            <a:off x="86868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drain traffic first</a:t>
            </a:r>
          </a:p>
        </p:txBody>
      </p:sp>
      <p:cxnSp>
        <p:nvCxnSpPr>
          <p:cNvPr id="13" name="Connector 12"/>
          <p:cNvCxnSpPr/>
          <p:nvPr/>
        </p:nvCxnSpPr>
        <p:spPr>
          <a:xfrm>
            <a:off x="320268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Wipe configuration</a:t>
            </a:r>
          </a:p>
        </p:txBody>
      </p:sp>
      <p:sp>
        <p:nvSpPr>
          <p:cNvPr id="19" name="TextBox 18"/>
          <p:cNvSpPr txBox="1"/>
          <p:nvPr/>
        </p:nvSpPr>
        <p:spPr>
          <a:xfrm>
            <a:off x="362331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secrets, keys, configs</a:t>
            </a:r>
          </a:p>
        </p:txBody>
      </p:sp>
      <p:cxnSp>
        <p:nvCxnSpPr>
          <p:cNvPr id="20" name="Connector 19"/>
          <p:cNvCxnSpPr/>
          <p:nvPr/>
        </p:nvCxnSpPr>
        <p:spPr>
          <a:xfrm>
            <a:off x="595731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Update the records</a:t>
            </a:r>
          </a:p>
        </p:txBody>
      </p:sp>
      <p:sp>
        <p:nvSpPr>
          <p:cNvPr id="26" name="TextBox 25"/>
          <p:cNvSpPr txBox="1"/>
          <p:nvPr/>
        </p:nvSpPr>
        <p:spPr>
          <a:xfrm>
            <a:off x="637794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inventory, IPAM, diagrams</a:t>
            </a:r>
          </a:p>
        </p:txBody>
      </p:sp>
      <p:cxnSp>
        <p:nvCxnSpPr>
          <p:cNvPr id="27" name="Connector 26"/>
          <p:cNvCxnSpPr/>
          <p:nvPr/>
        </p:nvCxnSpPr>
        <p:spPr>
          <a:xfrm>
            <a:off x="871194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Dispose or redeploy</a:t>
            </a:r>
          </a:p>
        </p:txBody>
      </p:sp>
      <p:sp>
        <p:nvSpPr>
          <p:cNvPr id="33" name="TextBox 32"/>
          <p:cNvSpPr txBox="1"/>
          <p:nvPr/>
        </p:nvSpPr>
        <p:spPr>
          <a:xfrm>
            <a:off x="913257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per asset policy</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WHY IT MATTERS</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decommissioned switch with its config intact is a free map of your network — and its credentials — for whoever buys it second-hand.</a:t>
            </a:r>
          </a:p>
        </p:txBody>
      </p:sp>
      <p:sp>
        <p:nvSpPr>
          <p:cNvPr id="75" name="TextBox 7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76" name="TextBox 7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CHANGE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Change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Service request</a:t>
            </a:r>
          </a:p>
          <a:p>
            <a:pPr algn="l">
              <a:spcAft>
                <a:spcPts val="300"/>
              </a:spcAft>
            </a:pPr>
            <a:r>
              <a:rPr sz="1200" b="0">
                <a:solidFill>
                  <a:srgbClr val="5B6372"/>
                </a:solidFill>
                <a:latin typeface="Arial"/>
              </a:rPr>
              <a:t>Every change starts as a tracked ticket — who wants what, why, and by when.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Impact assessment</a:t>
            </a:r>
          </a:p>
          <a:p>
            <a:pPr algn="l">
              <a:spcAft>
                <a:spcPts val="300"/>
              </a:spcAft>
            </a:pPr>
            <a:r>
              <a:rPr sz="1200" b="0">
                <a:solidFill>
                  <a:srgbClr val="5B6372"/>
                </a:solidFill>
                <a:latin typeface="Arial"/>
              </a:rPr>
              <a:t>What breaks if this goes wrong? Which users, which services, which SLAs are exposed?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Approval</a:t>
            </a:r>
          </a:p>
          <a:p>
            <a:pPr algn="l">
              <a:spcAft>
                <a:spcPts val="300"/>
              </a:spcAft>
            </a:pPr>
            <a:r>
              <a:rPr sz="1200" b="0">
                <a:solidFill>
                  <a:srgbClr val="5B6372"/>
                </a:solidFill>
                <a:latin typeface="Arial"/>
              </a:rPr>
              <a:t>A change advisory board weighs risk against benefit before any window is booked.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Maintenance window</a:t>
            </a:r>
          </a:p>
          <a:p>
            <a:pPr algn="l">
              <a:spcAft>
                <a:spcPts val="300"/>
              </a:spcAft>
            </a:pPr>
            <a:r>
              <a:rPr sz="1200" b="0">
                <a:solidFill>
                  <a:srgbClr val="5B6372"/>
                </a:solidFill>
                <a:latin typeface="Arial"/>
              </a:rPr>
              <a:t>Changes land in agreed low-impact hours, announced to stakeholders in advance.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Rollback plan</a:t>
            </a:r>
          </a:p>
          <a:p>
            <a:pPr algn="l">
              <a:spcAft>
                <a:spcPts val="300"/>
              </a:spcAft>
            </a:pPr>
            <a:r>
              <a:rPr sz="1200" b="0">
                <a:solidFill>
                  <a:srgbClr val="5B6372"/>
                </a:solidFill>
                <a:latin typeface="Arial"/>
              </a:rPr>
              <a:t>Written before the change: the exact steps that restore the last known-good state.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Documentation</a:t>
            </a:r>
          </a:p>
          <a:p>
            <a:pPr algn="l">
              <a:spcAft>
                <a:spcPts val="300"/>
              </a:spcAft>
            </a:pPr>
            <a:r>
              <a:rPr sz="1200" b="0">
                <a:solidFill>
                  <a:srgbClr val="5B6372"/>
                </a:solidFill>
                <a:latin typeface="Arial"/>
              </a:rPr>
              <a:t>The final step — diagrams, configs and the ticket updated to match the new reality.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p:transition spd="fast" advClick="1">
    <p:fade/>
  </p:transition>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CHANGE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Change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Request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ticket + justification</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Assess &amp; approve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CAB weighs the risk</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Schedule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maintenance window</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Implement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rollback plan ready</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Verify &amp; document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update every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Most outages are self-inflicted — change management turns risky edits into reviewed, reversible, documented events.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CHANGE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Standard vs Emergency Changes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Standard change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Emergency change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Pre-approved, low-risk, repeatable</a:t>
            </a:r>
          </a:p>
          <a:p>
            <a:pPr>
              <a:spcAft>
                <a:spcPts val="1000"/>
              </a:spcAft>
            </a:pPr>
            <a:r>
              <a:rPr sz="1600" b="0">
                <a:solidFill>
                  <a:srgbClr val="161B26"/>
                </a:solidFill>
                <a:latin typeface="Arial"/>
              </a:rPr>
              <a:t>•  Follows the full request workflow</a:t>
            </a:r>
          </a:p>
          <a:p>
            <a:pPr>
              <a:spcAft>
                <a:spcPts val="1000"/>
              </a:spcAft>
            </a:pPr>
            <a:r>
              <a:rPr sz="1600" b="0">
                <a:solidFill>
                  <a:srgbClr val="161B26"/>
                </a:solidFill>
                <a:latin typeface="Arial"/>
              </a:rPr>
              <a:t>•  Lands in a planned window</a:t>
            </a:r>
          </a:p>
          <a:p>
            <a:pPr>
              <a:spcAft>
                <a:spcPts val="1000"/>
              </a:spcAft>
            </a:pPr>
            <a:r>
              <a:rPr sz="1600" b="0">
                <a:solidFill>
                  <a:srgbClr val="161B26"/>
                </a:solidFill>
                <a:latin typeface="Arial"/>
              </a:rPr>
              <a:t>•  Example: adding a VLAN to a trunk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Fixes an active outage or exploit</a:t>
            </a:r>
          </a:p>
          <a:p>
            <a:pPr>
              <a:spcAft>
                <a:spcPts val="1000"/>
              </a:spcAft>
            </a:pPr>
            <a:r>
              <a:rPr sz="1600" b="0">
                <a:solidFill>
                  <a:srgbClr val="161B26"/>
                </a:solidFill>
                <a:latin typeface="Arial"/>
              </a:rPr>
              <a:t>•  Approval fast-tracked, never skipped</a:t>
            </a:r>
          </a:p>
          <a:p>
            <a:pPr>
              <a:spcAft>
                <a:spcPts val="1000"/>
              </a:spcAft>
            </a:pPr>
            <a:r>
              <a:rPr sz="1600" b="0">
                <a:solidFill>
                  <a:srgbClr val="161B26"/>
                </a:solidFill>
                <a:latin typeface="Arial"/>
              </a:rPr>
              <a:t>•  Implemented immediately</a:t>
            </a:r>
          </a:p>
          <a:p>
            <a:pPr>
              <a:spcAft>
                <a:spcPts val="1000"/>
              </a:spcAft>
            </a:pPr>
            <a:r>
              <a:rPr sz="1600" b="0">
                <a:solidFill>
                  <a:srgbClr val="161B26"/>
                </a:solidFill>
                <a:latin typeface="Arial"/>
              </a:rPr>
              <a:t>•  Documented retrospectively — always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p:transition spd="fast" advClick="1">
    <p:fade/>
  </p:transition>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3.1 · CHANGE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Post-Change Verification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Does the change verify clean
within the maintenance window?</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close the ticket</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Record the result, update diagrams, configs and baselines, and communicate completion to stakeholders.</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roll back</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Execute the pre-written rollback to the last known-good configuration; never troubleshoot past the window's end.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The rollback trigger is agreed before the change starts — not negotiated at 2 a.m.</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p:transition spd="fast" advClick="1">
    <p:fade/>
  </p:transition>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OBJ 3.2 · NETWORK MONITORING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If you cannot see it, you cannot manage it.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Network monitoring layers device polling (SNMP), traffic summaries (flow data), full packet capture and centralised logs into one operational picture.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p:transition spd="fast" advClick="1">
    <p:fade/>
  </p:transition>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3.2 · NETWORK MONITORING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Network Monitoring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SNMP polling</a:t>
            </a:r>
          </a:p>
          <a:p>
            <a:pPr algn="l">
              <a:spcAft>
                <a:spcPts val="300"/>
              </a:spcAft>
            </a:pPr>
            <a:r>
              <a:rPr sz="1200" b="0">
                <a:solidFill>
                  <a:srgbClr val="5B6372"/>
                </a:solidFill>
                <a:latin typeface="Arial"/>
              </a:rPr>
              <a:t>The NMS asks each device for counters on a schedule — CPU, memory, interface octets, errors.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SNMP traps</a:t>
            </a:r>
          </a:p>
          <a:p>
            <a:pPr algn="l">
              <a:spcAft>
                <a:spcPts val="300"/>
              </a:spcAft>
            </a:pPr>
            <a:r>
              <a:rPr sz="1200" b="0">
                <a:solidFill>
                  <a:srgbClr val="5B6372"/>
                </a:solidFill>
                <a:latin typeface="Arial"/>
              </a:rPr>
              <a:t>The device pushes an alert the moment something happens — no waiting for the next poll.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Flow data</a:t>
            </a:r>
          </a:p>
          <a:p>
            <a:pPr algn="l">
              <a:spcAft>
                <a:spcPts val="300"/>
              </a:spcAft>
            </a:pPr>
            <a:r>
              <a:rPr sz="1200" b="0">
                <a:solidFill>
                  <a:srgbClr val="5B6372"/>
                </a:solidFill>
                <a:latin typeface="Arial"/>
              </a:rPr>
              <a:t>Routers export per-conversation summaries (NetFlow/IPFIX) — who talked to whom, and how much.</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Packet capture</a:t>
            </a:r>
          </a:p>
          <a:p>
            <a:pPr algn="l">
              <a:spcAft>
                <a:spcPts val="300"/>
              </a:spcAft>
            </a:pPr>
            <a:r>
              <a:rPr sz="1200" b="0">
                <a:solidFill>
                  <a:srgbClr val="5B6372"/>
                </a:solidFill>
                <a:latin typeface="Arial"/>
              </a:rPr>
              <a:t>The full contents of every frame — the deepest view, used surgically via port mirroring.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Log aggregation</a:t>
            </a:r>
          </a:p>
          <a:p>
            <a:pPr algn="l">
              <a:spcAft>
                <a:spcPts val="300"/>
              </a:spcAft>
            </a:pPr>
            <a:r>
              <a:rPr sz="1200" b="0">
                <a:solidFill>
                  <a:srgbClr val="5B6372"/>
                </a:solidFill>
                <a:latin typeface="Arial"/>
              </a:rPr>
              <a:t>Syslog from every device lands on one collector for searching and correlation.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API integration</a:t>
            </a:r>
          </a:p>
          <a:p>
            <a:pPr algn="l">
              <a:spcAft>
                <a:spcPts val="300"/>
              </a:spcAft>
            </a:pPr>
            <a:r>
              <a:rPr sz="1200" b="0">
                <a:solidFill>
                  <a:srgbClr val="5B6372"/>
                </a:solidFill>
                <a:latin typeface="Arial"/>
              </a:rPr>
              <a:t>Modern gear exposes REST APIs — monitoring pulls structured JSON instead of screen-scraping CLIs.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p:transition spd="fast" advClick="1">
    <p:fade/>
  </p:transition>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3.2 · SNMP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SNMP Building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Agent</a:t>
            </a:r>
          </a:p>
          <a:p>
            <a:pPr algn="l">
              <a:spcAft>
                <a:spcPts val="300"/>
              </a:spcAft>
            </a:pPr>
            <a:r>
              <a:rPr sz="1200" b="0">
                <a:solidFill>
                  <a:srgbClr val="5B6372"/>
                </a:solidFill>
                <a:latin typeface="Arial"/>
              </a:rPr>
              <a:t>Runs on the managed device, listens on UDP/161 and answers reads from the manager.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NMS / manager</a:t>
            </a:r>
          </a:p>
          <a:p>
            <a:pPr algn="l">
              <a:spcAft>
                <a:spcPts val="300"/>
              </a:spcAft>
            </a:pPr>
            <a:r>
              <a:rPr sz="1200" b="0">
                <a:solidFill>
                  <a:srgbClr val="5B6372"/>
                </a:solidFill>
                <a:latin typeface="Arial"/>
              </a:rPr>
              <a:t>The monitoring station — Zabbix, LibreNMS, PRTG — that polls agents and graphs the results.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MIB</a:t>
            </a:r>
          </a:p>
          <a:p>
            <a:pPr algn="l">
              <a:spcAft>
                <a:spcPts val="300"/>
              </a:spcAft>
            </a:pPr>
            <a:r>
              <a:rPr sz="1200" b="0">
                <a:solidFill>
                  <a:srgbClr val="5B6372"/>
                </a:solidFill>
                <a:latin typeface="Arial"/>
              </a:rPr>
              <a:t>Management Information Base — the tree-structured schema of everything a device can report.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OID</a:t>
            </a:r>
          </a:p>
          <a:p>
            <a:pPr algn="l">
              <a:spcAft>
                <a:spcPts val="300"/>
              </a:spcAft>
            </a:pPr>
            <a:r>
              <a:rPr sz="1200" b="0">
                <a:solidFill>
                  <a:srgbClr val="5B6372"/>
                </a:solidFill>
                <a:latin typeface="Arial"/>
              </a:rPr>
              <a:t>Object identifier — a dotted path into the MIB; 1.3.6.1.2.1.1.3.0 is sysUpTime.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GET vs WALK</a:t>
            </a:r>
          </a:p>
          <a:p>
            <a:pPr algn="l">
              <a:spcAft>
                <a:spcPts val="300"/>
              </a:spcAft>
            </a:pPr>
            <a:r>
              <a:rPr sz="1200" b="0">
                <a:solidFill>
                  <a:srgbClr val="5B6372"/>
                </a:solidFill>
                <a:latin typeface="Arial"/>
              </a:rPr>
              <a:t>snmpget reads one OID; snmpwalk traverses an entire subtree of related objects.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Trap (UDP/162)</a:t>
            </a:r>
          </a:p>
          <a:p>
            <a:pPr algn="l">
              <a:spcAft>
                <a:spcPts val="300"/>
              </a:spcAft>
            </a:pPr>
            <a:r>
              <a:rPr sz="1200" b="0">
                <a:solidFill>
                  <a:srgbClr val="5B6372"/>
                </a:solidFill>
                <a:latin typeface="Arial"/>
              </a:rPr>
              <a:t>Unsolicited notification from agent to manager when a threshold or event fires.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p:transition spd="fast" advClick="1">
    <p:fade/>
  </p:transition>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3.2 · SNMP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SNMP Versions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Version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Security</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Verdict</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v1</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Community string, cleartext</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Legacy — do not use</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v2c</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Community string, cleartext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Adds bulk gets; still unauthenticated</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v3</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User auth + encryption</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only choice for production</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Exam favourite: a community string is a password sent in cleartext — v3 (authPriv) adds real authentication and privacy.</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p:transition spd="fast" advClick="1">
    <p:fade/>
  </p:transition>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3.2 · SNMP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SNMPv3 Security Levels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Authentication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Encryption</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noAuthNoPriv</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Username only</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None</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authNoPriv</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SHA/MD5 digest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None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authPriv</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SHA/MD5 digest</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AES/DES — full privacy</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authPriv is the deployment target: the manager is authenticated and the polled data is encrypted in transit.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p:transition spd="fast" advClick="1">
    <p:fade/>
  </p:transition>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3.2 · SNMP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Traps vs Polls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Polling (GET, UDP/161)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Traps (UDP/162)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Manager pulls on a fixed schedule</a:t>
            </a:r>
          </a:p>
          <a:p>
            <a:pPr>
              <a:spcAft>
                <a:spcPts val="1000"/>
              </a:spcAft>
            </a:pPr>
            <a:r>
              <a:rPr sz="1600" b="0">
                <a:solidFill>
                  <a:srgbClr val="161B26"/>
                </a:solidFill>
                <a:latin typeface="Arial"/>
              </a:rPr>
              <a:t>•  Regular series — ideal for graphs</a:t>
            </a:r>
          </a:p>
          <a:p>
            <a:pPr>
              <a:spcAft>
                <a:spcPts val="1000"/>
              </a:spcAft>
            </a:pPr>
            <a:r>
              <a:rPr sz="1600" b="0">
                <a:solidFill>
                  <a:srgbClr val="161B26"/>
                </a:solidFill>
                <a:latin typeface="Arial"/>
              </a:rPr>
              <a:t>•  Misses events between polls</a:t>
            </a:r>
          </a:p>
          <a:p>
            <a:pPr>
              <a:spcAft>
                <a:spcPts val="1000"/>
              </a:spcAft>
            </a:pPr>
            <a:r>
              <a:rPr sz="1600" b="0">
                <a:solidFill>
                  <a:srgbClr val="161B26"/>
                </a:solidFill>
                <a:latin typeface="Arial"/>
              </a:rPr>
              <a:t>•  Predictable load on devices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Device pushes the moment events fire</a:t>
            </a:r>
          </a:p>
          <a:p>
            <a:pPr>
              <a:spcAft>
                <a:spcPts val="1000"/>
              </a:spcAft>
            </a:pPr>
            <a:r>
              <a:rPr sz="1600" b="0">
                <a:solidFill>
                  <a:srgbClr val="161B26"/>
                </a:solidFill>
                <a:latin typeface="Arial"/>
              </a:rPr>
              <a:t>•  Instant notification of failures</a:t>
            </a:r>
          </a:p>
          <a:p>
            <a:pPr>
              <a:spcAft>
                <a:spcPts val="1000"/>
              </a:spcAft>
            </a:pPr>
            <a:r>
              <a:rPr sz="1600" b="0">
                <a:solidFill>
                  <a:srgbClr val="161B26"/>
                </a:solidFill>
                <a:latin typeface="Arial"/>
              </a:rPr>
              <a:t>•  Fire-and-forget — can be lost</a:t>
            </a:r>
          </a:p>
          <a:p>
            <a:pPr>
              <a:spcAft>
                <a:spcPts val="1000"/>
              </a:spcAft>
            </a:pPr>
            <a:r>
              <a:rPr sz="1600" b="0">
                <a:solidFill>
                  <a:srgbClr val="161B26"/>
                </a:solidFill>
                <a:latin typeface="Arial"/>
              </a:rPr>
              <a:t>•  Informs add acknowledgement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263</a:t>
            </a:r>
          </a:p>
        </p:txBody>
      </p:sp>
    </p:spTree>
  </p:cSld>
  <p:clrMapOvr>
    <a:masterClrMapping/>
  </p:clrMapOvr>
  <p:transition spd="fast" advClick="1">
    <p:fade/>
  </p:transition>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3.2 · SNMP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snmpwalk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A v2c walk of the system subtree against the lab agent.</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snmpwalk -v2c -c public 127.0.0.1 system</a:t>
            </a:r>
          </a:p>
          <a:p>
            <a:pPr>
              <a:spcAft>
                <a:spcPts val="200"/>
              </a:spcAft>
            </a:pPr>
            <a:r>
              <a:rPr sz="1100">
                <a:solidFill>
                  <a:srgbClr val="D4D4D4"/>
                </a:solidFill>
                <a:latin typeface="Consolas"/>
              </a:rPr>
              <a:t>SNMPv2-MIB::sysDescr.0 = STRING: Linux ubuntu</a:t>
            </a:r>
          </a:p>
          <a:p>
            <a:pPr>
              <a:spcAft>
                <a:spcPts val="200"/>
              </a:spcAft>
            </a:pPr>
            <a:r>
              <a:rPr sz="1100">
                <a:solidFill>
                  <a:srgbClr val="9CDCFE"/>
                </a:solidFill>
                <a:latin typeface="Consolas"/>
              </a:rPr>
              <a:t>    5.15.0-91-generic x86_64</a:t>
            </a:r>
          </a:p>
          <a:p>
            <a:pPr>
              <a:spcAft>
                <a:spcPts val="200"/>
              </a:spcAft>
            </a:pPr>
            <a:r>
              <a:rPr sz="1100">
                <a:solidFill>
                  <a:srgbClr val="D4D4D4"/>
                </a:solidFill>
                <a:latin typeface="Consolas"/>
              </a:rPr>
              <a:t>SNMPv2-MIB::sysObjectID.0 = OID:</a:t>
            </a:r>
          </a:p>
          <a:p>
            <a:pPr>
              <a:spcAft>
                <a:spcPts val="200"/>
              </a:spcAft>
            </a:pPr>
            <a:r>
              <a:rPr sz="1100">
                <a:solidFill>
                  <a:srgbClr val="9CDCFE"/>
                </a:solidFill>
                <a:latin typeface="Consolas"/>
              </a:rPr>
              <a:t>    NET-SNMP-MIB::netSnmpAgentOIDs.10</a:t>
            </a:r>
          </a:p>
          <a:p>
            <a:pPr>
              <a:spcAft>
                <a:spcPts val="200"/>
              </a:spcAft>
            </a:pPr>
            <a:r>
              <a:rPr sz="1100">
                <a:solidFill>
                  <a:srgbClr val="D4D4D4"/>
                </a:solidFill>
                <a:latin typeface="Consolas"/>
              </a:rPr>
              <a:t>DISMAN-EVENT-MIB::sysUpTimeInstance =</a:t>
            </a:r>
          </a:p>
          <a:p>
            <a:pPr>
              <a:spcAft>
                <a:spcPts val="200"/>
              </a:spcAft>
            </a:pPr>
            <a:r>
              <a:rPr sz="1100">
                <a:solidFill>
                  <a:srgbClr val="9CDCFE"/>
                </a:solidFill>
                <a:latin typeface="Consolas"/>
              </a:rPr>
              <a:t>    Timeticks: (8642100) 1 day, 0:00:21.00</a:t>
            </a:r>
          </a:p>
          <a:p>
            <a:pPr>
              <a:spcAft>
                <a:spcPts val="200"/>
              </a:spcAft>
            </a:pPr>
            <a:r>
              <a:rPr sz="1100">
                <a:solidFill>
                  <a:srgbClr val="D4D4D4"/>
                </a:solidFill>
                <a:latin typeface="Consolas"/>
              </a:rPr>
              <a:t>SNMPv2-MIB::sysContact.0 = STRING: root@lab</a:t>
            </a:r>
          </a:p>
          <a:p>
            <a:pPr>
              <a:spcAft>
                <a:spcPts val="200"/>
              </a:spcAft>
            </a:pPr>
            <a:r>
              <a:rPr sz="1100">
                <a:solidFill>
                  <a:srgbClr val="D4D4D4"/>
                </a:solidFill>
                <a:latin typeface="Consolas"/>
              </a:rPr>
              <a:t>SNMPv2-MIB::sysName.0 = STRING: ubuntu</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-v2c -c public</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Version 2c with community 'public' — the credential, and it crosses the wire in cleartext.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MIB::name.0</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With MIBs installed, numeric OIDs render as names — sysDescr.0 instead of 1.3.6.1.2.1.1.1.0.</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Timeticks</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sysUpTime counts hundredths of a second — a sudden reset here means the device rebooted.</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264</a:t>
            </a:r>
          </a:p>
        </p:txBody>
      </p:sp>
    </p:spTree>
  </p:cSld>
  <p:clrMapOvr>
    <a:masterClrMapping/>
  </p:clrMapOvr>
  <p:transition spd="fast" advClick="1">
    <p:fade/>
  </p:transition>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SNMP Monitoring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 SNMP agent and poll MIB objects with snmpwalk and snmpget (OBJ 3.2).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Install snmpd on Ubuntu, configure a read-only v2c community string, then walk the system and IF-MIB subtrees to read uptime, interface names and live traffic counters — the raw data every NMS graphs.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polling-ready SNMP agent on UDP/161 answering v2c queries, plus walked system and interface OIDs.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snmpd, snmpwalk, snmpget, snmp-mibs-downloader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snmpwalk returns sysDescr/sysUpTime values and IF-MIB::ifInOctets shows a rising octet counter per interface — rerun it and watch the numbers grow.</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265</a:t>
            </a:r>
          </a:p>
        </p:txBody>
      </p:sp>
    </p:spTree>
  </p:cSld>
  <p:clrMapOvr>
    <a:masterClrMapping/>
  </p:clrMapOvr>
  <p:transition spd="fast" advClick="1">
    <p:fade/>
  </p:transition>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Install the SNMP agent and client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Add a read-only community for loopback</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echo · step 2</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Restart the agent to load the new</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systemctl · step 3</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Fetch a single OID with snmpget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snmpget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Walk the per-interface traffic</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snmpwalk · step 6</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 SNMP agent and poll MIB objects with snmpwalk and snmpget (OBJ 3.2).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SNMP Monitoring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snmpwalk returns sysDescr/sysUpTime values and IF-MIB::ifInOctets shows a rising octet counter per interface — rerun it and watch the numbers grow.</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Timeout: No Response from 127.0.0.1</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Restart snmpd and confirm agentaddress in snmpd.conf includes udp:127.0.0.1:161.</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Output shows numeric OIDs only</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Install snmp-mibs-downloader and comment out the 'mibs :' line in /etc/snmp/snmp.conf.</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Authentication/community failure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Community mismatch — use -c public and confirm the rocommunity line was appended to snmpd.conf.</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267</a:t>
            </a:r>
          </a:p>
        </p:txBody>
      </p:sp>
    </p:spTree>
  </p:cSld>
  <p:clrMapOvr>
    <a:masterClrMapping/>
  </p:clrMapOvr>
  <p:transition spd="fast" advClick="1">
    <p:fade/>
  </p:transition>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3.2 · FLOW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Flow Data — NetFlow &amp; IPFIX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a flow is</a:t>
            </a:r>
          </a:p>
          <a:p>
            <a:pPr algn="l">
              <a:spcAft>
                <a:spcPts val="300"/>
              </a:spcAft>
            </a:pPr>
            <a:r>
              <a:rPr sz="1200" b="0">
                <a:solidFill>
                  <a:srgbClr val="5B6372"/>
                </a:solidFill>
                <a:latin typeface="Arial"/>
              </a:rPr>
              <a:t>One record per conversation: the 5-tuple plus byte, packet and duration counters — metadata, no payload.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Exporter</a:t>
            </a:r>
          </a:p>
          <a:p>
            <a:pPr algn="l">
              <a:spcAft>
                <a:spcPts val="300"/>
              </a:spcAft>
            </a:pPr>
            <a:r>
              <a:rPr sz="1200" b="0">
                <a:solidFill>
                  <a:srgbClr val="5B6372"/>
                </a:solidFill>
                <a:latin typeface="Arial"/>
              </a:rPr>
              <a:t>The router, switch or probe (fprobe in the lab) that watches traffic and emits flow records.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Collector</a:t>
            </a:r>
          </a:p>
          <a:p>
            <a:pPr algn="l">
              <a:spcAft>
                <a:spcPts val="300"/>
              </a:spcAft>
            </a:pPr>
            <a:r>
              <a:rPr sz="1200" b="0">
                <a:solidFill>
                  <a:srgbClr val="5B6372"/>
                </a:solidFill>
                <a:latin typeface="Arial"/>
              </a:rPr>
              <a:t>Receives and stores the records — nfcapd listening on UDP/9995 in the lab.</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Analyser</a:t>
            </a:r>
          </a:p>
          <a:p>
            <a:pPr algn="l">
              <a:spcAft>
                <a:spcPts val="300"/>
              </a:spcAft>
            </a:pPr>
            <a:r>
              <a:rPr sz="1200" b="0">
                <a:solidFill>
                  <a:srgbClr val="5B6372"/>
                </a:solidFill>
                <a:latin typeface="Arial"/>
              </a:rPr>
              <a:t>nfdump, ntopng or a SIEM turns stored flows into top-talker and capacity reports.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Versions</a:t>
            </a:r>
          </a:p>
          <a:p>
            <a:pPr algn="l">
              <a:spcAft>
                <a:spcPts val="300"/>
              </a:spcAft>
            </a:pPr>
            <a:r>
              <a:rPr sz="1200" b="0">
                <a:solidFill>
                  <a:srgbClr val="5B6372"/>
                </a:solidFill>
                <a:latin typeface="Arial"/>
              </a:rPr>
              <a:t>NetFlow v5 (fixed fields), v9 (templates), IPFIX (the IETF standard), sFlow (packet sampling).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vs packet capture</a:t>
            </a:r>
          </a:p>
          <a:p>
            <a:pPr algn="l">
              <a:spcAft>
                <a:spcPts val="300"/>
              </a:spcAft>
            </a:pPr>
            <a:r>
              <a:rPr sz="1200" b="0">
                <a:solidFill>
                  <a:srgbClr val="5B6372"/>
                </a:solidFill>
                <a:latin typeface="Arial"/>
              </a:rPr>
              <a:t>Flows are tiny to store and keep weeks of history; capture keeps payloads but only for minutes.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268</a:t>
            </a:r>
          </a:p>
        </p:txBody>
      </p:sp>
    </p:spTree>
  </p:cSld>
  <p:clrMapOvr>
    <a:masterClrMapping/>
  </p:clrMapOvr>
  <p:transition spd="fast" advClick="1">
    <p:fade/>
  </p:transition>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3.2 · FLOW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an nfdump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Top source IPs summarised from the lab collector's stored flows.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nfdump -R /tmp/flows -s srcip -n 3</a:t>
            </a:r>
          </a:p>
          <a:p>
            <a:pPr>
              <a:spcAft>
                <a:spcPts val="200"/>
              </a:spcAft>
            </a:pPr>
            <a:r>
              <a:rPr sz="1100">
                <a:solidFill>
                  <a:srgbClr val="9CDCFE"/>
                </a:solidFill>
                <a:latin typeface="Consolas"/>
              </a:rPr>
              <a:t>Top 3 Src IP Addr ordered by flows:</a:t>
            </a:r>
          </a:p>
          <a:p>
            <a:pPr>
              <a:spcAft>
                <a:spcPts val="200"/>
              </a:spcAft>
            </a:pPr>
            <a:r>
              <a:rPr sz="1100">
                <a:solidFill>
                  <a:srgbClr val="9CDCFE"/>
                </a:solidFill>
                <a:latin typeface="Consolas"/>
              </a:rPr>
              <a:t>Date first seen    Src IP Addr  Flows  Bytes</a:t>
            </a:r>
          </a:p>
          <a:p>
            <a:pPr>
              <a:spcAft>
                <a:spcPts val="200"/>
              </a:spcAft>
            </a:pPr>
            <a:r>
              <a:rPr sz="1100">
                <a:solidFill>
                  <a:srgbClr val="9CDCFE"/>
                </a:solidFill>
                <a:latin typeface="Consolas"/>
              </a:rPr>
              <a:t>09:12:04 2026      10.0.0.15      142  8.1 M</a:t>
            </a:r>
          </a:p>
          <a:p>
            <a:pPr>
              <a:spcAft>
                <a:spcPts val="200"/>
              </a:spcAft>
            </a:pPr>
            <a:r>
              <a:rPr sz="1100">
                <a:solidFill>
                  <a:srgbClr val="9CDCFE"/>
                </a:solidFill>
                <a:latin typeface="Consolas"/>
              </a:rPr>
              <a:t>09:12:31 2026      10.0.0.22       57  1.2 M</a:t>
            </a:r>
          </a:p>
          <a:p>
            <a:pPr>
              <a:spcAft>
                <a:spcPts val="200"/>
              </a:spcAft>
            </a:pPr>
            <a:r>
              <a:rPr sz="1100">
                <a:solidFill>
                  <a:srgbClr val="9CDCFE"/>
                </a:solidFill>
                <a:latin typeface="Consolas"/>
              </a:rPr>
              <a:t>09:13:02 2026      8.8.8.8         12   4560</a:t>
            </a:r>
          </a:p>
          <a:p>
            <a:pPr>
              <a:spcAft>
                <a:spcPts val="200"/>
              </a:spcAft>
            </a:pPr>
            <a:r>
              <a:rPr sz="1100">
                <a:solidFill>
                  <a:srgbClr val="9CDCFE"/>
                </a:solidFill>
                <a:latin typeface="Consolas"/>
              </a:rPr>
              <a:t>Summary: total flows: 211, bytes: 9.4 M</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-s srcip</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Aggregate by source IP — an instant top-talkers list for capacity or incident work.</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Flows vs Bytes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Many flows with few bytes suggests scanning; few flows with huge bytes means bulk transfer.</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-R /tmp/flows</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Reads every rolled capture file in the directory — flow history is just files on disk.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269</a:t>
            </a:r>
          </a:p>
        </p:txBody>
      </p:sp>
    </p:spTree>
  </p:cSld>
  <p:clrMapOvr>
    <a:masterClrMapping/>
  </p:clrMapOvr>
  <p:transition spd="fast" advClick="1">
    <p:fade/>
  </p:transition>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3.2 · PACKET CAPTURE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Packet Capture &amp; Port Mirroring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Port mirroring (SPAN)</a:t>
            </a:r>
          </a:p>
          <a:p>
            <a:pPr algn="l">
              <a:spcAft>
                <a:spcPts val="300"/>
              </a:spcAft>
            </a:pPr>
            <a:r>
              <a:rPr sz="1200" b="0">
                <a:solidFill>
                  <a:srgbClr val="5B6372"/>
                </a:solidFill>
                <a:latin typeface="Arial"/>
              </a:rPr>
              <a:t>The switch copies frames from chosen ports or VLANs to an analyser port — capture without touching the path.</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Network TAP</a:t>
            </a:r>
          </a:p>
          <a:p>
            <a:pPr algn="l">
              <a:spcAft>
                <a:spcPts val="300"/>
              </a:spcAft>
            </a:pPr>
            <a:r>
              <a:rPr sz="1200" b="0">
                <a:solidFill>
                  <a:srgbClr val="5B6372"/>
                </a:solidFill>
                <a:latin typeface="Arial"/>
              </a:rPr>
              <a:t>Inline hardware splits the signal to a monitor port — sees every bit, including errors SPAN may drop.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Full capture</a:t>
            </a:r>
          </a:p>
          <a:p>
            <a:pPr algn="l">
              <a:spcAft>
                <a:spcPts val="300"/>
              </a:spcAft>
            </a:pPr>
            <a:r>
              <a:rPr sz="1200" b="0">
                <a:solidFill>
                  <a:srgbClr val="5B6372"/>
                </a:solidFill>
                <a:latin typeface="Arial"/>
              </a:rPr>
              <a:t>tcpdump and Wireshark record whole packets, payloads included — storage-hungry, deepest evidence.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Choosing the tool</a:t>
            </a:r>
          </a:p>
          <a:p>
            <a:pPr algn="l">
              <a:spcAft>
                <a:spcPts val="300"/>
              </a:spcAft>
            </a:pPr>
            <a:r>
              <a:rPr sz="1200" b="0">
                <a:solidFill>
                  <a:srgbClr val="5B6372"/>
                </a:solidFill>
                <a:latin typeface="Arial"/>
              </a:rPr>
              <a:t>Flows for trends and history, capture for deep dives — mirror only what you must, only as long as you must.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270</a:t>
            </a:r>
          </a:p>
        </p:txBody>
      </p:sp>
    </p:spTree>
  </p:cSld>
  <p:clrMapOvr>
    <a:masterClrMapping/>
  </p:clrMapOvr>
  <p:transition spd="fast" advClick="1">
    <p:fade/>
  </p:transition>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NetFlow Analysis with nfdump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Export, collect and analyse flow data to find top talkers and busiest ports (OBJ 3.2).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Run a flow exporter (fprobe) and collector (nfcapd) on one VM, generate web and ICMP traffic, then use nfdump to build top-talker and destination-port reports from the captured flow records.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working exporter-to-collector NetFlow v5 pipeline with nfdump top-N reports of your own traffic.</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fprobe, nfcapd, nfdump, curl, ping</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nfdump -R /tmp/flows -s srcip lists your VM as a top talker and -s dstport shows ports 443 and ICMP traffic from the curl and ping you generated.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271</a:t>
            </a:r>
          </a:p>
        </p:txBody>
      </p:sp>
    </p:spTree>
  </p:cSld>
  <p:clrMapOvr>
    <a:masterClrMapping/>
  </p:clrMapOvr>
  <p:transition spd="fast" advClick="1">
    <p:fade/>
  </p:transition>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Install the flow collector and</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Start fprobe exporting NetFlow v5</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fprobe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Generate web and ICMP traffic to</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curl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Wait for the collector to roll a file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sleep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Stop the exporter and collector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pkill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Export, collect and analyse flow data to find top talkers and busiest ports (OBJ 3.2).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NetFlow Analysis with nfdump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nfdump -R /tmp/flows -s srcip lists your VM as a top talker and -s dstport shows ports 443 and ICMP traffic from the curl and ping you generated.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nfdump: no matched flows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Wait the full 60 s — nfcapd only rolls a readable file every rotation interval.</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Collector directory is empty</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fprobe points at 127.0.0.1:9995 and nfcapd is running with -p 9995 (check with ps).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fprobe: no such device eth0</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List interfaces with ip link and start fprobe against the VM's actual NIC name.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273</a:t>
            </a:r>
          </a:p>
        </p:txBody>
      </p:sp>
    </p:spTree>
  </p:cSld>
  <p:clrMapOvr>
    <a:masterClrMapping/>
  </p:clrMapOvr>
  <p:transition spd="fast" advClick="1">
    <p:fade/>
  </p:transition>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3.2 · LOG AGGREGATION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 Aggregation with Syslog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centralise</a:t>
            </a:r>
          </a:p>
          <a:p>
            <a:pPr algn="l">
              <a:spcAft>
                <a:spcPts val="300"/>
              </a:spcAft>
            </a:pPr>
            <a:r>
              <a:rPr sz="1200" b="0">
                <a:solidFill>
                  <a:srgbClr val="5B6372"/>
                </a:solidFill>
                <a:latin typeface="Arial"/>
              </a:rPr>
              <a:t>Logs on a failed or compromised device are gone; on a collector they survive and can be correlated.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Syslog transport</a:t>
            </a:r>
          </a:p>
          <a:p>
            <a:pPr algn="l">
              <a:spcAft>
                <a:spcPts val="300"/>
              </a:spcAft>
            </a:pPr>
            <a:r>
              <a:rPr sz="1200" b="0">
                <a:solidFill>
                  <a:srgbClr val="5B6372"/>
                </a:solidFill>
                <a:latin typeface="Arial"/>
              </a:rPr>
              <a:t>UDP/514 classic, TCP/514 for reliable delivery, TLS on TCP/6514 for confidentiality.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Facility.severity</a:t>
            </a:r>
          </a:p>
          <a:p>
            <a:pPr algn="l">
              <a:spcAft>
                <a:spcPts val="300"/>
              </a:spcAft>
            </a:pPr>
            <a:r>
              <a:rPr sz="1200" b="0">
                <a:solidFill>
                  <a:srgbClr val="5B6372"/>
                </a:solidFill>
                <a:latin typeface="Arial"/>
              </a:rPr>
              <a:t>Every message carries both tags — auth.warning, local0.info — and selectors route on them.</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Collector</a:t>
            </a:r>
          </a:p>
          <a:p>
            <a:pPr algn="l">
              <a:spcAft>
                <a:spcPts val="300"/>
              </a:spcAft>
            </a:pPr>
            <a:r>
              <a:rPr sz="1200" b="0">
                <a:solidFill>
                  <a:srgbClr val="5B6372"/>
                </a:solidFill>
                <a:latin typeface="Arial"/>
              </a:rPr>
              <a:t>rsyslog or syslog-ng receives, filters and stores; the SIEM ingests from there.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Retention &amp; WORM</a:t>
            </a:r>
          </a:p>
          <a:p>
            <a:pPr algn="l">
              <a:spcAft>
                <a:spcPts val="300"/>
              </a:spcAft>
            </a:pPr>
            <a:r>
              <a:rPr sz="1200" b="0">
                <a:solidFill>
                  <a:srgbClr val="5B6372"/>
                </a:solidFill>
                <a:latin typeface="Arial"/>
              </a:rPr>
              <a:t>Keep logs long enough for compliance and incident timelines; write-once storage resists tampering.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the pipeline</a:t>
            </a:r>
          </a:p>
          <a:p>
            <a:pPr algn="l">
              <a:spcAft>
                <a:spcPts val="300"/>
              </a:spcAft>
            </a:pPr>
            <a:r>
              <a:rPr sz="1200" b="0">
                <a:solidFill>
                  <a:srgbClr val="5B6372"/>
                </a:solidFill>
                <a:latin typeface="Arial"/>
              </a:rPr>
              <a:t>logger injects an event end-to-end — prove forwarding works before an incident depends on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274</a:t>
            </a:r>
          </a:p>
        </p:txBody>
      </p:sp>
    </p:spTree>
  </p:cSld>
  <p:clrMapOvr>
    <a:masterClrMapping/>
  </p:clrMapOvr>
  <p:transition spd="fast" advClick="1">
    <p:fade/>
  </p:transition>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3.2 · LOG AGGREGATION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Syslog Severity Levels 0-7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Keyword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Meaning</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0</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emergency</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System unusable — all hands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1 / 2</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alert / critical</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Act immediately / critical fault</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3 / 4</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error / warning</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Failures and conditions to review</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5 / 6</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notice / info</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Significant-but-normal / routine events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7</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debug</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Verbose troubleshooting output</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Lower number = more severe. Logging 'at level 4' collects 0-4; debug is switched on only while you troubleshoot.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275</a:t>
            </a:r>
          </a:p>
        </p:txBody>
      </p:sp>
    </p:spTree>
  </p:cSld>
  <p:clrMapOvr>
    <a:masterClrMapping/>
  </p:clrMapOvr>
  <p:transition spd="fast" advClick="1">
    <p:fade/>
  </p:transition>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3.2 · SIEM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SIEM — Aggregate, Correlate, Alert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Aggregation</a:t>
            </a:r>
          </a:p>
          <a:p>
            <a:pPr algn="l">
              <a:spcAft>
                <a:spcPts val="300"/>
              </a:spcAft>
            </a:pPr>
            <a:r>
              <a:rPr sz="1200" b="0">
                <a:solidFill>
                  <a:srgbClr val="5B6372"/>
                </a:solidFill>
                <a:latin typeface="Arial"/>
              </a:rPr>
              <a:t>One searchable store for logs, flows and alerts from every source in the estate.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Correlation</a:t>
            </a:r>
          </a:p>
          <a:p>
            <a:pPr algn="l">
              <a:spcAft>
                <a:spcPts val="300"/>
              </a:spcAft>
            </a:pPr>
            <a:r>
              <a:rPr sz="1200" b="0">
                <a:solidFill>
                  <a:srgbClr val="5B6372"/>
                </a:solidFill>
                <a:latin typeface="Arial"/>
              </a:rPr>
              <a:t>Links related events across systems — one failed login is noise; 500 across 20 hosts is an attack.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Alerting</a:t>
            </a:r>
          </a:p>
          <a:p>
            <a:pPr algn="l">
              <a:spcAft>
                <a:spcPts val="300"/>
              </a:spcAft>
            </a:pPr>
            <a:r>
              <a:rPr sz="1200" b="0">
                <a:solidFill>
                  <a:srgbClr val="5B6372"/>
                </a:solidFill>
                <a:latin typeface="Arial"/>
              </a:rPr>
              <a:t>Configurable triggers and thresholds notify the on-call the moment a pattern fires.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WORM storage</a:t>
            </a:r>
          </a:p>
          <a:p>
            <a:pPr algn="l">
              <a:spcAft>
                <a:spcPts val="300"/>
              </a:spcAft>
            </a:pPr>
            <a:r>
              <a:rPr sz="1200" b="0">
                <a:solidFill>
                  <a:srgbClr val="5B6372"/>
                </a:solidFill>
                <a:latin typeface="Arial"/>
              </a:rPr>
              <a:t>Write once, read many — evidence-grade log storage that cannot be quietly edited.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276</a:t>
            </a:r>
          </a:p>
        </p:txBody>
      </p:sp>
    </p:spTree>
  </p:cSld>
  <p:clrMapOvr>
    <a:masterClrMapping/>
  </p:clrMapOvr>
  <p:transition spd="fast" advClick="1">
    <p:fade/>
  </p:transition>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3.2 · LOG AGGREGATION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Working the Aggregated 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grep / grep -E</a:t>
            </a:r>
          </a:p>
          <a:p>
            <a:pPr algn="l">
              <a:spcAft>
                <a:spcPts val="300"/>
              </a:spcAft>
            </a:pPr>
            <a:r>
              <a:rPr sz="1200" b="0">
                <a:solidFill>
                  <a:srgbClr val="5B6372"/>
                </a:solidFill>
                <a:latin typeface="Arial"/>
              </a:rPr>
              <a:t>First-line analysis — filter the collector's log by host, tag, severity or pattern.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Regular expressions</a:t>
            </a:r>
          </a:p>
          <a:p>
            <a:pPr algn="l">
              <a:spcAft>
                <a:spcPts val="300"/>
              </a:spcAft>
            </a:pPr>
            <a:r>
              <a:rPr sz="1200" b="0">
                <a:solidFill>
                  <a:srgbClr val="5B6372"/>
                </a:solidFill>
                <a:latin typeface="Arial"/>
              </a:rPr>
              <a:t>Match classes of events, not single strings — build and test them in the TIS Regex Generator, then run with grep -E.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logger</a:t>
            </a:r>
          </a:p>
          <a:p>
            <a:pPr algn="l">
              <a:spcAft>
                <a:spcPts val="300"/>
              </a:spcAft>
            </a:pPr>
            <a:r>
              <a:rPr sz="1200" b="0">
                <a:solidFill>
                  <a:srgbClr val="5B6372"/>
                </a:solidFill>
                <a:latin typeface="Arial"/>
              </a:rPr>
              <a:t>Injects labelled test events (-p local0.info) so you can verify routing rules safely.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Structured logging</a:t>
            </a:r>
          </a:p>
          <a:p>
            <a:pPr algn="l">
              <a:spcAft>
                <a:spcPts val="300"/>
              </a:spcAft>
            </a:pPr>
            <a:r>
              <a:rPr sz="1200" b="0">
                <a:solidFill>
                  <a:srgbClr val="5B6372"/>
                </a:solidFill>
                <a:latin typeface="Arial"/>
              </a:rPr>
              <a:t>JSON output and APIs feed parsers directly, replacing fragile text scraping.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277</a:t>
            </a:r>
          </a:p>
        </p:txBody>
      </p:sp>
    </p:spTree>
  </p:cSld>
  <p:clrMapOvr>
    <a:masterClrMapping/>
  </p:clrMapOvr>
  <p:transition spd="fast" advClick="1">
    <p:fade/>
  </p:transition>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Centralised Logging with Rsyslog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Build a syslog forwarding pipeline and filter aggregated events by severity and pattern (OBJ 3.2).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Configure rsyslog to receive on TCP/514 and forward to itself over loopback, inject test events with logger, then verify and filter the aggregated log — including a regex built in the TIS Regex Generator.</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send-and-receive rsyslog collector on TCP/514 with verified test events and regex-filtered output.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rsyslog, logger, ss, grep -E, TIS Regex Generator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ss shows rsyslog listening on :514, grep finds the injected 'Network+ Lab 17 test event' in /var/log/syslog, and your grep -E regex from the TIS Regex Generator matches it too.</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278</a:t>
            </a:r>
          </a:p>
        </p:txBody>
      </p:sp>
    </p:spTree>
  </p:cSld>
  <p:clrMapOvr>
    <a:masterClrMapping/>
  </p:clrMapOvr>
  <p:transition spd="fast" advClick="1">
    <p:fade/>
  </p:transition>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Enable the imtcp receiver module in</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sed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Forward every event to the collector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echo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Restart rsyslog and confirm the 514</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systemctl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Inject a test event with an explicit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logger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Build a regex in the TIS Regex</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grep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Build a syslog forwarding pipeline and filter aggregated events by severity and pattern (OBJ 3.2).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Centralised Logging with Rsyslog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ss shows rsyslog listening on :514, grep finds the injected 'Network+ Lab 17 test event' in /var/log/syslog, and your grep -E regex from the TIS Regex Generator matches it too.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listening on port 514</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Both sed edits must apply — recheck rsyslog.conf uncommented imtcp lines, then restart rsyslog.</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event missing from syslog</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logger without -p first; then check /etc/rsyslog.d/50-forward.conf uses @@127.0.0.1:514.</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grep -E returns no matches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Test the regex in the TIS Regex Generator against a pasted log line before using it with grep.</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280</a:t>
            </a:r>
          </a:p>
        </p:txBody>
      </p:sp>
    </p:spTree>
  </p:cSld>
  <p:clrMapOvr>
    <a:masterClrMapping/>
  </p:clrMapOvr>
  <p:transition spd="fast" advClick="1">
    <p:fade/>
  </p:transition>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OBJ 3.4 · NETWORK SERVICES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quiet services every network leans 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DHCP hands out addresses, DNS resolves names, NTP keeps every clock honest — and when any of them wobbles, everything else looks broken.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281</a:t>
            </a:r>
          </a:p>
        </p:txBody>
      </p:sp>
    </p:spTree>
  </p:cSld>
  <p:clrMapOvr>
    <a:masterClrMapping/>
  </p:clrMapOvr>
  <p:transition spd="fast" advClick="1">
    <p:fade/>
  </p:transition>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3.4 · DHCP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DHCP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Scope</a:t>
            </a:r>
          </a:p>
          <a:p>
            <a:pPr algn="l">
              <a:spcAft>
                <a:spcPts val="300"/>
              </a:spcAft>
            </a:pPr>
            <a:r>
              <a:rPr sz="1200" b="0">
                <a:solidFill>
                  <a:srgbClr val="5B6372"/>
                </a:solidFill>
                <a:latin typeface="Arial"/>
              </a:rPr>
              <a:t>The pool of addresses the server may lease on one subnet, minus any exclusions.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Lease</a:t>
            </a:r>
          </a:p>
          <a:p>
            <a:pPr algn="l">
              <a:spcAft>
                <a:spcPts val="300"/>
              </a:spcAft>
            </a:pPr>
            <a:r>
              <a:rPr sz="1200" b="0">
                <a:solidFill>
                  <a:srgbClr val="5B6372"/>
                </a:solidFill>
                <a:latin typeface="Arial"/>
              </a:rPr>
              <a:t>An address is borrowed, not owned — the client renews at 50% of the lease time.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Reservation</a:t>
            </a:r>
          </a:p>
          <a:p>
            <a:pPr algn="l">
              <a:spcAft>
                <a:spcPts val="300"/>
              </a:spcAft>
            </a:pPr>
            <a:r>
              <a:rPr sz="1200" b="0">
                <a:solidFill>
                  <a:srgbClr val="5B6372"/>
                </a:solidFill>
                <a:latin typeface="Arial"/>
              </a:rPr>
              <a:t>A fixed IP bound to a MAC address — printers and servers get the same address every 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Options</a:t>
            </a:r>
          </a:p>
          <a:p>
            <a:pPr algn="l">
              <a:spcAft>
                <a:spcPts val="300"/>
              </a:spcAft>
            </a:pPr>
            <a:r>
              <a:rPr sz="1200" b="0">
                <a:solidFill>
                  <a:srgbClr val="5B6372"/>
                </a:solidFill>
                <a:latin typeface="Arial"/>
              </a:rPr>
              <a:t>Extras pushed with the lease: router (3), DNS (6), domain name (15), TFTP for phones (66).</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Relay / IP helper</a:t>
            </a:r>
          </a:p>
          <a:p>
            <a:pPr algn="l">
              <a:spcAft>
                <a:spcPts val="300"/>
              </a:spcAft>
            </a:pPr>
            <a:r>
              <a:rPr sz="1200" b="0">
                <a:solidFill>
                  <a:srgbClr val="5B6372"/>
                </a:solidFill>
                <a:latin typeface="Arial"/>
              </a:rPr>
              <a:t>A router forwards the local DHCP broadcast as unicast to a central server on another subnet.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Exclusions</a:t>
            </a:r>
          </a:p>
          <a:p>
            <a:pPr algn="l">
              <a:spcAft>
                <a:spcPts val="300"/>
              </a:spcAft>
            </a:pPr>
            <a:r>
              <a:rPr sz="1200" b="0">
                <a:solidFill>
                  <a:srgbClr val="5B6372"/>
                </a:solidFill>
                <a:latin typeface="Arial"/>
              </a:rPr>
              <a:t>Addresses inside the range the server must never hand out — statics live here.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282</a:t>
            </a:r>
          </a:p>
        </p:txBody>
      </p:sp>
    </p:spTree>
  </p:cSld>
  <p:clrMapOvr>
    <a:masterClrMapping/>
  </p:clrMapOvr>
  <p:transition spd="fast" advClick="1">
    <p:fade/>
  </p:transition>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3.4 · DHCP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DORA — the DHCP Handshake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Discover</a:t>
            </a:r>
          </a:p>
        </p:txBody>
      </p:sp>
      <p:sp>
        <p:nvSpPr>
          <p:cNvPr id="12" name="TextBox 11"/>
          <p:cNvSpPr txBox="1"/>
          <p:nvPr/>
        </p:nvSpPr>
        <p:spPr>
          <a:xfrm>
            <a:off x="86868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client broadcasts</a:t>
            </a:r>
          </a:p>
        </p:txBody>
      </p:sp>
      <p:cxnSp>
        <p:nvCxnSpPr>
          <p:cNvPr id="13" name="Connector 12"/>
          <p:cNvCxnSpPr/>
          <p:nvPr/>
        </p:nvCxnSpPr>
        <p:spPr>
          <a:xfrm>
            <a:off x="3202686"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Offer</a:t>
            </a:r>
          </a:p>
        </p:txBody>
      </p:sp>
      <p:sp>
        <p:nvSpPr>
          <p:cNvPr id="19" name="TextBox 18"/>
          <p:cNvSpPr txBox="1"/>
          <p:nvPr/>
        </p:nvSpPr>
        <p:spPr>
          <a:xfrm>
            <a:off x="362331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server proposes an IP</a:t>
            </a:r>
          </a:p>
        </p:txBody>
      </p:sp>
      <p:cxnSp>
        <p:nvCxnSpPr>
          <p:cNvPr id="20" name="Connector 19"/>
          <p:cNvCxnSpPr/>
          <p:nvPr/>
        </p:nvCxnSpPr>
        <p:spPr>
          <a:xfrm>
            <a:off x="5957316"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Request</a:t>
            </a:r>
          </a:p>
        </p:txBody>
      </p:sp>
      <p:sp>
        <p:nvSpPr>
          <p:cNvPr id="26" name="TextBox 25"/>
          <p:cNvSpPr txBox="1"/>
          <p:nvPr/>
        </p:nvSpPr>
        <p:spPr>
          <a:xfrm>
            <a:off x="637794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client accepts one</a:t>
            </a:r>
          </a:p>
        </p:txBody>
      </p:sp>
      <p:cxnSp>
        <p:nvCxnSpPr>
          <p:cNvPr id="27" name="Connector 26"/>
          <p:cNvCxnSpPr/>
          <p:nvPr/>
        </p:nvCxnSpPr>
        <p:spPr>
          <a:xfrm>
            <a:off x="8711946"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Acknowledge</a:t>
            </a:r>
          </a:p>
        </p:txBody>
      </p:sp>
      <p:sp>
        <p:nvSpPr>
          <p:cNvPr id="33" name="TextBox 32"/>
          <p:cNvSpPr txBox="1"/>
          <p:nvPr/>
        </p:nvSpPr>
        <p:spPr>
          <a:xfrm>
            <a:off x="913257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lease confirmed</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WHY IT MATTERS</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DORA runs as broadcast — without a relay agent (IP helper) it can never cross a router to reach a centralised DHCP server.</a:t>
            </a:r>
          </a:p>
        </p:txBody>
      </p:sp>
      <p:sp>
        <p:nvSpPr>
          <p:cNvPr id="75" name="TextBox 7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76" name="TextBox 7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3.4 · DHCP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dhcpd.conf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A minimal ISC DHCP scope with one reservation.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subnet 192.168.10.0 netmask 255.255.255.0 {</a:t>
            </a:r>
          </a:p>
          <a:p>
            <a:pPr>
              <a:spcAft>
                <a:spcPts val="200"/>
              </a:spcAft>
            </a:pPr>
            <a:r>
              <a:rPr sz="1100">
                <a:solidFill>
                  <a:srgbClr val="9CDCFE"/>
                </a:solidFill>
                <a:latin typeface="Consolas"/>
              </a:rPr>
              <a:t>  range 192.168.10.100 192.168.10.199;</a:t>
            </a:r>
          </a:p>
          <a:p>
            <a:pPr>
              <a:spcAft>
                <a:spcPts val="200"/>
              </a:spcAft>
            </a:pPr>
            <a:r>
              <a:rPr sz="1100">
                <a:solidFill>
                  <a:srgbClr val="9CDCFE"/>
                </a:solidFill>
                <a:latin typeface="Consolas"/>
              </a:rPr>
              <a:t>  option routers 192.168.10.1;</a:t>
            </a:r>
          </a:p>
          <a:p>
            <a:pPr>
              <a:spcAft>
                <a:spcPts val="200"/>
              </a:spcAft>
            </a:pPr>
            <a:r>
              <a:rPr sz="1100">
                <a:solidFill>
                  <a:srgbClr val="9CDCFE"/>
                </a:solidFill>
                <a:latin typeface="Consolas"/>
              </a:rPr>
              <a:t>  option domain-name-servers 9.9.9.9;</a:t>
            </a:r>
          </a:p>
          <a:p>
            <a:pPr>
              <a:spcAft>
                <a:spcPts val="200"/>
              </a:spcAft>
            </a:pPr>
            <a:r>
              <a:rPr sz="1100">
                <a:solidFill>
                  <a:srgbClr val="9CDCFE"/>
                </a:solidFill>
                <a:latin typeface="Consolas"/>
              </a:rPr>
              <a:t>  default-lease-time 86400;</a:t>
            </a:r>
          </a:p>
          <a:p>
            <a:pPr>
              <a:spcAft>
                <a:spcPts val="200"/>
              </a:spcAft>
            </a:pPr>
            <a:r>
              <a:rPr sz="1100">
                <a:solidFill>
                  <a:srgbClr val="9CDCFE"/>
                </a:solidFill>
                <a:latin typeface="Consolas"/>
              </a:rPr>
              <a:t>}</a:t>
            </a:r>
          </a:p>
          <a:p>
            <a:pPr>
              <a:spcAft>
                <a:spcPts val="200"/>
              </a:spcAft>
            </a:pPr>
            <a:r>
              <a:rPr sz="1100">
                <a:solidFill>
                  <a:srgbClr val="9CDCFE"/>
                </a:solidFill>
                <a:latin typeface="Consolas"/>
              </a:rPr>
              <a:t>host printer1 {</a:t>
            </a:r>
          </a:p>
          <a:p>
            <a:pPr>
              <a:spcAft>
                <a:spcPts val="200"/>
              </a:spcAft>
            </a:pPr>
            <a:r>
              <a:rPr sz="1100">
                <a:solidFill>
                  <a:srgbClr val="9CDCFE"/>
                </a:solidFill>
                <a:latin typeface="Consolas"/>
              </a:rPr>
              <a:t>  hardware ethernet 00:11:22:33:44:55;</a:t>
            </a:r>
          </a:p>
          <a:p>
            <a:pPr>
              <a:spcAft>
                <a:spcPts val="200"/>
              </a:spcAft>
            </a:pPr>
            <a:r>
              <a:rPr sz="1100">
                <a:solidFill>
                  <a:srgbClr val="9CDCFE"/>
                </a:solidFill>
                <a:latin typeface="Consolas"/>
              </a:rPr>
              <a:t>  fixed-address 192.168.10.50;</a:t>
            </a:r>
          </a:p>
          <a:p>
            <a:pPr>
              <a:spcAft>
                <a:spcPts val="200"/>
              </a:spcAft>
            </a:pPr>
            <a:r>
              <a:rPr sz="1100">
                <a:solidFill>
                  <a:srgbClr val="9CDCFE"/>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range</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scope: only .100-.199 are leased; .2-.99 stay free for statics and reservations.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option lines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DHCP options 3 and 6 — the default gateway and DNS server pushed with every lease.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host block</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reservation: the client with this MAC always receives 192.168.10.50.</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284</a:t>
            </a:r>
          </a:p>
        </p:txBody>
      </p:sp>
    </p:spTree>
  </p:cSld>
  <p:clrMapOvr>
    <a:masterClrMapping/>
  </p:clrMapOvr>
  <p:transition spd="fast" advClick="1">
    <p:fade/>
  </p:transition>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3.4 · DHCP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Reservation vs Static Assignment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DHCP reservation</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Static configuration</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Configured centrally on the server</a:t>
            </a:r>
          </a:p>
          <a:p>
            <a:pPr>
              <a:spcAft>
                <a:spcPts val="1000"/>
              </a:spcAft>
            </a:pPr>
            <a:r>
              <a:rPr sz="1600" b="0">
                <a:solidFill>
                  <a:srgbClr val="161B26"/>
                </a:solidFill>
                <a:latin typeface="Arial"/>
              </a:rPr>
              <a:t>•  Device still runs plain DHCP</a:t>
            </a:r>
          </a:p>
          <a:p>
            <a:pPr>
              <a:spcAft>
                <a:spcPts val="1000"/>
              </a:spcAft>
            </a:pPr>
            <a:r>
              <a:rPr sz="1600" b="0">
                <a:solidFill>
                  <a:srgbClr val="161B26"/>
                </a:solidFill>
                <a:latin typeface="Arial"/>
              </a:rPr>
              <a:t>•  Options update from one place</a:t>
            </a:r>
          </a:p>
          <a:p>
            <a:pPr>
              <a:spcAft>
                <a:spcPts val="1000"/>
              </a:spcAft>
            </a:pPr>
            <a:r>
              <a:rPr sz="1600" b="0">
                <a:solidFill>
                  <a:srgbClr val="161B26"/>
                </a:solidFill>
                <a:latin typeface="Arial"/>
              </a:rPr>
              <a:t>•  Survives device re-imaging</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Typed into the device itself</a:t>
            </a:r>
          </a:p>
          <a:p>
            <a:pPr>
              <a:spcAft>
                <a:spcPts val="1000"/>
              </a:spcAft>
            </a:pPr>
            <a:r>
              <a:rPr sz="1600" b="0">
                <a:solidFill>
                  <a:srgbClr val="161B26"/>
                </a:solidFill>
                <a:latin typeface="Arial"/>
              </a:rPr>
              <a:t>•  Works with no DHCP server at all</a:t>
            </a:r>
          </a:p>
          <a:p>
            <a:pPr>
              <a:spcAft>
                <a:spcPts val="1000"/>
              </a:spcAft>
            </a:pPr>
            <a:r>
              <a:rPr sz="1600" b="0">
                <a:solidFill>
                  <a:srgbClr val="161B26"/>
                </a:solidFill>
                <a:latin typeface="Arial"/>
              </a:rPr>
              <a:t>•  Every change is a device visit</a:t>
            </a:r>
          </a:p>
          <a:p>
            <a:pPr>
              <a:spcAft>
                <a:spcPts val="1000"/>
              </a:spcAft>
            </a:pPr>
            <a:r>
              <a:rPr sz="1600" b="0">
                <a:solidFill>
                  <a:srgbClr val="161B26"/>
                </a:solidFill>
                <a:latin typeface="Arial"/>
              </a:rPr>
              <a:t>•  Right for routers, core switches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285</a:t>
            </a:r>
          </a:p>
        </p:txBody>
      </p:sp>
    </p:spTree>
  </p:cSld>
  <p:clrMapOvr>
    <a:masterClrMapping/>
  </p:clrMapOvr>
  <p:transition spd="fast" advClick="1">
    <p:fade/>
  </p:transition>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3.4 · SLAAC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SLAAC — Addressing Without a Server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Router Advertisement</a:t>
            </a:r>
          </a:p>
          <a:p>
            <a:pPr algn="l">
              <a:spcAft>
                <a:spcPts val="300"/>
              </a:spcAft>
            </a:pPr>
            <a:r>
              <a:rPr sz="1200" b="0">
                <a:solidFill>
                  <a:srgbClr val="5B6372"/>
                </a:solidFill>
                <a:latin typeface="Arial"/>
              </a:rPr>
              <a:t>IPv6 routers advertise the /64 prefix; hosts solicit and listen for RAs at startup.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Self-generated address</a:t>
            </a:r>
          </a:p>
          <a:p>
            <a:pPr algn="l">
              <a:spcAft>
                <a:spcPts val="300"/>
              </a:spcAft>
            </a:pPr>
            <a:r>
              <a:rPr sz="1200" b="0">
                <a:solidFill>
                  <a:srgbClr val="5B6372"/>
                </a:solidFill>
                <a:latin typeface="Arial"/>
              </a:rPr>
              <a:t>The host builds its own address from the prefix plus EUI-64 or a random identifier.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DAD</a:t>
            </a:r>
          </a:p>
          <a:p>
            <a:pPr algn="l">
              <a:spcAft>
                <a:spcPts val="300"/>
              </a:spcAft>
            </a:pPr>
            <a:r>
              <a:rPr sz="1200" b="0">
                <a:solidFill>
                  <a:srgbClr val="5B6372"/>
                </a:solidFill>
                <a:latin typeface="Arial"/>
              </a:rPr>
              <a:t>Duplicate Address Detection confirms no other node already holds the address.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DHCPv6 still exists</a:t>
            </a:r>
          </a:p>
          <a:p>
            <a:pPr algn="l">
              <a:spcAft>
                <a:spcPts val="300"/>
              </a:spcAft>
            </a:pPr>
            <a:r>
              <a:rPr sz="1200" b="0">
                <a:solidFill>
                  <a:srgbClr val="5B6372"/>
                </a:solidFill>
                <a:latin typeface="Arial"/>
              </a:rPr>
              <a:t>Stateful DHCPv6 or the RA 'other config' flag supplies DNS and options when SLAAC alone is not enough.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286</a:t>
            </a:r>
          </a:p>
        </p:txBody>
      </p:sp>
    </p:spTree>
  </p:cSld>
  <p:clrMapOvr>
    <a:masterClrMapping/>
  </p:clrMapOvr>
  <p:transition spd="fast" advClick="1">
    <p:fade/>
  </p:transition>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3.4 · DNS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Authoritative server</a:t>
            </a:r>
          </a:p>
          <a:p>
            <a:pPr algn="l">
              <a:spcAft>
                <a:spcPts val="300"/>
              </a:spcAft>
            </a:pPr>
            <a:r>
              <a:rPr sz="1200" b="0">
                <a:solidFill>
                  <a:srgbClr val="5B6372"/>
                </a:solidFill>
                <a:latin typeface="Arial"/>
              </a:rPr>
              <a:t>Holds the zone data and answers for it definitively — the source of truth for a domain.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Recursive resolver</a:t>
            </a:r>
          </a:p>
          <a:p>
            <a:pPr algn="l">
              <a:spcAft>
                <a:spcPts val="300"/>
              </a:spcAft>
            </a:pPr>
            <a:r>
              <a:rPr sz="1200" b="0">
                <a:solidFill>
                  <a:srgbClr val="5B6372"/>
                </a:solidFill>
                <a:latin typeface="Arial"/>
              </a:rPr>
              <a:t>Chases the answer through root, TLD and authoritative servers on the client's behalf, then caches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Primary zone</a:t>
            </a:r>
          </a:p>
          <a:p>
            <a:pPr algn="l">
              <a:spcAft>
                <a:spcPts val="300"/>
              </a:spcAft>
            </a:pPr>
            <a:r>
              <a:rPr sz="1200" b="0">
                <a:solidFill>
                  <a:srgbClr val="5B6372"/>
                </a:solidFill>
                <a:latin typeface="Arial"/>
              </a:rPr>
              <a:t>The writable copy of the zone, edited on the primary server.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Secondary zone</a:t>
            </a:r>
          </a:p>
          <a:p>
            <a:pPr algn="l">
              <a:spcAft>
                <a:spcPts val="300"/>
              </a:spcAft>
            </a:pPr>
            <a:r>
              <a:rPr sz="1200" b="0">
                <a:solidFill>
                  <a:srgbClr val="5B6372"/>
                </a:solidFill>
                <a:latin typeface="Arial"/>
              </a:rPr>
              <a:t>Read-only replicas kept in sync by zone transfer (AXFR/IXFR) for redundancy.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Zone file &amp; SOA</a:t>
            </a:r>
          </a:p>
          <a:p>
            <a:pPr algn="l">
              <a:spcAft>
                <a:spcPts val="300"/>
              </a:spcAft>
            </a:pPr>
            <a:r>
              <a:rPr sz="1200" b="0">
                <a:solidFill>
                  <a:srgbClr val="5B6372"/>
                </a:solidFill>
                <a:latin typeface="Arial"/>
              </a:rPr>
              <a:t>The records for one domain; the SOA serial number versions every change.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TTL</a:t>
            </a:r>
          </a:p>
          <a:p>
            <a:pPr algn="l">
              <a:spcAft>
                <a:spcPts val="300"/>
              </a:spcAft>
            </a:pPr>
            <a:r>
              <a:rPr sz="1200" b="0">
                <a:solidFill>
                  <a:srgbClr val="5B6372"/>
                </a:solidFill>
                <a:latin typeface="Arial"/>
              </a:rPr>
              <a:t>How long resolvers may cache an answer — long TTLs cut load but slow down migrations.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287</a:t>
            </a:r>
          </a:p>
        </p:txBody>
      </p:sp>
    </p:spTree>
  </p:cSld>
  <p:clrMapOvr>
    <a:masterClrMapping/>
  </p:clrMapOvr>
  <p:transition spd="fast" advClick="1">
    <p:fade/>
  </p:transition>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3.4 · DNS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Authoritative vs Recursive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Authoritative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Recursive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Owns the zone's records</a:t>
            </a:r>
          </a:p>
          <a:p>
            <a:pPr>
              <a:spcAft>
                <a:spcPts val="1000"/>
              </a:spcAft>
            </a:pPr>
            <a:r>
              <a:rPr sz="1600" b="0">
                <a:solidFill>
                  <a:srgbClr val="161B26"/>
                </a:solidFill>
                <a:latin typeface="Arial"/>
              </a:rPr>
              <a:t>•  Answers only for its own domains</a:t>
            </a:r>
          </a:p>
          <a:p>
            <a:pPr>
              <a:spcAft>
                <a:spcPts val="1000"/>
              </a:spcAft>
            </a:pPr>
            <a:r>
              <a:rPr sz="1600" b="0">
                <a:solidFill>
                  <a:srgbClr val="161B26"/>
                </a:solidFill>
                <a:latin typeface="Arial"/>
              </a:rPr>
              <a:t>•  Run where your zones live</a:t>
            </a:r>
          </a:p>
          <a:p>
            <a:pPr>
              <a:spcAft>
                <a:spcPts val="1000"/>
              </a:spcAft>
            </a:pPr>
            <a:r>
              <a:rPr sz="1600" b="0">
                <a:solidFill>
                  <a:srgbClr val="161B26"/>
                </a:solidFill>
                <a:latin typeface="Arial"/>
              </a:rPr>
              <a:t>•  Compromise = forged records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Owns no records — resolves and caches</a:t>
            </a:r>
          </a:p>
          <a:p>
            <a:pPr>
              <a:spcAft>
                <a:spcPts val="1000"/>
              </a:spcAft>
            </a:pPr>
            <a:r>
              <a:rPr sz="1600" b="0">
                <a:solidFill>
                  <a:srgbClr val="161B26"/>
                </a:solidFill>
                <a:latin typeface="Arial"/>
              </a:rPr>
              <a:t>•  Answers anything for its clients</a:t>
            </a:r>
          </a:p>
          <a:p>
            <a:pPr>
              <a:spcAft>
                <a:spcPts val="1000"/>
              </a:spcAft>
            </a:pPr>
            <a:r>
              <a:rPr sz="1600" b="0">
                <a:solidFill>
                  <a:srgbClr val="161B26"/>
                </a:solidFill>
                <a:latin typeface="Arial"/>
              </a:rPr>
              <a:t>•  Run near users (ISP, 1.1.1.1, 8.8.8.8)</a:t>
            </a:r>
          </a:p>
          <a:p>
            <a:pPr>
              <a:spcAft>
                <a:spcPts val="1000"/>
              </a:spcAft>
            </a:pPr>
            <a:r>
              <a:rPr sz="1600" b="0">
                <a:solidFill>
                  <a:srgbClr val="161B26"/>
                </a:solidFill>
                <a:latin typeface="Arial"/>
              </a:rPr>
              <a:t>•  Compromise = poisoned cache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288</a:t>
            </a:r>
          </a:p>
        </p:txBody>
      </p:sp>
    </p:spTree>
  </p:cSld>
  <p:clrMapOvr>
    <a:masterClrMapping/>
  </p:clrMapOvr>
  <p:transition spd="fast" advClick="1">
    <p:fade/>
  </p:transition>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3.4 · DNS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Record Types —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Record</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Maps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Note</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 / AAAA</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Name to IPv4 / IPv6</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workhorse records</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CNAME</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Alias to canonical name</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Never at the zone apex</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MX</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Domain to mail server</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Priority number picks order</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PTR</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IP back to name</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Reverse DNS; mail filters check it</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TXT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Name to free text</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SPF, DKIM, site verification</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NS / SOA</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Zone to its servers</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Delegation and zone authority</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Domain 1 covered the records; Domain 3 asks who answers — authoritative vs recursive, primary vs secondary.</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289</a:t>
            </a:r>
          </a:p>
        </p:txBody>
      </p:sp>
    </p:spTree>
  </p:cSld>
  <p:clrMapOvr>
    <a:masterClrMapping/>
  </p:clrMapOvr>
  <p:transition spd="fast" advClick="1">
    <p:fade/>
  </p:transition>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3.4 · TIME SYNCHRONISATION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Time Services — NTP, PTP, 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time matters</a:t>
            </a:r>
          </a:p>
          <a:p>
            <a:pPr algn="l">
              <a:spcAft>
                <a:spcPts val="300"/>
              </a:spcAft>
            </a:pPr>
            <a:r>
              <a:rPr sz="1200" b="0">
                <a:solidFill>
                  <a:srgbClr val="5B6372"/>
                </a:solidFill>
                <a:latin typeface="Arial"/>
              </a:rPr>
              <a:t>Logs, certificates, Kerberos and SIEM correlation all break when clocks drift apart.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NTP (UDP/123)</a:t>
            </a:r>
          </a:p>
          <a:p>
            <a:pPr algn="l">
              <a:spcAft>
                <a:spcPts val="300"/>
              </a:spcAft>
            </a:pPr>
            <a:r>
              <a:rPr sz="1200" b="0">
                <a:solidFill>
                  <a:srgbClr val="5B6372"/>
                </a:solidFill>
                <a:latin typeface="Arial"/>
              </a:rPr>
              <a:t>Polls reference servers and gradually disciplines the local clock toward true time.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Stratum hierarchy</a:t>
            </a:r>
          </a:p>
          <a:p>
            <a:pPr algn="l">
              <a:spcAft>
                <a:spcPts val="300"/>
              </a:spcAft>
            </a:pPr>
            <a:r>
              <a:rPr sz="1200" b="0">
                <a:solidFill>
                  <a:srgbClr val="5B6372"/>
                </a:solidFill>
                <a:latin typeface="Arial"/>
              </a:rPr>
              <a:t>Distance from the reference clock — each hop from stratum 0 hardware adds one.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Multiple sources</a:t>
            </a:r>
          </a:p>
          <a:p>
            <a:pPr algn="l">
              <a:spcAft>
                <a:spcPts val="300"/>
              </a:spcAft>
            </a:pPr>
            <a:r>
              <a:rPr sz="1200" b="0">
                <a:solidFill>
                  <a:srgbClr val="5B6372"/>
                </a:solidFill>
                <a:latin typeface="Arial"/>
              </a:rPr>
              <a:t>Clients compare several upstream servers and vote out 'falsetickers' before trusting any.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PTP (IEEE 1588)</a:t>
            </a:r>
          </a:p>
          <a:p>
            <a:pPr algn="l">
              <a:spcAft>
                <a:spcPts val="300"/>
              </a:spcAft>
            </a:pPr>
            <a:r>
              <a:rPr sz="1200" b="0">
                <a:solidFill>
                  <a:srgbClr val="5B6372"/>
                </a:solidFill>
                <a:latin typeface="Arial"/>
              </a:rPr>
              <a:t>Precision Time Protocol — hardware timestamping for sub-microsecond accuracy in finance and telecom.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NTS</a:t>
            </a:r>
          </a:p>
          <a:p>
            <a:pPr algn="l">
              <a:spcAft>
                <a:spcPts val="300"/>
              </a:spcAft>
            </a:pPr>
            <a:r>
              <a:rPr sz="1200" b="0">
                <a:solidFill>
                  <a:srgbClr val="5B6372"/>
                </a:solidFill>
                <a:latin typeface="Arial"/>
              </a:rPr>
              <a:t>Network Time Security wraps NTP key exchange in TLS — stops attackers spoofing your time source.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290</a:t>
            </a:r>
          </a:p>
        </p:txBody>
      </p:sp>
    </p:spTree>
  </p:cSld>
  <p:clrMapOvr>
    <a:masterClrMapping/>
  </p:clrMapOvr>
  <p:transition spd="fast" advClick="1">
    <p:fade/>
  </p:transition>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3.4 · TIME SYNCHRONISATION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NTP Strata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Stratum</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0</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reference clock itself</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GPS, caesium / atomic clock</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Server wired to a stratum 0</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Time appliance in the DC</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2-15</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Each network hop adds one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Enterprise and pool servers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16</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Unsynchronised</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Clock not valid — do not trust</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Lower stratum = closer to the reference. Ported from the legacy deck: NTP operates as a hierarchy of clock strata over UDP/123.</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291</a:t>
            </a:r>
          </a:p>
        </p:txBody>
      </p:sp>
    </p:spTree>
  </p:cSld>
  <p:clrMapOvr>
    <a:masterClrMapping/>
  </p:clrMapOvr>
  <p:transition spd="fast" advClick="1">
    <p:fade/>
  </p:transition>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3.4 · TIME SYNCHRONISATION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chronyc sources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Which server is my clock actually following?</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chronyc sources -v</a:t>
            </a:r>
          </a:p>
          <a:p>
            <a:pPr>
              <a:spcAft>
                <a:spcPts val="200"/>
              </a:spcAft>
            </a:pPr>
            <a:r>
              <a:rPr sz="1100">
                <a:solidFill>
                  <a:srgbClr val="9CDCFE"/>
                </a:solidFill>
                <a:latin typeface="Consolas"/>
              </a:rPr>
              <a:t>MS Name/IP address    Stratum Poll Reach Offset</a:t>
            </a:r>
          </a:p>
          <a:p>
            <a:pPr>
              <a:spcAft>
                <a:spcPts val="200"/>
              </a:spcAft>
            </a:pPr>
            <a:r>
              <a:rPr sz="1100">
                <a:solidFill>
                  <a:srgbClr val="9CDCFE"/>
                </a:solidFill>
                <a:latin typeface="Consolas"/>
              </a:rPr>
              <a:t>^* time.cloudflare.com    3    6   377  +142us</a:t>
            </a:r>
          </a:p>
          <a:p>
            <a:pPr>
              <a:spcAft>
                <a:spcPts val="200"/>
              </a:spcAft>
            </a:pPr>
            <a:r>
              <a:rPr sz="1100">
                <a:solidFill>
                  <a:srgbClr val="9CDCFE"/>
                </a:solidFill>
                <a:latin typeface="Consolas"/>
              </a:rPr>
              <a:t>^- ntp.ubuntu.com         2    6   377 -1250us</a:t>
            </a:r>
          </a:p>
          <a:p>
            <a:pPr>
              <a:spcAft>
                <a:spcPts val="200"/>
              </a:spcAft>
            </a:pPr>
            <a:r>
              <a:rPr sz="1100">
                <a:solidFill>
                  <a:srgbClr val="9CDCFE"/>
                </a:solidFill>
                <a:latin typeface="Consolas"/>
              </a:rPr>
              <a:t>^? 10.0.0.99              0    6     0    +0ns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 / ^- / ^?</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 is the selected source, - a viable backup candidate, ? unreachable or untested.</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Stratum</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Cloudflare here is stratum 3 — three hops from a hardware reference clock.</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Reach 377</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Octal bitmask of the last eight polls — 377 means all eight answered.</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292</a:t>
            </a:r>
          </a:p>
        </p:txBody>
      </p:sp>
    </p:spTree>
  </p:cSld>
  <p:clrMapOvr>
    <a:masterClrMapping/>
  </p:clrMapOvr>
  <p:transition spd="fast" advClick="1">
    <p:fade/>
  </p:transition>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Time Synchronisation with Chrony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NTP time sync with chrony and interpret stratum, offset and drift (OBJ 3.4).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Install chrony (the modern ntpd replacement), inspect the selected time sources and stratum hierarchy, add an extra NTP server with iburst, and force an immediate clock step.</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VM synchronised over UDP/123 with multiple NTP sources and a readable chronyc tracking report.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chrony, chronyc</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chronyc sources -v shows time.cloudflare.com in the list with a ^* or ^- marker, and chronyc tracking reports a stratum below 16 with a sub-second system time offset.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293</a:t>
            </a:r>
          </a:p>
        </p:txBody>
      </p:sp>
    </p:spTree>
  </p:cSld>
  <p:clrMapOvr>
    <a:masterClrMapping/>
  </p:clrMapOvr>
  <p:transition spd="fast" advClick="1">
    <p:fade/>
  </p:transition>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Install chrony and start the service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List time sources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chronyc · step 2</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Show stratum</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chronyc · step 3</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Restart chrony and re-check the source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systemctl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Force an immediate clock step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chronyc · step 6</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NTP time sync with chrony and interpret stratum, offset and drift (OBJ 3.4).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Time Synchronisation with Chrony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chronyc sources -v shows time.cloudflare.com in the list with a ^* or ^- marker, and chronyc tracking reports a stratum below 16 with a sub-second system time offset.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All sources show ^? unreachable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UDP/123 egress may be blocked — wait for retries, or verify with chronyc activity and tracking.</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New server never appears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server line must be in /etc/chrony/chrony.conf and chrony restarted — check for typos.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Stratum shows 16</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16 means unsynchronised — run chronyc -a makestep and give the sources a minute to be selected.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295</a:t>
            </a:r>
          </a:p>
        </p:txBody>
      </p:sp>
    </p:spTree>
  </p:cSld>
  <p:clrMapOvr>
    <a:masterClrMapping/>
  </p:clrMapOvr>
  <p:transition spd="fast" advClick="1">
    <p:fade/>
  </p:transition>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3.1 · CONFIGURATION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Configuration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Production config</a:t>
            </a:r>
          </a:p>
          <a:p>
            <a:pPr algn="l">
              <a:spcAft>
                <a:spcPts val="300"/>
              </a:spcAft>
            </a:pPr>
            <a:r>
              <a:rPr sz="1200" b="0">
                <a:solidFill>
                  <a:srgbClr val="5B6372"/>
                </a:solidFill>
                <a:latin typeface="Arial"/>
              </a:rPr>
              <a:t>The running configuration on the live device — what the network actually does right now.</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Backup config</a:t>
            </a:r>
          </a:p>
          <a:p>
            <a:pPr algn="l">
              <a:spcAft>
                <a:spcPts val="300"/>
              </a:spcAft>
            </a:pPr>
            <a:r>
              <a:rPr sz="1200" b="0">
                <a:solidFill>
                  <a:srgbClr val="5B6372"/>
                </a:solidFill>
                <a:latin typeface="Arial"/>
              </a:rPr>
              <a:t>A stored copy taken on schedule and before every change — your rollback path.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Baseline config</a:t>
            </a:r>
          </a:p>
          <a:p>
            <a:pPr algn="l">
              <a:spcAft>
                <a:spcPts val="300"/>
              </a:spcAft>
            </a:pPr>
            <a:r>
              <a:rPr sz="1200" b="0">
                <a:solidFill>
                  <a:srgbClr val="5B6372"/>
                </a:solidFill>
                <a:latin typeface="Arial"/>
              </a:rPr>
              <a:t>The approved golden template a device of that role should match — any drift is a defect.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Golden images</a:t>
            </a:r>
          </a:p>
          <a:p>
            <a:pPr algn="l">
              <a:spcAft>
                <a:spcPts val="300"/>
              </a:spcAft>
            </a:pPr>
            <a:r>
              <a:rPr sz="1200" b="0">
                <a:solidFill>
                  <a:srgbClr val="5B6372"/>
                </a:solidFill>
                <a:latin typeface="Arial"/>
              </a:rPr>
              <a:t>Known-good firmware and OS images kept with checksums for clean rebuilds.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296</a:t>
            </a:r>
          </a:p>
        </p:txBody>
      </p:sp>
    </p:spTree>
  </p:cSld>
  <p:clrMapOvr>
    <a:masterClrMapping/>
  </p:clrMapOvr>
  <p:transition spd="fast" advClick="1">
    <p:fade/>
  </p:transition>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3.1 · CONFIGURATION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 Backup Discipline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Back up before every change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Store versioned, off the device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Diff running vs baseline regularly</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Alert on unauthorised drift</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Test restores — a backup is a claim</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297</a:t>
            </a:r>
          </a:p>
        </p:txBody>
      </p:sp>
    </p:spTree>
  </p:cSld>
  <p:clrMapOvr>
    <a:masterClrMapping/>
  </p:clrMapOvr>
  <p:transition spd="fast" advClick="1">
    <p:fade/>
  </p:transition>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3.1 · CONFIGURATION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Version Control for Configurations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History</a:t>
            </a:r>
          </a:p>
          <a:p>
            <a:pPr algn="l">
              <a:spcAft>
                <a:spcPts val="300"/>
              </a:spcAft>
            </a:pPr>
            <a:r>
              <a:rPr sz="1200" b="0">
                <a:solidFill>
                  <a:srgbClr val="5B6372"/>
                </a:solidFill>
                <a:latin typeface="Arial"/>
              </a:rPr>
              <a:t>Every change recorded with author, timestamp and message — an audit trail for free.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Diff</a:t>
            </a:r>
          </a:p>
          <a:p>
            <a:pPr algn="l">
              <a:spcAft>
                <a:spcPts val="300"/>
              </a:spcAft>
            </a:pPr>
            <a:r>
              <a:rPr sz="1200" b="0">
                <a:solidFill>
                  <a:srgbClr val="5B6372"/>
                </a:solidFill>
                <a:latin typeface="Arial"/>
              </a:rPr>
              <a:t>See exactly what changed between any two versions — the fastest root-cause tool there is.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Blame</a:t>
            </a:r>
          </a:p>
          <a:p>
            <a:pPr algn="l">
              <a:spcAft>
                <a:spcPts val="300"/>
              </a:spcAft>
            </a:pPr>
            <a:r>
              <a:rPr sz="1200" b="0">
                <a:solidFill>
                  <a:srgbClr val="5B6372"/>
                </a:solidFill>
                <a:latin typeface="Arial"/>
              </a:rPr>
              <a:t>Line-by-line attribution answers 'who set this, and when?' in one command.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Revert</a:t>
            </a:r>
          </a:p>
          <a:p>
            <a:pPr algn="l">
              <a:spcAft>
                <a:spcPts val="300"/>
              </a:spcAft>
            </a:pPr>
            <a:r>
              <a:rPr sz="1200" b="0">
                <a:solidFill>
                  <a:srgbClr val="5B6372"/>
                </a:solidFill>
                <a:latin typeface="Arial"/>
              </a:rPr>
              <a:t>Undo one bad change without losing everything committed after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298</a:t>
            </a:r>
          </a:p>
        </p:txBody>
      </p:sp>
    </p:spTree>
  </p:cSld>
  <p:clrMapOvr>
    <a:masterClrMapping/>
  </p:clrMapOvr>
  <p:transition spd="fast" advClick="1">
    <p:fade/>
  </p:transition>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Configuration Backup with Git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Put network configuration under version control for history, diff, blame and rollback (OBJ 3.1).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Initialise a git repository in /etc, commit a baseline of the critical network configs, make and commit a change, inspect the audit trail with log and show, then roll the change back with revert.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version-controlled /etc with a baseline commit, a tracked change, and a demonstrated one-command rollback.</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git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git log --oneline shows the baseline, the change and the revert as three commits, and cat /etc/hosts confirms the lab-vm line was removed by the rollback.</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299</a:t>
            </a:r>
          </a:p>
        </p:txBody>
      </p:sp>
    </p:spTree>
  </p:cSld>
  <p:clrMapOvr>
    <a:masterClrMapping/>
  </p:clrMapOvr>
  <p:transition spd="fast" advClick="1">
    <p:fade/>
  </p:transition>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git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Commit a baseline of the critical</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git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Make a change and view the pending</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echo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Commit the change with a meaningful</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git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Roll the change back with revert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git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Put network configuration under version control for history, diff, blame and rollback (OBJ 3.1).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Configuration Backup with Git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git log --oneline shows the baseline, the change and the revert as three commits, and cat /etc/hosts confirms the lab-vm line was removed by the rollback.</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Please tell me who you are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Set both identity values: git config user.email and git config user.name before committing.</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added to commit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the git add with explicit filenames from inside /etc — pathspec errors mean a wrong cwd.</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Revert did not change hosts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Revert undoes the LAST commit — check git log to confirm HEAD was the hosts change, not another edit.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301</a:t>
            </a:r>
          </a:p>
        </p:txBody>
      </p:sp>
    </p:spTree>
  </p:cSld>
  <p:clrMapOvr>
    <a:masterClrMapping/>
  </p:clrMapOvr>
  <p:transition spd="fast" advClick="1">
    <p:fade/>
  </p:transition>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3.2 · NETWORK MONITORING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Baselines &amp; Anomaly Alerting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Baseline</a:t>
            </a:r>
          </a:p>
          <a:p>
            <a:pPr algn="l">
              <a:spcAft>
                <a:spcPts val="300"/>
              </a:spcAft>
            </a:pPr>
            <a:r>
              <a:rPr sz="1200" b="0">
                <a:solidFill>
                  <a:srgbClr val="5B6372"/>
                </a:solidFill>
                <a:latin typeface="Arial"/>
              </a:rPr>
              <a:t>Measurements taken while the network is healthy — the operational definition of 'normal'.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Performance metrics</a:t>
            </a:r>
          </a:p>
          <a:p>
            <a:pPr algn="l">
              <a:spcAft>
                <a:spcPts val="300"/>
              </a:spcAft>
            </a:pPr>
            <a:r>
              <a:rPr sz="1200" b="0">
                <a:solidFill>
                  <a:srgbClr val="5B6372"/>
                </a:solidFill>
                <a:latin typeface="Arial"/>
              </a:rPr>
              <a:t>Bandwidth, throughput, latency, jitter and loss — trended per link and per service.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Availability monitoring</a:t>
            </a:r>
          </a:p>
          <a:p>
            <a:pPr algn="l">
              <a:spcAft>
                <a:spcPts val="300"/>
              </a:spcAft>
            </a:pPr>
            <a:r>
              <a:rPr sz="1200" b="0">
                <a:solidFill>
                  <a:srgbClr val="5B6372"/>
                </a:solidFill>
                <a:latin typeface="Arial"/>
              </a:rPr>
              <a:t>Up/down state and uptime percentage, tracked against the SLA target.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Anomaly alerting</a:t>
            </a:r>
          </a:p>
          <a:p>
            <a:pPr algn="l">
              <a:spcAft>
                <a:spcPts val="300"/>
              </a:spcAft>
            </a:pPr>
            <a:r>
              <a:rPr sz="1200" b="0">
                <a:solidFill>
                  <a:srgbClr val="5B6372"/>
                </a:solidFill>
                <a:latin typeface="Arial"/>
              </a:rPr>
              <a:t>Alert on deviation from the baseline, not just fixed thresholds — it catches the subtle failures.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Interface counters</a:t>
            </a:r>
          </a:p>
          <a:p>
            <a:pPr algn="l">
              <a:spcAft>
                <a:spcPts val="300"/>
              </a:spcAft>
            </a:pPr>
            <a:r>
              <a:rPr sz="1200" b="0">
                <a:solidFill>
                  <a:srgbClr val="5B6372"/>
                </a:solidFill>
                <a:latin typeface="Arial"/>
              </a:rPr>
              <a:t>Errors, discards, CRCs, giants and runts — rising counters flag layer 1-2 trouble.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Utilisation</a:t>
            </a:r>
          </a:p>
          <a:p>
            <a:pPr algn="l">
              <a:spcAft>
                <a:spcPts val="300"/>
              </a:spcAft>
            </a:pPr>
            <a:r>
              <a:rPr sz="1200" b="0">
                <a:solidFill>
                  <a:srgbClr val="5B6372"/>
                </a:solidFill>
                <a:latin typeface="Arial"/>
              </a:rPr>
              <a:t>Sustained load near capacity means congestion is coming — plan upgrades from the trend line.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302</a:t>
            </a:r>
          </a:p>
        </p:txBody>
      </p:sp>
    </p:spTree>
  </p:cSld>
  <p:clrMapOvr>
    <a:masterClrMapping/>
  </p:clrMapOvr>
  <p:transition spd="fast" advClick="1">
    <p:fade/>
  </p:transition>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3.2 · NETWORK MONITORING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Interface Statistics to Watch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Link state</a:t>
            </a:r>
          </a:p>
          <a:p>
            <a:pPr algn="l">
              <a:spcAft>
                <a:spcPts val="300"/>
              </a:spcAft>
            </a:pPr>
            <a:r>
              <a:rPr sz="1200" b="0">
                <a:solidFill>
                  <a:srgbClr val="5B6372"/>
                </a:solidFill>
                <a:latin typeface="Arial"/>
              </a:rPr>
              <a:t>Up/down and flapping history — a link that bounces hourly is a failing SFP or cable.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Speed / duplex</a:t>
            </a:r>
          </a:p>
          <a:p>
            <a:pPr algn="l">
              <a:spcAft>
                <a:spcPts val="300"/>
              </a:spcAft>
            </a:pPr>
            <a:r>
              <a:rPr sz="1200" b="0">
                <a:solidFill>
                  <a:srgbClr val="5B6372"/>
                </a:solidFill>
                <a:latin typeface="Arial"/>
              </a:rPr>
              <a:t>A 100/half port on a gigabit switch is usually a failed autonegotiation, not a slow NIC.</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CRC errors</a:t>
            </a:r>
          </a:p>
          <a:p>
            <a:pPr algn="l">
              <a:spcAft>
                <a:spcPts val="300"/>
              </a:spcAft>
            </a:pPr>
            <a:r>
              <a:rPr sz="1200" b="0">
                <a:solidFill>
                  <a:srgbClr val="5B6372"/>
                </a:solidFill>
                <a:latin typeface="Arial"/>
              </a:rPr>
              <a:t>Frames failing the checksum — cabling, connectors or EMI corrupting bits in flight.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Giants &amp; runts</a:t>
            </a:r>
          </a:p>
          <a:p>
            <a:pPr algn="l">
              <a:spcAft>
                <a:spcPts val="300"/>
              </a:spcAft>
            </a:pPr>
            <a:r>
              <a:rPr sz="1200" b="0">
                <a:solidFill>
                  <a:srgbClr val="5B6372"/>
                </a:solidFill>
                <a:latin typeface="Arial"/>
              </a:rPr>
              <a:t>Frames beyond or below legal Ethernet sizes — MTU mismatches, bad NICs, collisions.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Discards / drops</a:t>
            </a:r>
          </a:p>
          <a:p>
            <a:pPr algn="l">
              <a:spcAft>
                <a:spcPts val="300"/>
              </a:spcAft>
            </a:pPr>
            <a:r>
              <a:rPr sz="1200" b="0">
                <a:solidFill>
                  <a:srgbClr val="5B6372"/>
                </a:solidFill>
                <a:latin typeface="Arial"/>
              </a:rPr>
              <a:t>Good frames thrown away for lack of buffer — the signature of congestion.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Byte counts</a:t>
            </a:r>
          </a:p>
          <a:p>
            <a:pPr algn="l">
              <a:spcAft>
                <a:spcPts val="300"/>
              </a:spcAft>
            </a:pPr>
            <a:r>
              <a:rPr sz="1200" b="0">
                <a:solidFill>
                  <a:srgbClr val="5B6372"/>
                </a:solidFill>
                <a:latin typeface="Arial"/>
              </a:rPr>
              <a:t>Send/receive octets feed the utilisation graphs every capacity decision rests 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303</a:t>
            </a:r>
          </a:p>
        </p:txBody>
      </p:sp>
    </p:spTree>
  </p:cSld>
  <p:clrMapOvr>
    <a:masterClrMapping/>
  </p:clrMapOvr>
  <p:transition spd="fast" advClick="1">
    <p:fade/>
  </p:transition>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3.2 · AVAILABILITY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Cost of a Nine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Each extra nine cuts permitted downtime tenfold — 99.9% allows almost nine hours a year, 99.99% under an hour. The SLA figure dictates the redundancy budget.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304</a:t>
            </a:r>
          </a:p>
        </p:txBody>
      </p:sp>
    </p:spTree>
  </p:cSld>
  <p:clrMapOvr>
    <a:masterClrMapping/>
  </p:clrMapOvr>
  <p:transition spd="fast" advClick="1">
    <p:fade/>
  </p:transition>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3.2 · PERFORMANCE METRICS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Measuring Throughput with iperf3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Client / server model</a:t>
            </a:r>
          </a:p>
          <a:p>
            <a:pPr algn="l">
              <a:spcAft>
                <a:spcPts val="300"/>
              </a:spcAft>
            </a:pPr>
            <a:r>
              <a:rPr sz="1200" b="0">
                <a:solidFill>
                  <a:srgbClr val="5B6372"/>
                </a:solidFill>
                <a:latin typeface="Arial"/>
              </a:rPr>
              <a:t>One end listens (-s), the other transmits (-c) — measure the path between them, not a guess.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TCP vs UDP tests</a:t>
            </a:r>
          </a:p>
          <a:p>
            <a:pPr algn="l">
              <a:spcAft>
                <a:spcPts val="300"/>
              </a:spcAft>
            </a:pPr>
            <a:r>
              <a:rPr sz="1200" b="0">
                <a:solidFill>
                  <a:srgbClr val="5B6372"/>
                </a:solidFill>
                <a:latin typeface="Arial"/>
              </a:rPr>
              <a:t>TCP reports achievable goodput; UDP at a set rate (-b) exposes jitter and datagram loss.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Parallel streams</a:t>
            </a:r>
          </a:p>
          <a:p>
            <a:pPr algn="l">
              <a:spcAft>
                <a:spcPts val="300"/>
              </a:spcAft>
            </a:pPr>
            <a:r>
              <a:rPr sz="1200" b="0">
                <a:solidFill>
                  <a:srgbClr val="5B6372"/>
                </a:solidFill>
                <a:latin typeface="Arial"/>
              </a:rPr>
              <a:t>-P opens several flows at once — separates TCP window limits from true bandwidth limits.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Reverse mode</a:t>
            </a:r>
          </a:p>
          <a:p>
            <a:pPr algn="l">
              <a:spcAft>
                <a:spcPts val="300"/>
              </a:spcAft>
            </a:pPr>
            <a:r>
              <a:rPr sz="1200" b="0">
                <a:solidFill>
                  <a:srgbClr val="5B6372"/>
                </a:solidFill>
                <a:latin typeface="Arial"/>
              </a:rPr>
              <a:t>-R sends from server to client — the test for asymmetric paths like DOCSIS upstream.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305</a:t>
            </a:r>
          </a:p>
        </p:txBody>
      </p:sp>
    </p:spTree>
  </p:cSld>
  <p:clrMapOvr>
    <a:masterClrMapping/>
  </p:clrMapOvr>
  <p:transition spd="fast" advClick="1">
    <p:fade/>
  </p:transition>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Performance Baseline with iperf3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Baseline throughput, jitter and loss with iperf3 TCP, UDP, parallel and reverse tests (OBJ 3.2).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Run an iperf3 server as a daemon and test against it: a 10-second TCP throughput test, four parallel streams, a 100 Mbps UDP test that reports jitter and loss, and a reverse test for asymmetric paths.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recorded performance baseline: TCP bitrate, parallel-stream totals, UDP jitter/loss and reverse-direction results.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iperf3</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TCP test reports a multi-Gbps loopback Bitrate, the UDP test shows jitter in ms with near-zero lost datagrams, and the -P 4 run sums four streams in the [SUM] row.</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306</a:t>
            </a:r>
          </a:p>
        </p:txBody>
      </p:sp>
    </p:spTree>
  </p:cSld>
  <p:clrMapOvr>
    <a:masterClrMapping/>
  </p:clrMapOvr>
  <p:transition spd="fast" advClick="1">
    <p:fade/>
  </p:transition>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iperf3</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Run a 10-second TCP throughput test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iperf3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Open four parallel streams to saturate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iperf3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a UDP test at 100 Mbps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iperf3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Stop the server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pkill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Baseline throughput, jitter and loss with iperf3 TCP, UDP, parallel and reverse tests (OBJ 3.2).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Performance Baseline with iperf3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TCP test reports a multi-Gbps loopback Bitrate, the UDP test shows jitter in ms with near-zero lost datagrams, and the -P 4 run sums four streams in the [SUM] row.</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Connection refused to 127.0.0.1</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server is not running — start it again with iperf3 -s -D and confirm with pgrep iperf3.</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Server busy — another test running</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Only one client at a time per server; wait for the previous run or pkill iperf3 and restart.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UDP shows heavy datagram loss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Lower the offered rate (-b 10M) — loss at a set bandwidth is the finding, not an error.</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308</a:t>
            </a:r>
          </a:p>
        </p:txBody>
      </p:sp>
    </p:spTree>
  </p:cSld>
  <p:clrMapOvr>
    <a:masterClrMapping/>
  </p:clrMapOvr>
  <p:transition spd="fast" advClick="1">
    <p:fade/>
  </p:transition>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OBJ 3.3 · DISASTER RECOVERY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Plan for the bad day before it arrives.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Disaster recovery quantifies what you can afford to lose (RPO), how long you can be down (RTO), and rehearses the switchover before it is ever real.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309</a:t>
            </a:r>
          </a:p>
        </p:txBody>
      </p:sp>
    </p:spTree>
  </p:cSld>
  <p:clrMapOvr>
    <a:masterClrMapping/>
  </p:clrMapOvr>
  <p:transition spd="fast" advClick="1">
    <p:fade/>
  </p:transition>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3.3 · DISASTER RECOVERY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DR Metrics — RPO, RTO, MTTR, MTBF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Metric</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Question it answers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RPO</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How much data can we lose?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Backups every 4 h = RPO 4 h</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RTO</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How long until service is back?</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Restore must finish in 2 h</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MTTR</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Average time to repair a failure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Ticket open to fixed: 45 min</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MTBF</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Average time between failures</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PSU rated at 100,000 h</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RPO sizes your backup frequency; RTO sizes your recovery infrastructure. Both are business decisions before they are technical ones.</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310</a:t>
            </a:r>
          </a:p>
        </p:txBody>
      </p:sp>
    </p:spTree>
  </p:cSld>
  <p:clrMapOvr>
    <a:masterClrMapping/>
  </p:clrMapOvr>
  <p:transition spd="fast" advClick="1">
    <p:fade/>
  </p:transition>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3.3 · DISASTER RECOVERY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Recovery Sites — Cold, Warm, Hot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Site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Readiness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Cost</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Failover time</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Cold</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Space and power only — no gear</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Days</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Warm</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Hardware in place, data loaded on demand</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Hours</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Hot</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Live replica with data in sync</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Minutes</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Cloud</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Elastic DR-as-a-service, pay on use</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Design-dependent</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Pick the cheapest site that still meets the RTO — a hot site protecting a tolerant workload is money burned.</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311</a:t>
            </a:r>
          </a:p>
        </p:txBody>
      </p:sp>
    </p:spTree>
  </p:cSld>
  <p:clrMapOvr>
    <a:masterClrMapping/>
  </p:clrMapOvr>
  <p:transition spd="fast" advClick="1">
    <p:fade/>
  </p:transition>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3.3 · DISASTER RECOVERY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Active-Active vs Active-Passive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Active-active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Active-passive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All nodes serve traffic at once</a:t>
            </a:r>
          </a:p>
          <a:p>
            <a:pPr>
              <a:spcAft>
                <a:spcPts val="1000"/>
              </a:spcAft>
            </a:pPr>
            <a:r>
              <a:rPr sz="1600" b="0">
                <a:solidFill>
                  <a:srgbClr val="161B26"/>
                </a:solidFill>
                <a:latin typeface="Arial"/>
              </a:rPr>
              <a:t>•  Full capacity used in normal running</a:t>
            </a:r>
          </a:p>
          <a:p>
            <a:pPr>
              <a:spcAft>
                <a:spcPts val="1000"/>
              </a:spcAft>
            </a:pPr>
            <a:r>
              <a:rPr sz="1600" b="0">
                <a:solidFill>
                  <a:srgbClr val="161B26"/>
                </a:solidFill>
                <a:latin typeface="Arial"/>
              </a:rPr>
              <a:t>•  A failure just shrinks capacity</a:t>
            </a:r>
          </a:p>
          <a:p>
            <a:pPr>
              <a:spcAft>
                <a:spcPts val="1000"/>
              </a:spcAft>
            </a:pPr>
            <a:r>
              <a:rPr sz="1600" b="0">
                <a:solidFill>
                  <a:srgbClr val="161B26"/>
                </a:solidFill>
                <a:latin typeface="Arial"/>
              </a:rPr>
              <a:t>•  Needs state sync between nodes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Standby waits idle for failover</a:t>
            </a:r>
          </a:p>
          <a:p>
            <a:pPr>
              <a:spcAft>
                <a:spcPts val="1000"/>
              </a:spcAft>
            </a:pPr>
            <a:r>
              <a:rPr sz="1600" b="0">
                <a:solidFill>
                  <a:srgbClr val="161B26"/>
                </a:solidFill>
                <a:latin typeface="Arial"/>
              </a:rPr>
              <a:t>•  Simpler state management</a:t>
            </a:r>
          </a:p>
          <a:p>
            <a:pPr>
              <a:spcAft>
                <a:spcPts val="1000"/>
              </a:spcAft>
            </a:pPr>
            <a:r>
              <a:rPr sz="1600" b="0">
                <a:solidFill>
                  <a:srgbClr val="161B26"/>
                </a:solidFill>
                <a:latin typeface="Arial"/>
              </a:rPr>
              <a:t>•  Brief pause while standby takes over</a:t>
            </a:r>
          </a:p>
          <a:p>
            <a:pPr>
              <a:spcAft>
                <a:spcPts val="1000"/>
              </a:spcAft>
            </a:pPr>
            <a:r>
              <a:rPr sz="1600" b="0">
                <a:solidFill>
                  <a:srgbClr val="161B26"/>
                </a:solidFill>
                <a:latin typeface="Arial"/>
              </a:rPr>
              <a:t>•  Hardware that mostly sits idle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312</a:t>
            </a:r>
          </a:p>
        </p:txBody>
      </p:sp>
    </p:spTree>
  </p:cSld>
  <p:clrMapOvr>
    <a:masterClrMapping/>
  </p:clrMapOvr>
  <p:transition spd="fast" advClick="1">
    <p:fade/>
  </p:transition>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3.3 · HIGH AVAILABILITY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High Availability Building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Single point of failure</a:t>
            </a:r>
          </a:p>
          <a:p>
            <a:pPr algn="l">
              <a:spcAft>
                <a:spcPts val="300"/>
              </a:spcAft>
            </a:pPr>
            <a:r>
              <a:rPr sz="1200" b="0">
                <a:solidFill>
                  <a:srgbClr val="5B6372"/>
                </a:solidFill>
                <a:latin typeface="Arial"/>
              </a:rPr>
              <a:t>One component whose failure stops the whole workflow — HA design exists to remove these.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Redundancy</a:t>
            </a:r>
          </a:p>
          <a:p>
            <a:pPr algn="l">
              <a:spcAft>
                <a:spcPts val="300"/>
              </a:spcAft>
            </a:pPr>
            <a:r>
              <a:rPr sz="1200" b="0">
                <a:solidFill>
                  <a:srgbClr val="5B6372"/>
                </a:solidFill>
                <a:latin typeface="Arial"/>
              </a:rPr>
              <a:t>Duplicate power, links, supervisors and paths so one failure never becomes an outage.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Clustering</a:t>
            </a:r>
          </a:p>
          <a:p>
            <a:pPr algn="l">
              <a:spcAft>
                <a:spcPts val="300"/>
              </a:spcAft>
            </a:pPr>
            <a:r>
              <a:rPr sz="1200" b="0">
                <a:solidFill>
                  <a:srgbClr val="5B6372"/>
                </a:solidFill>
                <a:latin typeface="Arial"/>
              </a:rPr>
              <a:t>Multiple servers act as one logical service and survive the loss of members.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Load balancing</a:t>
            </a:r>
          </a:p>
          <a:p>
            <a:pPr algn="l">
              <a:spcAft>
                <a:spcPts val="300"/>
              </a:spcAft>
            </a:pPr>
            <a:r>
              <a:rPr sz="1200" b="0">
                <a:solidFill>
                  <a:srgbClr val="5B6372"/>
                </a:solidFill>
                <a:latin typeface="Arial"/>
              </a:rPr>
              <a:t>Spreads requests across the cluster and steers around failed members automatically.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Virtual IP / FHRP</a:t>
            </a:r>
          </a:p>
          <a:p>
            <a:pPr algn="l">
              <a:spcAft>
                <a:spcPts val="300"/>
              </a:spcAft>
            </a:pPr>
            <a:r>
              <a:rPr sz="1200" b="0">
                <a:solidFill>
                  <a:srgbClr val="5B6372"/>
                </a:solidFill>
                <a:latin typeface="Arial"/>
              </a:rPr>
              <a:t>VRRP or HSRP float one gateway address across routers — the default gateway survives a router death.</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Critical assets &amp; nodes</a:t>
            </a:r>
          </a:p>
          <a:p>
            <a:pPr algn="l">
              <a:spcAft>
                <a:spcPts val="300"/>
              </a:spcAft>
            </a:pPr>
            <a:r>
              <a:rPr sz="1200" b="0">
                <a:solidFill>
                  <a:srgbClr val="5B6372"/>
                </a:solidFill>
                <a:latin typeface="Arial"/>
              </a:rPr>
              <a:t>Know which systems keep production alive — they get the redundancy budget first.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313</a:t>
            </a:r>
          </a:p>
        </p:txBody>
      </p:sp>
    </p:spTree>
  </p:cSld>
  <p:clrMapOvr>
    <a:masterClrMapping/>
  </p:clrMapOvr>
  <p:transition spd="fast" advClick="1">
    <p:fade/>
  </p:transition>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3.3 · DISASTER RECOVERY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DR Failover — and Failback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Declare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invoke the DR plan</a:t>
            </a:r>
          </a:p>
        </p:txBody>
      </p:sp>
      <p:cxnSp>
        <p:nvCxnSpPr>
          <p:cNvPr id="13" name="Connector 12"/>
          <p:cNvCxnSpPr/>
          <p:nvPr/>
        </p:nvCxnSpPr>
        <p:spPr>
          <a:xfrm>
            <a:off x="2651760"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Fail over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DR site takes the load</a:t>
            </a:r>
          </a:p>
        </p:txBody>
      </p:sp>
      <p:cxnSp>
        <p:nvCxnSpPr>
          <p:cNvPr id="20" name="Connector 19"/>
          <p:cNvCxnSpPr/>
          <p:nvPr/>
        </p:nvCxnSpPr>
        <p:spPr>
          <a:xfrm>
            <a:off x="4855464"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Operate at DR</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monitor degraded mode</a:t>
            </a:r>
          </a:p>
        </p:txBody>
      </p:sp>
      <p:cxnSp>
        <p:nvCxnSpPr>
          <p:cNvPr id="27" name="Connector 26"/>
          <p:cNvCxnSpPr/>
          <p:nvPr/>
        </p:nvCxnSpPr>
        <p:spPr>
          <a:xfrm>
            <a:off x="7059168"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Fail back</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planned, off-peak</a:t>
            </a:r>
          </a:p>
        </p:txBody>
      </p:sp>
      <p:cxnSp>
        <p:nvCxnSpPr>
          <p:cNvPr id="34" name="Connector 33"/>
          <p:cNvCxnSpPr/>
          <p:nvPr/>
        </p:nvCxnSpPr>
        <p:spPr>
          <a:xfrm>
            <a:off x="9262872"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after-action report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Failback is the forgotten half — returning to the primary site is itself a risky, planned change with its own window and rollback.</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3.3 · DR TESTING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Testing the DR Plan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Tabletop exercise</a:t>
            </a:r>
          </a:p>
          <a:p>
            <a:pPr algn="l">
              <a:spcAft>
                <a:spcPts val="300"/>
              </a:spcAft>
            </a:pPr>
            <a:r>
              <a:rPr sz="1200" b="0">
                <a:solidFill>
                  <a:srgbClr val="5B6372"/>
                </a:solidFill>
                <a:latin typeface="Arial"/>
              </a:rPr>
              <a:t>Walk the scenario around a table — cheap, and it finds the gaps in roles, contacts and assumptions.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Validation test</a:t>
            </a:r>
          </a:p>
          <a:p>
            <a:pPr algn="l">
              <a:spcAft>
                <a:spcPts val="300"/>
              </a:spcAft>
            </a:pPr>
            <a:r>
              <a:rPr sz="1200" b="0">
                <a:solidFill>
                  <a:srgbClr val="5B6372"/>
                </a:solidFill>
                <a:latin typeface="Arial"/>
              </a:rPr>
              <a:t>Actually restore the backups and fail services over — proves the runbooks, not the intentions.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Full failover drill</a:t>
            </a:r>
          </a:p>
          <a:p>
            <a:pPr algn="l">
              <a:spcAft>
                <a:spcPts val="300"/>
              </a:spcAft>
            </a:pPr>
            <a:r>
              <a:rPr sz="1200" b="0">
                <a:solidFill>
                  <a:srgbClr val="5B6372"/>
                </a:solidFill>
                <a:latin typeface="Arial"/>
              </a:rPr>
              <a:t>Run production from the DR site for a period — the only complete proof the plan works.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After-action report</a:t>
            </a:r>
          </a:p>
          <a:p>
            <a:pPr algn="l">
              <a:spcAft>
                <a:spcPts val="300"/>
              </a:spcAft>
            </a:pPr>
            <a:r>
              <a:rPr sz="1200" b="0">
                <a:solidFill>
                  <a:srgbClr val="5B6372"/>
                </a:solidFill>
                <a:latin typeface="Arial"/>
              </a:rPr>
              <a:t>Every exercise ends with documented findings and concrete plan updates.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315</a:t>
            </a:r>
          </a:p>
        </p:txBody>
      </p:sp>
    </p:spTree>
  </p:cSld>
  <p:clrMapOvr>
    <a:masterClrMapping/>
  </p:clrMapOvr>
  <p:transition spd="fast" advClick="1">
    <p:fade/>
  </p:transition>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3.3 · INCIDENT RESPONSE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Incident Response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Detect &amp; report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first responder</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Escalate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to the right team</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Contain &amp; collect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preserve evidence</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Recover</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restore service</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lessons learned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Forensic discipline — secure the area, document the scene, keep chain of custody — is what keeps evidence admissible and the timeline reconstructable.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3.3 · BACKUPS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Backups That Actually Restore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3-2-1 rule</a:t>
            </a:r>
          </a:p>
          <a:p>
            <a:pPr algn="l">
              <a:spcAft>
                <a:spcPts val="300"/>
              </a:spcAft>
            </a:pPr>
            <a:r>
              <a:rPr sz="1200" b="0">
                <a:solidFill>
                  <a:srgbClr val="5B6372"/>
                </a:solidFill>
                <a:latin typeface="Arial"/>
              </a:rPr>
              <a:t>Three copies, two media types, one offsite — survives device loss, site loss and ransomware.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Snapshots</a:t>
            </a:r>
          </a:p>
          <a:p>
            <a:pPr algn="l">
              <a:spcAft>
                <a:spcPts val="300"/>
              </a:spcAft>
            </a:pPr>
            <a:r>
              <a:rPr sz="1200" b="0">
                <a:solidFill>
                  <a:srgbClr val="5B6372"/>
                </a:solidFill>
                <a:latin typeface="Arial"/>
              </a:rPr>
              <a:t>Point-in-time images for fast local rollback — useful, but never a substitute for offsite copies.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Config + state data</a:t>
            </a:r>
          </a:p>
          <a:p>
            <a:pPr algn="l">
              <a:spcAft>
                <a:spcPts val="300"/>
              </a:spcAft>
            </a:pPr>
            <a:r>
              <a:rPr sz="1200" b="0">
                <a:solidFill>
                  <a:srgbClr val="5B6372"/>
                </a:solidFill>
                <a:latin typeface="Arial"/>
              </a:rPr>
              <a:t>Back up device configurations AND application data; the RPO applies to both.</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Restore testing</a:t>
            </a:r>
          </a:p>
          <a:p>
            <a:pPr algn="l">
              <a:spcAft>
                <a:spcPts val="300"/>
              </a:spcAft>
            </a:pPr>
            <a:r>
              <a:rPr sz="1200" b="0">
                <a:solidFill>
                  <a:srgbClr val="5B6372"/>
                </a:solidFill>
                <a:latin typeface="Arial"/>
              </a:rPr>
              <a:t>An untested backup is a hope, not a plan — schedule restore drills like any other maintenance.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317</a:t>
            </a:r>
          </a:p>
        </p:txBody>
      </p:sp>
    </p:spTree>
  </p:cSld>
  <p:clrMapOvr>
    <a:masterClrMapping/>
  </p:clrMapOvr>
  <p:transition spd="fast" advClick="1">
    <p:fade/>
  </p:transition>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3.5 · VPN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VPN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Connects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Typical use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Site-to-site</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Two networks via gateways</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Branch to HQ, always on</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Client-to-site</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One device to the network</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Remote workers, on demand</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Full tunnel</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ALL client traffic via VPN</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Maximum inspection and control</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Split tunnel</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Only corporate subnets via VPN</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Saves bandwidth, less visibility</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Site-to-site tunnels are transparent to users; client-to-site needs software (or a clientless HTML5 portal) on each device.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318</a:t>
            </a:r>
          </a:p>
        </p:txBody>
      </p:sp>
    </p:spTree>
  </p:cSld>
  <p:clrMapOvr>
    <a:masterClrMapping/>
  </p:clrMapOvr>
  <p:transition spd="fast" advClick="1">
    <p:fade/>
  </p:transition>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3.5 · VPN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Split or Full Tunnel?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Does policy require inspecting
all remote-user traffic?</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full tunnel</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Route everything through HQ: complete visibility and filtering, at the cost of bandwidth, latency and user experience.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split tunnel</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Send only corporate destinations through the VPN; internet traffic goes direct — faster, but invisible to your controls.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Document the choice either way — auditors ask, and users notice.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319</a:t>
            </a:r>
          </a:p>
        </p:txBody>
      </p:sp>
    </p:spTree>
  </p:cSld>
  <p:clrMapOvr>
    <a:masterClrMapping/>
  </p:clrMapOvr>
  <p:transition spd="fast" advClick="1">
    <p:fade/>
  </p:transition>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3.5 · ACCESS &amp;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Management Access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SSH (TCP/22)</a:t>
            </a:r>
          </a:p>
          <a:p>
            <a:pPr algn="l">
              <a:spcAft>
                <a:spcPts val="300"/>
              </a:spcAft>
            </a:pPr>
            <a:r>
              <a:rPr sz="1200" b="0">
                <a:solidFill>
                  <a:srgbClr val="5B6372"/>
                </a:solidFill>
                <a:latin typeface="Arial"/>
              </a:rPr>
              <a:t>Encrypted CLI — the default for device administration; prefer key-based auth over passwords.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GUI</a:t>
            </a:r>
          </a:p>
          <a:p>
            <a:pPr algn="l">
              <a:spcAft>
                <a:spcPts val="300"/>
              </a:spcAft>
            </a:pPr>
            <a:r>
              <a:rPr sz="1200" b="0">
                <a:solidFill>
                  <a:srgbClr val="5B6372"/>
                </a:solidFill>
                <a:latin typeface="Arial"/>
              </a:rPr>
              <a:t>Web management over HTTPS — convenient, but restrict it to the management VLAN.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API</a:t>
            </a:r>
          </a:p>
          <a:p>
            <a:pPr algn="l">
              <a:spcAft>
                <a:spcPts val="300"/>
              </a:spcAft>
            </a:pPr>
            <a:r>
              <a:rPr sz="1200" b="0">
                <a:solidFill>
                  <a:srgbClr val="5B6372"/>
                </a:solidFill>
                <a:latin typeface="Arial"/>
              </a:rPr>
              <a:t>REST and NETCONF programmatic control — the foundation of automation and infrastructure as code.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Console</a:t>
            </a:r>
          </a:p>
          <a:p>
            <a:pPr algn="l">
              <a:spcAft>
                <a:spcPts val="300"/>
              </a:spcAft>
            </a:pPr>
            <a:r>
              <a:rPr sz="1200" b="0">
                <a:solidFill>
                  <a:srgbClr val="5B6372"/>
                </a:solidFill>
                <a:latin typeface="Arial"/>
              </a:rPr>
              <a:t>Direct serial access — works when the network is down; the recovery path of last resort.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Out-of-band</a:t>
            </a:r>
          </a:p>
          <a:p>
            <a:pPr algn="l">
              <a:spcAft>
                <a:spcPts val="300"/>
              </a:spcAft>
            </a:pPr>
            <a:r>
              <a:rPr sz="1200" b="0">
                <a:solidFill>
                  <a:srgbClr val="5B6372"/>
                </a:solidFill>
                <a:latin typeface="Arial"/>
              </a:rPr>
              <a:t>A separate management network or LTE modem, reachable when production is not.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Jump box</a:t>
            </a:r>
          </a:p>
          <a:p>
            <a:pPr algn="l">
              <a:spcAft>
                <a:spcPts val="300"/>
              </a:spcAft>
            </a:pPr>
            <a:r>
              <a:rPr sz="1200" b="0">
                <a:solidFill>
                  <a:srgbClr val="5B6372"/>
                </a:solidFill>
                <a:latin typeface="Arial"/>
              </a:rPr>
              <a:t>One hardened, logged host is the only door into the management network.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320</a:t>
            </a:r>
          </a:p>
        </p:txBody>
      </p:sp>
    </p:spTree>
  </p:cSld>
  <p:clrMapOvr>
    <a:masterClrMapping/>
  </p:clrMapOvr>
  <p:transition spd="fast" advClick="1">
    <p:fade/>
  </p:transition>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3.5 · ACCESS &amp;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In-band vs Out-of-band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In-band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Out-of-band</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Management rides the production net</a:t>
            </a:r>
          </a:p>
          <a:p>
            <a:pPr>
              <a:spcAft>
                <a:spcPts val="1000"/>
              </a:spcAft>
            </a:pPr>
            <a:r>
              <a:rPr sz="1600" b="0">
                <a:solidFill>
                  <a:srgbClr val="161B26"/>
                </a:solidFill>
                <a:latin typeface="Arial"/>
              </a:rPr>
              <a:t>•  Cheap — no extra infrastructure</a:t>
            </a:r>
          </a:p>
          <a:p>
            <a:pPr>
              <a:spcAft>
                <a:spcPts val="1000"/>
              </a:spcAft>
            </a:pPr>
            <a:r>
              <a:rPr sz="1600" b="0">
                <a:solidFill>
                  <a:srgbClr val="161B26"/>
                </a:solidFill>
                <a:latin typeface="Arial"/>
              </a:rPr>
              <a:t>•  Lost exactly when you need it most</a:t>
            </a:r>
          </a:p>
          <a:p>
            <a:pPr>
              <a:spcAft>
                <a:spcPts val="1000"/>
              </a:spcAft>
            </a:pPr>
            <a:r>
              <a:rPr sz="1600" b="0">
                <a:solidFill>
                  <a:srgbClr val="161B26"/>
                </a:solidFill>
                <a:latin typeface="Arial"/>
              </a:rPr>
              <a:t>•  Fine for day-to-day monitoring</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Dedicated network, serial or LTE path</a:t>
            </a:r>
          </a:p>
          <a:p>
            <a:pPr>
              <a:spcAft>
                <a:spcPts val="1000"/>
              </a:spcAft>
            </a:pPr>
            <a:r>
              <a:rPr sz="1600" b="0">
                <a:solidFill>
                  <a:srgbClr val="161B26"/>
                </a:solidFill>
                <a:latin typeface="Arial"/>
              </a:rPr>
              <a:t>•  Reachable during outages</a:t>
            </a:r>
          </a:p>
          <a:p>
            <a:pPr>
              <a:spcAft>
                <a:spcPts val="1000"/>
              </a:spcAft>
            </a:pPr>
            <a:r>
              <a:rPr sz="1600" b="0">
                <a:solidFill>
                  <a:srgbClr val="161B26"/>
                </a:solidFill>
                <a:latin typeface="Arial"/>
              </a:rPr>
              <a:t>•  Extra cost, another network to secure</a:t>
            </a:r>
          </a:p>
          <a:p>
            <a:pPr>
              <a:spcAft>
                <a:spcPts val="1000"/>
              </a:spcAft>
            </a:pPr>
            <a:r>
              <a:rPr sz="1600" b="0">
                <a:solidFill>
                  <a:srgbClr val="161B26"/>
                </a:solidFill>
                <a:latin typeface="Arial"/>
              </a:rPr>
              <a:t>•  Essential for core and remote sites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321</a:t>
            </a:r>
          </a:p>
        </p:txBody>
      </p:sp>
    </p:spTree>
  </p:cSld>
  <p:clrMapOvr>
    <a:masterClrMapping/>
  </p:clrMapOvr>
  <p:transition spd="fast" advClick="1">
    <p:fade/>
  </p:transition>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3.5 · ACCESS &amp;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Jump Box Access Path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Admin authenticates with MFA</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Lands on the hardened jump box</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Session is logged and recorded</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SSH to device on management VLAN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Change tracked against a ticket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322</a:t>
            </a:r>
          </a:p>
        </p:txBody>
      </p:sp>
    </p:spTree>
  </p:cSld>
  <p:clrMapOvr>
    <a:masterClrMapping/>
  </p:clrMapOvr>
  <p:transition spd="fast" advClick="1">
    <p:fade/>
  </p:transition>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DOMAIN 3 COMPLETE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Operations is where designs meet reality.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Document it, monitor it, back it up, rehearse the disaster, and control every management door — that is Domain 3, and 19% of your exam.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323</a:t>
            </a:r>
          </a:p>
        </p:txBody>
      </p:sp>
    </p:spTree>
  </p:cSld>
  <p:clrMapOvr>
    <a:masterClrMapping/>
  </p:clrMapOvr>
  <p:transition spd="fast" advClick="1">
    <p:fade/>
  </p:transition>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3.0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You can now: Configure an SNMP agent and poll MIB objects with snmpwalk and snmpget (OBJ 3.2).</a:t>
            </a:r>
          </a:p>
          <a:p>
            <a:pPr>
              <a:spcAft>
                <a:spcPts val="1000"/>
              </a:spcAft>
            </a:pPr>
            <a:r>
              <a:rPr sz="1600" b="0">
                <a:solidFill>
                  <a:srgbClr val="161B26"/>
                </a:solidFill>
                <a:latin typeface="Arial"/>
              </a:rPr>
              <a:t>•  You can now: Export, collect and analyse flow data to find top talkers and busiest ports (OBJ 3.2).</a:t>
            </a:r>
          </a:p>
          <a:p>
            <a:pPr>
              <a:spcAft>
                <a:spcPts val="1000"/>
              </a:spcAft>
            </a:pPr>
            <a:r>
              <a:rPr sz="1600" b="0">
                <a:solidFill>
                  <a:srgbClr val="161B26"/>
                </a:solidFill>
                <a:latin typeface="Arial"/>
              </a:rPr>
              <a:t>•  You can now: Build a syslog forwarding pipeline and filter aggregated events by severity and pattern (OBJ 3.2).</a:t>
            </a:r>
          </a:p>
          <a:p>
            <a:pPr>
              <a:spcAft>
                <a:spcPts val="1000"/>
              </a:spcAft>
            </a:pPr>
            <a:r>
              <a:rPr sz="1600" b="0">
                <a:solidFill>
                  <a:srgbClr val="161B26"/>
                </a:solidFill>
                <a:latin typeface="Arial"/>
              </a:rPr>
              <a:t>•  You can now: Configure NTP time sync with chrony and interpret stratum, offset and drift (OBJ 3.4).</a:t>
            </a:r>
          </a:p>
          <a:p>
            <a:pPr>
              <a:spcAft>
                <a:spcPts val="1000"/>
              </a:spcAft>
            </a:pPr>
            <a:r>
              <a:rPr sz="1600" b="0">
                <a:solidFill>
                  <a:srgbClr val="161B26"/>
                </a:solidFill>
                <a:latin typeface="Arial"/>
              </a:rPr>
              <a:t>•  You can now: Put network configuration under version control for history, diff, blame and rollback (OBJ 3.1).</a:t>
            </a:r>
          </a:p>
          <a:p>
            <a:pPr>
              <a:spcAft>
                <a:spcPts val="1000"/>
              </a:spcAft>
            </a:pPr>
            <a:r>
              <a:rPr sz="1600" b="0">
                <a:solidFill>
                  <a:srgbClr val="161B26"/>
                </a:solidFill>
                <a:latin typeface="Arial"/>
              </a:rPr>
              <a:t>•  You can now: Baseline throughput, jitter and loss with iperf3 TCP, UDP, parallel and reverse tests (OBJ 3.2).</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324</a:t>
            </a:r>
          </a:p>
        </p:txBody>
      </p:sp>
    </p:spTree>
  </p:cSld>
  <p:clrMapOvr>
    <a:masterClrMapping/>
  </p:clrMapOvr>
  <p:transition spd="fast" advClick="1">
    <p:fade/>
  </p:transition>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4.0  ·  14%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 Security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Logical &amp; physical security · deception · terminology · audits &amp; compliance · segmentation · attacks · defence features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4.0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325</a:t>
            </a:r>
          </a:p>
        </p:txBody>
      </p:sp>
    </p:spTree>
  </p:cSld>
  <p:clrMapOvr>
    <a:masterClrMapping/>
  </p:clrMapOvr>
  <p:transition spd="med" advClick="1">
    <p:push dir="l"/>
  </p:transition>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21–23</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Host Firewall with UFW</a:t>
            </a:r>
          </a:p>
          <a:p>
            <a:pPr>
              <a:spcAft>
                <a:spcPts val="900"/>
              </a:spcAft>
            </a:pPr>
            <a:r>
              <a:rPr sz="1400" b="0">
                <a:solidFill>
                  <a:srgbClr val="161B26"/>
                </a:solidFill>
                <a:latin typeface="Arial"/>
              </a:rPr>
              <a:t>•  TLS Certificate with OpenSSL and Nginx</a:t>
            </a:r>
          </a:p>
          <a:p>
            <a:pPr>
              <a:spcAft>
                <a:spcPts val="900"/>
              </a:spcAft>
            </a:pPr>
            <a:r>
              <a:rPr sz="1400" b="0">
                <a:solidFill>
                  <a:srgbClr val="161B26"/>
                </a:solidFill>
                <a:latin typeface="Arial"/>
              </a:rPr>
              <a:t>•  SSH Hardening with Key Authentication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24–26</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Site-to-Site VPN with WireGuard</a:t>
            </a:r>
          </a:p>
          <a:p>
            <a:pPr>
              <a:spcAft>
                <a:spcPts val="900"/>
              </a:spcAft>
            </a:pPr>
            <a:r>
              <a:rPr sz="1400" b="0">
                <a:solidFill>
                  <a:srgbClr val="161B26"/>
                </a:solidFill>
                <a:latin typeface="Arial"/>
              </a:rPr>
              <a:t>•  Port Scanning and Service Hardening</a:t>
            </a:r>
          </a:p>
          <a:p>
            <a:pPr>
              <a:spcAft>
                <a:spcPts val="900"/>
              </a:spcAft>
            </a:pPr>
            <a:r>
              <a:rPr sz="1400" b="0">
                <a:solidFill>
                  <a:srgbClr val="161B26"/>
                </a:solidFill>
                <a:latin typeface="Arial"/>
              </a:rPr>
              <a:t>•  Intrusion Detection with Suricata</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27</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Building an ACL with iptables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326</a:t>
            </a:r>
          </a:p>
        </p:txBody>
      </p:sp>
    </p:spTree>
  </p:cSld>
  <p:clrMapOvr>
    <a:masterClrMapping/>
  </p:clrMapOvr>
  <p:transition spd="fast" advClick="1">
    <p:fade/>
  </p:transition>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DOMAIN 4 · 14% OF THE EXAM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Domain 4 - Network Security.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14% of the exam: encryption, identity, attacks, hardening, segmentation and physical defence - how we keep the network confidential, intact and available.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327</a:t>
            </a:r>
          </a:p>
        </p:txBody>
      </p:sp>
    </p:spTree>
  </p:cSld>
  <p:clrMapOvr>
    <a:masterClrMapping/>
  </p:clrMapOvr>
  <p:transition spd="fast" advClick="1">
    <p:fade/>
  </p:transition>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4.1 · SECURITY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CIA Triad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Confidentiality</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Only authorised eyes see the data</a:t>
            </a:r>
          </a:p>
          <a:p>
            <a:pPr>
              <a:spcAft>
                <a:spcPts val="900"/>
              </a:spcAft>
            </a:pPr>
            <a:r>
              <a:rPr sz="1400" b="0">
                <a:solidFill>
                  <a:srgbClr val="161B26"/>
                </a:solidFill>
                <a:latin typeface="Arial"/>
              </a:rPr>
              <a:t>•  Encryption in transit and at rest</a:t>
            </a:r>
          </a:p>
          <a:p>
            <a:pPr>
              <a:spcAft>
                <a:spcPts val="900"/>
              </a:spcAft>
            </a:pPr>
            <a:r>
              <a:rPr sz="1400" b="0">
                <a:solidFill>
                  <a:srgbClr val="161B26"/>
                </a:solidFill>
                <a:latin typeface="Arial"/>
              </a:rPr>
              <a:t>•  Access controls and least privilege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Integrity</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Data arrives exactly as it was sent</a:t>
            </a:r>
          </a:p>
          <a:p>
            <a:pPr>
              <a:spcAft>
                <a:spcPts val="900"/>
              </a:spcAft>
            </a:pPr>
            <a:r>
              <a:rPr sz="1400" b="0">
                <a:solidFill>
                  <a:srgbClr val="161B26"/>
                </a:solidFill>
                <a:latin typeface="Arial"/>
              </a:rPr>
              <a:t>•  Hashes detect tampering (SHA-256)</a:t>
            </a:r>
          </a:p>
          <a:p>
            <a:pPr>
              <a:spcAft>
                <a:spcPts val="900"/>
              </a:spcAft>
            </a:pPr>
            <a:r>
              <a:rPr sz="1400" b="0">
                <a:solidFill>
                  <a:srgbClr val="161B26"/>
                </a:solidFill>
                <a:latin typeface="Arial"/>
              </a:rPr>
              <a:t>•  Digital signatures prove the origin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Availability</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Systems stay reachable when needed</a:t>
            </a:r>
          </a:p>
          <a:p>
            <a:pPr>
              <a:spcAft>
                <a:spcPts val="900"/>
              </a:spcAft>
            </a:pPr>
            <a:r>
              <a:rPr sz="1400" b="0">
                <a:solidFill>
                  <a:srgbClr val="161B26"/>
                </a:solidFill>
                <a:latin typeface="Arial"/>
              </a:rPr>
              <a:t>•  Redundancy, backups, DDoS defence</a:t>
            </a:r>
          </a:p>
          <a:p>
            <a:pPr>
              <a:spcAft>
                <a:spcPts val="900"/>
              </a:spcAft>
            </a:pPr>
            <a:r>
              <a:rPr sz="1400" b="0">
                <a:solidFill>
                  <a:srgbClr val="161B26"/>
                </a:solidFill>
                <a:latin typeface="Arial"/>
              </a:rPr>
              <a:t>•  Balance security against usability</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328</a:t>
            </a:r>
          </a:p>
        </p:txBody>
      </p:sp>
    </p:spTree>
  </p:cSld>
  <p:clrMapOvr>
    <a:masterClrMapping/>
  </p:clrMapOvr>
  <p:transition spd="fast" advClick="1">
    <p:fade/>
  </p:transition>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4.1 · SECURITY TERMINOLOGY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Security Terminology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Threat</a:t>
            </a:r>
          </a:p>
          <a:p>
            <a:pPr algn="l">
              <a:spcAft>
                <a:spcPts val="300"/>
              </a:spcAft>
            </a:pPr>
            <a:r>
              <a:rPr sz="1200" b="0">
                <a:solidFill>
                  <a:srgbClr val="5B6372"/>
                </a:solidFill>
                <a:latin typeface="Arial"/>
              </a:rPr>
              <a:t>Any actor or event with the potential to harm the network - from a ransomware crew to a burst pipe above the server room.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Vulnerability</a:t>
            </a:r>
          </a:p>
          <a:p>
            <a:pPr algn="l">
              <a:spcAft>
                <a:spcPts val="300"/>
              </a:spcAft>
            </a:pPr>
            <a:r>
              <a:rPr sz="1200" b="0">
                <a:solidFill>
                  <a:srgbClr val="5B6372"/>
                </a:solidFill>
                <a:latin typeface="Arial"/>
              </a:rPr>
              <a:t>A weakness that could be abused - an unpatched service, a default password, an open port nobody remembers.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Exploit</a:t>
            </a:r>
          </a:p>
          <a:p>
            <a:pPr algn="l">
              <a:spcAft>
                <a:spcPts val="300"/>
              </a:spcAft>
            </a:pPr>
            <a:r>
              <a:rPr sz="1200" b="0">
                <a:solidFill>
                  <a:srgbClr val="5B6372"/>
                </a:solidFill>
                <a:latin typeface="Arial"/>
              </a:rPr>
              <a:t>The technique or code that weaponises a vulnerability to gain access or disrupt service.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Risk</a:t>
            </a:r>
          </a:p>
          <a:p>
            <a:pPr algn="l">
              <a:spcAft>
                <a:spcPts val="300"/>
              </a:spcAft>
            </a:pPr>
            <a:r>
              <a:rPr sz="1200" b="0">
                <a:solidFill>
                  <a:srgbClr val="5B6372"/>
                </a:solidFill>
                <a:latin typeface="Arial"/>
              </a:rPr>
              <a:t>Likelihood times impact of a threat exploiting a vulnerability - what budgets and priorities are set against.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CVE</a:t>
            </a:r>
          </a:p>
          <a:p>
            <a:pPr algn="l">
              <a:spcAft>
                <a:spcPts val="300"/>
              </a:spcAft>
            </a:pPr>
            <a:r>
              <a:rPr sz="1200" b="0">
                <a:solidFill>
                  <a:srgbClr val="5B6372"/>
                </a:solidFill>
                <a:latin typeface="Arial"/>
              </a:rPr>
              <a:t>Common Vulnerabilities and Exposures - the public catalogue of disclosed flaws, each with an ID like CVE-2021-44228 (Log4Shell).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Zero-day</a:t>
            </a:r>
          </a:p>
          <a:p>
            <a:pPr algn="l">
              <a:spcAft>
                <a:spcPts val="300"/>
              </a:spcAft>
            </a:pPr>
            <a:r>
              <a:rPr sz="1200" b="0">
                <a:solidFill>
                  <a:srgbClr val="5B6372"/>
                </a:solidFill>
                <a:latin typeface="Arial"/>
              </a:rPr>
              <a:t>A flaw attackers find before the vendor does - no patch exists yet, so layered defence is the only cover.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329</a:t>
            </a:r>
          </a:p>
        </p:txBody>
      </p:sp>
    </p:spTree>
  </p:cSld>
  <p:clrMapOvr>
    <a:masterClrMapping/>
  </p:clrMapOvr>
  <p:transition spd="fast" advClick="1">
    <p:fade/>
  </p:transition>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4.1 · SECURITY TERMINOLOGY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Threat to Impact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Threat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actor with intent</a:t>
            </a:r>
          </a:p>
        </p:txBody>
      </p:sp>
      <p:cxnSp>
        <p:nvCxnSpPr>
          <p:cNvPr id="13" name="Connector 12"/>
          <p:cNvCxnSpPr/>
          <p:nvPr/>
        </p:nvCxnSpPr>
        <p:spPr>
          <a:xfrm>
            <a:off x="2651760"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Vulnerability</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 weakness exposed</a:t>
            </a:r>
          </a:p>
        </p:txBody>
      </p:sp>
      <p:cxnSp>
        <p:nvCxnSpPr>
          <p:cNvPr id="20" name="Connector 19"/>
          <p:cNvCxnSpPr/>
          <p:nvPr/>
        </p:nvCxnSpPr>
        <p:spPr>
          <a:xfrm>
            <a:off x="4855464"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Exploit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the flaw weaponised</a:t>
            </a:r>
          </a:p>
        </p:txBody>
      </p:sp>
      <p:cxnSp>
        <p:nvCxnSpPr>
          <p:cNvPr id="27" name="Connector 26"/>
          <p:cNvCxnSpPr/>
          <p:nvPr/>
        </p:nvCxnSpPr>
        <p:spPr>
          <a:xfrm>
            <a:off x="7059168"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Breach</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access gained</a:t>
            </a:r>
          </a:p>
        </p:txBody>
      </p:sp>
      <p:cxnSp>
        <p:nvCxnSpPr>
          <p:cNvPr id="34" name="Connector 33"/>
          <p:cNvCxnSpPr/>
          <p:nvPr/>
        </p:nvCxnSpPr>
        <p:spPr>
          <a:xfrm>
            <a:off x="9262872"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Impact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CIA compromised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Break any link and the attack fails - patching removes vulnerabilities, hardening blocks exploits, monitoring and response limit impact.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AUDITS &amp; COMPLIANCE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Audits and Regulatory Compliance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Security audit</a:t>
            </a:r>
          </a:p>
          <a:p>
            <a:pPr algn="l">
              <a:spcAft>
                <a:spcPts val="300"/>
              </a:spcAft>
            </a:pPr>
            <a:r>
              <a:rPr sz="1200" b="0">
                <a:solidFill>
                  <a:srgbClr val="5B6372"/>
                </a:solidFill>
                <a:latin typeface="Arial"/>
              </a:rPr>
              <a:t>An independent check that controls exist and work - configs, logs, access reviews, penetration tests.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Data locality</a:t>
            </a:r>
          </a:p>
          <a:p>
            <a:pPr algn="l">
              <a:spcAft>
                <a:spcPts val="300"/>
              </a:spcAft>
            </a:pPr>
            <a:r>
              <a:rPr sz="1200" b="0">
                <a:solidFill>
                  <a:srgbClr val="5B6372"/>
                </a:solidFill>
                <a:latin typeface="Arial"/>
              </a:rPr>
              <a:t>Laws that dictate WHERE data may be stored and processed - pins your cloud regions and backup sites.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PCI DSS</a:t>
            </a:r>
          </a:p>
          <a:p>
            <a:pPr algn="l">
              <a:spcAft>
                <a:spcPts val="300"/>
              </a:spcAft>
            </a:pPr>
            <a:r>
              <a:rPr sz="1200" b="0">
                <a:solidFill>
                  <a:srgbClr val="5B6372"/>
                </a:solidFill>
                <a:latin typeface="Arial"/>
              </a:rPr>
              <a:t>Card-industry standard: anyone storing or transmitting card data must segment, encrypt and log that environment.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GDPR</a:t>
            </a:r>
          </a:p>
          <a:p>
            <a:pPr algn="l">
              <a:spcAft>
                <a:spcPts val="300"/>
              </a:spcAft>
            </a:pPr>
            <a:r>
              <a:rPr sz="1200" b="0">
                <a:solidFill>
                  <a:srgbClr val="5B6372"/>
                </a:solidFill>
                <a:latin typeface="Arial"/>
              </a:rPr>
              <a:t>EU personal-data regulation: privacy by design, breach notification within 72 hours, heavy fines for leaks.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331</a:t>
            </a:r>
          </a:p>
        </p:txBody>
      </p:sp>
    </p:spTree>
  </p:cSld>
  <p:clrMapOvr>
    <a:masterClrMapping/>
  </p:clrMapOvr>
  <p:transition spd="fast" advClick="1">
    <p:fade/>
  </p:transition>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AUDITS &amp; COMPLIANCE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Compliance Regimes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Regime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Scope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Network requirement</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PCI DSS</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Cardholder data environments</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Segment the CDE, encrypt, log all access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GDPR</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Personal data of EU residents</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Protect by design; report breaches fast</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Data locality</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Where data may physically live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Keep regulated data in approved regions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PDPA (SG)</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Singapore personal data</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Reasonable security arrangements required</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Audits verify these on paper AND on the wire - segmentation and logs are the evidence.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332</a:t>
            </a:r>
          </a:p>
        </p:txBody>
      </p:sp>
    </p:spTree>
  </p:cSld>
  <p:clrMapOvr>
    <a:masterClrMapping/>
  </p:clrMapOvr>
  <p:transition spd="fast" advClick="1">
    <p:fade/>
  </p:transition>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4.3 · DEFENSE TECHNIQUES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Defense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Perimeter</a:t>
            </a:r>
          </a:p>
          <a:p>
            <a:pPr algn="l">
              <a:spcAft>
                <a:spcPts val="300"/>
              </a:spcAft>
            </a:pPr>
            <a:r>
              <a:rPr sz="1200" b="0">
                <a:solidFill>
                  <a:srgbClr val="5B6372"/>
                </a:solidFill>
                <a:latin typeface="Arial"/>
              </a:rPr>
              <a:t>Edge firewalls, screened subnet, DDoS scrubbing - the first line, never the only line.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Network</a:t>
            </a:r>
          </a:p>
          <a:p>
            <a:pPr algn="l">
              <a:spcAft>
                <a:spcPts val="300"/>
              </a:spcAft>
            </a:pPr>
            <a:r>
              <a:rPr sz="1200" b="0">
                <a:solidFill>
                  <a:srgbClr val="5B6372"/>
                </a:solidFill>
                <a:latin typeface="Arial"/>
              </a:rPr>
              <a:t>Segmentation, VLANs, ACLs, IDS/IPS - contain whatever gets past the edge.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Host / endpoint</a:t>
            </a:r>
          </a:p>
          <a:p>
            <a:pPr algn="l">
              <a:spcAft>
                <a:spcPts val="300"/>
              </a:spcAft>
            </a:pPr>
            <a:r>
              <a:rPr sz="1200" b="0">
                <a:solidFill>
                  <a:srgbClr val="5B6372"/>
                </a:solidFill>
                <a:latin typeface="Arial"/>
              </a:rPr>
              <a:t>Host firewalls, EDR, patching, hardening - every machine defends itself.</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Application</a:t>
            </a:r>
          </a:p>
          <a:p>
            <a:pPr algn="l">
              <a:spcAft>
                <a:spcPts val="300"/>
              </a:spcAft>
            </a:pPr>
            <a:r>
              <a:rPr sz="1200" b="0">
                <a:solidFill>
                  <a:srgbClr val="5B6372"/>
                </a:solidFill>
                <a:latin typeface="Arial"/>
              </a:rPr>
              <a:t>Input validation, secure APIs, WAF - the layer attackers actually talk to.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a:t>
            </a:r>
          </a:p>
          <a:p>
            <a:pPr algn="l">
              <a:spcAft>
                <a:spcPts val="300"/>
              </a:spcAft>
            </a:pPr>
            <a:r>
              <a:rPr sz="1200" b="0">
                <a:solidFill>
                  <a:srgbClr val="5B6372"/>
                </a:solidFill>
                <a:latin typeface="Arial"/>
              </a:rPr>
              <a:t>Encryption at rest, backups, DLP - the final prize gets its own armour.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Separation of duties</a:t>
            </a:r>
          </a:p>
          <a:p>
            <a:pPr algn="l">
              <a:spcAft>
                <a:spcPts val="300"/>
              </a:spcAft>
            </a:pPr>
            <a:r>
              <a:rPr sz="1200" b="0">
                <a:solidFill>
                  <a:srgbClr val="5B6372"/>
                </a:solidFill>
                <a:latin typeface="Arial"/>
              </a:rPr>
              <a:t>No single person holds enough rights to abuse the system alone.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333</a:t>
            </a:r>
          </a:p>
        </p:txBody>
      </p:sp>
    </p:spTree>
  </p:cSld>
  <p:clrMapOvr>
    <a:masterClrMapping/>
  </p:clrMapOvr>
  <p:transition spd="fast" advClick="1">
    <p:fade/>
  </p:transition>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4.3 · ZONES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Trusted vs Untrusted Zones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Trusted zone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Untrusted / screened</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Internal LANs and data-centre subnets</a:t>
            </a:r>
          </a:p>
          <a:p>
            <a:pPr>
              <a:spcAft>
                <a:spcPts val="1000"/>
              </a:spcAft>
            </a:pPr>
            <a:r>
              <a:rPr sz="1600" b="0">
                <a:solidFill>
                  <a:srgbClr val="161B26"/>
                </a:solidFill>
                <a:latin typeface="Arial"/>
              </a:rPr>
              <a:t>•  Users and devices are authenticated</a:t>
            </a:r>
          </a:p>
          <a:p>
            <a:pPr>
              <a:spcAft>
                <a:spcPts val="1000"/>
              </a:spcAft>
            </a:pPr>
            <a:r>
              <a:rPr sz="1600" b="0">
                <a:solidFill>
                  <a:srgbClr val="161B26"/>
                </a:solidFill>
                <a:latin typeface="Arial"/>
              </a:rPr>
              <a:t>•  Servers holding business data</a:t>
            </a:r>
          </a:p>
          <a:p>
            <a:pPr>
              <a:spcAft>
                <a:spcPts val="1000"/>
              </a:spcAft>
            </a:pPr>
            <a:r>
              <a:rPr sz="1600" b="0">
                <a:solidFill>
                  <a:srgbClr val="161B26"/>
                </a:solidFill>
                <a:latin typeface="Arial"/>
              </a:rPr>
              <a:t>•  Still segmented - trust is never absolute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The Internet - assume hostile</a:t>
            </a:r>
          </a:p>
          <a:p>
            <a:pPr>
              <a:spcAft>
                <a:spcPts val="1000"/>
              </a:spcAft>
            </a:pPr>
            <a:r>
              <a:rPr sz="1600" b="0">
                <a:solidFill>
                  <a:srgbClr val="161B26"/>
                </a:solidFill>
                <a:latin typeface="Arial"/>
              </a:rPr>
              <a:t>•  Guest and BYOD networks</a:t>
            </a:r>
          </a:p>
          <a:p>
            <a:pPr>
              <a:spcAft>
                <a:spcPts val="1000"/>
              </a:spcAft>
            </a:pPr>
            <a:r>
              <a:rPr sz="1600" b="0">
                <a:solidFill>
                  <a:srgbClr val="161B26"/>
                </a:solidFill>
                <a:latin typeface="Arial"/>
              </a:rPr>
              <a:t>•  Screened subnet (DMZ) for public services</a:t>
            </a:r>
          </a:p>
          <a:p>
            <a:pPr>
              <a:spcAft>
                <a:spcPts val="1000"/>
              </a:spcAft>
            </a:pPr>
            <a:r>
              <a:rPr sz="1600" b="0">
                <a:solidFill>
                  <a:srgbClr val="161B26"/>
                </a:solidFill>
                <a:latin typeface="Arial"/>
              </a:rPr>
              <a:t>•  Traffic crossing zones must pass a firewall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334</a:t>
            </a:r>
          </a:p>
        </p:txBody>
      </p:sp>
    </p:spTree>
  </p:cSld>
  <p:clrMapOvr>
    <a:masterClrMapping/>
  </p:clrMapOvr>
  <p:transition spd="fast" advClick="1">
    <p:fade/>
  </p:transition>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4.3 · SCREENED SUBNET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Screened Subnet (DMZ)</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Screened subnet</a:t>
            </a:r>
          </a:p>
          <a:p>
            <a:pPr algn="l">
              <a:spcAft>
                <a:spcPts val="300"/>
              </a:spcAft>
            </a:pPr>
            <a:r>
              <a:rPr sz="1200" b="0">
                <a:solidFill>
                  <a:srgbClr val="5B6372"/>
                </a:solidFill>
                <a:latin typeface="Arial"/>
              </a:rPr>
              <a:t>A buffer network between Internet and LAN hosting the public-facing servers - web, mail, DNS.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Bastion host</a:t>
            </a:r>
          </a:p>
          <a:p>
            <a:pPr algn="l">
              <a:spcAft>
                <a:spcPts val="300"/>
              </a:spcAft>
            </a:pPr>
            <a:r>
              <a:rPr sz="1200" b="0">
                <a:solidFill>
                  <a:srgbClr val="5B6372"/>
                </a:solidFill>
                <a:latin typeface="Arial"/>
              </a:rPr>
              <a:t>Any machine directly exposed to the Internet - hardened to the maximum, expected to be attacked.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Two-firewall design</a:t>
            </a:r>
          </a:p>
          <a:p>
            <a:pPr algn="l">
              <a:spcAft>
                <a:spcPts val="300"/>
              </a:spcAft>
            </a:pPr>
            <a:r>
              <a:rPr sz="1200" b="0">
                <a:solidFill>
                  <a:srgbClr val="5B6372"/>
                </a:solidFill>
                <a:latin typeface="Arial"/>
              </a:rPr>
              <a:t>Internet -&gt; outer firewall -&gt; DMZ -&gt; inner firewall -&gt; LAN; a DMZ breach still faces a wall.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Why it works</a:t>
            </a:r>
          </a:p>
          <a:p>
            <a:pPr algn="l">
              <a:spcAft>
                <a:spcPts val="300"/>
              </a:spcAft>
            </a:pPr>
            <a:r>
              <a:rPr sz="1200" b="0">
                <a:solidFill>
                  <a:srgbClr val="5B6372"/>
                </a:solidFill>
                <a:latin typeface="Arial"/>
              </a:rPr>
              <a:t>If a public server is compromised, the attacker is contained in the DMZ - not inside your LAN.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335</a:t>
            </a:r>
          </a:p>
        </p:txBody>
      </p:sp>
    </p:spTree>
  </p:cSld>
  <p:clrMapOvr>
    <a:masterClrMapping/>
  </p:clrMapOvr>
  <p:transition spd="fast" advClick="1">
    <p:fade/>
  </p:transition>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4.3 · FIREWALLS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Firewall Families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Network firewall</a:t>
            </a:r>
          </a:p>
          <a:p>
            <a:pPr algn="l">
              <a:spcAft>
                <a:spcPts val="300"/>
              </a:spcAft>
            </a:pPr>
            <a:r>
              <a:rPr sz="1200" b="0">
                <a:solidFill>
                  <a:srgbClr val="5B6372"/>
                </a:solidFill>
                <a:latin typeface="Arial"/>
              </a:rPr>
              <a:t>A dedicated device at zone boundaries filtering traffic for the whole network.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Host-based firewall</a:t>
            </a:r>
          </a:p>
          <a:p>
            <a:pPr algn="l">
              <a:spcAft>
                <a:spcPts val="300"/>
              </a:spcAft>
            </a:pPr>
            <a:r>
              <a:rPr sz="1200" b="0">
                <a:solidFill>
                  <a:srgbClr val="5B6372"/>
                </a:solidFill>
                <a:latin typeface="Arial"/>
              </a:rPr>
              <a:t>Software on each machine (ufw, Windows Defender FW) - the last line, per host.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Hardware vs software</a:t>
            </a:r>
          </a:p>
          <a:p>
            <a:pPr algn="l">
              <a:spcAft>
                <a:spcPts val="300"/>
              </a:spcAft>
            </a:pPr>
            <a:r>
              <a:rPr sz="1200" b="0">
                <a:solidFill>
                  <a:srgbClr val="5B6372"/>
                </a:solidFill>
                <a:latin typeface="Arial"/>
              </a:rPr>
              <a:t>Physical appliances at the edge; virtual/software firewalls in cloud and hosts.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UTM / NGFW</a:t>
            </a:r>
          </a:p>
          <a:p>
            <a:pPr algn="l">
              <a:spcAft>
                <a:spcPts val="300"/>
              </a:spcAft>
            </a:pPr>
            <a:r>
              <a:rPr sz="1200" b="0">
                <a:solidFill>
                  <a:srgbClr val="5B6372"/>
                </a:solidFill>
                <a:latin typeface="Arial"/>
              </a:rPr>
              <a:t>Unified threat management bundles firewall, IPS, AV and URL filtering in one box.</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336</a:t>
            </a:r>
          </a:p>
        </p:txBody>
      </p:sp>
    </p:spTree>
  </p:cSld>
  <p:clrMapOvr>
    <a:masterClrMapping/>
  </p:clrMapOvr>
  <p:transition spd="fast" advClick="1">
    <p:fade/>
  </p:transition>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4.3 · FIREWALLS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Stateless, Stateful, Application-Aware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Decides on</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Strength</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Limit</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Stateless</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Ports + IPs, per packet (ACL)</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Fast, simple, cheap</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 conversation context</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Stateful</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Tracks connection state</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Return traffic auto-allowed</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More CPU and memory</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App-aware (NGFW)</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Packet content via DPI</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Sees apps inside port 443</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Costly; TLS inspection</a:t>
            </a:r>
          </a:p>
        </p:txBody>
      </p:sp>
      <p:sp>
        <p:nvSpPr>
          <p:cNvPr id="39" name="Rectangle 38"/>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4599432"/>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Most modern firewalls combine all three - ACL speed plus stateful context plus DPI.</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337</a:t>
            </a:r>
          </a:p>
        </p:txBody>
      </p:sp>
    </p:spTree>
  </p:cSld>
  <p:clrMapOvr>
    <a:masterClrMapping/>
  </p:clrMapOvr>
  <p:transition spd="fast" advClick="1">
    <p:fade/>
  </p:transition>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OBJ 4.3 · THE GOLDEN RULE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Default deny. Allow by exception.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firewall policy starts by blocking everything inbound, then permits only the specific ports, sources and services the business needs - the stance you build in Lab 21.</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338</a:t>
            </a:r>
          </a:p>
        </p:txBody>
      </p:sp>
    </p:spTree>
  </p:cSld>
  <p:clrMapOvr>
    <a:masterClrMapping/>
  </p:clrMapOvr>
  <p:transition spd="fast" advClick="1">
    <p:fade/>
  </p:transition>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4.0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Host Firewall with UFW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 default-deny host firewall with UFW: global allows, source-restricted rules, rule management.</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Set a deny-by-default inbound policy with UFW, permit SSH globally and MySQL only from 10.0.0.0/8, then list, delete and disable rules to manage the firewall lifecycle.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host firewall that denies all inbound traffic except SSH and source-restricted MySQL.</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ufw, iptables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ufw status verbose shows Default: deny (incoming), allow (outgoing) plus your 22/tcp and 3306 rules; iptables -L shows the same rules generated underneath.</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339</a:t>
            </a:r>
          </a:p>
        </p:txBody>
      </p:sp>
    </p:spTree>
  </p:cSld>
  <p:clrMapOvr>
    <a:masterClrMapping/>
  </p:clrMapOvr>
  <p:transition spd="fast" advClick="1">
    <p:fade/>
  </p:transition>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UFW</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Allow SSH first - skipping this in a</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ufw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Enable the firewall and check the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ufw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Add a source-restricted rule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ufw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Disable the firewall when done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ufw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 default-deny host firewall with UFW: global allows, source-restricted rules, rule management.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Host Firewall with UFW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ufw status verbose shows Default: deny (incoming), allow (outgoing) plus your 22/tcp and 3306 rules; iptables -L shows the same rules generated underneath.</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Locked out of SSH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Always allow 22/tcp before ufw enable; from the console run ufw disable, re-add the rule, re-enable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Rule never matches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order with ufw status numbered - more specific source rules must sit above broad ones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ufw: command not found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Install it first: apt update &amp;&amp; apt install -y ufw</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341</a:t>
            </a:r>
          </a:p>
        </p:txBody>
      </p:sp>
    </p:spTree>
  </p:cSld>
  <p:clrMapOvr>
    <a:masterClrMapping/>
  </p:clrMapOvr>
  <p:transition spd="fast" advClick="1">
    <p:fade/>
  </p:transition>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OBJ 4.1 · LOGICAL SECURITY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Making TCP/IP secure.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TCP/IP was designed for openness, not secrecy - confidentiality, integrity and availability are bolted on with encryption, hashes and authentication at every layer.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342</a:t>
            </a:r>
          </a:p>
        </p:txBody>
      </p:sp>
    </p:spTree>
  </p:cSld>
  <p:clrMapOvr>
    <a:masterClrMapping/>
  </p:clrMapOvr>
  <p:transition spd="fast" advClick="1">
    <p:fade/>
  </p:transition>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4.1 · ENCRYPTION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Encryption: In Transit vs At Rest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Data in transit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Data at rest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Moving across the network</a:t>
            </a:r>
          </a:p>
          <a:p>
            <a:pPr>
              <a:spcAft>
                <a:spcPts val="1000"/>
              </a:spcAft>
            </a:pPr>
            <a:r>
              <a:rPr sz="1600" b="0">
                <a:solidFill>
                  <a:srgbClr val="161B26"/>
                </a:solidFill>
                <a:latin typeface="Arial"/>
              </a:rPr>
              <a:t>•  TLS 1.3 for web and APIs</a:t>
            </a:r>
          </a:p>
          <a:p>
            <a:pPr>
              <a:spcAft>
                <a:spcPts val="1000"/>
              </a:spcAft>
            </a:pPr>
            <a:r>
              <a:rPr sz="1600" b="0">
                <a:solidFill>
                  <a:srgbClr val="161B26"/>
                </a:solidFill>
                <a:latin typeface="Arial"/>
              </a:rPr>
              <a:t>•  IPSec or WireGuard for site links</a:t>
            </a:r>
          </a:p>
          <a:p>
            <a:pPr>
              <a:spcAft>
                <a:spcPts val="1000"/>
              </a:spcAft>
            </a:pPr>
            <a:r>
              <a:rPr sz="1600" b="0">
                <a:solidFill>
                  <a:srgbClr val="161B26"/>
                </a:solidFill>
                <a:latin typeface="Arial"/>
              </a:rPr>
              <a:t>•  SSH for management sessions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Stored on disk or in the cloud</a:t>
            </a:r>
          </a:p>
          <a:p>
            <a:pPr>
              <a:spcAft>
                <a:spcPts val="1000"/>
              </a:spcAft>
            </a:pPr>
            <a:r>
              <a:rPr sz="1600" b="0">
                <a:solidFill>
                  <a:srgbClr val="161B26"/>
                </a:solidFill>
                <a:latin typeface="Arial"/>
              </a:rPr>
              <a:t>•  Full-disk encryption (LUKS, BitLocker)</a:t>
            </a:r>
          </a:p>
          <a:p>
            <a:pPr>
              <a:spcAft>
                <a:spcPts val="1000"/>
              </a:spcAft>
            </a:pPr>
            <a:r>
              <a:rPr sz="1600" b="0">
                <a:solidFill>
                  <a:srgbClr val="161B26"/>
                </a:solidFill>
                <a:latin typeface="Arial"/>
              </a:rPr>
              <a:t>•  Database and object-store encryption</a:t>
            </a:r>
          </a:p>
          <a:p>
            <a:pPr>
              <a:spcAft>
                <a:spcPts val="1000"/>
              </a:spcAft>
            </a:pPr>
            <a:r>
              <a:rPr sz="1600" b="0">
                <a:solidFill>
                  <a:srgbClr val="161B26"/>
                </a:solidFill>
                <a:latin typeface="Arial"/>
              </a:rPr>
              <a:t>•  Key management decides real safety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343</a:t>
            </a:r>
          </a:p>
        </p:txBody>
      </p:sp>
    </p:spTree>
  </p:cSld>
  <p:clrMapOvr>
    <a:masterClrMapping/>
  </p:clrMapOvr>
  <p:transition spd="fast" advClick="1">
    <p:fade/>
  </p:transition>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ENCRYPTION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Symmetric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Cleartext</a:t>
            </a:r>
          </a:p>
          <a:p>
            <a:pPr algn="l">
              <a:spcAft>
                <a:spcPts val="300"/>
              </a:spcAft>
            </a:pPr>
            <a:r>
              <a:rPr sz="1200" b="0">
                <a:solidFill>
                  <a:srgbClr val="5B6372"/>
                </a:solidFill>
                <a:latin typeface="Arial"/>
              </a:rPr>
              <a:t>Any unencrypted data - readable by whoever captures the packet.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Algorithm + key</a:t>
            </a:r>
          </a:p>
          <a:p>
            <a:pPr algn="l">
              <a:spcAft>
                <a:spcPts val="300"/>
              </a:spcAft>
            </a:pPr>
            <a:r>
              <a:rPr sz="1200" b="0">
                <a:solidFill>
                  <a:srgbClr val="5B6372"/>
                </a:solidFill>
                <a:latin typeface="Arial"/>
              </a:rPr>
              <a:t>The algorithm (AES) is public and well studied; all the secrecy lives in the key.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Ciphertext</a:t>
            </a:r>
          </a:p>
          <a:p>
            <a:pPr algn="l">
              <a:spcAft>
                <a:spcPts val="300"/>
              </a:spcAft>
            </a:pPr>
            <a:r>
              <a:rPr sz="1200" b="0">
                <a:solidFill>
                  <a:srgbClr val="5B6372"/>
                </a:solidFill>
                <a:latin typeface="Arial"/>
              </a:rPr>
              <a:t>The scrambled output - useless to an eavesdropper without the key.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Same key both ways</a:t>
            </a:r>
          </a:p>
          <a:p>
            <a:pPr algn="l">
              <a:spcAft>
                <a:spcPts val="300"/>
              </a:spcAft>
            </a:pPr>
            <a:r>
              <a:rPr sz="1200" b="0">
                <a:solidFill>
                  <a:srgbClr val="5B6372"/>
                </a:solidFill>
                <a:latin typeface="Arial"/>
              </a:rPr>
              <a:t>Symmetric = one shared key encrypts AND decrypts - fast, but that key must travel safely.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344</a:t>
            </a:r>
          </a:p>
        </p:txBody>
      </p:sp>
    </p:spTree>
  </p:cSld>
  <p:clrMapOvr>
    <a:masterClrMapping/>
  </p:clrMapOvr>
  <p:transition spd="fast" advClick="1">
    <p:fade/>
  </p:transition>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ENCRYPTION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Symmetric vs Asymmetric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Symmetric</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Asymmetric</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Keys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One shared secret key</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Public + private key pair</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Speed</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Fast - bulk data encryption</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Slow - small payloads only</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Examples</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AES-256, ChaCha20</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RSA-2048, ECC / Curve25519</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Key exchange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Hard - secret must travel</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Easy - publish the public key</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Used for</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Session data after handshake</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Handshake, signatures, certs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TLS uses both: asymmetric crypto agrees a session key, symmetric crypto carries the data.</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345</a:t>
            </a:r>
          </a:p>
        </p:txBody>
      </p:sp>
    </p:spTree>
  </p:cSld>
  <p:clrMapOvr>
    <a:masterClrMapping/>
  </p:clrMapOvr>
  <p:transition spd="fast" advClick="1">
    <p:fade/>
  </p:transition>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4.1 · INTEGRITY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Cryptographic Hashes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Fixed-size fingerprint</a:t>
            </a:r>
          </a:p>
          <a:p>
            <a:pPr algn="l">
              <a:spcAft>
                <a:spcPts val="300"/>
              </a:spcAft>
            </a:pPr>
            <a:r>
              <a:rPr sz="1200" b="0">
                <a:solidFill>
                  <a:srgbClr val="5B6372"/>
                </a:solidFill>
                <a:latin typeface="Arial"/>
              </a:rPr>
              <a:t>Any input, one fixed-length output - SHA-256 always yields 256 bits.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Integrity, not secrecy</a:t>
            </a:r>
          </a:p>
          <a:p>
            <a:pPr algn="l">
              <a:spcAft>
                <a:spcPts val="300"/>
              </a:spcAft>
            </a:pPr>
            <a:r>
              <a:rPr sz="1200" b="0">
                <a:solidFill>
                  <a:srgbClr val="5B6372"/>
                </a:solidFill>
                <a:latin typeface="Arial"/>
              </a:rPr>
              <a:t>A hash proves data is unchanged; it does not hide the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Avalanche effect</a:t>
            </a:r>
          </a:p>
          <a:p>
            <a:pPr algn="l">
              <a:spcAft>
                <a:spcPts val="300"/>
              </a:spcAft>
            </a:pPr>
            <a:r>
              <a:rPr sz="1200" b="0">
                <a:solidFill>
                  <a:srgbClr val="5B6372"/>
                </a:solidFill>
                <a:latin typeface="Arial"/>
              </a:rPr>
              <a:t>Change one bit of input and the entire hash changes - tampering is obvious.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MD5 / SHA-1 retired</a:t>
            </a:r>
          </a:p>
          <a:p>
            <a:pPr algn="l">
              <a:spcAft>
                <a:spcPts val="300"/>
              </a:spcAft>
            </a:pPr>
            <a:r>
              <a:rPr sz="1200" b="0">
                <a:solidFill>
                  <a:srgbClr val="5B6372"/>
                </a:solidFill>
                <a:latin typeface="Arial"/>
              </a:rPr>
              <a:t>Collisions have been engineered - use SHA-256 or SHA-3 today.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Password storage</a:t>
            </a:r>
          </a:p>
          <a:p>
            <a:pPr algn="l">
              <a:spcAft>
                <a:spcPts val="300"/>
              </a:spcAft>
            </a:pPr>
            <a:r>
              <a:rPr sz="1200" b="0">
                <a:solidFill>
                  <a:srgbClr val="5B6372"/>
                </a:solidFill>
                <a:latin typeface="Arial"/>
              </a:rPr>
              <a:t>Servers store salted hashes, never the password itself.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HMAC</a:t>
            </a:r>
          </a:p>
          <a:p>
            <a:pPr algn="l">
              <a:spcAft>
                <a:spcPts val="300"/>
              </a:spcAft>
            </a:pPr>
            <a:r>
              <a:rPr sz="1200" b="0">
                <a:solidFill>
                  <a:srgbClr val="5B6372"/>
                </a:solidFill>
                <a:latin typeface="Arial"/>
              </a:rPr>
              <a:t>A keyed hash proving both integrity and authenticity of a message.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346</a:t>
            </a:r>
          </a:p>
        </p:txBody>
      </p:sp>
    </p:spTree>
  </p:cSld>
  <p:clrMapOvr>
    <a:masterClrMapping/>
  </p:clrMapOvr>
  <p:transition spd="fast" advClick="1">
    <p:fade/>
  </p:transition>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TLS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TLS 1.3 Handshake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ClientHello</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ciphers + key share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ServerHello</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key share + cert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Verify certificate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chain to trusted CA</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Derive session keys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both sides compute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Encrypted data</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symmetric AES/ChaCha</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TLS 1.3 completes in one round-trip: asymmetric crypto authenticates the server and agrees keys, then fast symmetric crypto protects the whole session.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4.1 · PKI</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Certificates and PKI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X.509 certificate</a:t>
            </a:r>
          </a:p>
          <a:p>
            <a:pPr algn="l">
              <a:spcAft>
                <a:spcPts val="300"/>
              </a:spcAft>
            </a:pPr>
            <a:r>
              <a:rPr sz="1200" b="0">
                <a:solidFill>
                  <a:srgbClr val="5B6372"/>
                </a:solidFill>
                <a:latin typeface="Arial"/>
              </a:rPr>
              <a:t>Binds a public key to an identity (CN/SAN), signed by an issuer with validity dates.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Certificate authority</a:t>
            </a:r>
          </a:p>
          <a:p>
            <a:pPr algn="l">
              <a:spcAft>
                <a:spcPts val="300"/>
              </a:spcAft>
            </a:pPr>
            <a:r>
              <a:rPr sz="1200" b="0">
                <a:solidFill>
                  <a:srgbClr val="5B6372"/>
                </a:solidFill>
                <a:latin typeface="Arial"/>
              </a:rPr>
              <a:t>A trusted third party that signs certificates after verifying the requester's identity.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Chain of trust</a:t>
            </a:r>
          </a:p>
          <a:p>
            <a:pPr algn="l">
              <a:spcAft>
                <a:spcPts val="300"/>
              </a:spcAft>
            </a:pPr>
            <a:r>
              <a:rPr sz="1200" b="0">
                <a:solidFill>
                  <a:srgbClr val="5B6372"/>
                </a:solidFill>
                <a:latin typeface="Arial"/>
              </a:rPr>
              <a:t>Leaf cert -&gt; intermediate CA -&gt; root CA pre-installed in every OS and browser.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Self-signed</a:t>
            </a:r>
          </a:p>
          <a:p>
            <a:pPr algn="l">
              <a:spcAft>
                <a:spcPts val="300"/>
              </a:spcAft>
            </a:pPr>
            <a:r>
              <a:rPr sz="1200" b="0">
                <a:solidFill>
                  <a:srgbClr val="5B6372"/>
                </a:solidFill>
                <a:latin typeface="Arial"/>
              </a:rPr>
              <a:t>Signed by its own key - fine for labs and internal tools, but every browser warns.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CSR</a:t>
            </a:r>
          </a:p>
          <a:p>
            <a:pPr algn="l">
              <a:spcAft>
                <a:spcPts val="300"/>
              </a:spcAft>
            </a:pPr>
            <a:r>
              <a:rPr sz="1200" b="0">
                <a:solidFill>
                  <a:srgbClr val="5B6372"/>
                </a:solidFill>
                <a:latin typeface="Arial"/>
              </a:rPr>
              <a:t>Certificate signing request - your public key plus identity, sent to the CA for signing.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Let's Encrypt / ACME</a:t>
            </a:r>
          </a:p>
          <a:p>
            <a:pPr algn="l">
              <a:spcAft>
                <a:spcPts val="300"/>
              </a:spcAft>
            </a:pPr>
            <a:r>
              <a:rPr sz="1200" b="0">
                <a:solidFill>
                  <a:srgbClr val="5B6372"/>
                </a:solidFill>
                <a:latin typeface="Arial"/>
              </a:rPr>
              <a:t>Free automated CA - the ACME protocol issues and renews certs every 90 days.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348</a:t>
            </a:r>
          </a:p>
        </p:txBody>
      </p:sp>
    </p:spTree>
  </p:cSld>
  <p:clrMapOvr>
    <a:masterClrMapping/>
  </p:clrMapOvr>
  <p:transition spd="fast" advClick="1">
    <p:fade/>
  </p:transition>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CERTIFICATES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Certificate with openssl x509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certificate you generate in Lab 22, decoded field by field.</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openssl x509 -in lab.crt -noout -text</a:t>
            </a:r>
          </a:p>
          <a:p>
            <a:pPr>
              <a:spcAft>
                <a:spcPts val="200"/>
              </a:spcAft>
            </a:pPr>
            <a:r>
              <a:rPr sz="1100">
                <a:solidFill>
                  <a:srgbClr val="9CDCFE"/>
                </a:solidFill>
                <a:latin typeface="Consolas"/>
              </a:rPr>
              <a:t>Certificate:</a:t>
            </a:r>
          </a:p>
          <a:p>
            <a:pPr>
              <a:spcAft>
                <a:spcPts val="200"/>
              </a:spcAft>
            </a:pPr>
            <a:r>
              <a:rPr sz="1100">
                <a:solidFill>
                  <a:srgbClr val="9CDCFE"/>
                </a:solidFill>
                <a:latin typeface="Consolas"/>
              </a:rPr>
              <a:t>  Data:</a:t>
            </a:r>
          </a:p>
          <a:p>
            <a:pPr>
              <a:spcAft>
                <a:spcPts val="200"/>
              </a:spcAft>
            </a:pPr>
            <a:r>
              <a:rPr sz="1100">
                <a:solidFill>
                  <a:srgbClr val="9CDCFE"/>
                </a:solidFill>
                <a:latin typeface="Consolas"/>
              </a:rPr>
              <a:t>    Serial Number: 5d:9c:41:...:2e</a:t>
            </a:r>
          </a:p>
          <a:p>
            <a:pPr>
              <a:spcAft>
                <a:spcPts val="200"/>
              </a:spcAft>
            </a:pPr>
            <a:r>
              <a:rPr sz="1100">
                <a:solidFill>
                  <a:srgbClr val="D4D4D4"/>
                </a:solidFill>
                <a:latin typeface="Consolas"/>
              </a:rPr>
              <a:t>    Issuer: CN = lab.local</a:t>
            </a:r>
          </a:p>
          <a:p>
            <a:pPr>
              <a:spcAft>
                <a:spcPts val="200"/>
              </a:spcAft>
            </a:pPr>
            <a:r>
              <a:rPr sz="1100">
                <a:solidFill>
                  <a:srgbClr val="9CDCFE"/>
                </a:solidFill>
                <a:latin typeface="Consolas"/>
              </a:rPr>
              <a:t>    Validity</a:t>
            </a:r>
          </a:p>
          <a:p>
            <a:pPr>
              <a:spcAft>
                <a:spcPts val="200"/>
              </a:spcAft>
            </a:pPr>
            <a:r>
              <a:rPr sz="1100">
                <a:solidFill>
                  <a:srgbClr val="9CDCFE"/>
                </a:solidFill>
                <a:latin typeface="Consolas"/>
              </a:rPr>
              <a:t>      Not Before: Aug 19 02:00:00 2026 GMT</a:t>
            </a:r>
          </a:p>
          <a:p>
            <a:pPr>
              <a:spcAft>
                <a:spcPts val="200"/>
              </a:spcAft>
            </a:pPr>
            <a:r>
              <a:rPr sz="1100">
                <a:solidFill>
                  <a:srgbClr val="9CDCFE"/>
                </a:solidFill>
                <a:latin typeface="Consolas"/>
              </a:rPr>
              <a:t>      Not After : Aug 19 02:00:00 2027 GMT</a:t>
            </a:r>
          </a:p>
          <a:p>
            <a:pPr>
              <a:spcAft>
                <a:spcPts val="200"/>
              </a:spcAft>
            </a:pPr>
            <a:r>
              <a:rPr sz="1100">
                <a:solidFill>
                  <a:srgbClr val="D4D4D4"/>
                </a:solidFill>
                <a:latin typeface="Consolas"/>
              </a:rPr>
              <a:t>    Subject: CN = lab.local</a:t>
            </a:r>
          </a:p>
          <a:p>
            <a:pPr>
              <a:spcAft>
                <a:spcPts val="200"/>
              </a:spcAft>
            </a:pPr>
            <a:r>
              <a:rPr sz="1100">
                <a:solidFill>
                  <a:srgbClr val="9CDCFE"/>
                </a:solidFill>
                <a:latin typeface="Consolas"/>
              </a:rPr>
              <a:t>    Subject Public Key Info:</a:t>
            </a:r>
          </a:p>
          <a:p>
            <a:pPr>
              <a:spcAft>
                <a:spcPts val="200"/>
              </a:spcAft>
            </a:pPr>
            <a:r>
              <a:rPr sz="1100">
                <a:solidFill>
                  <a:srgbClr val="9CDCFE"/>
                </a:solidFill>
                <a:latin typeface="Consolas"/>
              </a:rPr>
              <a:t>      Public-Key: (2048 bit)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Issuer = Subject</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Both read CN=lab.local - the certificate signed itself, so no browser will trust it.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Validity window</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Outside Not Before / Not After the cert throws expired or not-yet-valid errors.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Public key</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RSA-2048 key clients use in the TLS handshake to agree session secrets.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349</a:t>
            </a:r>
          </a:p>
        </p:txBody>
      </p:sp>
    </p:spTree>
  </p:cSld>
  <p:clrMapOvr>
    <a:masterClrMapping/>
  </p:clrMapOvr>
  <p:transition spd="fast" advClick="1">
    <p:fade/>
  </p:transition>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4.1 · CERTIFICATES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Certificate Error Scenarios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Self-signed warning</a:t>
            </a:r>
          </a:p>
          <a:p>
            <a:pPr algn="l">
              <a:spcAft>
                <a:spcPts val="300"/>
              </a:spcAft>
            </a:pPr>
            <a:r>
              <a:rPr sz="1200" b="0">
                <a:solidFill>
                  <a:srgbClr val="5B6372"/>
                </a:solidFill>
                <a:latin typeface="Arial"/>
              </a:rPr>
              <a:t>No CA in the chain - the browser shows ERR_CERT_AUTHORITY_INVALID.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Expired certificate</a:t>
            </a:r>
          </a:p>
          <a:p>
            <a:pPr algn="l">
              <a:spcAft>
                <a:spcPts val="300"/>
              </a:spcAft>
            </a:pPr>
            <a:r>
              <a:rPr sz="1200" b="0">
                <a:solidFill>
                  <a:srgbClr val="5B6372"/>
                </a:solidFill>
                <a:latin typeface="Arial"/>
              </a:rPr>
              <a:t>Past its Not After date - renew with the issuer; automate renewal with ACME.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Name mismatch</a:t>
            </a:r>
          </a:p>
          <a:p>
            <a:pPr algn="l">
              <a:spcAft>
                <a:spcPts val="300"/>
              </a:spcAft>
            </a:pPr>
            <a:r>
              <a:rPr sz="1200" b="0">
                <a:solidFill>
                  <a:srgbClr val="5B6372"/>
                </a:solidFill>
                <a:latin typeface="Arial"/>
              </a:rPr>
              <a:t>The CN/SAN does not match the URL's hostname - common after renames and moves.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Revoked certificate</a:t>
            </a:r>
          </a:p>
          <a:p>
            <a:pPr algn="l">
              <a:spcAft>
                <a:spcPts val="300"/>
              </a:spcAft>
            </a:pPr>
            <a:r>
              <a:rPr sz="1200" b="0">
                <a:solidFill>
                  <a:srgbClr val="5B6372"/>
                </a:solidFill>
                <a:latin typeface="Arial"/>
              </a:rPr>
              <a:t>The CA withdrew it - clients check live via OCSP or download CRL lists.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350</a:t>
            </a:r>
          </a:p>
        </p:txBody>
      </p:sp>
    </p:spTree>
  </p:cSld>
  <p:clrMapOvr>
    <a:masterClrMapping/>
  </p:clrMapOvr>
  <p:transition spd="fast" advClick="1">
    <p:fade/>
  </p:transition>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4.0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TLS Certificate with OpenSSL and Nginx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Generate a self-signed X.509 certificate, serve HTTPS from nginx and inspect the TLS handshake.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an RSA-2048 self-signed certificate with openssl req -x509, configure nginx for HTTPS on 443, then verify the handshake and certificate fields from the client with curl, openssl x509 and s_client.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HTTPS server on 443 presenting your own certificate, plus a client-side view of the TLS 1.3 handshake.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openssl, nginx, curl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curl -kv https://localhost prints the TLS version, cipher suite and the CN=lab.local certificate; openssl x509 -text shows identical Issuer and Subject - the mark of a self-signed cert.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351</a:t>
            </a:r>
          </a:p>
        </p:txBody>
      </p:sp>
    </p:spTree>
  </p:cSld>
  <p:clrMapOvr>
    <a:masterClrMapping/>
  </p:clrMapOvr>
  <p:transition spd="fast" advClick="1">
    <p:fade/>
  </p:transition>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the packages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Generate a self-signed RSA-2048 cert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openssl · step 2</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Point nginx at the cert and key</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systemctl · step 3</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Inspect the certificate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openssl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Probe the live handshake with s_client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echo · step 6</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Generate a self-signed X.509 certificate, serve HTTPS from nginx and inspect the TLS handshake.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TLS Certificate with OpenSSL and Nginx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curl -kv https://localhost prints the TLS version, cipher suite and the CN=lab.local certificate; openssl x509 -text shows identical Issuer and Subject - the mark of a self-signed cert.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curl: SSL certificate problem</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Expected for self-signed - pass -k to curl, or install a CA-signed certificate instead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nginx fails to restart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nginx -t to locate the config error; verify the ssl_certificate and key paths exist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listening on 443</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listen 443 ssl in the server block, then check with ss -tlnp | grep 443</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353</a:t>
            </a:r>
          </a:p>
        </p:txBody>
      </p:sp>
    </p:spTree>
  </p:cSld>
  <p:clrMapOvr>
    <a:masterClrMapping/>
  </p:clrMapOvr>
  <p:transition spd="fast" advClick="1">
    <p:fade/>
  </p:transition>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OBJ 4.1 · IAM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Who are you, and what may you do?</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Identity and access management is security's control plane: identification, authentication, authorization and accounting govern every login, port and API call.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354</a:t>
            </a:r>
          </a:p>
        </p:txBody>
      </p:sp>
    </p:spTree>
  </p:cSld>
  <p:clrMapOvr>
    <a:masterClrMapping/>
  </p:clrMapOvr>
  <p:transition spd="fast" advClick="1">
    <p:fade/>
  </p:transition>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4.1 · IAM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Identification to Accounting (IAM / AAA)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Identification - claim an identity (username)</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Authentication - prove it (password + MFA)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Authorization - what you may do (RBAC)</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Accounting - log what you did (audit trail)</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355</a:t>
            </a:r>
          </a:p>
        </p:txBody>
      </p:sp>
    </p:spTree>
  </p:cSld>
  <p:clrMapOvr>
    <a:masterClrMapping/>
  </p:clrMapOvr>
  <p:transition spd="fast" advClick="1">
    <p:fade/>
  </p:transition>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4.1 · MFA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Multifactor Authentication (MFA)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Something you know</a:t>
            </a:r>
          </a:p>
          <a:p>
            <a:pPr algn="l">
              <a:spcAft>
                <a:spcPts val="300"/>
              </a:spcAft>
            </a:pPr>
            <a:r>
              <a:rPr sz="1200" b="0">
                <a:solidFill>
                  <a:srgbClr val="5B6372"/>
                </a:solidFill>
                <a:latin typeface="Arial"/>
              </a:rPr>
              <a:t>Password, PIN, passphrase - the weakest factor on its own.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Something you have</a:t>
            </a:r>
          </a:p>
          <a:p>
            <a:pPr algn="l">
              <a:spcAft>
                <a:spcPts val="300"/>
              </a:spcAft>
            </a:pPr>
            <a:r>
              <a:rPr sz="1200" b="0">
                <a:solidFill>
                  <a:srgbClr val="5B6372"/>
                </a:solidFill>
                <a:latin typeface="Arial"/>
              </a:rPr>
              <a:t>Phone TOTP app, smart card, hardware token (YubiKey).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Something you are</a:t>
            </a:r>
          </a:p>
          <a:p>
            <a:pPr algn="l">
              <a:spcAft>
                <a:spcPts val="300"/>
              </a:spcAft>
            </a:pPr>
            <a:r>
              <a:rPr sz="1200" b="0">
                <a:solidFill>
                  <a:srgbClr val="5B6372"/>
                </a:solidFill>
                <a:latin typeface="Arial"/>
              </a:rPr>
              <a:t>Biometrics - fingerprint, face, iris.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Somewhere you are</a:t>
            </a:r>
          </a:p>
          <a:p>
            <a:pPr algn="l">
              <a:spcAft>
                <a:spcPts val="300"/>
              </a:spcAft>
            </a:pPr>
            <a:r>
              <a:rPr sz="1200" b="0">
                <a:solidFill>
                  <a:srgbClr val="5B6372"/>
                </a:solidFill>
                <a:latin typeface="Arial"/>
              </a:rPr>
              <a:t>Location attribute - geofencing blocks logins from outside approved areas.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Something you do</a:t>
            </a:r>
          </a:p>
          <a:p>
            <a:pPr algn="l">
              <a:spcAft>
                <a:spcPts val="300"/>
              </a:spcAft>
            </a:pPr>
            <a:r>
              <a:rPr sz="1200" b="0">
                <a:solidFill>
                  <a:srgbClr val="5B6372"/>
                </a:solidFill>
                <a:latin typeface="Arial"/>
              </a:rPr>
              <a:t>Behavioural attributes - typing rhythm, signature dynamics.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MFA = 2+ DIFFERENT factors</a:t>
            </a:r>
          </a:p>
          <a:p>
            <a:pPr algn="l">
              <a:spcAft>
                <a:spcPts val="300"/>
              </a:spcAft>
            </a:pPr>
            <a:r>
              <a:rPr sz="1200" b="0">
                <a:solidFill>
                  <a:srgbClr val="5B6372"/>
                </a:solidFill>
                <a:latin typeface="Arial"/>
              </a:rPr>
              <a:t>Two passwords is not MFA; a password plus a TOTP code is.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356</a:t>
            </a:r>
          </a:p>
        </p:txBody>
      </p:sp>
    </p:spTree>
  </p:cSld>
  <p:clrMapOvr>
    <a:masterClrMapping/>
  </p:clrMapOvr>
  <p:transition spd="fast" advClick="1">
    <p:fade/>
  </p:transition>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MFA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Time-Based and Location-Based Authentication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Time-based OTP (TOTP)</a:t>
            </a:r>
          </a:p>
          <a:p>
            <a:pPr algn="l">
              <a:spcAft>
                <a:spcPts val="300"/>
              </a:spcAft>
            </a:pPr>
            <a:r>
              <a:rPr sz="1200" b="0">
                <a:solidFill>
                  <a:srgbClr val="5B6372"/>
                </a:solidFill>
                <a:latin typeface="Arial"/>
              </a:rPr>
              <a:t>A shared secret plus the current time yields a 6-digit code valid for 30 seconds.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Geofencing</a:t>
            </a:r>
          </a:p>
          <a:p>
            <a:pPr algn="l">
              <a:spcAft>
                <a:spcPts val="300"/>
              </a:spcAft>
            </a:pPr>
            <a:r>
              <a:rPr sz="1200" b="0">
                <a:solidFill>
                  <a:srgbClr val="5B6372"/>
                </a:solidFill>
                <a:latin typeface="Arial"/>
              </a:rPr>
              <a:t>Access permitted only from defined geographic areas or IP ranges.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Push / passkeys</a:t>
            </a:r>
          </a:p>
          <a:p>
            <a:pPr algn="l">
              <a:spcAft>
                <a:spcPts val="300"/>
              </a:spcAft>
            </a:pPr>
            <a:r>
              <a:rPr sz="1200" b="0">
                <a:solidFill>
                  <a:srgbClr val="5B6372"/>
                </a:solidFill>
                <a:latin typeface="Arial"/>
              </a:rPr>
              <a:t>FIDO2 passkeys bind the login to the genuine site - phishing-resistant MFA.</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Least privilege</a:t>
            </a:r>
          </a:p>
          <a:p>
            <a:pPr algn="l">
              <a:spcAft>
                <a:spcPts val="300"/>
              </a:spcAft>
            </a:pPr>
            <a:r>
              <a:rPr sz="1200" b="0">
                <a:solidFill>
                  <a:srgbClr val="5B6372"/>
                </a:solidFill>
                <a:latin typeface="Arial"/>
              </a:rPr>
              <a:t>Grant the minimum rights a role needs, and remove them when the role ends.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357</a:t>
            </a:r>
          </a:p>
        </p:txBody>
      </p:sp>
    </p:spTree>
  </p:cSld>
  <p:clrMapOvr>
    <a:masterClrMapping/>
  </p:clrMapOvr>
  <p:transition spd="fast" advClick="1">
    <p:fade/>
  </p:transition>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4.1 · AUTHORIZATION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Access Control Models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Role-based (RBAC)</a:t>
            </a:r>
          </a:p>
          <a:p>
            <a:pPr algn="l">
              <a:spcAft>
                <a:spcPts val="300"/>
              </a:spcAft>
            </a:pPr>
            <a:r>
              <a:rPr sz="1200" b="0">
                <a:solidFill>
                  <a:srgbClr val="5B6372"/>
                </a:solidFill>
                <a:latin typeface="Arial"/>
              </a:rPr>
              <a:t>Rights attach to roles/groups; users inherit by membership - the enterprise default.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Mandatory (MAC)</a:t>
            </a:r>
          </a:p>
          <a:p>
            <a:pPr algn="l">
              <a:spcAft>
                <a:spcPts val="300"/>
              </a:spcAft>
            </a:pPr>
            <a:r>
              <a:rPr sz="1200" b="0">
                <a:solidFill>
                  <a:srgbClr val="5B6372"/>
                </a:solidFill>
                <a:latin typeface="Arial"/>
              </a:rPr>
              <a:t>Labels and clearances fixed by policy; users cannot re-share - military and government.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Discretionary (DAC)</a:t>
            </a:r>
          </a:p>
          <a:p>
            <a:pPr algn="l">
              <a:spcAft>
                <a:spcPts val="300"/>
              </a:spcAft>
            </a:pPr>
            <a:r>
              <a:rPr sz="1200" b="0">
                <a:solidFill>
                  <a:srgbClr val="5B6372"/>
                </a:solidFill>
                <a:latin typeface="Arial"/>
              </a:rPr>
              <a:t>The resource owner decides who gets access - flexible, but permissions sprawl.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Least privilege lens</a:t>
            </a:r>
          </a:p>
          <a:p>
            <a:pPr algn="l">
              <a:spcAft>
                <a:spcPts val="300"/>
              </a:spcAft>
            </a:pPr>
            <a:r>
              <a:rPr sz="1200" b="0">
                <a:solidFill>
                  <a:srgbClr val="5B6372"/>
                </a:solidFill>
                <a:latin typeface="Arial"/>
              </a:rPr>
              <a:t>Whatever the model, grant minimum rights and review them regularly.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358</a:t>
            </a:r>
          </a:p>
        </p:txBody>
      </p:sp>
    </p:spTree>
  </p:cSld>
  <p:clrMapOvr>
    <a:masterClrMapping/>
  </p:clrMapOvr>
  <p:transition spd="fast" advClick="1">
    <p:fade/>
  </p:transition>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4.1 · SSO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Single Sign-On and Federation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Single sign-on (SSO)</a:t>
            </a:r>
          </a:p>
          <a:p>
            <a:pPr algn="l">
              <a:spcAft>
                <a:spcPts val="300"/>
              </a:spcAft>
            </a:pPr>
            <a:r>
              <a:rPr sz="1200" b="0">
                <a:solidFill>
                  <a:srgbClr val="5B6372"/>
                </a:solidFill>
                <a:latin typeface="Arial"/>
              </a:rPr>
              <a:t>Authenticate once, access many apps - one strong login to protect with MFA.</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SAML</a:t>
            </a:r>
          </a:p>
          <a:p>
            <a:pPr algn="l">
              <a:spcAft>
                <a:spcPts val="300"/>
              </a:spcAft>
            </a:pPr>
            <a:r>
              <a:rPr sz="1200" b="0">
                <a:solidFill>
                  <a:srgbClr val="5B6372"/>
                </a:solidFill>
                <a:latin typeface="Arial"/>
              </a:rPr>
              <a:t>XML federation: an identity provider (IdP) asserts who you are to service providers.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LDAP / LDAPS</a:t>
            </a:r>
          </a:p>
          <a:p>
            <a:pPr algn="l">
              <a:spcAft>
                <a:spcPts val="300"/>
              </a:spcAft>
            </a:pPr>
            <a:r>
              <a:rPr sz="1200" b="0">
                <a:solidFill>
                  <a:srgbClr val="5B6372"/>
                </a:solidFill>
                <a:latin typeface="Arial"/>
              </a:rPr>
              <a:t>Directory lookups on TCP 389; LDAPS wraps them in TLS on 636 - how apps query AD.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Kerberos</a:t>
            </a:r>
          </a:p>
          <a:p>
            <a:pPr algn="l">
              <a:spcAft>
                <a:spcPts val="300"/>
              </a:spcAft>
            </a:pPr>
            <a:r>
              <a:rPr sz="1200" b="0">
                <a:solidFill>
                  <a:srgbClr val="5B6372"/>
                </a:solidFill>
                <a:latin typeface="Arial"/>
              </a:rPr>
              <a:t>Ticket-based SSO in Windows domains - time-stamped tickets issued by the KDC.</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359</a:t>
            </a:r>
          </a:p>
        </p:txBody>
      </p:sp>
    </p:spTree>
  </p:cSld>
  <p:clrMapOvr>
    <a:masterClrMapping/>
  </p:clrMapOvr>
  <p:transition spd="fast" advClick="1">
    <p:fade/>
  </p:transition>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4.1 · AAA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RADIUS vs TACACS+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RADIUS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TACACS+</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Transport</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UDP 1812/1813 (or 1645/1646)</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TCP 49</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Encryption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Password field only</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Entire payload</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AAA split</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AuthN + AuthZ combined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three separated</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Typical use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Wi-Fi, VPN, 802.1X access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Admin access to network gear</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Origin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Open standard</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Cisco (now published)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Exam favourite: RADIUS = network access over UDP; TACACS+ = device administration over TCP 49.</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360</a:t>
            </a:r>
          </a:p>
        </p:txBody>
      </p:sp>
    </p:spTree>
  </p:cSld>
  <p:clrMapOvr>
    <a:masterClrMapping/>
  </p:clrMapOvr>
  <p:transition spd="fast" advClick="1">
    <p:fade/>
  </p:transition>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EAP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EAP - the Authentication Framework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EAP</a:t>
            </a:r>
          </a:p>
          <a:p>
            <a:pPr algn="l">
              <a:spcAft>
                <a:spcPts val="300"/>
              </a:spcAft>
            </a:pPr>
            <a:r>
              <a:rPr sz="1200" b="0">
                <a:solidFill>
                  <a:srgbClr val="5B6372"/>
                </a:solidFill>
                <a:latin typeface="Arial"/>
              </a:rPr>
              <a:t>A framework, not one protocol - it carries many authentication methods inside 802.1X.</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EAP-TLS</a:t>
            </a:r>
          </a:p>
          <a:p>
            <a:pPr algn="l">
              <a:spcAft>
                <a:spcPts val="300"/>
              </a:spcAft>
            </a:pPr>
            <a:r>
              <a:rPr sz="1200" b="0">
                <a:solidFill>
                  <a:srgbClr val="5B6372"/>
                </a:solidFill>
                <a:latin typeface="Arial"/>
              </a:rPr>
              <a:t>Certificates on both server and client - strongest, passwordless.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PEAP</a:t>
            </a:r>
          </a:p>
          <a:p>
            <a:pPr algn="l">
              <a:spcAft>
                <a:spcPts val="300"/>
              </a:spcAft>
            </a:pPr>
            <a:r>
              <a:rPr sz="1200" b="0">
                <a:solidFill>
                  <a:srgbClr val="5B6372"/>
                </a:solidFill>
                <a:latin typeface="Arial"/>
              </a:rPr>
              <a:t>The server's cert builds a TLS tunnel, credentials go inside - the campus Wi-Fi standard.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EAP-PSK / EAP-MD5</a:t>
            </a:r>
          </a:p>
          <a:p>
            <a:pPr algn="l">
              <a:spcAft>
                <a:spcPts val="300"/>
              </a:spcAft>
            </a:pPr>
            <a:r>
              <a:rPr sz="1200" b="0">
                <a:solidFill>
                  <a:srgbClr val="5B6372"/>
                </a:solidFill>
                <a:latin typeface="Arial"/>
              </a:rPr>
              <a:t>Legacy lightweight methods - avoid wherever certificates are possible.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361</a:t>
            </a:r>
          </a:p>
        </p:txBody>
      </p:sp>
    </p:spTree>
  </p:cSld>
  <p:clrMapOvr>
    <a:masterClrMapping/>
  </p:clrMapOvr>
  <p:transition spd="fast" advClick="1">
    <p:fade/>
  </p:transition>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4.3 · DEVICE HARDENING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Device Hardening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Change default passwords</a:t>
            </a:r>
          </a:p>
          <a:p>
            <a:pPr algn="l">
              <a:spcAft>
                <a:spcPts val="300"/>
              </a:spcAft>
            </a:pPr>
            <a:r>
              <a:rPr sz="1200" b="0">
                <a:solidFill>
                  <a:srgbClr val="5B6372"/>
                </a:solidFill>
                <a:latin typeface="Arial"/>
              </a:rPr>
              <a:t>Factory admin credentials sit in every attacker's wordlist - change them on day 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Disable unused services</a:t>
            </a:r>
          </a:p>
          <a:p>
            <a:pPr algn="l">
              <a:spcAft>
                <a:spcPts val="300"/>
              </a:spcAft>
            </a:pPr>
            <a:r>
              <a:rPr sz="1200" b="0">
                <a:solidFill>
                  <a:srgbClr val="5B6372"/>
                </a:solidFill>
                <a:latin typeface="Arial"/>
              </a:rPr>
              <a:t>Every listening daemon is attack surface - if nobody needs it, stop and disable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Disable unused ports</a:t>
            </a:r>
          </a:p>
          <a:p>
            <a:pPr algn="l">
              <a:spcAft>
                <a:spcPts val="300"/>
              </a:spcAft>
            </a:pPr>
            <a:r>
              <a:rPr sz="1200" b="0">
                <a:solidFill>
                  <a:srgbClr val="5B6372"/>
                </a:solidFill>
                <a:latin typeface="Arial"/>
              </a:rPr>
              <a:t>Shut idle switch ports; an unused wall jack must not be a live network drop.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Patch firmware</a:t>
            </a:r>
          </a:p>
          <a:p>
            <a:pPr algn="l">
              <a:spcAft>
                <a:spcPts val="300"/>
              </a:spcAft>
            </a:pPr>
            <a:r>
              <a:rPr sz="1200" b="0">
                <a:solidFill>
                  <a:srgbClr val="5B6372"/>
                </a:solidFill>
                <a:latin typeface="Arial"/>
              </a:rPr>
              <a:t>Known CVEs in network gear are scanned for within hours of disclosure.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Key management</a:t>
            </a:r>
          </a:p>
          <a:p>
            <a:pPr algn="l">
              <a:spcAft>
                <a:spcPts val="300"/>
              </a:spcAft>
            </a:pPr>
            <a:r>
              <a:rPr sz="1200" b="0">
                <a:solidFill>
                  <a:srgbClr val="5B6372"/>
                </a:solidFill>
                <a:latin typeface="Arial"/>
              </a:rPr>
              <a:t>Rotate SSH and API keys; revoke a leaver's keys the day they leave.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Secure the management plane</a:t>
            </a:r>
          </a:p>
          <a:p>
            <a:pPr algn="l">
              <a:spcAft>
                <a:spcPts val="300"/>
              </a:spcAft>
            </a:pPr>
            <a:r>
              <a:rPr sz="1200" b="0">
                <a:solidFill>
                  <a:srgbClr val="5B6372"/>
                </a:solidFill>
                <a:latin typeface="Arial"/>
              </a:rPr>
              <a:t>SSH not Telnet, HTTPS not HTTP, on a dedicated management VLAN.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362</a:t>
            </a:r>
          </a:p>
        </p:txBody>
      </p:sp>
    </p:spTree>
  </p:cSld>
  <p:clrMapOvr>
    <a:masterClrMapping/>
  </p:clrMapOvr>
  <p:transition spd="fast" advClick="1">
    <p:fade/>
  </p:transition>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4.3 · HARDENING IN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Hardened sshd_config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Lab 23 end-state: keys only, limited users, tested before reload.</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6A9955"/>
                </a:solidFill>
                <a:latin typeface="Consolas"/>
              </a:rPr>
              <a:t># /etc/ssh/sshd_config - hardened</a:t>
            </a:r>
          </a:p>
          <a:p>
            <a:pPr>
              <a:spcAft>
                <a:spcPts val="200"/>
              </a:spcAft>
            </a:pPr>
            <a:r>
              <a:rPr sz="1100">
                <a:solidFill>
                  <a:srgbClr val="9CDCFE"/>
                </a:solidFill>
                <a:latin typeface="Consolas"/>
              </a:rPr>
              <a:t>Port 2222</a:t>
            </a:r>
          </a:p>
          <a:p>
            <a:pPr>
              <a:spcAft>
                <a:spcPts val="200"/>
              </a:spcAft>
            </a:pPr>
            <a:r>
              <a:rPr sz="1100">
                <a:solidFill>
                  <a:srgbClr val="9CDCFE"/>
                </a:solidFill>
                <a:latin typeface="Consolas"/>
              </a:rPr>
              <a:t>PermitRootLogin prohibit-password</a:t>
            </a:r>
          </a:p>
          <a:p>
            <a:pPr>
              <a:spcAft>
                <a:spcPts val="200"/>
              </a:spcAft>
            </a:pPr>
            <a:r>
              <a:rPr sz="1100">
                <a:solidFill>
                  <a:srgbClr val="9CDCFE"/>
                </a:solidFill>
                <a:latin typeface="Consolas"/>
              </a:rPr>
              <a:t>PasswordAuthentication no</a:t>
            </a:r>
          </a:p>
          <a:p>
            <a:pPr>
              <a:spcAft>
                <a:spcPts val="200"/>
              </a:spcAft>
            </a:pPr>
            <a:r>
              <a:rPr sz="1100">
                <a:solidFill>
                  <a:srgbClr val="9CDCFE"/>
                </a:solidFill>
                <a:latin typeface="Consolas"/>
              </a:rPr>
              <a:t>PubkeyAuthentication yes</a:t>
            </a:r>
          </a:p>
          <a:p>
            <a:pPr>
              <a:spcAft>
                <a:spcPts val="200"/>
              </a:spcAft>
            </a:pPr>
            <a:r>
              <a:rPr sz="1100">
                <a:solidFill>
                  <a:srgbClr val="9CDCFE"/>
                </a:solidFill>
                <a:latin typeface="Consolas"/>
              </a:rPr>
              <a:t>MaxAuthTries 3</a:t>
            </a:r>
          </a:p>
          <a:p>
            <a:pPr>
              <a:spcAft>
                <a:spcPts val="200"/>
              </a:spcAft>
            </a:pPr>
            <a:r>
              <a:rPr sz="1100">
                <a:solidFill>
                  <a:srgbClr val="9CDCFE"/>
                </a:solidFill>
                <a:latin typeface="Consolas"/>
              </a:rPr>
              <a:t>AllowUsers admin</a:t>
            </a:r>
          </a:p>
          <a:p>
            <a:pPr>
              <a:spcAft>
                <a:spcPts val="200"/>
              </a:spcAft>
            </a:pPr>
            <a:r>
              <a:rPr sz="1100">
                <a:solidFill>
                  <a:srgbClr val="9CDCFE"/>
                </a:solidFill>
                <a:latin typeface="Consolas"/>
              </a:rPr>
              <a:t/>
            </a:r>
          </a:p>
          <a:p>
            <a:pPr>
              <a:spcAft>
                <a:spcPts val="200"/>
              </a:spcAft>
            </a:pPr>
            <a:r>
              <a:rPr sz="1100">
                <a:solidFill>
                  <a:srgbClr val="6A9955"/>
                </a:solidFill>
                <a:latin typeface="Consolas"/>
              </a:rPr>
              <a:t># validate BEFORE reloading:</a:t>
            </a:r>
          </a:p>
          <a:p>
            <a:pPr>
              <a:spcAft>
                <a:spcPts val="200"/>
              </a:spcAft>
            </a:pPr>
            <a:r>
              <a:rPr sz="1100">
                <a:solidFill>
                  <a:srgbClr val="9CDCFE"/>
                </a:solidFill>
                <a:latin typeface="Consolas"/>
              </a:rPr>
              <a:t>$ sshd -t &amp;&amp; systemctl reload ssh</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Keys only</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PasswordAuthentication no removes brute force as an attack class - keys cannot be guessed.</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Blast-radius limits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AllowUsers and MaxAuthTries shrink who may try to log in, and how often.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sshd -t</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Test the config before reload - a syntax error must never lock you out of a remote box.</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363</a:t>
            </a:r>
          </a:p>
        </p:txBody>
      </p:sp>
    </p:spTree>
  </p:cSld>
  <p:clrMapOvr>
    <a:masterClrMapping/>
  </p:clrMapOvr>
  <p:transition spd="fast" advClick="1">
    <p:fade/>
  </p:transition>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4.0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SSH Hardening with Key Authentication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Harden SSH: Ed25519 key authentication, password login disabled, config validated before reload.</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Generate an Ed25519 key pair, install the public key in authorized_keys, prove key login works, then disable PasswordAuthentication in sshd_config, validate with sshd -t and confirm password login is refused.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SSH daemon that accepts only public-key authentication, with root password login prohibited.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openssh-server, openssh-client, ssh-keygen</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Key login returns root with no password prompt; forcing password authentication returns Permission denied (publickey).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364</a:t>
            </a:r>
          </a:p>
        </p:txBody>
      </p:sp>
    </p:spTree>
  </p:cSld>
  <p:clrMapOvr>
    <a:masterClrMapping/>
  </p:clrMapOvr>
  <p:transition spd="fast" advClick="1">
    <p:fade/>
  </p:transition>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Generate an Ed25519 key pair</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ssh-keygen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Test key-based login - no password</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ssh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Disable password authentication in</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sed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Validate the config</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sshd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Discuss bonus hardening</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Harden SSH: Ed25519 key authentication, password login disabled, config validated before reload.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SSH Hardening with Key Authentication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Key login returns root with no password prompt; forcing password authentication returns Permission denied (publickey).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denied with the key</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Fix permissions: chmod 700 ~/.ssh and chmod 600 ~/.ssh/authorized_keys - sshd refuses lax modes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sshd -t reports errors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Fix the reported line in /etc/ssh/sshd_config before reloading - a bad config can lock you out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Password login still works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override files in /etc/ssh/sshd_config.d/ for PasswordAuthentication yes, then reload ssh</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366</a:t>
            </a:r>
          </a:p>
        </p:txBody>
      </p:sp>
    </p:spTree>
  </p:cSld>
  <p:clrMapOvr>
    <a:masterClrMapping/>
  </p:clrMapOvr>
  <p:transition spd="fast" advClick="1">
    <p:fade/>
  </p:transition>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ENCRYPTION IN TRANSIT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VPN - Extending the Trusted Zone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Site-to-site VPN</a:t>
            </a:r>
          </a:p>
          <a:p>
            <a:pPr algn="l">
              <a:spcAft>
                <a:spcPts val="300"/>
              </a:spcAft>
            </a:pPr>
            <a:r>
              <a:rPr sz="1200" b="0">
                <a:solidFill>
                  <a:srgbClr val="5B6372"/>
                </a:solidFill>
                <a:latin typeface="Arial"/>
              </a:rPr>
              <a:t>Routers or firewalls tunnel whole networks together across the Internet.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Client-to-site</a:t>
            </a:r>
          </a:p>
          <a:p>
            <a:pPr algn="l">
              <a:spcAft>
                <a:spcPts val="300"/>
              </a:spcAft>
            </a:pPr>
            <a:r>
              <a:rPr sz="1200" b="0">
                <a:solidFill>
                  <a:srgbClr val="5B6372"/>
                </a:solidFill>
                <a:latin typeface="Arial"/>
              </a:rPr>
              <a:t>Remote access - a laptop joins the corporate network from anywhere.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IPSec</a:t>
            </a:r>
          </a:p>
          <a:p>
            <a:pPr algn="l">
              <a:spcAft>
                <a:spcPts val="300"/>
              </a:spcAft>
            </a:pPr>
            <a:r>
              <a:rPr sz="1200" b="0">
                <a:solidFill>
                  <a:srgbClr val="5B6372"/>
                </a:solidFill>
                <a:latin typeface="Arial"/>
              </a:rPr>
              <a:t>AH/ESP with IKE key exchange - the classic standard: rich, interoperable, complex.</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WireGuard</a:t>
            </a:r>
          </a:p>
          <a:p>
            <a:pPr algn="l">
              <a:spcAft>
                <a:spcPts val="300"/>
              </a:spcAft>
            </a:pPr>
            <a:r>
              <a:rPr sz="1200" b="0">
                <a:solidFill>
                  <a:srgbClr val="5B6372"/>
                </a:solidFill>
                <a:latin typeface="Arial"/>
              </a:rPr>
              <a:t>Modern and tiny: Curve25519 key pairs, no PKI needed - what you build in Lab 24.</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Split vs full tunnel</a:t>
            </a:r>
          </a:p>
          <a:p>
            <a:pPr algn="l">
              <a:spcAft>
                <a:spcPts val="300"/>
              </a:spcAft>
            </a:pPr>
            <a:r>
              <a:rPr sz="1200" b="0">
                <a:solidFill>
                  <a:srgbClr val="5B6372"/>
                </a:solidFill>
                <a:latin typeface="Arial"/>
              </a:rPr>
              <a:t>Route everything through the VPN, or only the corporate subnets.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it matters</a:t>
            </a:r>
          </a:p>
          <a:p>
            <a:pPr algn="l">
              <a:spcAft>
                <a:spcPts val="300"/>
              </a:spcAft>
            </a:pPr>
            <a:r>
              <a:rPr sz="1200" b="0">
                <a:solidFill>
                  <a:srgbClr val="5B6372"/>
                </a:solidFill>
                <a:latin typeface="Arial"/>
              </a:rPr>
              <a:t>A VPN extends the trusted zone across an untrusted network - encryption in transit.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367</a:t>
            </a:r>
          </a:p>
        </p:txBody>
      </p:sp>
    </p:spTree>
  </p:cSld>
  <p:clrMapOvr>
    <a:masterClrMapping/>
  </p:clrMapOvr>
  <p:transition spd="fast" advClick="1">
    <p:fade/>
  </p:transition>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4.1 · ENCRYPTION IN TRANSIT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VPN Technologies Compared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IPSec</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TLS VPN</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WireGuard</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Layer</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Network (L3)</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Session (TLS)</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Network (L3)</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Keys</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IKE + certs / PSK</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X.509 certificates</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Static 32-byte key pairs</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Codebase</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Large, complex</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Large (OpenVPN)</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Tiny (~4k lines)</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Speed</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Good (HW offload)</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Moderate</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Excellent</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Best for</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Standards, site-to-site</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Remote access via 443</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Modern deployments</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WireGuard's allowed-ips doubles as a routing rule AND an inbound ACL - you will see this in Lab 24.</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368</a:t>
            </a:r>
          </a:p>
        </p:txBody>
      </p:sp>
    </p:spTree>
  </p:cSld>
  <p:clrMapOvr>
    <a:masterClrMapping/>
  </p:clrMapOvr>
  <p:transition spd="fast" advClick="1">
    <p:fade/>
  </p:transition>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4.0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Site-to-Site VPN with WireGuard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Build a site-to-site WireGuard tunnel between two network namespaces and verify the handshake.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two namespaces as VPN endpoints, generate Curve25519 key pairs, configure wg0 interfaces with peer public keys and allowed-ips, bring the tunnel up, ping across it and inspect handshake state with wg show.</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encrypted point-to-point tunnel (10.99.0.1 &lt;-&gt; 10.99.0.2) between two namespaces acting as two sites.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wireguard, wireguard-tools, iproute2</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ping -c2 10.99.0.1 from site-b succeeds through the tunnel; wg show reports the peer public key, a recent handshake time and rising transfer counters.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369</a:t>
            </a:r>
          </a:p>
        </p:txBody>
      </p:sp>
    </p:spTree>
  </p:cSld>
  <p:clrMapOvr>
    <a:masterClrMapping/>
  </p:clrMapOvr>
  <p:transition spd="fast" advClick="1">
    <p:fade/>
  </p:transition>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WireGuard</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Generate a key pair for each peer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wg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Assign the tunnel addresses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Ping site-a across the encrypted</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Clean up namespaces and key files</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10</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Build a site-to-site WireGuard tunnel between two network namespaces and verify the handshake.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Site-to-Site VPN with WireGuard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ping -c2 10.99.0.1 from site-b succeeds through the tunnel; wg show reports the peer public key, a recent handshake time and rising transfer counters.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Ping fails across the tunnel</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wg show for a handshake; verify each peer entry uses the other side's PUBLIC key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wg show shows no handshake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site-b's endpoint 127.0.0.1:51820 matches site-a's listen-port, and allowed-ips cover the peer /32</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wg0 already exists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Stale run - delete with ip netns del site-a &amp;&amp; ip netns del site-b and recreate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371</a:t>
            </a:r>
          </a:p>
        </p:txBody>
      </p:sp>
    </p:spTree>
  </p:cSld>
  <p:clrMapOvr>
    <a:masterClrMapping/>
  </p:clrMapOvr>
  <p:transition spd="fast" advClick="1">
    <p:fade/>
  </p:transition>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OBJ 4.3 · ATTACK SURFACE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Every open port is a doorway.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Attack-surface reduction is the cheapest security win: enumerate what is listening, ask why it is there, and disable what nobody needs - before an attacker does the asking.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372</a:t>
            </a:r>
          </a:p>
        </p:txBody>
      </p:sp>
    </p:spTree>
  </p:cSld>
  <p:clrMapOvr>
    <a:masterClrMapping/>
  </p:clrMapOvr>
  <p:transition spd="fast" advClick="1">
    <p:fade/>
  </p:transition>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4.2 · MALWARE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Malware Taxonomy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Virus / worm</a:t>
            </a:r>
          </a:p>
          <a:p>
            <a:pPr algn="l">
              <a:spcAft>
                <a:spcPts val="300"/>
              </a:spcAft>
            </a:pPr>
            <a:r>
              <a:rPr sz="1200" b="0">
                <a:solidFill>
                  <a:srgbClr val="5B6372"/>
                </a:solidFill>
                <a:latin typeface="Arial"/>
              </a:rPr>
              <a:t>A virus infects files; a worm self-propagates across the network unaided.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Trojan / RAT</a:t>
            </a:r>
          </a:p>
          <a:p>
            <a:pPr algn="l">
              <a:spcAft>
                <a:spcPts val="300"/>
              </a:spcAft>
            </a:pPr>
            <a:r>
              <a:rPr sz="1200" b="0">
                <a:solidFill>
                  <a:srgbClr val="5B6372"/>
                </a:solidFill>
                <a:latin typeface="Arial"/>
              </a:rPr>
              <a:t>Hides inside legitimate-looking software; a RAT hands the attacker remote control.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Ransomware</a:t>
            </a:r>
          </a:p>
          <a:p>
            <a:pPr algn="l">
              <a:spcAft>
                <a:spcPts val="300"/>
              </a:spcAft>
            </a:pPr>
            <a:r>
              <a:rPr sz="1200" b="0">
                <a:solidFill>
                  <a:srgbClr val="5B6372"/>
                </a:solidFill>
                <a:latin typeface="Arial"/>
              </a:rPr>
              <a:t>Encrypts your data and demands payment - today's top business threat.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Spyware / keylogger</a:t>
            </a:r>
          </a:p>
          <a:p>
            <a:pPr algn="l">
              <a:spcAft>
                <a:spcPts val="300"/>
              </a:spcAft>
            </a:pPr>
            <a:r>
              <a:rPr sz="1200" b="0">
                <a:solidFill>
                  <a:srgbClr val="5B6372"/>
                </a:solidFill>
                <a:latin typeface="Arial"/>
              </a:rPr>
              <a:t>Silently collects keystrokes, credentials and screen contents.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Rootkit</a:t>
            </a:r>
          </a:p>
          <a:p>
            <a:pPr algn="l">
              <a:spcAft>
                <a:spcPts val="300"/>
              </a:spcAft>
            </a:pPr>
            <a:r>
              <a:rPr sz="1200" b="0">
                <a:solidFill>
                  <a:srgbClr val="5B6372"/>
                </a:solidFill>
                <a:latin typeface="Arial"/>
              </a:rPr>
              <a:t>Buries itself under the OS to hide processes and survive detection.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Logic bomb</a:t>
            </a:r>
          </a:p>
          <a:p>
            <a:pPr algn="l">
              <a:spcAft>
                <a:spcPts val="300"/>
              </a:spcAft>
            </a:pPr>
            <a:r>
              <a:rPr sz="1200" b="0">
                <a:solidFill>
                  <a:srgbClr val="5B6372"/>
                </a:solidFill>
                <a:latin typeface="Arial"/>
              </a:rPr>
              <a:t>Dormant code that triggers on a date or event - often an insider plant.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373</a:t>
            </a:r>
          </a:p>
        </p:txBody>
      </p:sp>
    </p:spTree>
  </p:cSld>
  <p:clrMapOvr>
    <a:masterClrMapping/>
  </p:clrMapOvr>
  <p:transition spd="fast" advClick="1">
    <p:fade/>
  </p:transition>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4.2 · SOCIAL ENGINEERING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Social Engineering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Phishing</a:t>
            </a:r>
          </a:p>
          <a:p>
            <a:pPr algn="l">
              <a:spcAft>
                <a:spcPts val="300"/>
              </a:spcAft>
            </a:pPr>
            <a:r>
              <a:rPr sz="1200" b="0">
                <a:solidFill>
                  <a:srgbClr val="5B6372"/>
                </a:solidFill>
                <a:latin typeface="Arial"/>
              </a:rPr>
              <a:t>Fraudulent mail and sites harvest credentials; spear phishing targets a person, whaling an exec.</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Dumpster diving</a:t>
            </a:r>
          </a:p>
          <a:p>
            <a:pPr algn="l">
              <a:spcAft>
                <a:spcPts val="300"/>
              </a:spcAft>
            </a:pPr>
            <a:r>
              <a:rPr sz="1200" b="0">
                <a:solidFill>
                  <a:srgbClr val="5B6372"/>
                </a:solidFill>
                <a:latin typeface="Arial"/>
              </a:rPr>
              <a:t>Discarded printouts leak configs and passwords - shred everything.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Shoulder surfing</a:t>
            </a:r>
          </a:p>
          <a:p>
            <a:pPr algn="l">
              <a:spcAft>
                <a:spcPts val="300"/>
              </a:spcAft>
            </a:pPr>
            <a:r>
              <a:rPr sz="1200" b="0">
                <a:solidFill>
                  <a:srgbClr val="5B6372"/>
                </a:solidFill>
                <a:latin typeface="Arial"/>
              </a:rPr>
              <a:t>Watching screens and keypads - privacy filters and awareness defeat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Tailgating</a:t>
            </a:r>
          </a:p>
          <a:p>
            <a:pPr algn="l">
              <a:spcAft>
                <a:spcPts val="300"/>
              </a:spcAft>
            </a:pPr>
            <a:r>
              <a:rPr sz="1200" b="0">
                <a:solidFill>
                  <a:srgbClr val="5B6372"/>
                </a:solidFill>
                <a:latin typeface="Arial"/>
              </a:rPr>
              <a:t>Following a badge-holder through a secure door - vestibules stop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Impersonation</a:t>
            </a:r>
          </a:p>
          <a:p>
            <a:pPr algn="l">
              <a:spcAft>
                <a:spcPts val="300"/>
              </a:spcAft>
            </a:pPr>
            <a:r>
              <a:rPr sz="1200" b="0">
                <a:solidFill>
                  <a:srgbClr val="5B6372"/>
                </a:solidFill>
                <a:latin typeface="Arial"/>
              </a:rPr>
              <a:t>The fake IT-support call that just needs your password to help you.</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Defence = education</a:t>
            </a:r>
          </a:p>
          <a:p>
            <a:pPr algn="l">
              <a:spcAft>
                <a:spcPts val="300"/>
              </a:spcAft>
            </a:pPr>
            <a:r>
              <a:rPr sz="1200" b="0">
                <a:solidFill>
                  <a:srgbClr val="5B6372"/>
                </a:solidFill>
                <a:latin typeface="Arial"/>
              </a:rPr>
              <a:t>Humans are part of the perimeter: train, phish-test, make reporting easy.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374</a:t>
            </a:r>
          </a:p>
        </p:txBody>
      </p:sp>
    </p:spTree>
  </p:cSld>
  <p:clrMapOvr>
    <a:masterClrMapping/>
  </p:clrMapOvr>
  <p:transition spd="fast" advClick="1">
    <p:fade/>
  </p:transition>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OBJ 4.2 · PASSWORD ATTACKS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Password Attacks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Brute force</a:t>
            </a:r>
          </a:p>
          <a:p>
            <a:pPr algn="l">
              <a:spcAft>
                <a:spcPts val="300"/>
              </a:spcAft>
            </a:pPr>
            <a:r>
              <a:rPr sz="1200" b="0">
                <a:solidFill>
                  <a:srgbClr val="5B6372"/>
                </a:solidFill>
                <a:latin typeface="Arial"/>
              </a:rPr>
              <a:t>Try every combination - length beats complexity; each extra character multiplies the work.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Dictionary</a:t>
            </a:r>
          </a:p>
          <a:p>
            <a:pPr algn="l">
              <a:spcAft>
                <a:spcPts val="300"/>
              </a:spcAft>
            </a:pPr>
            <a:r>
              <a:rPr sz="1200" b="0">
                <a:solidFill>
                  <a:srgbClr val="5B6372"/>
                </a:solidFill>
                <a:latin typeface="Arial"/>
              </a:rPr>
              <a:t>Try likely words and leaked passwords first - most humans are predictable.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Credential stuffing</a:t>
            </a:r>
          </a:p>
          <a:p>
            <a:pPr algn="l">
              <a:spcAft>
                <a:spcPts val="300"/>
              </a:spcAft>
            </a:pPr>
            <a:r>
              <a:rPr sz="1200" b="0">
                <a:solidFill>
                  <a:srgbClr val="5B6372"/>
                </a:solidFill>
                <a:latin typeface="Arial"/>
              </a:rPr>
              <a:t>Replay leaked username/password pairs on other sites - MFA breaks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Defences</a:t>
            </a:r>
          </a:p>
          <a:p>
            <a:pPr algn="l">
              <a:spcAft>
                <a:spcPts val="300"/>
              </a:spcAft>
            </a:pPr>
            <a:r>
              <a:rPr sz="1200" b="0">
                <a:solidFill>
                  <a:srgbClr val="5B6372"/>
                </a:solidFill>
                <a:latin typeface="Arial"/>
              </a:rPr>
              <a:t>Long passphrases, lockout policies, salted hashes, MFA everywhere.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375</a:t>
            </a:r>
          </a:p>
        </p:txBody>
      </p:sp>
    </p:spTree>
  </p:cSld>
  <p:clrMapOvr>
    <a:masterClrMapping/>
  </p:clrMapOvr>
  <p:transition spd="fast" advClick="1">
    <p:fade/>
  </p:transition>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4.3 · ATTACK SURFACE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Vulnerability Management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Scan the estate for exposed services</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Prioritise by CVSS score and exploitability</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Patch on a defined cadence with change control</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Re-scan to verify the exposure is closed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376</a:t>
            </a:r>
          </a:p>
        </p:txBody>
      </p:sp>
    </p:spTree>
  </p:cSld>
  <p:clrMapOvr>
    <a:masterClrMapping/>
  </p:clrMapOvr>
  <p:transition spd="fast" advClick="1">
    <p:fade/>
  </p:transition>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4.0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Port Scanning and Service Hardening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Enumerate exposed services with nmap and reduce the attack surface by disabling what is unneeded.</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SYN-scan all 65535 TCP ports on your own host, identify service versions and the OS, cross-check each open port against ss -tulnp, disable an unnecessary service and re-scan to confirm the port is closed.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port-by-port inventory of your host's attack surface, with an unneeded service disabled and verified closed.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nmap, ss, systemctl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final nmap -sS -p 80 scan reports the port closed, and ss -tulnp no longer lists the disabled service - the attack surface measurably shrank.</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377</a:t>
            </a:r>
          </a:p>
        </p:txBody>
      </p:sp>
    </p:spTree>
  </p:cSld>
  <p:clrMapOvr>
    <a:masterClrMapping/>
  </p:clrMapOvr>
  <p:transition spd="fast" advClick="1">
    <p:fade/>
  </p:transition>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nmap</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Enumerate service versions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nmap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Fingerprint the operating system</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nmap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Cross-check every open port against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ss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Re-scan to confirm the port is now</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nmap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Enumerate exposed services with nmap and reduce the attack surface by disabling what is unneeded.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Port Scanning and Service Hardening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final nmap -sS -p 80 scan reports the port closed, and ss -tulnp no longer lists the disabled service - the attack surface measurably shrank.</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Scan takes very long</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-p- probes 65535 ports; in the lab scan a shortlist such as -p 1-1024 instead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nmap -O gives no result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OS fingerprinting needs root privileges and at least one open and one closed port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Port still open after disable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Another process owns it - find the PID with ss -tulnp and stop that unit too</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379</a:t>
            </a:r>
          </a:p>
        </p:txBody>
      </p:sp>
    </p:spTree>
  </p:cSld>
  <p:clrMapOvr>
    <a:masterClrMapping/>
  </p:clrMapOvr>
  <p:transition spd="fast" advClick="1">
    <p:fade/>
  </p:transition>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4.2 · TYPES OF ATTACKS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Attack Catalogue: Vector, Layer, Defence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Attack</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Layer</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How it works</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Primary defence</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DoS / DDoS</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3-7</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Botnet floods links or servers</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Scrubbing, rate limits</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MAC flooding</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Overflow CAM table; switch floods</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Port security limits</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ARP poisoning</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Forged replies put attacker on-path</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Dynamic ARP Inspection</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VLAN hopping</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2</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Double tags / fake trunk cross VLANs</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No native VLAN, no DTP</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DNS poisoning</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7</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Fake records redirect victims</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DNSSEC, patched resolvers</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Evil twin</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1-2</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Cloned SSID captures clients</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802.1X, WIPS monitoring</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For every attack, know the layer it lives at - the defence always sits at the same layer.</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380</a:t>
            </a:r>
          </a:p>
        </p:txBody>
      </p:sp>
    </p:spTree>
  </p:cSld>
  <p:clrMapOvr>
    <a:masterClrMapping/>
  </p:clrMapOvr>
  <p:transition spd="fast" advClick="1">
    <p:fade/>
  </p:transition>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4.2 · DoS/DDoS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DoS and DDoS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Botnet and C2</a:t>
            </a:r>
          </a:p>
          <a:p>
            <a:pPr algn="l">
              <a:spcAft>
                <a:spcPts val="300"/>
              </a:spcAft>
            </a:pPr>
            <a:r>
              <a:rPr sz="1200" b="0">
                <a:solidFill>
                  <a:srgbClr val="5B6372"/>
                </a:solidFill>
                <a:latin typeface="Arial"/>
              </a:rPr>
              <a:t>Compromised zombies take orders from a command-and-control server.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Volumetric</a:t>
            </a:r>
          </a:p>
          <a:p>
            <a:pPr algn="l">
              <a:spcAft>
                <a:spcPts val="300"/>
              </a:spcAft>
            </a:pPr>
            <a:r>
              <a:rPr sz="1200" b="0">
                <a:solidFill>
                  <a:srgbClr val="5B6372"/>
                </a:solidFill>
                <a:latin typeface="Arial"/>
              </a:rPr>
              <a:t>Saturate the pipe - UDP floods, amplification via open DNS/NTP servers.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Protocol attack</a:t>
            </a:r>
          </a:p>
          <a:p>
            <a:pPr algn="l">
              <a:spcAft>
                <a:spcPts val="300"/>
              </a:spcAft>
            </a:pPr>
            <a:r>
              <a:rPr sz="1200" b="0">
                <a:solidFill>
                  <a:srgbClr val="5B6372"/>
                </a:solidFill>
                <a:latin typeface="Arial"/>
              </a:rPr>
              <a:t>Exhaust state tables - SYN floods hold thousands of half-open connections.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Application attack</a:t>
            </a:r>
          </a:p>
          <a:p>
            <a:pPr algn="l">
              <a:spcAft>
                <a:spcPts val="300"/>
              </a:spcAft>
            </a:pPr>
            <a:r>
              <a:rPr sz="1200" b="0">
                <a:solidFill>
                  <a:srgbClr val="5B6372"/>
                </a:solidFill>
                <a:latin typeface="Arial"/>
              </a:rPr>
              <a:t>Cheap requests, expensive responses - HTTP floods and Slowloris.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381</a:t>
            </a:r>
          </a:p>
        </p:txBody>
      </p:sp>
    </p:spTree>
  </p:cSld>
  <p:clrMapOvr>
    <a:masterClrMapping/>
  </p:clrMapOvr>
  <p:transition spd="fast" advClick="1">
    <p:fade/>
  </p:transition>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4.2 · ON-PATH ATTACKS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Anatomy of an ARP Poisoning Attack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Recon</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attacker joins the LAN</a:t>
            </a:r>
          </a:p>
        </p:txBody>
      </p:sp>
      <p:cxnSp>
        <p:nvCxnSpPr>
          <p:cNvPr id="13" name="Connector 12"/>
          <p:cNvCxnSpPr/>
          <p:nvPr/>
        </p:nvCxnSpPr>
        <p:spPr>
          <a:xfrm>
            <a:off x="2651760"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Poison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forged ARP replies sent</a:t>
            </a:r>
          </a:p>
        </p:txBody>
      </p:sp>
      <p:cxnSp>
        <p:nvCxnSpPr>
          <p:cNvPr id="20" name="Connector 19"/>
          <p:cNvCxnSpPr/>
          <p:nvPr/>
        </p:nvCxnSpPr>
        <p:spPr>
          <a:xfrm>
            <a:off x="4855464"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On-path</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victim traffic redirected</a:t>
            </a:r>
          </a:p>
        </p:txBody>
      </p:sp>
      <p:cxnSp>
        <p:nvCxnSpPr>
          <p:cNvPr id="27" name="Connector 26"/>
          <p:cNvCxnSpPr/>
          <p:nvPr/>
        </p:nvCxnSpPr>
        <p:spPr>
          <a:xfrm>
            <a:off x="7059168"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Harvest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credentials sniffed</a:t>
            </a:r>
          </a:p>
        </p:txBody>
      </p:sp>
      <p:cxnSp>
        <p:nvCxnSpPr>
          <p:cNvPr id="34" name="Connector 33"/>
          <p:cNvCxnSpPr/>
          <p:nvPr/>
        </p:nvCxnSpPr>
        <p:spPr>
          <a:xfrm>
            <a:off x="9262872"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Defend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DAI drops forged ARP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BREAK THE CHAIN</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Dynamic ARP Inspection validates every ARP reply against the DHCP snooping binding table - forged replies are dropped at the switch port.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4.2 · VLAN HOPPING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VLAN Hopping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Switch spoofing</a:t>
            </a:r>
          </a:p>
          <a:p>
            <a:pPr algn="l">
              <a:spcAft>
                <a:spcPts val="300"/>
              </a:spcAft>
            </a:pPr>
            <a:r>
              <a:rPr sz="1200" b="0">
                <a:solidFill>
                  <a:srgbClr val="5B6372"/>
                </a:solidFill>
                <a:latin typeface="Arial"/>
              </a:rPr>
              <a:t>The attacker negotiates a trunk via DTP and receives every VLAN - disable DTP, set access mode.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Double tagging</a:t>
            </a:r>
          </a:p>
          <a:p>
            <a:pPr algn="l">
              <a:spcAft>
                <a:spcPts val="300"/>
              </a:spcAft>
            </a:pPr>
            <a:r>
              <a:rPr sz="1200" b="0">
                <a:solidFill>
                  <a:srgbClr val="5B6372"/>
                </a:solidFill>
                <a:latin typeface="Arial"/>
              </a:rPr>
              <a:t>Outer tag stripped on the native VLAN, inner tag delivers into the victim VLAN - one-way but real.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Native VLAN hygiene</a:t>
            </a:r>
          </a:p>
          <a:p>
            <a:pPr algn="l">
              <a:spcAft>
                <a:spcPts val="300"/>
              </a:spcAft>
            </a:pPr>
            <a:r>
              <a:rPr sz="1200" b="0">
                <a:solidFill>
                  <a:srgbClr val="5B6372"/>
                </a:solidFill>
                <a:latin typeface="Arial"/>
              </a:rPr>
              <a:t>Use a dedicated, unused native VLAN; never carry user traffic on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Private VLANs</a:t>
            </a:r>
          </a:p>
          <a:p>
            <a:pPr algn="l">
              <a:spcAft>
                <a:spcPts val="300"/>
              </a:spcAft>
            </a:pPr>
            <a:r>
              <a:rPr sz="1200" b="0">
                <a:solidFill>
                  <a:srgbClr val="5B6372"/>
                </a:solidFill>
                <a:latin typeface="Arial"/>
              </a:rPr>
              <a:t>Port isolation stops peer-to-peer traffic even inside the same VLAN.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383</a:t>
            </a:r>
          </a:p>
        </p:txBody>
      </p:sp>
    </p:spTree>
  </p:cSld>
  <p:clrMapOvr>
    <a:masterClrMapping/>
  </p:clrMapOvr>
  <p:transition spd="fast" advClick="1">
    <p:fade/>
  </p:transition>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4.2 · ROGUE DEVICES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Rogue Devices and On-Path Attacks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Rogue DHCP server</a:t>
            </a:r>
          </a:p>
          <a:p>
            <a:pPr algn="l">
              <a:spcAft>
                <a:spcPts val="300"/>
              </a:spcAft>
            </a:pPr>
            <a:r>
              <a:rPr sz="1200" b="0">
                <a:solidFill>
                  <a:srgbClr val="5B6372"/>
                </a:solidFill>
                <a:latin typeface="Arial"/>
              </a:rPr>
              <a:t>Hands out attacker-controlled gateway/DNS - a lease outside your network ID is the tell.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Rogue AP</a:t>
            </a:r>
          </a:p>
          <a:p>
            <a:pPr algn="l">
              <a:spcAft>
                <a:spcPts val="300"/>
              </a:spcAft>
            </a:pPr>
            <a:r>
              <a:rPr sz="1200" b="0">
                <a:solidFill>
                  <a:srgbClr val="5B6372"/>
                </a:solidFill>
                <a:latin typeface="Arial"/>
              </a:rPr>
              <a:t>An unauthorised access point bridging outsiders straight into the LAN.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Evil twin</a:t>
            </a:r>
          </a:p>
          <a:p>
            <a:pPr algn="l">
              <a:spcAft>
                <a:spcPts val="300"/>
              </a:spcAft>
            </a:pPr>
            <a:r>
              <a:rPr sz="1200" b="0">
                <a:solidFill>
                  <a:srgbClr val="5B6372"/>
                </a:solidFill>
                <a:latin typeface="Arial"/>
              </a:rPr>
              <a:t>A cloned corporate SSID; clients auto-join and their traffic is captured.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On-path (MITM)</a:t>
            </a:r>
          </a:p>
          <a:p>
            <a:pPr algn="l">
              <a:spcAft>
                <a:spcPts val="300"/>
              </a:spcAft>
            </a:pPr>
            <a:r>
              <a:rPr sz="1200" b="0">
                <a:solidFill>
                  <a:srgbClr val="5B6372"/>
                </a:solidFill>
                <a:latin typeface="Arial"/>
              </a:rPr>
              <a:t>The attacker relays between two parties, reading or altering everything.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Defence: snooping + 802.1X</a:t>
            </a:r>
          </a:p>
          <a:p>
            <a:pPr algn="l">
              <a:spcAft>
                <a:spcPts val="300"/>
              </a:spcAft>
            </a:pPr>
            <a:r>
              <a:rPr sz="1200" b="0">
                <a:solidFill>
                  <a:srgbClr val="5B6372"/>
                </a:solidFill>
                <a:latin typeface="Arial"/>
              </a:rPr>
              <a:t>DHCP snooping drops rogue offers; port authentication blocks rogue gear.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Defence: WIPS</a:t>
            </a:r>
          </a:p>
          <a:p>
            <a:pPr algn="l">
              <a:spcAft>
                <a:spcPts val="300"/>
              </a:spcAft>
            </a:pPr>
            <a:r>
              <a:rPr sz="1200" b="0">
                <a:solidFill>
                  <a:srgbClr val="5B6372"/>
                </a:solidFill>
                <a:latin typeface="Arial"/>
              </a:rPr>
              <a:t>Wireless IPS detects unknown SSIDs and contains rogue radios.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384</a:t>
            </a:r>
          </a:p>
        </p:txBody>
      </p:sp>
    </p:spTree>
  </p:cSld>
  <p:clrMapOvr>
    <a:masterClrMapping/>
  </p:clrMapOvr>
  <p:transition spd="fast" advClick="1">
    <p:fade/>
  </p:transition>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OBJ 4.2 · SPOOFING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Spoofing Attacks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MAC spoofing</a:t>
            </a:r>
          </a:p>
          <a:p>
            <a:pPr algn="l">
              <a:spcAft>
                <a:spcPts val="300"/>
              </a:spcAft>
            </a:pPr>
            <a:r>
              <a:rPr sz="1200" b="0">
                <a:solidFill>
                  <a:srgbClr val="5B6372"/>
                </a:solidFill>
                <a:latin typeface="Arial"/>
              </a:rPr>
              <a:t>Clone an allowed MAC address to slip past port filters.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IP spoofing</a:t>
            </a:r>
          </a:p>
          <a:p>
            <a:pPr algn="l">
              <a:spcAft>
                <a:spcPts val="300"/>
              </a:spcAft>
            </a:pPr>
            <a:r>
              <a:rPr sz="1200" b="0">
                <a:solidFill>
                  <a:srgbClr val="5B6372"/>
                </a:solidFill>
                <a:latin typeface="Arial"/>
              </a:rPr>
              <a:t>Forge the source address - the engine behind amplification DDoS.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DNS spoofing / poisoning</a:t>
            </a:r>
          </a:p>
          <a:p>
            <a:pPr algn="l">
              <a:spcAft>
                <a:spcPts val="300"/>
              </a:spcAft>
            </a:pPr>
            <a:r>
              <a:rPr sz="1200" b="0">
                <a:solidFill>
                  <a:srgbClr val="5B6372"/>
                </a:solidFill>
                <a:latin typeface="Arial"/>
              </a:rPr>
              <a:t>Corrupt resolver caches so good names resolve to bad hosts.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Defences</a:t>
            </a:r>
          </a:p>
          <a:p>
            <a:pPr algn="l">
              <a:spcAft>
                <a:spcPts val="300"/>
              </a:spcAft>
            </a:pPr>
            <a:r>
              <a:rPr sz="1200" b="0">
                <a:solidFill>
                  <a:srgbClr val="5B6372"/>
                </a:solidFill>
                <a:latin typeface="Arial"/>
              </a:rPr>
              <a:t>Ingress filtering (BCP 38), DNSSEC validation, Dynamic ARP Inspection.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385</a:t>
            </a:r>
          </a:p>
        </p:txBody>
      </p:sp>
    </p:spTree>
  </p:cSld>
  <p:clrMapOvr>
    <a:masterClrMapping/>
  </p:clrMapOvr>
  <p:transition spd="fast" advClick="1">
    <p:fade/>
  </p:transition>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4.3 · NETWORK HARDENING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Switch and Network Hardening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DHCP snooping</a:t>
            </a:r>
          </a:p>
          <a:p>
            <a:pPr algn="l">
              <a:spcAft>
                <a:spcPts val="300"/>
              </a:spcAft>
            </a:pPr>
            <a:r>
              <a:rPr sz="1200" b="0">
                <a:solidFill>
                  <a:srgbClr val="5B6372"/>
                </a:solidFill>
                <a:latin typeface="Arial"/>
              </a:rPr>
              <a:t>Only trusted uplink ports may send DHCP offers - kills rogue DHCP.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Dynamic ARP Inspection</a:t>
            </a:r>
          </a:p>
          <a:p>
            <a:pPr algn="l">
              <a:spcAft>
                <a:spcPts val="300"/>
              </a:spcAft>
            </a:pPr>
            <a:r>
              <a:rPr sz="1200" b="0">
                <a:solidFill>
                  <a:srgbClr val="5B6372"/>
                </a:solidFill>
                <a:latin typeface="Arial"/>
              </a:rPr>
              <a:t>Validates ARP against the snooping bindings - kills ARP poisoning.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Port security</a:t>
            </a:r>
          </a:p>
          <a:p>
            <a:pPr algn="l">
              <a:spcAft>
                <a:spcPts val="300"/>
              </a:spcAft>
            </a:pPr>
            <a:r>
              <a:rPr sz="1200" b="0">
                <a:solidFill>
                  <a:srgbClr val="5B6372"/>
                </a:solidFill>
                <a:latin typeface="Arial"/>
              </a:rPr>
              <a:t>Limit MACs per port, err-disable on violation - kills MAC flooding.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 guard</a:t>
            </a:r>
          </a:p>
          <a:p>
            <a:pPr algn="l">
              <a:spcAft>
                <a:spcPts val="300"/>
              </a:spcAft>
            </a:pPr>
            <a:r>
              <a:rPr sz="1200" b="0">
                <a:solidFill>
                  <a:srgbClr val="5B6372"/>
                </a:solidFill>
                <a:latin typeface="Arial"/>
              </a:rPr>
              <a:t>Blocks rogue IPv6 router advertisements at access ports.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Control plane policing</a:t>
            </a:r>
          </a:p>
          <a:p>
            <a:pPr algn="l">
              <a:spcAft>
                <a:spcPts val="300"/>
              </a:spcAft>
            </a:pPr>
            <a:r>
              <a:rPr sz="1200" b="0">
                <a:solidFill>
                  <a:srgbClr val="5B6372"/>
                </a:solidFill>
                <a:latin typeface="Arial"/>
              </a:rPr>
              <a:t>Rate-limits traffic to the device CPU so it survives a DoS.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Disable unused ports</a:t>
            </a:r>
          </a:p>
          <a:p>
            <a:pPr algn="l">
              <a:spcAft>
                <a:spcPts val="300"/>
              </a:spcAft>
            </a:pPr>
            <a:r>
              <a:rPr sz="1200" b="0">
                <a:solidFill>
                  <a:srgbClr val="5B6372"/>
                </a:solidFill>
                <a:latin typeface="Arial"/>
              </a:rPr>
              <a:t>A patch-panel jack nobody uses should terminate nowhere.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386</a:t>
            </a:r>
          </a:p>
        </p:txBody>
      </p:sp>
    </p:spTree>
  </p:cSld>
  <p:clrMapOvr>
    <a:masterClrMapping/>
  </p:clrMapOvr>
  <p:transition spd="fast" advClick="1">
    <p:fade/>
  </p:transition>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4.3 · NAC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802.1X Network Access Control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Supplicant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device asks to join</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Authenticator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switch relays EAP</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RADIUS server</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credentials checked</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Posture check</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patch level verified</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VLAN assigned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access or quarantine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Nothing gets a usable port until identity and device health are proven - NAC turns every access port and SSID into a checkpoint.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4.1 · SEGMENTATION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Segmentation Enforcement Zones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Zone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lives there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Why segregate it</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IoT</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Cameras, sensors, smart devices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Rarely patched; assume compromised</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IIoT / OT</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Industrial sensors, actuators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Uptime-critical; no direct IT access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SCADA / ICS</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Plant supervisory control</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Legacy protocols with no auth</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Guest</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Visitor phones and laptops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Internet only - zero internal reach</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BYOD</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Staff personal devices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Unmanaged; NAC posture, limited access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Segment by trust and blast radius: a hacked camera must never see the finance VLAN.</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388</a:t>
            </a:r>
          </a:p>
        </p:txBody>
      </p:sp>
    </p:spTree>
  </p:cSld>
  <p:clrMapOvr>
    <a:masterClrMapping/>
  </p:clrMapOvr>
  <p:transition spd="fast" advClick="1">
    <p:fade/>
  </p:transition>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4.1 · DECEPTION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Deception Technologies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Honeypot</a:t>
            </a:r>
          </a:p>
          <a:p>
            <a:pPr algn="l">
              <a:spcAft>
                <a:spcPts val="300"/>
              </a:spcAft>
            </a:pPr>
            <a:r>
              <a:rPr sz="1200" b="0">
                <a:solidFill>
                  <a:srgbClr val="5B6372"/>
                </a:solidFill>
                <a:latin typeface="Arial"/>
              </a:rPr>
              <a:t>A deliberately vulnerable decoy host - any touch on it is by definition suspicious.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Honeynet</a:t>
            </a:r>
          </a:p>
          <a:p>
            <a:pPr algn="l">
              <a:spcAft>
                <a:spcPts val="300"/>
              </a:spcAft>
            </a:pPr>
            <a:r>
              <a:rPr sz="1200" b="0">
                <a:solidFill>
                  <a:srgbClr val="5B6372"/>
                </a:solidFill>
                <a:latin typeface="Arial"/>
              </a:rPr>
              <a:t>A whole decoy network of honeypots modelling your real estate.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Why deceive</a:t>
            </a:r>
          </a:p>
          <a:p>
            <a:pPr algn="l">
              <a:spcAft>
                <a:spcPts val="300"/>
              </a:spcAft>
            </a:pPr>
            <a:r>
              <a:rPr sz="1200" b="0">
                <a:solidFill>
                  <a:srgbClr val="5B6372"/>
                </a:solidFill>
                <a:latin typeface="Arial"/>
              </a:rPr>
              <a:t>Attackers burn time on fakes while defenders harvest indicators and early warning.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Placement</a:t>
            </a:r>
          </a:p>
          <a:p>
            <a:pPr algn="l">
              <a:spcAft>
                <a:spcPts val="300"/>
              </a:spcAft>
            </a:pPr>
            <a:r>
              <a:rPr sz="1200" b="0">
                <a:solidFill>
                  <a:srgbClr val="5B6372"/>
                </a:solidFill>
                <a:latin typeface="Arial"/>
              </a:rPr>
              <a:t>In the screened subnet or a dedicated VLAN - never among production data.</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389</a:t>
            </a:r>
          </a:p>
        </p:txBody>
      </p:sp>
    </p:spTree>
  </p:cSld>
  <p:clrMapOvr>
    <a:masterClrMapping/>
  </p:clrMapOvr>
  <p:transition spd="fast" advClick="1">
    <p:fade/>
  </p:transition>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4.3 · IDS/IPS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IDS or IPS - Where Does the Sensor Sit?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Should the sensor sit inline
and block, or watch a copy
and alert?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INLINE - IPS</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Sits in the traffic path and drops malicious packets in real time. Risk: a false positive blocks legitimate traffic; adds latency.</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PASSIVE - IDS</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Watches a mirror/TAP copy and raises alerts for analysts. No traffic risk, but detection only - response is manual.</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Suricata can run either mode - Lab 26 runs it passively as an IDS on eth0.</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390</a:t>
            </a:r>
          </a:p>
        </p:txBody>
      </p:sp>
    </p:spTree>
  </p:cSld>
  <p:clrMapOvr>
    <a:masterClrMapping/>
  </p:clrMapOvr>
  <p:transition spd="fast" advClick="1">
    <p:fade/>
  </p:transition>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4.3 · IDS/IPS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IDS/IPS Detect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Signature-based</a:t>
            </a:r>
          </a:p>
          <a:p>
            <a:pPr algn="l">
              <a:spcAft>
                <a:spcPts val="300"/>
              </a:spcAft>
            </a:pPr>
            <a:r>
              <a:rPr sz="1200" b="0">
                <a:solidFill>
                  <a:srgbClr val="5B6372"/>
                </a:solidFill>
                <a:latin typeface="Arial"/>
              </a:rPr>
              <a:t>Match known patterns (ET rules) - precise, but blind to novel attacks.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Anomaly-based</a:t>
            </a:r>
          </a:p>
          <a:p>
            <a:pPr algn="l">
              <a:spcAft>
                <a:spcPts val="300"/>
              </a:spcAft>
            </a:pPr>
            <a:r>
              <a:rPr sz="1200" b="0">
                <a:solidFill>
                  <a:srgbClr val="5B6372"/>
                </a:solidFill>
                <a:latin typeface="Arial"/>
              </a:rPr>
              <a:t>Baseline normal, alert on deviation - catches zero-days, more false positives.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Rule feeds</a:t>
            </a:r>
          </a:p>
          <a:p>
            <a:pPr algn="l">
              <a:spcAft>
                <a:spcPts val="300"/>
              </a:spcAft>
            </a:pPr>
            <a:r>
              <a:rPr sz="1200" b="0">
                <a:solidFill>
                  <a:srgbClr val="5B6372"/>
                </a:solidFill>
                <a:latin typeface="Arial"/>
              </a:rPr>
              <a:t>Emerging Threats and Snort VRT keep signatures current - update daily.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Where alerts land</a:t>
            </a:r>
          </a:p>
          <a:p>
            <a:pPr algn="l">
              <a:spcAft>
                <a:spcPts val="300"/>
              </a:spcAft>
            </a:pPr>
            <a:r>
              <a:rPr sz="1200" b="0">
                <a:solidFill>
                  <a:srgbClr val="5B6372"/>
                </a:solidFill>
                <a:latin typeface="Arial"/>
              </a:rPr>
              <a:t>Suricata writes fast.log for humans and eve.json for SIEM pipelines.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391</a:t>
            </a:r>
          </a:p>
        </p:txBody>
      </p:sp>
    </p:spTree>
  </p:cSld>
  <p:clrMapOvr>
    <a:masterClrMapping/>
  </p:clrMapOvr>
  <p:transition spd="fast" advClick="1">
    <p:fade/>
  </p:transition>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4.3 · IDS IN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Suricata Alert (eve.json)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alert you trigger in Lab 26, as the JSON event your SIEM ingests.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D4D4D4"/>
                </a:solidFill>
                <a:latin typeface="Consolas"/>
              </a:rPr>
              <a:t>$ cat eve.json | jq 'select(.event_type=="alert")'</a:t>
            </a:r>
          </a:p>
          <a:p>
            <a:pPr>
              <a:spcAft>
                <a:spcPts val="200"/>
              </a:spcAft>
            </a:pPr>
            <a:r>
              <a:rPr sz="1100">
                <a:solidFill>
                  <a:srgbClr val="9CDCFE"/>
                </a:solidFill>
                <a:latin typeface="Consolas"/>
              </a:rPr>
              <a:t>{</a:t>
            </a:r>
          </a:p>
          <a:p>
            <a:pPr>
              <a:spcAft>
                <a:spcPts val="200"/>
              </a:spcAft>
            </a:pPr>
            <a:r>
              <a:rPr sz="1100">
                <a:solidFill>
                  <a:srgbClr val="9CDCFE"/>
                </a:solidFill>
                <a:latin typeface="Consolas"/>
              </a:rPr>
              <a:t>  "timestamp": "2026-08-19T10:42:07+0800",</a:t>
            </a:r>
          </a:p>
          <a:p>
            <a:pPr>
              <a:spcAft>
                <a:spcPts val="200"/>
              </a:spcAft>
            </a:pPr>
            <a:r>
              <a:rPr sz="1100">
                <a:solidFill>
                  <a:srgbClr val="9CDCFE"/>
                </a:solidFill>
                <a:latin typeface="Consolas"/>
              </a:rPr>
              <a:t>  "event_type": "alert",</a:t>
            </a:r>
          </a:p>
          <a:p>
            <a:pPr>
              <a:spcAft>
                <a:spcPts val="200"/>
              </a:spcAft>
            </a:pPr>
            <a:r>
              <a:rPr sz="1100">
                <a:solidFill>
                  <a:srgbClr val="9CDCFE"/>
                </a:solidFill>
                <a:latin typeface="Consolas"/>
              </a:rPr>
              <a:t>  "src_ip": "203.0.113.99",</a:t>
            </a:r>
          </a:p>
          <a:p>
            <a:pPr>
              <a:spcAft>
                <a:spcPts val="200"/>
              </a:spcAft>
            </a:pPr>
            <a:r>
              <a:rPr sz="1100">
                <a:solidFill>
                  <a:srgbClr val="9CDCFE"/>
                </a:solidFill>
                <a:latin typeface="Consolas"/>
              </a:rPr>
              <a:t>  "dest_ip": "10.0.0.5",</a:t>
            </a:r>
          </a:p>
          <a:p>
            <a:pPr>
              <a:spcAft>
                <a:spcPts val="200"/>
              </a:spcAft>
            </a:pPr>
            <a:r>
              <a:rPr sz="1100">
                <a:solidFill>
                  <a:srgbClr val="9CDCFE"/>
                </a:solidFill>
                <a:latin typeface="Consolas"/>
              </a:rPr>
              <a:t>  "alert": {</a:t>
            </a:r>
          </a:p>
          <a:p>
            <a:pPr>
              <a:spcAft>
                <a:spcPts val="200"/>
              </a:spcAft>
            </a:pPr>
            <a:r>
              <a:rPr sz="1100">
                <a:solidFill>
                  <a:srgbClr val="9CDCFE"/>
                </a:solidFill>
                <a:latin typeface="Consolas"/>
              </a:rPr>
              <a:t>    "signature": "GPL ATTACK_RESPONSE</a:t>
            </a:r>
          </a:p>
          <a:p>
            <a:pPr>
              <a:spcAft>
                <a:spcPts val="200"/>
              </a:spcAft>
            </a:pPr>
            <a:r>
              <a:rPr sz="1100">
                <a:solidFill>
                  <a:srgbClr val="9CDCFE"/>
                </a:solidFill>
                <a:latin typeface="Consolas"/>
              </a:rPr>
              <a:t>        id check returned root",</a:t>
            </a:r>
          </a:p>
          <a:p>
            <a:pPr>
              <a:spcAft>
                <a:spcPts val="200"/>
              </a:spcAft>
            </a:pPr>
            <a:r>
              <a:rPr sz="1100">
                <a:solidFill>
                  <a:srgbClr val="9CDCFE"/>
                </a:solidFill>
                <a:latin typeface="Consolas"/>
              </a:rPr>
              <a:t>    "category": "Potentially Bad Traffic",</a:t>
            </a:r>
          </a:p>
          <a:p>
            <a:pPr>
              <a:spcAft>
                <a:spcPts val="200"/>
              </a:spcAft>
            </a:pPr>
            <a:r>
              <a:rPr sz="1100">
                <a:solidFill>
                  <a:srgbClr val="9CDCFE"/>
                </a:solidFill>
                <a:latin typeface="Consolas"/>
              </a:rPr>
              <a:t>    "severity": 2</a:t>
            </a:r>
          </a:p>
          <a:p>
            <a:pPr>
              <a:spcAft>
                <a:spcPts val="200"/>
              </a:spcAft>
            </a:pPr>
            <a:r>
              <a:rPr sz="1100">
                <a:solidFill>
                  <a:srgbClr val="9CDCFE"/>
                </a:solidFill>
                <a:latin typeface="Consolas"/>
              </a:rPr>
              <a:t>  }</a:t>
            </a:r>
          </a:p>
          <a:p>
            <a:pPr>
              <a:spcAft>
                <a:spcPts val="200"/>
              </a:spcAft>
            </a:pPr>
            <a:r>
              <a:rPr sz="1100">
                <a:solidFill>
                  <a:srgbClr val="9CDCFE"/>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event_type</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One JSON object per event - jq filters alerts out of the flow, DNS and TLS records.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signature</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ET rule that fired: the HTTP response contained uid=0(root) - a compromise tell.</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src / dest</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Who attacked whom - the fields a SIEM correlates across all your sensors.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392</a:t>
            </a:r>
          </a:p>
        </p:txBody>
      </p:sp>
    </p:spTree>
  </p:cSld>
  <p:clrMapOvr>
    <a:masterClrMapping/>
  </p:clrMapOvr>
  <p:transition spd="fast" advClick="1">
    <p:fade/>
  </p:transition>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4.0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Intrusion Detection with Suricata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Run Suricata as an IDS, trigger a known signature and read the alert in fast.log and eve.json.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Install Suricata, pull the Emerging Threats ruleset, start the engine on eth0, generate benign trigger traffic from testmynids.org, then trace the resulting alert through fast.log and the JSON eve.json event stream.</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live IDS on eth0 with a current ET ruleset, plus a captured alert you can parse as JSON with jq.</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suricata, suricata-update, jq, curl, TIS Cybersecurity Simulator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fast.log shows an alert like GPL ATTACK_RESPONSE id check returned root; filtering eve.json for event_type alert returns the same event with src/dest IPs and severity.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393</a:t>
            </a:r>
          </a:p>
        </p:txBody>
      </p:sp>
    </p:spTree>
  </p:cSld>
  <p:clrMapOvr>
    <a:masterClrMapping/>
  </p:clrMapOvr>
  <p:transition spd="fast" advClick="1">
    <p:fade/>
  </p:transition>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Suricata and jq</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Start Suricata as a daemon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suricata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Trigger a well-known test signature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curl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Filter the same alert from the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cat · step 7</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Stop Suricata</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pkill · step 9</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Run Suricata as an IDS, trigger a known signature and read the alert in fast.log and eve.json.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Intrusion Detection with Suricata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fast.log shows an alert like GPL ATTACK_RESPONSE id check returned root; filtering eve.json for event_type alert returns the same event with src/dest IPs and severity.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alerts appear</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Suricata listens on the right interface (check ip a), then re-run the testmynids curl</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suricata-update fails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Internet access - the rules download from the Emerging Threats feed</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eve.json is empty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Give the engine a few seconds after the trigger; check suricata.log for startup errors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395</a:t>
            </a:r>
          </a:p>
        </p:txBody>
      </p:sp>
    </p:spTree>
  </p:cSld>
  <p:clrMapOvr>
    <a:masterClrMapping/>
  </p:clrMapOvr>
  <p:transition spd="fast" advClick="1">
    <p:fade/>
  </p:transition>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4.3 · ACL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Access Control Lists (ACLs)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Top-down evaluation</a:t>
            </a:r>
          </a:p>
          <a:p>
            <a:pPr algn="l">
              <a:spcAft>
                <a:spcPts val="300"/>
              </a:spcAft>
            </a:pPr>
            <a:r>
              <a:rPr sz="1200" b="0">
                <a:solidFill>
                  <a:srgbClr val="5B6372"/>
                </a:solidFill>
                <a:latin typeface="Arial"/>
              </a:rPr>
              <a:t>Rules are checked in order; the FIRST match wins and processing stops.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Implicit deny</a:t>
            </a:r>
          </a:p>
          <a:p>
            <a:pPr algn="l">
              <a:spcAft>
                <a:spcPts val="300"/>
              </a:spcAft>
            </a:pPr>
            <a:r>
              <a:rPr sz="1200" b="0">
                <a:solidFill>
                  <a:srgbClr val="5B6372"/>
                </a:solidFill>
                <a:latin typeface="Arial"/>
              </a:rPr>
              <a:t>Whatever no rule matches is dropped - place your permits above the deny.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Match criteria</a:t>
            </a:r>
          </a:p>
          <a:p>
            <a:pPr algn="l">
              <a:spcAft>
                <a:spcPts val="300"/>
              </a:spcAft>
            </a:pPr>
            <a:r>
              <a:rPr sz="1200" b="0">
                <a:solidFill>
                  <a:srgbClr val="5B6372"/>
                </a:solidFill>
                <a:latin typeface="Arial"/>
              </a:rPr>
              <a:t>Source and destination IP, protocol, port - the classic 5-tuple.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Where ACLs live</a:t>
            </a:r>
          </a:p>
          <a:p>
            <a:pPr algn="l">
              <a:spcAft>
                <a:spcPts val="300"/>
              </a:spcAft>
            </a:pPr>
            <a:r>
              <a:rPr sz="1200" b="0">
                <a:solidFill>
                  <a:srgbClr val="5B6372"/>
                </a:solidFill>
                <a:latin typeface="Arial"/>
              </a:rPr>
              <a:t>Router interfaces, switch VLANs, cloud security groups, iptables chains.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396</a:t>
            </a:r>
          </a:p>
        </p:txBody>
      </p:sp>
    </p:spTree>
  </p:cSld>
  <p:clrMapOvr>
    <a:masterClrMapping/>
  </p:clrMapOvr>
  <p:transition spd="fast" advClick="1">
    <p:fade/>
  </p:transition>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4.3 · ACL IN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 iptables ACL, Line by 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Lab 27 rule set: permit MySQL from one subnet, drop the rest.</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iptables -I INPUT -p tcp --dport 3306 \</a:t>
            </a:r>
          </a:p>
          <a:p>
            <a:pPr>
              <a:spcAft>
                <a:spcPts val="200"/>
              </a:spcAft>
            </a:pPr>
            <a:r>
              <a:rPr sz="1100">
                <a:solidFill>
                  <a:srgbClr val="9CDCFE"/>
                </a:solidFill>
                <a:latin typeface="Consolas"/>
              </a:rPr>
              <a:t>    -s 10.0.0.0/24 -j ACCEPT</a:t>
            </a:r>
          </a:p>
          <a:p>
            <a:pPr>
              <a:spcAft>
                <a:spcPts val="200"/>
              </a:spcAft>
            </a:pPr>
            <a:r>
              <a:rPr sz="1100">
                <a:solidFill>
                  <a:srgbClr val="9CDCFE"/>
                </a:solidFill>
                <a:latin typeface="Consolas"/>
              </a:rPr>
              <a:t>$ iptables -A INPUT -p tcp --dport 3306 -j DROP</a:t>
            </a:r>
          </a:p>
          <a:p>
            <a:pPr>
              <a:spcAft>
                <a:spcPts val="200"/>
              </a:spcAft>
            </a:pPr>
            <a:r>
              <a:rPr sz="1100">
                <a:solidFill>
                  <a:srgbClr val="9CDCFE"/>
                </a:solidFill>
                <a:latin typeface="Consolas"/>
              </a:rPr>
              <a:t>$ iptables -L INPUT -n -v --line-numbers</a:t>
            </a:r>
          </a:p>
          <a:p>
            <a:pPr>
              <a:spcAft>
                <a:spcPts val="200"/>
              </a:spcAft>
            </a:pPr>
            <a:r>
              <a:rPr sz="1100">
                <a:solidFill>
                  <a:srgbClr val="9CDCFE"/>
                </a:solidFill>
                <a:latin typeface="Consolas"/>
              </a:rPr>
              <a:t/>
            </a:r>
          </a:p>
          <a:p>
            <a:pPr>
              <a:spcAft>
                <a:spcPts val="200"/>
              </a:spcAft>
            </a:pPr>
            <a:r>
              <a:rPr sz="1100">
                <a:solidFill>
                  <a:srgbClr val="9CDCFE"/>
                </a:solidFill>
                <a:latin typeface="Consolas"/>
              </a:rPr>
              <a:t>num  target  prot  source        dpt</a:t>
            </a:r>
          </a:p>
          <a:p>
            <a:pPr>
              <a:spcAft>
                <a:spcPts val="200"/>
              </a:spcAft>
            </a:pPr>
            <a:r>
              <a:rPr sz="1100">
                <a:solidFill>
                  <a:srgbClr val="9CDCFE"/>
                </a:solidFill>
                <a:latin typeface="Consolas"/>
              </a:rPr>
              <a:t>1    ACCEPT  tcp   10.0.0.0/24   3306</a:t>
            </a:r>
          </a:p>
          <a:p>
            <a:pPr>
              <a:spcAft>
                <a:spcPts val="200"/>
              </a:spcAft>
            </a:pPr>
            <a:r>
              <a:rPr sz="1100">
                <a:solidFill>
                  <a:srgbClr val="9CDCFE"/>
                </a:solidFill>
                <a:latin typeface="Consolas"/>
              </a:rPr>
              <a:t>2    DROP    tcp   0.0.0.0/0     3306</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-I vs -A</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-I inserts at the top, -A appends at the bottom - placement decides what matches first.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First match wins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10.0.0.0/24 hits rule 1 and is accepted; everyone else falls through to the DROP.</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Scope</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Only port 3306 is filtered here - pair with a default-deny policy for real hardening.</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397</a:t>
            </a:r>
          </a:p>
        </p:txBody>
      </p:sp>
    </p:spTree>
  </p:cSld>
  <p:clrMapOvr>
    <a:masterClrMapping/>
  </p:clrMapOvr>
  <p:transition spd="fast" advClick="1">
    <p:fade/>
  </p:transition>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4.3 · CONTENT FILTERING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URL and Content Filtering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URL filtering</a:t>
            </a:r>
          </a:p>
          <a:p>
            <a:pPr algn="l">
              <a:spcAft>
                <a:spcPts val="300"/>
              </a:spcAft>
            </a:pPr>
            <a:r>
              <a:rPr sz="1200" b="0">
                <a:solidFill>
                  <a:srgbClr val="5B6372"/>
                </a:solidFill>
                <a:latin typeface="Arial"/>
              </a:rPr>
              <a:t>Allow or block by domain and category - malware, phishing, gambling lists.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Content filtering</a:t>
            </a:r>
          </a:p>
          <a:p>
            <a:pPr algn="l">
              <a:spcAft>
                <a:spcPts val="300"/>
              </a:spcAft>
            </a:pPr>
            <a:r>
              <a:rPr sz="1200" b="0">
                <a:solidFill>
                  <a:srgbClr val="5B6372"/>
                </a:solidFill>
                <a:latin typeface="Arial"/>
              </a:rPr>
              <a:t>Inspect payloads - DLP stops card numbers leaving; AV strips attachments.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DNS filtering</a:t>
            </a:r>
          </a:p>
          <a:p>
            <a:pPr algn="l">
              <a:spcAft>
                <a:spcPts val="300"/>
              </a:spcAft>
            </a:pPr>
            <a:r>
              <a:rPr sz="1200" b="0">
                <a:solidFill>
                  <a:srgbClr val="5B6372"/>
                </a:solidFill>
                <a:latin typeface="Arial"/>
              </a:rPr>
              <a:t>The cheapest control: a resolver that refuses to resolve known-bad domains.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TLS inspection</a:t>
            </a:r>
          </a:p>
          <a:p>
            <a:pPr algn="l">
              <a:spcAft>
                <a:spcPts val="300"/>
              </a:spcAft>
            </a:pPr>
            <a:r>
              <a:rPr sz="1200" b="0">
                <a:solidFill>
                  <a:srgbClr val="5B6372"/>
                </a:solidFill>
                <a:latin typeface="Arial"/>
              </a:rPr>
              <a:t>Filtering encrypted traffic needs a re-signing proxy - governance required.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398</a:t>
            </a:r>
          </a:p>
        </p:txBody>
      </p:sp>
    </p:spTree>
  </p:cSld>
  <p:clrMapOvr>
    <a:masterClrMapping/>
  </p:clrMapOvr>
  <p:transition spd="fast" advClick="1">
    <p:fade/>
  </p:transition>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4.0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an ACL with iptables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Build an ordered iptables ACL that permits MySQL from one subnet and drops it from everywhere else.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Insert an ACCEPT rule for TCP 3306 from 10.0.0.0/24 above an appended DROP, verify ordering with --line-numbers, test both paths with nc from allowed and blocked sources, then persist the rules across reboots.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working two-rule ACL on the INPUT chain proving top-down, first-match evaluation, saved to survive reboot.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iptables, netcat, iptables-persistent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probe from a blocked source hangs (dropped); the probe from 10.0.0.5 gets an instant refused/RST - accepted by the ACL, nothing listening. The filter demonstrably works.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399</a:t>
            </a:r>
          </a:p>
        </p:txBody>
      </p:sp>
    </p:spTree>
  </p:cSld>
  <p:clrMapOvr>
    <a:masterClrMapping/>
  </p:clrMapOvr>
  <p:transition spd="fast" advClick="1">
    <p:fade/>
  </p:transition>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Inspect the current INPUT chain</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iptables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Append</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iptables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 from a blocked source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nc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Add an allowed source address and</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Clean up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iptables · step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Build an ordered iptables ACL that permits MySQL from one subnet and drops it from everywhere else.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an ACL with iptables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probe from a blocked source hangs (dropped); the probe from 10.0.0.5 gets an instant refused/RST - accepted by the ACL, nothing listening. The filter demonstrably works.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ACL never blocks anything</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ACCEPT may sit below the DROP - first match wins; verify order with --line-numbers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Rules vanish after reboot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Install iptables-persistent and run netfilter-persistent save to write /etc/iptables/rules.v4</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nc test looks inconclusive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With no MySQL listening, allowed sources see instant RST (refused); dropped sources see a timeout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401</a:t>
            </a:r>
          </a:p>
        </p:txBody>
      </p:sp>
    </p:spTree>
  </p:cSld>
  <p:clrMapOvr>
    <a:masterClrMapping/>
  </p:clrMapOvr>
  <p:transition spd="fast" advClick="1">
    <p:fade/>
  </p:transition>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OBJ 4.1 · PHYSICAL SECURITY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Physical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Cameras (CCTV)</a:t>
            </a:r>
          </a:p>
          <a:p>
            <a:pPr algn="l">
              <a:spcAft>
                <a:spcPts val="300"/>
              </a:spcAft>
            </a:pPr>
            <a:r>
              <a:rPr sz="1200" b="0">
                <a:solidFill>
                  <a:srgbClr val="5B6372"/>
                </a:solidFill>
                <a:latin typeface="Arial"/>
              </a:rPr>
              <a:t>Detective control - record and deter; cover entrances, corridors and racks.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Locks</a:t>
            </a:r>
          </a:p>
          <a:p>
            <a:pPr algn="l">
              <a:spcAft>
                <a:spcPts val="300"/>
              </a:spcAft>
            </a:pPr>
            <a:r>
              <a:rPr sz="1200" b="0">
                <a:solidFill>
                  <a:srgbClr val="5B6372"/>
                </a:solidFill>
                <a:latin typeface="Arial"/>
              </a:rPr>
              <a:t>Preventive - server rooms, racks and cages; smart locks log every entry.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Badge readers</a:t>
            </a:r>
          </a:p>
          <a:p>
            <a:pPr algn="l">
              <a:spcAft>
                <a:spcPts val="300"/>
              </a:spcAft>
            </a:pPr>
            <a:r>
              <a:rPr sz="1200" b="0">
                <a:solidFill>
                  <a:srgbClr val="5B6372"/>
                </a:solidFill>
                <a:latin typeface="Arial"/>
              </a:rPr>
              <a:t>Authenticate entry per person and leave an audit trail.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Access control vestibule</a:t>
            </a:r>
          </a:p>
          <a:p>
            <a:pPr algn="l">
              <a:spcAft>
                <a:spcPts val="300"/>
              </a:spcAft>
            </a:pPr>
            <a:r>
              <a:rPr sz="1200" b="0">
                <a:solidFill>
                  <a:srgbClr val="5B6372"/>
                </a:solidFill>
                <a:latin typeface="Arial"/>
              </a:rPr>
              <a:t>A two-door airlock defeats tailgating - one person per badge.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Security guards</a:t>
            </a:r>
          </a:p>
          <a:p>
            <a:pPr algn="l">
              <a:spcAft>
                <a:spcPts val="300"/>
              </a:spcAft>
            </a:pPr>
            <a:r>
              <a:rPr sz="1200" b="0">
                <a:solidFill>
                  <a:srgbClr val="5B6372"/>
                </a:solidFill>
                <a:latin typeface="Arial"/>
              </a:rPr>
              <a:t>Flexible deterrent and response - verify visitors and deliveries.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Environmental sensors</a:t>
            </a:r>
          </a:p>
          <a:p>
            <a:pPr algn="l">
              <a:spcAft>
                <a:spcPts val="300"/>
              </a:spcAft>
            </a:pPr>
            <a:r>
              <a:rPr sz="1200" b="0">
                <a:solidFill>
                  <a:srgbClr val="5B6372"/>
                </a:solidFill>
                <a:latin typeface="Arial"/>
              </a:rPr>
              <a:t>Door-open, temperature and humidity alarms in the data centre.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402</a:t>
            </a:r>
          </a:p>
        </p:txBody>
      </p:sp>
    </p:spTree>
  </p:cSld>
  <p:clrMapOvr>
    <a:masterClrMapping/>
  </p:clrMapOvr>
  <p:transition spd="fast" advClick="1">
    <p:fade/>
  </p:transition>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4.1 · PHYSICAL SECURITY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Physical Control Categories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Preventive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Stop the event: locks, MFA, firewalls</a:t>
            </a:r>
          </a:p>
          <a:p>
            <a:pPr>
              <a:spcAft>
                <a:spcPts val="900"/>
              </a:spcAft>
            </a:pPr>
            <a:r>
              <a:rPr sz="1400" b="0">
                <a:solidFill>
                  <a:srgbClr val="161B26"/>
                </a:solidFill>
                <a:latin typeface="Arial"/>
              </a:rPr>
              <a:t>•  Access control vestibules</a:t>
            </a:r>
          </a:p>
          <a:p>
            <a:pPr>
              <a:spcAft>
                <a:spcPts val="900"/>
              </a:spcAft>
            </a:pPr>
            <a:r>
              <a:rPr sz="1400" b="0">
                <a:solidFill>
                  <a:srgbClr val="161B26"/>
                </a:solidFill>
                <a:latin typeface="Arial"/>
              </a:rPr>
              <a:t>•  Strongest when layered together</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Detective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Discover the event: CCTV, IDS, logs</a:t>
            </a:r>
          </a:p>
          <a:p>
            <a:pPr>
              <a:spcAft>
                <a:spcPts val="900"/>
              </a:spcAft>
            </a:pPr>
            <a:r>
              <a:rPr sz="1400" b="0">
                <a:solidFill>
                  <a:srgbClr val="161B26"/>
                </a:solidFill>
                <a:latin typeface="Arial"/>
              </a:rPr>
              <a:t>•  Audits and SIEM alerting</a:t>
            </a:r>
          </a:p>
          <a:p>
            <a:pPr>
              <a:spcAft>
                <a:spcPts val="900"/>
              </a:spcAft>
            </a:pPr>
            <a:r>
              <a:rPr sz="1400" b="0">
                <a:solidFill>
                  <a:srgbClr val="161B26"/>
                </a:solidFill>
                <a:latin typeface="Arial"/>
              </a:rPr>
              <a:t>•  Enables fast, informed response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Deterrent / compensating</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Warning signs, visible cameras</a:t>
            </a:r>
          </a:p>
          <a:p>
            <a:pPr>
              <a:spcAft>
                <a:spcPts val="900"/>
              </a:spcAft>
            </a:pPr>
            <a:r>
              <a:rPr sz="1400" b="0">
                <a:solidFill>
                  <a:srgbClr val="161B26"/>
                </a:solidFill>
                <a:latin typeface="Arial"/>
              </a:rPr>
              <a:t>•  Guards deter casual attempts</a:t>
            </a:r>
          </a:p>
          <a:p>
            <a:pPr>
              <a:spcAft>
                <a:spcPts val="900"/>
              </a:spcAft>
            </a:pPr>
            <a:r>
              <a:rPr sz="1400" b="0">
                <a:solidFill>
                  <a:srgbClr val="161B26"/>
                </a:solidFill>
                <a:latin typeface="Arial"/>
              </a:rPr>
              <a:t>•  Compensating controls cover gaps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403</a:t>
            </a:r>
          </a:p>
        </p:txBody>
      </p:sp>
    </p:spTree>
  </p:cSld>
  <p:clrMapOvr>
    <a:masterClrMapping/>
  </p:clrMapOvr>
  <p:transition spd="fast" advClick="1">
    <p:fade/>
  </p:transition>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OBJ 4.1 · ASSET LIFECYCLE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System Life Cycle and Secure Disposal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Asset tags and inventory</a:t>
            </a:r>
          </a:p>
          <a:p>
            <a:pPr algn="l">
              <a:spcAft>
                <a:spcPts val="300"/>
              </a:spcAft>
            </a:pPr>
            <a:r>
              <a:rPr sz="1200" b="0">
                <a:solidFill>
                  <a:srgbClr val="5B6372"/>
                </a:solidFill>
                <a:latin typeface="Arial"/>
              </a:rPr>
              <a:t>You cannot secure what you do not track - tag and record every device.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Secure wipe</a:t>
            </a:r>
          </a:p>
          <a:p>
            <a:pPr algn="l">
              <a:spcAft>
                <a:spcPts val="300"/>
              </a:spcAft>
            </a:pPr>
            <a:r>
              <a:rPr sz="1200" b="0">
                <a:solidFill>
                  <a:srgbClr val="5B6372"/>
                </a:solidFill>
                <a:latin typeface="Arial"/>
              </a:rPr>
              <a:t>DoD 5220.22-M-style overwrite or crypto-erase before any disposal.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Factory reset</a:t>
            </a:r>
          </a:p>
          <a:p>
            <a:pPr algn="l">
              <a:spcAft>
                <a:spcPts val="300"/>
              </a:spcAft>
            </a:pPr>
            <a:r>
              <a:rPr sz="1200" b="0">
                <a:solidFill>
                  <a:srgbClr val="5B6372"/>
                </a:solidFill>
                <a:latin typeface="Arial"/>
              </a:rPr>
              <a:t>Acceptable only for devices that never held sensitive data.</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Chain of custody</a:t>
            </a:r>
          </a:p>
          <a:p>
            <a:pPr algn="l">
              <a:spcAft>
                <a:spcPts val="300"/>
              </a:spcAft>
            </a:pPr>
            <a:r>
              <a:rPr sz="1200" b="0">
                <a:solidFill>
                  <a:srgbClr val="5B6372"/>
                </a:solidFill>
                <a:latin typeface="Arial"/>
              </a:rPr>
              <a:t>A documented audit trail from decommission to certified destruction.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404</a:t>
            </a:r>
          </a:p>
        </p:txBody>
      </p:sp>
    </p:spTree>
  </p:cSld>
  <p:clrMapOvr>
    <a:masterClrMapping/>
  </p:clrMapOvr>
  <p:transition spd="fast" advClick="1">
    <p:fade/>
  </p:transition>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4 · EXAM CHECKPOINT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Exam Checkpoint - Numbers to Memorise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RADIUS: UDP 1812/1813 (legacy 1645/1646) - TACACS+: TCP 49</a:t>
            </a:r>
          </a:p>
          <a:p>
            <a:pPr>
              <a:spcAft>
                <a:spcPts val="1000"/>
              </a:spcAft>
            </a:pPr>
            <a:r>
              <a:rPr sz="1800" b="0">
                <a:solidFill>
                  <a:srgbClr val="161B26"/>
                </a:solidFill>
                <a:latin typeface="Arial"/>
              </a:rPr>
              <a:t>•  LDAP 389, LDAPS 636, Kerberos 88, HTTPS 443, SSH 22</a:t>
            </a:r>
          </a:p>
          <a:p>
            <a:pPr>
              <a:spcAft>
                <a:spcPts val="1000"/>
              </a:spcAft>
            </a:pPr>
            <a:r>
              <a:rPr sz="1800" b="0">
                <a:solidFill>
                  <a:srgbClr val="161B26"/>
                </a:solidFill>
                <a:latin typeface="Arial"/>
              </a:rPr>
              <a:t>•  IDS detects on a mirror copy; IPS sits inline and blocks</a:t>
            </a:r>
          </a:p>
          <a:p>
            <a:pPr>
              <a:spcAft>
                <a:spcPts val="1000"/>
              </a:spcAft>
            </a:pPr>
            <a:r>
              <a:rPr sz="1800" b="0">
                <a:solidFill>
                  <a:srgbClr val="161B26"/>
                </a:solidFill>
                <a:latin typeface="Arial"/>
              </a:rPr>
              <a:t>•  Screened subnet (DMZ) hosts public services between two firewalls</a:t>
            </a:r>
          </a:p>
          <a:p>
            <a:pPr>
              <a:spcAft>
                <a:spcPts val="1000"/>
              </a:spcAft>
            </a:pPr>
            <a:r>
              <a:rPr sz="1800" b="0">
                <a:solidFill>
                  <a:srgbClr val="161B26"/>
                </a:solidFill>
                <a:latin typeface="Arial"/>
              </a:rPr>
              <a:t>•  MFA needs two DIFFERENT factors: know / have / are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405</a:t>
            </a:r>
          </a:p>
        </p:txBody>
      </p:sp>
    </p:spTree>
  </p:cSld>
  <p:clrMapOvr>
    <a:masterClrMapping/>
  </p:clrMapOvr>
  <p:transition spd="fast" advClick="1">
    <p:fade/>
  </p:transition>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DOMAIN 4 · RECAP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Layers, least privilege, verify everything.</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Domain 4 in one line: encrypt in transit and at rest, authenticate with multiple factors, segment aggressively, harden every device, and watch the logs.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406</a:t>
            </a:r>
          </a:p>
        </p:txBody>
      </p:sp>
    </p:spTree>
  </p:cSld>
  <p:clrMapOvr>
    <a:masterClrMapping/>
  </p:clrMapOvr>
  <p:transition spd="fast" advClick="1">
    <p:fade/>
  </p:transition>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4.0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You can now: Configure a default-deny host firewall with UFW: global allows, source-restricted rules, rule management.</a:t>
            </a:r>
          </a:p>
          <a:p>
            <a:pPr>
              <a:spcAft>
                <a:spcPts val="1000"/>
              </a:spcAft>
            </a:pPr>
            <a:r>
              <a:rPr sz="1600" b="0">
                <a:solidFill>
                  <a:srgbClr val="161B26"/>
                </a:solidFill>
                <a:latin typeface="Arial"/>
              </a:rPr>
              <a:t>•  You can now: Generate a self-signed X.509 certificate, serve HTTPS from nginx and inspect the TLS handshake.</a:t>
            </a:r>
          </a:p>
          <a:p>
            <a:pPr>
              <a:spcAft>
                <a:spcPts val="1000"/>
              </a:spcAft>
            </a:pPr>
            <a:r>
              <a:rPr sz="1600" b="0">
                <a:solidFill>
                  <a:srgbClr val="161B26"/>
                </a:solidFill>
                <a:latin typeface="Arial"/>
              </a:rPr>
              <a:t>•  You can now: Harden SSH: Ed25519 key authentication, password login disabled, config validated before reload.</a:t>
            </a:r>
          </a:p>
          <a:p>
            <a:pPr>
              <a:spcAft>
                <a:spcPts val="1000"/>
              </a:spcAft>
            </a:pPr>
            <a:r>
              <a:rPr sz="1600" b="0">
                <a:solidFill>
                  <a:srgbClr val="161B26"/>
                </a:solidFill>
                <a:latin typeface="Arial"/>
              </a:rPr>
              <a:t>•  You can now: Build a site-to-site WireGuard tunnel between two network namespaces and verify the handshake.</a:t>
            </a:r>
          </a:p>
          <a:p>
            <a:pPr>
              <a:spcAft>
                <a:spcPts val="1000"/>
              </a:spcAft>
            </a:pPr>
            <a:r>
              <a:rPr sz="1600" b="0">
                <a:solidFill>
                  <a:srgbClr val="161B26"/>
                </a:solidFill>
                <a:latin typeface="Arial"/>
              </a:rPr>
              <a:t>•  You can now: Enumerate exposed services with nmap and reduce the attack surface by disabling what is unneeded.</a:t>
            </a:r>
          </a:p>
          <a:p>
            <a:pPr>
              <a:spcAft>
                <a:spcPts val="1000"/>
              </a:spcAft>
            </a:pPr>
            <a:r>
              <a:rPr sz="1600" b="0">
                <a:solidFill>
                  <a:srgbClr val="161B26"/>
                </a:solidFill>
                <a:latin typeface="Arial"/>
              </a:rPr>
              <a:t>•  You can now: Run Suricata as an IDS, trigger a known signature and read the alert in fast.log and eve.json.</a:t>
            </a:r>
          </a:p>
          <a:p>
            <a:pPr>
              <a:spcAft>
                <a:spcPts val="1000"/>
              </a:spcAft>
            </a:pPr>
            <a:r>
              <a:rPr sz="1600" b="0">
                <a:solidFill>
                  <a:srgbClr val="161B26"/>
                </a:solidFill>
                <a:latin typeface="Arial"/>
              </a:rPr>
              <a:t>•  You can now: Build an ordered iptables ACL that permits MySQL from one subnet and drops it from everywhere else.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407</a:t>
            </a:r>
          </a:p>
        </p:txBody>
      </p:sp>
    </p:spTree>
  </p:cSld>
  <p:clrMapOvr>
    <a:masterClrMapping/>
  </p:clrMapOvr>
  <p:transition spd="fast" advClick="1">
    <p:fade/>
  </p:transition>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5.0  ·  24%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 Troubleshooting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Methodology · cabling &amp; physical interfaces · network services · performance · tools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5.0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408</a:t>
            </a:r>
          </a:p>
        </p:txBody>
      </p:sp>
    </p:spTree>
  </p:cSld>
  <p:clrMapOvr>
    <a:masterClrMapping/>
  </p:clrMapOvr>
  <p:transition spd="med" advClick="1">
    <p:push dir="l"/>
  </p:transition>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28–30</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Layer 1/2 Diagnostics with ip and ethtool</a:t>
            </a:r>
          </a:p>
          <a:p>
            <a:pPr>
              <a:spcAft>
                <a:spcPts val="900"/>
              </a:spcAft>
            </a:pPr>
            <a:r>
              <a:rPr sz="1400" b="0">
                <a:solidFill>
                  <a:srgbClr val="161B26"/>
                </a:solidFill>
                <a:latin typeface="Arial"/>
              </a:rPr>
              <a:t>•  Reachability with ping, traceroute and mtr</a:t>
            </a:r>
          </a:p>
          <a:p>
            <a:pPr>
              <a:spcAft>
                <a:spcPts val="900"/>
              </a:spcAft>
            </a:pPr>
            <a:r>
              <a:rPr sz="1400" b="0">
                <a:solidFill>
                  <a:srgbClr val="161B26"/>
                </a:solidFill>
                <a:latin typeface="Arial"/>
              </a:rPr>
              <a:t>•  DNS Troubleshooting with dig and resolvectl</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31–33</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ARP and the IPv6 Neighbour Table</a:t>
            </a:r>
          </a:p>
          <a:p>
            <a:pPr>
              <a:spcAft>
                <a:spcPts val="900"/>
              </a:spcAft>
            </a:pPr>
            <a:r>
              <a:rPr sz="1400" b="0">
                <a:solidFill>
                  <a:srgbClr val="161B26"/>
                </a:solidFill>
                <a:latin typeface="Arial"/>
              </a:rPr>
              <a:t>•  Packet Capture with tcpdump and TIS PCAP Analyzer</a:t>
            </a:r>
          </a:p>
          <a:p>
            <a:pPr>
              <a:spcAft>
                <a:spcPts val="900"/>
              </a:spcAft>
            </a:pPr>
            <a:r>
              <a:rPr sz="1400" b="0">
                <a:solidFill>
                  <a:srgbClr val="161B26"/>
                </a:solidFill>
                <a:latin typeface="Arial"/>
              </a:rPr>
              <a:t>•  MTU and Path-MTU Discovery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34–36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Diagnosing Routing Problems</a:t>
            </a:r>
          </a:p>
          <a:p>
            <a:pPr>
              <a:spcAft>
                <a:spcPts val="900"/>
              </a:spcAft>
            </a:pPr>
            <a:r>
              <a:rPr sz="1400" b="0">
                <a:solidFill>
                  <a:srgbClr val="161B26"/>
                </a:solidFill>
                <a:latin typeface="Arial"/>
              </a:rPr>
              <a:t>•  Simulating Slow and Lossy Links with tc</a:t>
            </a:r>
          </a:p>
          <a:p>
            <a:pPr>
              <a:spcAft>
                <a:spcPts val="900"/>
              </a:spcAft>
            </a:pPr>
            <a:r>
              <a:rPr sz="1400" b="0">
                <a:solidFill>
                  <a:srgbClr val="161B26"/>
                </a:solidFill>
                <a:latin typeface="Arial"/>
              </a:rPr>
              <a:t>•  Service Reachability Triage with curl, nc and openssl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409</a:t>
            </a:r>
          </a:p>
        </p:txBody>
      </p:sp>
    </p:spTree>
  </p:cSld>
  <p:clrMapOvr>
    <a:masterClrMapping/>
  </p:clrMapOvr>
  <p:transition spd="fast" advClick="1">
    <p:fade/>
  </p:transition>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DOMAIN 5 · 24% OF THE EXAM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Network Troubleshooting.</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Domain 5 is 24% of the N10-009 exam - the biggest single slice. Master one method, then apply it to cables, switches, routes, DNS and services.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410</a:t>
            </a:r>
          </a:p>
        </p:txBody>
      </p:sp>
    </p:spTree>
  </p:cSld>
  <p:clrMapOvr>
    <a:masterClrMapping/>
  </p:clrMapOvr>
  <p:transition spd="fast" advClick="1">
    <p:fade/>
  </p:transition>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a Method Beats Guesswork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Symptoms are not causes</a:t>
            </a:r>
          </a:p>
          <a:p>
            <a:pPr algn="l">
              <a:spcAft>
                <a:spcPts val="300"/>
              </a:spcAft>
            </a:pPr>
            <a:r>
              <a:rPr sz="1200" b="0">
                <a:solidFill>
                  <a:srgbClr val="5B6372"/>
                </a:solidFill>
                <a:latin typeface="Arial"/>
              </a:rPr>
              <a:t>A 'slow website' can be DNS, routing, loss, MTU or the app itself - the method finds which before you change anything.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Gather before you touch</a:t>
            </a:r>
          </a:p>
          <a:p>
            <a:pPr algn="l">
              <a:spcAft>
                <a:spcPts val="300"/>
              </a:spcAft>
            </a:pPr>
            <a:r>
              <a:rPr sz="1200" b="0">
                <a:solidFill>
                  <a:srgbClr val="5B6372"/>
                </a:solidFill>
                <a:latin typeface="Arial"/>
              </a:rPr>
              <a:t>Information gathered first - symptoms, scope, timing - is evidence; information gathered after a change is contaminated.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OSI model is your map</a:t>
            </a:r>
          </a:p>
          <a:p>
            <a:pPr algn="l">
              <a:spcAft>
                <a:spcPts val="300"/>
              </a:spcAft>
            </a:pPr>
            <a:r>
              <a:rPr sz="1200" b="0">
                <a:solidFill>
                  <a:srgbClr val="5B6372"/>
                </a:solidFill>
                <a:latin typeface="Arial"/>
              </a:rPr>
              <a:t>Every fault lives at a layer; walking the stack top-down, bottom-up or from the middle turns chaos into a search.</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Change one thing at a time</a:t>
            </a:r>
          </a:p>
          <a:p>
            <a:pPr algn="l">
              <a:spcAft>
                <a:spcPts val="300"/>
              </a:spcAft>
            </a:pPr>
            <a:r>
              <a:rPr sz="1200" b="0">
                <a:solidFill>
                  <a:srgbClr val="5B6372"/>
                </a:solidFill>
                <a:latin typeface="Arial"/>
              </a:rPr>
              <a:t>Isolate variables - if you change three things and it works, you still do not know the cause and cannot prevent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Prevention is part of the fix</a:t>
            </a:r>
          </a:p>
          <a:p>
            <a:pPr algn="l">
              <a:spcAft>
                <a:spcPts val="300"/>
              </a:spcAft>
            </a:pPr>
            <a:r>
              <a:rPr sz="1200" b="0">
                <a:solidFill>
                  <a:srgbClr val="5B6372"/>
                </a:solidFill>
                <a:latin typeface="Arial"/>
              </a:rPr>
              <a:t>A ticket is not closed at 'it works' - it closes at 'it cannot happen again', or at least 'we will see it coming'.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Documentation compounds</a:t>
            </a:r>
          </a:p>
          <a:p>
            <a:pPr algn="l">
              <a:spcAft>
                <a:spcPts val="300"/>
              </a:spcAft>
            </a:pPr>
            <a:r>
              <a:rPr sz="1200" b="0">
                <a:solidFill>
                  <a:srgbClr val="5B6372"/>
                </a:solidFill>
                <a:latin typeface="Arial"/>
              </a:rPr>
              <a:t>Yesterday's documented outage is today's 10-minute fix - lessons learned are the cheapest training you will get.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411</a:t>
            </a:r>
          </a:p>
        </p:txBody>
      </p:sp>
    </p:spTree>
  </p:cSld>
  <p:clrMapOvr>
    <a:masterClrMapping/>
  </p:clrMapOvr>
  <p:transition spd="fast" advClick="1">
    <p:fade/>
  </p:transition>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CompTIA's 7-Step Troubleshooting Method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1 · Identify the problem</a:t>
            </a:r>
          </a:p>
        </p:txBody>
      </p:sp>
      <p:sp>
        <p:nvSpPr>
          <p:cNvPr id="12" name="TextBox 11"/>
          <p:cNvSpPr txBox="1"/>
          <p:nvPr/>
        </p:nvSpPr>
        <p:spPr>
          <a:xfrm>
            <a:off x="8686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gather, question, dupe</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2 · Establish a theory</a:t>
            </a:r>
          </a:p>
        </p:txBody>
      </p:sp>
      <p:sp>
        <p:nvSpPr>
          <p:cNvPr id="19" name="TextBox 18"/>
          <p:cNvSpPr txBox="1"/>
          <p:nvPr/>
        </p:nvSpPr>
        <p:spPr>
          <a:xfrm>
            <a:off x="270510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probable cause</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3 · Test the theory</a:t>
            </a:r>
          </a:p>
        </p:txBody>
      </p:sp>
      <p:sp>
        <p:nvSpPr>
          <p:cNvPr id="26" name="TextBox 25"/>
          <p:cNvSpPr txBox="1"/>
          <p:nvPr/>
        </p:nvSpPr>
        <p:spPr>
          <a:xfrm>
            <a:off x="454152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confirm or re-theorise</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4+5 · Plan and implement</a:t>
            </a:r>
          </a:p>
        </p:txBody>
      </p:sp>
      <p:sp>
        <p:nvSpPr>
          <p:cNvPr id="33" name="TextBox 32"/>
          <p:cNvSpPr txBox="1"/>
          <p:nvPr/>
        </p:nvSpPr>
        <p:spPr>
          <a:xfrm>
            <a:off x="637794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or escalate</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6 · Verify</a:t>
            </a:r>
          </a:p>
        </p:txBody>
      </p:sp>
      <p:sp>
        <p:nvSpPr>
          <p:cNvPr id="40" name="TextBox 39"/>
          <p:cNvSpPr txBox="1"/>
          <p:nvPr/>
        </p:nvSpPr>
        <p:spPr>
          <a:xfrm>
            <a:off x="821436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full functionality</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7 · Document</a:t>
            </a:r>
          </a:p>
        </p:txBody>
      </p:sp>
      <p:sp>
        <p:nvSpPr>
          <p:cNvPr id="47" name="TextBox 46"/>
          <p:cNvSpPr txBox="1"/>
          <p:nvPr/>
        </p:nvSpPr>
        <p:spPr>
          <a:xfrm>
            <a:off x="100507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lessons learned</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Exam scenario questions state which step you are in and ask for the next action - knowing the order is free marks.</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Step 1 - Identify the Problem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Gather information</a:t>
            </a:r>
          </a:p>
          <a:p>
            <a:pPr algn="l">
              <a:spcAft>
                <a:spcPts val="300"/>
              </a:spcAft>
            </a:pPr>
            <a:r>
              <a:rPr sz="1200" b="0">
                <a:solidFill>
                  <a:srgbClr val="5B6372"/>
                </a:solidFill>
                <a:latin typeface="Arial"/>
              </a:rPr>
              <a:t>Ticket text, monitoring alerts, logs, topology diagrams - collect the facts before forming any opinion.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Question users</a:t>
            </a:r>
          </a:p>
          <a:p>
            <a:pPr algn="l">
              <a:spcAft>
                <a:spcPts val="300"/>
              </a:spcAft>
            </a:pPr>
            <a:r>
              <a:rPr sz="1200" b="0">
                <a:solidFill>
                  <a:srgbClr val="5B6372"/>
                </a:solidFill>
                <a:latin typeface="Arial"/>
              </a:rPr>
              <a:t>Ask open questions first ('what were you doing?'), then closed ones ('does it fail on Wi-Fi too?').</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Identify symptoms</a:t>
            </a:r>
          </a:p>
          <a:p>
            <a:pPr algn="l">
              <a:spcAft>
                <a:spcPts val="300"/>
              </a:spcAft>
            </a:pPr>
            <a:r>
              <a:rPr sz="1200" b="0">
                <a:solidFill>
                  <a:srgbClr val="5B6372"/>
                </a:solidFill>
                <a:latin typeface="Arial"/>
              </a:rPr>
              <a:t>Pin down exactly what fails, for whom, since when and how often - 'the internet is down' is never the real symptom.</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Determine if anything changed</a:t>
            </a:r>
          </a:p>
          <a:p>
            <a:pPr algn="l">
              <a:spcAft>
                <a:spcPts val="300"/>
              </a:spcAft>
            </a:pPr>
            <a:r>
              <a:rPr sz="1200" b="0">
                <a:solidFill>
                  <a:srgbClr val="5B6372"/>
                </a:solidFill>
                <a:latin typeface="Arial"/>
              </a:rPr>
              <a:t>New firmware, a moved desk, a patch window, a new switch - most outages follow a change.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Duplicate the problem</a:t>
            </a:r>
          </a:p>
          <a:p>
            <a:pPr algn="l">
              <a:spcAft>
                <a:spcPts val="300"/>
              </a:spcAft>
            </a:pPr>
            <a:r>
              <a:rPr sz="1200" b="0">
                <a:solidFill>
                  <a:srgbClr val="5B6372"/>
                </a:solidFill>
                <a:latin typeface="Arial"/>
              </a:rPr>
              <a:t>If you can reproduce it on demand, you can test theories against it safely and prove the eventual fix.</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Approach problems individually</a:t>
            </a:r>
          </a:p>
          <a:p>
            <a:pPr algn="l">
              <a:spcAft>
                <a:spcPts val="300"/>
              </a:spcAft>
            </a:pPr>
            <a:r>
              <a:rPr sz="1200" b="0">
                <a:solidFill>
                  <a:srgbClr val="5B6372"/>
                </a:solidFill>
                <a:latin typeface="Arial"/>
              </a:rPr>
              <a:t>Two simultaneous complaints may be two faults - splitting them avoids chasing a cause that explains only half.</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413</a:t>
            </a:r>
          </a:p>
        </p:txBody>
      </p:sp>
    </p:spTree>
  </p:cSld>
  <p:clrMapOvr>
    <a:masterClrMapping/>
  </p:clrMapOvr>
  <p:transition spd="fast" advClick="1">
    <p:fade/>
  </p:transition>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Questioning Users and Finding the Change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Ask the user</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Ask the environment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What exactly do you see - error text, spinner, timeout?</a:t>
            </a:r>
          </a:p>
          <a:p>
            <a:pPr>
              <a:spcAft>
                <a:spcPts val="1000"/>
              </a:spcAft>
            </a:pPr>
            <a:r>
              <a:rPr sz="1600" b="0">
                <a:solidFill>
                  <a:srgbClr val="161B26"/>
                </a:solidFill>
                <a:latin typeface="Arial"/>
              </a:rPr>
              <a:t>•  When did it last work, and what changed since?</a:t>
            </a:r>
          </a:p>
          <a:p>
            <a:pPr>
              <a:spcAft>
                <a:spcPts val="1000"/>
              </a:spcAft>
            </a:pPr>
            <a:r>
              <a:rPr sz="1600" b="0">
                <a:solidFill>
                  <a:srgbClr val="161B26"/>
                </a:solidFill>
                <a:latin typeface="Arial"/>
              </a:rPr>
              <a:t>•  Does it affect one app, one site or everything?</a:t>
            </a:r>
          </a:p>
          <a:p>
            <a:pPr>
              <a:spcAft>
                <a:spcPts val="1000"/>
              </a:spcAft>
            </a:pPr>
            <a:r>
              <a:rPr sz="1600" b="0">
                <a:solidFill>
                  <a:srgbClr val="161B26"/>
                </a:solidFill>
                <a:latin typeface="Arial"/>
              </a:rPr>
              <a:t>•  Are colleagues nearby affected too?</a:t>
            </a:r>
          </a:p>
          <a:p>
            <a:pPr>
              <a:spcAft>
                <a:spcPts val="1000"/>
              </a:spcAft>
            </a:pPr>
            <a:r>
              <a:rPr sz="1600" b="0">
                <a:solidFill>
                  <a:srgbClr val="161B26"/>
                </a:solidFill>
                <a:latin typeface="Arial"/>
              </a:rPr>
              <a:t>•  Does it follow you to another desk or network?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Check the change log and maintenance windows</a:t>
            </a:r>
          </a:p>
          <a:p>
            <a:pPr>
              <a:spcAft>
                <a:spcPts val="1000"/>
              </a:spcAft>
            </a:pPr>
            <a:r>
              <a:rPr sz="1600" b="0">
                <a:solidFill>
                  <a:srgbClr val="161B26"/>
                </a:solidFill>
                <a:latin typeface="Arial"/>
              </a:rPr>
              <a:t>•  Compare against monitoring baselines and alerts</a:t>
            </a:r>
          </a:p>
          <a:p>
            <a:pPr>
              <a:spcAft>
                <a:spcPts val="1000"/>
              </a:spcAft>
            </a:pPr>
            <a:r>
              <a:rPr sz="1600" b="0">
                <a:solidFill>
                  <a:srgbClr val="161B26"/>
                </a:solidFill>
                <a:latin typeface="Arial"/>
              </a:rPr>
              <a:t>•  Did patching, firmware or config pushes run overnight?</a:t>
            </a:r>
          </a:p>
          <a:p>
            <a:pPr>
              <a:spcAft>
                <a:spcPts val="1000"/>
              </a:spcAft>
            </a:pPr>
            <a:r>
              <a:rPr sz="1600" b="0">
                <a:solidFill>
                  <a:srgbClr val="161B26"/>
                </a:solidFill>
                <a:latin typeface="Arial"/>
              </a:rPr>
              <a:t>•  Look for moved equipment, new cables, new devices</a:t>
            </a:r>
          </a:p>
          <a:p>
            <a:pPr>
              <a:spcAft>
                <a:spcPts val="1000"/>
              </a:spcAft>
            </a:pPr>
            <a:r>
              <a:rPr sz="1600" b="0">
                <a:solidFill>
                  <a:srgbClr val="161B26"/>
                </a:solidFill>
                <a:latin typeface="Arial"/>
              </a:rPr>
              <a:t>•  Scope it: one user, one switch, one VLAN or one site?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414</a:t>
            </a:r>
          </a:p>
        </p:txBody>
      </p:sp>
    </p:spTree>
  </p:cSld>
  <p:clrMapOvr>
    <a:masterClrMapping/>
  </p:clrMapOvr>
  <p:transition spd="fast" advClick="1">
    <p:fade/>
  </p:transition>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Step 2 - Establish a Theory of Probable Cause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Question the obvious</a:t>
            </a:r>
          </a:p>
          <a:p>
            <a:pPr algn="l">
              <a:spcAft>
                <a:spcPts val="300"/>
              </a:spcAft>
            </a:pPr>
            <a:r>
              <a:rPr sz="1200" b="0">
                <a:solidFill>
                  <a:srgbClr val="5B6372"/>
                </a:solidFill>
                <a:latin typeface="Arial"/>
              </a:rPr>
              <a:t>Cable seated? Power on? Right SSID? Caps Lock? The embarrassing causes are the most common - eliminate them first.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Top-to-bottom OSI</a:t>
            </a:r>
          </a:p>
          <a:p>
            <a:pPr algn="l">
              <a:spcAft>
                <a:spcPts val="300"/>
              </a:spcAft>
            </a:pPr>
            <a:r>
              <a:rPr sz="1200" b="0">
                <a:solidFill>
                  <a:srgbClr val="5B6372"/>
                </a:solidFill>
                <a:latin typeface="Arial"/>
              </a:rPr>
              <a:t>Start at L7 and walk down - natural when the app clearly fails but the network looks healthy.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Bottom-to-top OSI</a:t>
            </a:r>
          </a:p>
          <a:p>
            <a:pPr algn="l">
              <a:spcAft>
                <a:spcPts val="300"/>
              </a:spcAft>
            </a:pPr>
            <a:r>
              <a:rPr sz="1200" b="0">
                <a:solidFill>
                  <a:srgbClr val="5B6372"/>
                </a:solidFill>
                <a:latin typeface="Arial"/>
              </a:rPr>
              <a:t>Start at L1 and walk up - natural for a single dead desk: cable, link light, then IP, then services.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Divide and conquer</a:t>
            </a:r>
          </a:p>
          <a:p>
            <a:pPr algn="l">
              <a:spcAft>
                <a:spcPts val="300"/>
              </a:spcAft>
            </a:pPr>
            <a:r>
              <a:rPr sz="1200" b="0">
                <a:solidFill>
                  <a:srgbClr val="5B6372"/>
                </a:solidFill>
                <a:latin typeface="Arial"/>
              </a:rPr>
              <a:t>Start mid-stack: ping the gateway. Success rules out L1-L3 locally; failure rules out everything above.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Consider multiple approaches</a:t>
            </a:r>
          </a:p>
          <a:p>
            <a:pPr algn="l">
              <a:spcAft>
                <a:spcPts val="300"/>
              </a:spcAft>
            </a:pPr>
            <a:r>
              <a:rPr sz="1200" b="0">
                <a:solidFill>
                  <a:srgbClr val="5B6372"/>
                </a:solidFill>
                <a:latin typeface="Arial"/>
              </a:rPr>
              <a:t>Hold more than one candidate theory and rank them by likelihood and by how cheap they are to test.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Use scope as evidence</a:t>
            </a:r>
          </a:p>
          <a:p>
            <a:pPr algn="l">
              <a:spcAft>
                <a:spcPts val="300"/>
              </a:spcAft>
            </a:pPr>
            <a:r>
              <a:rPr sz="1200" b="0">
                <a:solidFill>
                  <a:srgbClr val="5B6372"/>
                </a:solidFill>
                <a:latin typeface="Arial"/>
              </a:rPr>
              <a:t>One user points down the stack at their gear; a whole site points up at shared infrastructure - WAN, DNS, DHCP, core.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415</a:t>
            </a:r>
          </a:p>
        </p:txBody>
      </p:sp>
    </p:spTree>
  </p:cSld>
  <p:clrMapOvr>
    <a:masterClrMapping/>
  </p:clrMapOvr>
  <p:transition spd="fast" advClick="1">
    <p:fade/>
  </p:transition>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Divide and Conquer - Where to Start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 user cannot reach the app.
Are other users affected too?</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start in the middle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Shared infrastructure is suspect. Ping the gateway and a known IP: works means look up (DNS, app); fails means look down (L1-L3).</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start at the bottom</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 single victim is usually local. Check cable and link light, then IP/mask/gateway, then walk up the stack layer by layer.</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Divide and conquer halves the search space with every test - the binary search of troubleshooting.</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416</a:t>
            </a:r>
          </a:p>
        </p:txBody>
      </p:sp>
    </p:spTree>
  </p:cSld>
  <p:clrMapOvr>
    <a:masterClrMapping/>
  </p:clrMapOvr>
  <p:transition spd="fast" advClick="1">
    <p:fade/>
  </p:transition>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Step 3 - Test the Theory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Theory confirmed</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Determine the next steps to resolve</a:t>
            </a:r>
          </a:p>
          <a:p>
            <a:pPr>
              <a:spcAft>
                <a:spcPts val="900"/>
              </a:spcAft>
            </a:pPr>
            <a:r>
              <a:rPr sz="1400" b="0">
                <a:solidFill>
                  <a:srgbClr val="161B26"/>
                </a:solidFill>
                <a:latin typeface="Arial"/>
              </a:rPr>
              <a:t>•  Move straight to a plan of action</a:t>
            </a:r>
          </a:p>
          <a:p>
            <a:pPr>
              <a:spcAft>
                <a:spcPts val="900"/>
              </a:spcAft>
            </a:pPr>
            <a:r>
              <a:rPr sz="1400" b="0">
                <a:solidFill>
                  <a:srgbClr val="161B26"/>
                </a:solidFill>
                <a:latin typeface="Arial"/>
              </a:rPr>
              <a:t>•  Record what proved the cause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Theory busted</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Re-establish a new theory</a:t>
            </a:r>
          </a:p>
          <a:p>
            <a:pPr>
              <a:spcAft>
                <a:spcPts val="900"/>
              </a:spcAft>
            </a:pPr>
            <a:r>
              <a:rPr sz="1400" b="0">
                <a:solidFill>
                  <a:srgbClr val="161B26"/>
                </a:solidFill>
                <a:latin typeface="Arial"/>
              </a:rPr>
              <a:t>•  Re-question the obvious</a:t>
            </a:r>
          </a:p>
          <a:p>
            <a:pPr>
              <a:spcAft>
                <a:spcPts val="900"/>
              </a:spcAft>
            </a:pPr>
            <a:r>
              <a:rPr sz="1400" b="0">
                <a:solidFill>
                  <a:srgbClr val="161B26"/>
                </a:solidFill>
                <a:latin typeface="Arial"/>
              </a:rPr>
              <a:t>•  Widen the scope of what you test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Beyond your access or skill</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Escalate - do not keep digging</a:t>
            </a:r>
          </a:p>
          <a:p>
            <a:pPr>
              <a:spcAft>
                <a:spcPts val="900"/>
              </a:spcAft>
            </a:pPr>
            <a:r>
              <a:rPr sz="1400" b="0">
                <a:solidFill>
                  <a:srgbClr val="161B26"/>
                </a:solidFill>
                <a:latin typeface="Arial"/>
              </a:rPr>
              <a:t>•  Hand over the evidence so far</a:t>
            </a:r>
          </a:p>
          <a:p>
            <a:pPr>
              <a:spcAft>
                <a:spcPts val="900"/>
              </a:spcAft>
            </a:pPr>
            <a:r>
              <a:rPr sz="1400" b="0">
                <a:solidFill>
                  <a:srgbClr val="161B26"/>
                </a:solidFill>
                <a:latin typeface="Arial"/>
              </a:rPr>
              <a:t>•  List the tests already performed</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417</a:t>
            </a:r>
          </a:p>
        </p:txBody>
      </p:sp>
    </p:spTree>
  </p:cSld>
  <p:clrMapOvr>
    <a:masterClrMapping/>
  </p:clrMapOvr>
  <p:transition spd="fast" advClick="1">
    <p:fade/>
  </p:transition>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Steps 4 and 5 - Plan, Implement or Escalate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Plan before you touch</a:t>
            </a:r>
          </a:p>
          <a:p>
            <a:pPr algn="l">
              <a:spcAft>
                <a:spcPts val="300"/>
              </a:spcAft>
            </a:pPr>
            <a:r>
              <a:rPr sz="1200" b="0">
                <a:solidFill>
                  <a:srgbClr val="5B6372"/>
                </a:solidFill>
                <a:latin typeface="Arial"/>
              </a:rPr>
              <a:t>Write the steps, the order, and who does what - a fix applied ad hoc at 2 a.m. becomes tomorrow's mystery config.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Identify potential effects</a:t>
            </a:r>
          </a:p>
          <a:p>
            <a:pPr algn="l">
              <a:spcAft>
                <a:spcPts val="300"/>
              </a:spcAft>
            </a:pPr>
            <a:r>
              <a:rPr sz="1200" b="0">
                <a:solidFill>
                  <a:srgbClr val="5B6372"/>
                </a:solidFill>
                <a:latin typeface="Arial"/>
              </a:rPr>
              <a:t>Will the fix drop users, restart services, or trigger STP recalculation? Say so before it happens.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Schedule the change</a:t>
            </a:r>
          </a:p>
          <a:p>
            <a:pPr algn="l">
              <a:spcAft>
                <a:spcPts val="300"/>
              </a:spcAft>
            </a:pPr>
            <a:r>
              <a:rPr sz="1200" b="0">
                <a:solidFill>
                  <a:srgbClr val="5B6372"/>
                </a:solidFill>
                <a:latin typeface="Arial"/>
              </a:rPr>
              <a:t>Non-urgent fixes go in a change window with approval; outage fixes still get a one-line plan first.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Prepare the rollback</a:t>
            </a:r>
          </a:p>
          <a:p>
            <a:pPr algn="l">
              <a:spcAft>
                <a:spcPts val="300"/>
              </a:spcAft>
            </a:pPr>
            <a:r>
              <a:rPr sz="1200" b="0">
                <a:solidFill>
                  <a:srgbClr val="5B6372"/>
                </a:solidFill>
                <a:latin typeface="Arial"/>
              </a:rPr>
              <a:t>Know how to undo the change before you make it - save the running config, snapshot, or note the old value.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Implement or escalate</a:t>
            </a:r>
          </a:p>
          <a:p>
            <a:pPr algn="l">
              <a:spcAft>
                <a:spcPts val="300"/>
              </a:spcAft>
            </a:pPr>
            <a:r>
              <a:rPr sz="1200" b="0">
                <a:solidFill>
                  <a:srgbClr val="5B6372"/>
                </a:solidFill>
                <a:latin typeface="Arial"/>
              </a:rPr>
              <a:t>Execute your plan - or hand it to the vendor, ISP or senior engineer if it exceeds your authority or access.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Verify as you go</a:t>
            </a:r>
          </a:p>
          <a:p>
            <a:pPr algn="l">
              <a:spcAft>
                <a:spcPts val="300"/>
              </a:spcAft>
            </a:pPr>
            <a:r>
              <a:rPr sz="1200" b="0">
                <a:solidFill>
                  <a:srgbClr val="5B6372"/>
                </a:solidFill>
                <a:latin typeface="Arial"/>
              </a:rPr>
              <a:t>Test after each step of the plan, not only at the end, so a failed step is caught immediately.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418</a:t>
            </a:r>
          </a:p>
        </p:txBody>
      </p:sp>
    </p:spTree>
  </p:cSld>
  <p:clrMapOvr>
    <a:masterClrMapping/>
  </p:clrMapOvr>
  <p:transition spd="fast" advClick="1">
    <p:fade/>
  </p:transition>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Steps 6 and 7 - Verify and Document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Verify FULL functionality</a:t>
            </a:r>
          </a:p>
          <a:p>
            <a:pPr algn="l">
              <a:spcAft>
                <a:spcPts val="300"/>
              </a:spcAft>
            </a:pPr>
            <a:r>
              <a:rPr sz="1200" b="0">
                <a:solidFill>
                  <a:srgbClr val="5B6372"/>
                </a:solidFill>
                <a:latin typeface="Arial"/>
              </a:rPr>
              <a:t>Test more than the reported symptom - the user's app, neighbours on the same switch, and anything your change touched.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Have the user confirm</a:t>
            </a:r>
          </a:p>
          <a:p>
            <a:pPr algn="l">
              <a:spcAft>
                <a:spcPts val="300"/>
              </a:spcAft>
            </a:pPr>
            <a:r>
              <a:rPr sz="1200" b="0">
                <a:solidFill>
                  <a:srgbClr val="5B6372"/>
                </a:solidFill>
                <a:latin typeface="Arial"/>
              </a:rPr>
              <a:t>The ticket closes when the reporter agrees it works, not when your ping succeeds.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Implement preventive measures</a:t>
            </a:r>
          </a:p>
          <a:p>
            <a:pPr algn="l">
              <a:spcAft>
                <a:spcPts val="300"/>
              </a:spcAft>
            </a:pPr>
            <a:r>
              <a:rPr sz="1200" b="0">
                <a:solidFill>
                  <a:srgbClr val="5B6372"/>
                </a:solidFill>
                <a:latin typeface="Arial"/>
              </a:rPr>
              <a:t>Monitoring alerts, config backups, UPS, spare cables, tightened change control - stop the repeat.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Document findings</a:t>
            </a:r>
          </a:p>
          <a:p>
            <a:pPr algn="l">
              <a:spcAft>
                <a:spcPts val="300"/>
              </a:spcAft>
            </a:pPr>
            <a:r>
              <a:rPr sz="1200" b="0">
                <a:solidFill>
                  <a:srgbClr val="5B6372"/>
                </a:solidFill>
                <a:latin typeface="Arial"/>
              </a:rPr>
              <a:t>What was broken and what the root cause was - written for the next engineer, not for yourself.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Document actions and outcomes</a:t>
            </a:r>
          </a:p>
          <a:p>
            <a:pPr algn="l">
              <a:spcAft>
                <a:spcPts val="300"/>
              </a:spcAft>
            </a:pPr>
            <a:r>
              <a:rPr sz="1200" b="0">
                <a:solidFill>
                  <a:srgbClr val="5B6372"/>
                </a:solidFill>
                <a:latin typeface="Arial"/>
              </a:rPr>
              <a:t>Exactly what was changed, where, and the result - this becomes tomorrow's change log.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Capture lessons learned</a:t>
            </a:r>
          </a:p>
          <a:p>
            <a:pPr algn="l">
              <a:spcAft>
                <a:spcPts val="300"/>
              </a:spcAft>
            </a:pPr>
            <a:r>
              <a:rPr sz="1200" b="0">
                <a:solidFill>
                  <a:srgbClr val="5B6372"/>
                </a:solidFill>
                <a:latin typeface="Arial"/>
              </a:rPr>
              <a:t>What slowed the diagnosis? What would have caught it sooner? Feed that into runbooks and training.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419</a:t>
            </a:r>
          </a:p>
        </p:txBody>
      </p:sp>
    </p:spTree>
  </p:cSld>
  <p:clrMapOvr>
    <a:masterClrMapping/>
  </p:clrMapOvr>
  <p:transition spd="fast" advClick="1">
    <p:fade/>
  </p:transition>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7 Steps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Step</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Goal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Key actions</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1 Identify</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Know the real problem</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Gather info, question users, what changed?</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 Theorise</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Rank probable causes</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Question the obvious; walk the OSI stack</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3 Test</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Confirm or discard</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Prove the theory, re-theorise or escalate</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4+5 Plan + implement</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Fix safely</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Plan steps and effects; act or escalate</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6 Verify</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Whole system works</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Full functionality + preventive measures</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7 Document</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Keep the knowledge</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Findings, actions, outcomes, lessons</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Exam questions quote a scenario mid-flow and ask for the NEXT step - learn the order cold.</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420</a:t>
            </a:r>
          </a:p>
        </p:txBody>
      </p:sp>
    </p:spTree>
  </p:cSld>
  <p:clrMapOvr>
    <a:masterClrMapping/>
  </p:clrMapOvr>
  <p:transition spd="fast" advClick="1">
    <p:fade/>
  </p:transition>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Symptom to Layer to First Tool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Layer</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Typical symptom</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First tool to reach for</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L1 Physical</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link light, error counters climb</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Cable tester, ethtool, link LEDs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L2 Data Link</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Floods, loops, VLAN oddities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ip neigh / arp, switch counters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L3 Network</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Some destinations unreachable</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ping, traceroute/mtr, ip route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L4 Transport</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Connects to some ports only</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nc -zv, ss -tlnp, firewall rules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L7 Application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TCP fine but service errors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curl -v, dig, server logs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Pick the layer the symptom names, test there, then move up or down on the result.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421</a:t>
            </a:r>
          </a:p>
        </p:txBody>
      </p:sp>
    </p:spTree>
  </p:cSld>
  <p:clrMapOvr>
    <a:masterClrMapping/>
  </p:clrMapOvr>
  <p:transition spd="fast" advClick="1">
    <p:fade/>
  </p:transition>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5.1 · METHODOLOGY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Method in 60 Seconds - a Dry Run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Identify: one user, wired, no web since desk move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Theory: cable damaged in the move (L1 first)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Test: swap patch lead - link light returns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Plan+fix: replace lead, label the run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Verify + document: user confirms, ticket notes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422</a:t>
            </a:r>
          </a:p>
        </p:txBody>
      </p:sp>
    </p:spTree>
  </p:cSld>
  <p:clrMapOvr>
    <a:masterClrMapping/>
  </p:clrMapOvr>
  <p:transition spd="fast" advClick="1">
    <p:fade/>
  </p:transition>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OBJ 5.2 · CABLING &amp; INTERFACES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Physical first: most 'network down' calls end at a cable.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Objective 5.2: cabling faults, interface errors and hardware issues - the layer where troubleshooting most often starts and ends.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423</a:t>
            </a:r>
          </a:p>
        </p:txBody>
      </p:sp>
    </p:spTree>
  </p:cSld>
  <p:clrMapOvr>
    <a:masterClrMapping/>
  </p:clrMapOvr>
  <p:transition spd="fast" advClick="1">
    <p:fade/>
  </p:transition>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5.2 · CABLING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Incorrect Cable 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Wrong Cat rating</a:t>
            </a:r>
          </a:p>
          <a:p>
            <a:pPr algn="l">
              <a:spcAft>
                <a:spcPts val="300"/>
              </a:spcAft>
            </a:pPr>
            <a:r>
              <a:rPr sz="1200" b="0">
                <a:solidFill>
                  <a:srgbClr val="5B6372"/>
                </a:solidFill>
                <a:latin typeface="Arial"/>
              </a:rPr>
              <a:t>Cat 5e on a 10G link negotiates down or throws errors - match the category to the speed and the run length.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UTP where STP is needed</a:t>
            </a:r>
          </a:p>
          <a:p>
            <a:pPr algn="l">
              <a:spcAft>
                <a:spcPts val="300"/>
              </a:spcAft>
            </a:pPr>
            <a:r>
              <a:rPr sz="1200" b="0">
                <a:solidFill>
                  <a:srgbClr val="5B6372"/>
                </a:solidFill>
                <a:latin typeface="Arial"/>
              </a:rPr>
              <a:t>Unshielded cable beside motors, lifts or fluorescent ballasts picks up EMI - shielded (STP) or a new path fixes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Single-mode vs multimode</a:t>
            </a:r>
          </a:p>
          <a:p>
            <a:pPr algn="l">
              <a:spcAft>
                <a:spcPts val="300"/>
              </a:spcAft>
            </a:pPr>
            <a:r>
              <a:rPr sz="1200" b="0">
                <a:solidFill>
                  <a:srgbClr val="5B6372"/>
                </a:solidFill>
                <a:latin typeface="Arial"/>
              </a:rPr>
              <a:t>SMF (yellow, laser, long haul) and MMF (aqua/orange, short haul) do not mix - and neither do their transceivers.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TX/RX transposed</a:t>
            </a:r>
          </a:p>
          <a:p>
            <a:pPr algn="l">
              <a:spcAft>
                <a:spcPts val="300"/>
              </a:spcAft>
            </a:pPr>
            <a:r>
              <a:rPr sz="1200" b="0">
                <a:solidFill>
                  <a:srgbClr val="5B6372"/>
                </a:solidFill>
                <a:latin typeface="Arial"/>
              </a:rPr>
              <a:t>Fibre pair crossed at one end: both link lights stay dark. Flip the pair at ONE end only.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Copper vs fibre reach</a:t>
            </a:r>
          </a:p>
          <a:p>
            <a:pPr algn="l">
              <a:spcAft>
                <a:spcPts val="300"/>
              </a:spcAft>
            </a:pPr>
            <a:r>
              <a:rPr sz="1200" b="0">
                <a:solidFill>
                  <a:srgbClr val="5B6372"/>
                </a:solidFill>
                <a:latin typeface="Arial"/>
              </a:rPr>
              <a:t>UTP tops out at 100 m per horizontal run (EIA/TIA allows 90 m + patch); beyond that use fibre or add a switch.</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jacket tells a story</a:t>
            </a:r>
          </a:p>
          <a:p>
            <a:pPr algn="l">
              <a:spcAft>
                <a:spcPts val="300"/>
              </a:spcAft>
            </a:pPr>
            <a:r>
              <a:rPr sz="1200" b="0">
                <a:solidFill>
                  <a:srgbClr val="5B6372"/>
                </a:solidFill>
                <a:latin typeface="Arial"/>
              </a:rPr>
              <a:t>Read the print on the cable jacket - Cat level, shielding and plenum rating are all written on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424</a:t>
            </a:r>
          </a:p>
        </p:txBody>
      </p:sp>
    </p:spTree>
  </p:cSld>
  <p:clrMapOvr>
    <a:masterClrMapping/>
  </p:clrMapOvr>
  <p:transition spd="fast" advClick="1">
    <p:fade/>
  </p:transition>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5.2 · CABLING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Signal Degradation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Attenuation</a:t>
            </a:r>
          </a:p>
          <a:p>
            <a:pPr algn="l">
              <a:spcAft>
                <a:spcPts val="300"/>
              </a:spcAft>
            </a:pPr>
            <a:r>
              <a:rPr sz="1200" b="0">
                <a:solidFill>
                  <a:srgbClr val="5B6372"/>
                </a:solidFill>
                <a:latin typeface="Arial"/>
              </a:rPr>
              <a:t>Signal weakens with distance - runs past spec show as errors and negotiated-down speeds, worst at higher frequencies.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Crosstalk</a:t>
            </a:r>
          </a:p>
          <a:p>
            <a:pPr algn="l">
              <a:spcAft>
                <a:spcPts val="300"/>
              </a:spcAft>
            </a:pPr>
            <a:r>
              <a:rPr sz="1200" b="0">
                <a:solidFill>
                  <a:srgbClr val="5B6372"/>
                </a:solidFill>
                <a:latin typeface="Arial"/>
              </a:rPr>
              <a:t>Signal bleeding between pairs, usually from sloppy termination - pairs untwisted too far at the plug.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NEXT and FEXT</a:t>
            </a:r>
          </a:p>
          <a:p>
            <a:pPr algn="l">
              <a:spcAft>
                <a:spcPts val="300"/>
              </a:spcAft>
            </a:pPr>
            <a:r>
              <a:rPr sz="1200" b="0">
                <a:solidFill>
                  <a:srgbClr val="5B6372"/>
                </a:solidFill>
                <a:latin typeface="Arial"/>
              </a:rPr>
              <a:t>Near-end crosstalk is measured at the transmitter end, far-end at the receiver - certifiers report both in dB.</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EMI / interference</a:t>
            </a:r>
          </a:p>
          <a:p>
            <a:pPr algn="l">
              <a:spcAft>
                <a:spcPts val="300"/>
              </a:spcAft>
            </a:pPr>
            <a:r>
              <a:rPr sz="1200" b="0">
                <a:solidFill>
                  <a:srgbClr val="5B6372"/>
                </a:solidFill>
                <a:latin typeface="Arial"/>
              </a:rPr>
              <a:t>Motors, HVAC, power runs and fluorescent lighting induce noise into copper - reroute the cable or shield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dB loss on fibre</a:t>
            </a:r>
          </a:p>
          <a:p>
            <a:pPr algn="l">
              <a:spcAft>
                <a:spcPts val="300"/>
              </a:spcAft>
            </a:pPr>
            <a:r>
              <a:rPr sz="1200" b="0">
                <a:solidFill>
                  <a:srgbClr val="5B6372"/>
                </a:solidFill>
                <a:latin typeface="Arial"/>
              </a:rPr>
              <a:t>Dirty connectors, tight bends and bad splices eat the optical budget - measure with an optical power meter.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symptom pattern</a:t>
            </a:r>
          </a:p>
          <a:p>
            <a:pPr algn="l">
              <a:spcAft>
                <a:spcPts val="300"/>
              </a:spcAft>
            </a:pPr>
            <a:r>
              <a:rPr sz="1200" b="0">
                <a:solidFill>
                  <a:srgbClr val="5B6372"/>
                </a:solidFill>
                <a:latin typeface="Arial"/>
              </a:rPr>
              <a:t>Degradation rarely kills a link outright - it shows as CRC errors, retransmissions and 'slow' complaints.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425</a:t>
            </a:r>
          </a:p>
        </p:txBody>
      </p:sp>
    </p:spTree>
  </p:cSld>
  <p:clrMapOvr>
    <a:masterClrMapping/>
  </p:clrMapOvr>
  <p:transition spd="fast" advClick="1">
    <p:fade/>
  </p:transition>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5.2 · CABLING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Improper Termination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T568A/B mixed ends</a:t>
            </a:r>
          </a:p>
          <a:p>
            <a:pPr algn="l">
              <a:spcAft>
                <a:spcPts val="300"/>
              </a:spcAft>
            </a:pPr>
            <a:r>
              <a:rPr sz="1200" b="0">
                <a:solidFill>
                  <a:srgbClr val="5B6372"/>
                </a:solidFill>
                <a:latin typeface="Arial"/>
              </a:rPr>
              <a:t>One end A, the other B makes an accidental crossover - modern MDI-X often saves you, but certifiers flag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Split pairs</a:t>
            </a:r>
          </a:p>
          <a:p>
            <a:pPr algn="l">
              <a:spcAft>
                <a:spcPts val="300"/>
              </a:spcAft>
            </a:pPr>
            <a:r>
              <a:rPr sz="1200" b="0">
                <a:solidFill>
                  <a:srgbClr val="5B6372"/>
                </a:solidFill>
                <a:latin typeface="Arial"/>
              </a:rPr>
              <a:t>Wires landed so a circuit uses conductors from two different twisted pairs - passes continuity, fails at speed.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Untwisted too far</a:t>
            </a:r>
          </a:p>
          <a:p>
            <a:pPr algn="l">
              <a:spcAft>
                <a:spcPts val="300"/>
              </a:spcAft>
            </a:pPr>
            <a:r>
              <a:rPr sz="1200" b="0">
                <a:solidFill>
                  <a:srgbClr val="5B6372"/>
                </a:solidFill>
                <a:latin typeface="Arial"/>
              </a:rPr>
              <a:t>More than ~13 mm untwisted at the punch-down or plug invites crosstalk - re-twist and re-terminate.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Bad punch-down / loose IDC</a:t>
            </a:r>
          </a:p>
          <a:p>
            <a:pPr algn="l">
              <a:spcAft>
                <a:spcPts val="300"/>
              </a:spcAft>
            </a:pPr>
            <a:r>
              <a:rPr sz="1200" b="0">
                <a:solidFill>
                  <a:srgbClr val="5B6372"/>
                </a:solidFill>
                <a:latin typeface="Arial"/>
              </a:rPr>
              <a:t>Half-seated conductors at the patch panel work intermittently - the classic 'wiggle the cable' fault.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Damaged RJ45 latch</a:t>
            </a:r>
          </a:p>
          <a:p>
            <a:pPr algn="l">
              <a:spcAft>
                <a:spcPts val="300"/>
              </a:spcAft>
            </a:pPr>
            <a:r>
              <a:rPr sz="1200" b="0">
                <a:solidFill>
                  <a:srgbClr val="5B6372"/>
                </a:solidFill>
                <a:latin typeface="Arial"/>
              </a:rPr>
              <a:t>A broken retention clip lets the plug back out of the jack - the link drops when anyone touches the desk.</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426</a:t>
            </a:r>
          </a:p>
        </p:txBody>
      </p:sp>
    </p:spTree>
  </p:cSld>
  <p:clrMapOvr>
    <a:masterClrMapping/>
  </p:clrMapOvr>
  <p:transition spd="fast" advClick="1">
    <p:fade/>
  </p:transition>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5.2 · CABLING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Cable Faults vs Tester Results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Fault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Wiremap / tester shows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Typical cause</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Open</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Pin fails continuity</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Break or unpunched conductor</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Short</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Two pins joined</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Crushed jacket, stray strand</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Split pair</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Map OK, NEXT fails</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Pairs mis-landed on pins</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Reversed pair</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Pair order flipped</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A/B mix at one end</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Crossed pairs</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1-2 swapped with 3-6</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Crossover lead in the run</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Excess length</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Run over 90-100 m</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TDR shows distance vs spec</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Wiremap finds opens, shorts and miswires; a TDR adds the distance to the fault.</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427</a:t>
            </a:r>
          </a:p>
        </p:txBody>
      </p:sp>
    </p:spTree>
  </p:cSld>
  <p:clrMapOvr>
    <a:masterClrMapping/>
  </p:clrMapOvr>
  <p:transition spd="fast" advClick="1">
    <p:fade/>
  </p:transition>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Cable Test Instruments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Cable tester / wiremap</a:t>
            </a:r>
          </a:p>
          <a:p>
            <a:pPr algn="l">
              <a:spcAft>
                <a:spcPts val="300"/>
              </a:spcAft>
            </a:pPr>
            <a:r>
              <a:rPr sz="1200" b="0">
                <a:solidFill>
                  <a:srgbClr val="5B6372"/>
                </a:solidFill>
                <a:latin typeface="Arial"/>
              </a:rPr>
              <a:t>Confirms each of the 8 pins lands on the right pin at the far end and continuity exists - first tool on any drop.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Continuity test</a:t>
            </a:r>
          </a:p>
          <a:p>
            <a:pPr algn="l">
              <a:spcAft>
                <a:spcPts val="300"/>
              </a:spcAft>
            </a:pPr>
            <a:r>
              <a:rPr sz="1200" b="0">
                <a:solidFill>
                  <a:srgbClr val="5B6372"/>
                </a:solidFill>
                <a:latin typeface="Arial"/>
              </a:rPr>
              <a:t>Shows whether the conductor is broken anywhere along the run - a pass means the copper path is complete.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TDR</a:t>
            </a:r>
          </a:p>
          <a:p>
            <a:pPr algn="l">
              <a:spcAft>
                <a:spcPts val="300"/>
              </a:spcAft>
            </a:pPr>
            <a:r>
              <a:rPr sz="1200" b="0">
                <a:solidFill>
                  <a:srgbClr val="5B6372"/>
                </a:solidFill>
                <a:latin typeface="Arial"/>
              </a:rPr>
              <a:t>Time domain reflectometer - fires a pulse and times the echo to report cable length and the distance to a break.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OTDR</a:t>
            </a:r>
          </a:p>
          <a:p>
            <a:pPr algn="l">
              <a:spcAft>
                <a:spcPts val="300"/>
              </a:spcAft>
            </a:pPr>
            <a:r>
              <a:rPr sz="1200" b="0">
                <a:solidFill>
                  <a:srgbClr val="5B6372"/>
                </a:solidFill>
                <a:latin typeface="Arial"/>
              </a:rPr>
              <a:t>The optical TDR for fibre - locates breaks, bad splices and dirty connectors along a fibre run.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Cable certifier</a:t>
            </a:r>
          </a:p>
          <a:p>
            <a:pPr algn="l">
              <a:spcAft>
                <a:spcPts val="300"/>
              </a:spcAft>
            </a:pPr>
            <a:r>
              <a:rPr sz="1200" b="0">
                <a:solidFill>
                  <a:srgbClr val="5B6372"/>
                </a:solidFill>
                <a:latin typeface="Arial"/>
              </a:rPr>
              <a:t>Measures NEXT/FEXT, attenuation and return loss against the Cat spec - proves a run earns its rating.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Optical power meter</a:t>
            </a:r>
          </a:p>
          <a:p>
            <a:pPr algn="l">
              <a:spcAft>
                <a:spcPts val="300"/>
              </a:spcAft>
            </a:pPr>
            <a:r>
              <a:rPr sz="1200" b="0">
                <a:solidFill>
                  <a:srgbClr val="5B6372"/>
                </a:solidFill>
                <a:latin typeface="Arial"/>
              </a:rPr>
              <a:t>Measures received light in dBm - the tool for weak-signal and dirty-connector fibre faults.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428</a:t>
            </a:r>
          </a:p>
        </p:txBody>
      </p:sp>
    </p:spTree>
  </p:cSld>
  <p:clrMapOvr>
    <a:masterClrMapping/>
  </p:clrMapOvr>
  <p:transition spd="fast" advClick="1">
    <p:fade/>
  </p:transition>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Locating and Verifying: Toner, Loopback, Multimeter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Tone generator</a:t>
            </a:r>
          </a:p>
          <a:p>
            <a:pPr algn="l">
              <a:spcAft>
                <a:spcPts val="300"/>
              </a:spcAft>
            </a:pPr>
            <a:r>
              <a:rPr sz="1200" b="0">
                <a:solidFill>
                  <a:srgbClr val="5B6372"/>
                </a:solidFill>
                <a:latin typeface="Arial"/>
              </a:rPr>
              <a:t>Injects a signal onto a pair at one end - the 'Fox' of the classic Fox &amp; Hound pair.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Tone probe</a:t>
            </a:r>
          </a:p>
          <a:p>
            <a:pPr algn="l">
              <a:spcAft>
                <a:spcPts val="300"/>
              </a:spcAft>
            </a:pPr>
            <a:r>
              <a:rPr sz="1200" b="0">
                <a:solidFill>
                  <a:srgbClr val="5B6372"/>
                </a:solidFill>
                <a:latin typeface="Arial"/>
              </a:rPr>
              <a:t>Held near cables, it sings when it finds the toned pair - traces unlabeled runs through walls and bundles.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Loopback plug</a:t>
            </a:r>
          </a:p>
          <a:p>
            <a:pPr algn="l">
              <a:spcAft>
                <a:spcPts val="300"/>
              </a:spcAft>
            </a:pPr>
            <a:r>
              <a:rPr sz="1200" b="0">
                <a:solidFill>
                  <a:srgbClr val="5B6372"/>
                </a:solidFill>
                <a:latin typeface="Arial"/>
              </a:rPr>
              <a:t>Loops TX back to RX so a NIC or switch port tests its own send/receive path in isolation.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Loopback address</a:t>
            </a:r>
          </a:p>
          <a:p>
            <a:pPr algn="l">
              <a:spcAft>
                <a:spcPts val="300"/>
              </a:spcAft>
            </a:pPr>
            <a:r>
              <a:rPr sz="1200" b="0">
                <a:solidFill>
                  <a:srgbClr val="5B6372"/>
                </a:solidFill>
                <a:latin typeface="Arial"/>
              </a:rPr>
              <a:t>127.0.0.1 (::1 in IPv6) tests the local IP stack with no cable at all - can this host even talk to itself?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Multimeter</a:t>
            </a:r>
          </a:p>
          <a:p>
            <a:pPr algn="l">
              <a:spcAft>
                <a:spcPts val="300"/>
              </a:spcAft>
            </a:pPr>
            <a:r>
              <a:rPr sz="1200" b="0">
                <a:solidFill>
                  <a:srgbClr val="5B6372"/>
                </a:solidFill>
                <a:latin typeface="Arial"/>
              </a:rPr>
              <a:t>Voltage, current, resistance and continuity - the tool for PoE voltage checks and suspect power.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Voltage monitor / UPS</a:t>
            </a:r>
          </a:p>
          <a:p>
            <a:pPr algn="l">
              <a:spcAft>
                <a:spcPts val="300"/>
              </a:spcAft>
            </a:pPr>
            <a:r>
              <a:rPr sz="1200" b="0">
                <a:solidFill>
                  <a:srgbClr val="5B6372"/>
                </a:solidFill>
                <a:latin typeface="Arial"/>
              </a:rPr>
              <a:t>Logs sags and drops in supply power - unexplained rack reboots are a power problem until proven otherwise.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429</a:t>
            </a:r>
          </a:p>
        </p:txBody>
      </p:sp>
    </p:spTree>
  </p:cSld>
  <p:clrMapOvr>
    <a:masterClrMapping/>
  </p:clrMapOvr>
  <p:transition spd="fast" advClick="1">
    <p:fade/>
  </p:transition>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5.2 · INTERFACES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Port Status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Status</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Meaning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Your move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up / up</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Admin up, carrier present</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Healthy - look elsewhere</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up / down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Enabled but no carrier</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Cable, far end, transceiver</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LOWERLAYERDOWN</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Linux: no carrier sensed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Check the physical path</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admin down</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Deliberately disabled</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shutdown / ip link set up</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err-disabled</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Switch shut it on error</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Fix the cause, then re-enable</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err-disabled common causes: port-security violation, BPDU guard, link flapping.</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430</a:t>
            </a:r>
          </a:p>
        </p:txBody>
      </p:sp>
    </p:spTree>
  </p:cSld>
  <p:clrMapOvr>
    <a:masterClrMapping/>
  </p:clrMapOvr>
  <p:transition spd="fast" advClick="1">
    <p:fade/>
  </p:transition>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5.2 · INTERFACES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Interface Error Counters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CRC errors</a:t>
            </a:r>
          </a:p>
          <a:p>
            <a:pPr algn="l">
              <a:spcAft>
                <a:spcPts val="300"/>
              </a:spcAft>
            </a:pPr>
            <a:r>
              <a:rPr sz="1200" b="0">
                <a:solidFill>
                  <a:srgbClr val="5B6372"/>
                </a:solidFill>
                <a:latin typeface="Arial"/>
              </a:rPr>
              <a:t>Frames that fail the checksum - bad cable, noise or duplex mismatch; any steadily climbing count is a fault.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Runts</a:t>
            </a:r>
          </a:p>
          <a:p>
            <a:pPr algn="l">
              <a:spcAft>
                <a:spcPts val="300"/>
              </a:spcAft>
            </a:pPr>
            <a:r>
              <a:rPr sz="1200" b="0">
                <a:solidFill>
                  <a:srgbClr val="5B6372"/>
                </a:solidFill>
                <a:latin typeface="Arial"/>
              </a:rPr>
              <a:t>Frames under 64 bytes, usually collision fragments - the classic signature of a duplex mismatch.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Giants</a:t>
            </a:r>
          </a:p>
          <a:p>
            <a:pPr algn="l">
              <a:spcAft>
                <a:spcPts val="300"/>
              </a:spcAft>
            </a:pPr>
            <a:r>
              <a:rPr sz="1200" b="0">
                <a:solidFill>
                  <a:srgbClr val="5B6372"/>
                </a:solidFill>
                <a:latin typeface="Arial"/>
              </a:rPr>
              <a:t>Frames over the MTU - typically an MTU or jumbo-frame mismatch between devices.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Drops / discards</a:t>
            </a:r>
          </a:p>
          <a:p>
            <a:pPr algn="l">
              <a:spcAft>
                <a:spcPts val="300"/>
              </a:spcAft>
            </a:pPr>
            <a:r>
              <a:rPr sz="1200" b="0">
                <a:solidFill>
                  <a:srgbClr val="5B6372"/>
                </a:solidFill>
                <a:latin typeface="Arial"/>
              </a:rPr>
              <a:t>The device threw frames away - buffers full (congestion) or frames it could not process.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Duplex mismatch</a:t>
            </a:r>
          </a:p>
          <a:p>
            <a:pPr algn="l">
              <a:spcAft>
                <a:spcPts val="300"/>
              </a:spcAft>
            </a:pPr>
            <a:r>
              <a:rPr sz="1200" b="0">
                <a:solidFill>
                  <a:srgbClr val="5B6372"/>
                </a:solidFill>
                <a:latin typeface="Arial"/>
              </a:rPr>
              <a:t>One side full, one side half: link stays up but collisions, CRCs and runts soar under load - forced-speed misconfig is the usual cause.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Read the DELTA</a:t>
            </a:r>
          </a:p>
          <a:p>
            <a:pPr algn="l">
              <a:spcAft>
                <a:spcPts val="300"/>
              </a:spcAft>
            </a:pPr>
            <a:r>
              <a:rPr sz="1200" b="0">
                <a:solidFill>
                  <a:srgbClr val="5B6372"/>
                </a:solidFill>
                <a:latin typeface="Arial"/>
              </a:rPr>
              <a:t>Absolute counts mean little - clear or note the counters, wait, re-read; the growth rate convicts.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431</a:t>
            </a:r>
          </a:p>
        </p:txBody>
      </p:sp>
    </p:spTree>
  </p:cSld>
  <p:clrMapOvr>
    <a:masterClrMapping/>
  </p:clrMapOvr>
  <p:transition spd="fast" advClick="1">
    <p:fade/>
  </p:transition>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5.2 · INTERFACES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an ethtool Counter Dump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Lab 28's core skill: convict a bad link from its counters.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ethtool eth0 | grep -E 'Speed|Duplex|Link'</a:t>
            </a:r>
          </a:p>
          <a:p>
            <a:pPr>
              <a:spcAft>
                <a:spcPts val="200"/>
              </a:spcAft>
            </a:pPr>
            <a:r>
              <a:rPr sz="1100">
                <a:solidFill>
                  <a:srgbClr val="9CDCFE"/>
                </a:solidFill>
                <a:latin typeface="Consolas"/>
              </a:rPr>
              <a:t>        Speed: 1000Mb/s</a:t>
            </a:r>
          </a:p>
          <a:p>
            <a:pPr>
              <a:spcAft>
                <a:spcPts val="200"/>
              </a:spcAft>
            </a:pPr>
            <a:r>
              <a:rPr sz="1100">
                <a:solidFill>
                  <a:srgbClr val="9CDCFE"/>
                </a:solidFill>
                <a:latin typeface="Consolas"/>
              </a:rPr>
              <a:t>        Duplex: Half</a:t>
            </a:r>
          </a:p>
          <a:p>
            <a:pPr>
              <a:spcAft>
                <a:spcPts val="200"/>
              </a:spcAft>
            </a:pPr>
            <a:r>
              <a:rPr sz="1100">
                <a:solidFill>
                  <a:srgbClr val="9CDCFE"/>
                </a:solidFill>
                <a:latin typeface="Consolas"/>
              </a:rPr>
              <a:t>        Link detected: yes</a:t>
            </a:r>
          </a:p>
          <a:p>
            <a:pPr>
              <a:spcAft>
                <a:spcPts val="200"/>
              </a:spcAft>
            </a:pPr>
            <a:r>
              <a:rPr sz="1100">
                <a:solidFill>
                  <a:srgbClr val="9CDCFE"/>
                </a:solidFill>
                <a:latin typeface="Consolas"/>
              </a:rPr>
              <a:t>$ ethtool -S eth0 | grep -iE 'crc|err|drop'</a:t>
            </a:r>
          </a:p>
          <a:p>
            <a:pPr>
              <a:spcAft>
                <a:spcPts val="200"/>
              </a:spcAft>
            </a:pPr>
            <a:r>
              <a:rPr sz="1100">
                <a:solidFill>
                  <a:srgbClr val="9CDCFE"/>
                </a:solidFill>
                <a:latin typeface="Consolas"/>
              </a:rPr>
              <a:t>     rx_crc_errors: 18201</a:t>
            </a:r>
          </a:p>
          <a:p>
            <a:pPr>
              <a:spcAft>
                <a:spcPts val="200"/>
              </a:spcAft>
            </a:pPr>
            <a:r>
              <a:rPr sz="1100">
                <a:solidFill>
                  <a:srgbClr val="9CDCFE"/>
                </a:solidFill>
                <a:latin typeface="Consolas"/>
              </a:rPr>
              <a:t>     rx_errors: 18244</a:t>
            </a:r>
          </a:p>
          <a:p>
            <a:pPr>
              <a:spcAft>
                <a:spcPts val="200"/>
              </a:spcAft>
            </a:pPr>
            <a:r>
              <a:rPr sz="1100">
                <a:solidFill>
                  <a:srgbClr val="9CDCFE"/>
                </a:solidFill>
                <a:latin typeface="Consolas"/>
              </a:rPr>
              <a:t>     rx_dropped: 12</a:t>
            </a:r>
          </a:p>
          <a:p>
            <a:pPr>
              <a:spcAft>
                <a:spcPts val="200"/>
              </a:spcAft>
            </a:pPr>
            <a:r>
              <a:rPr sz="1100">
                <a:solidFill>
                  <a:srgbClr val="9CDCFE"/>
                </a:solidFill>
                <a:latin typeface="Consolas"/>
              </a:rPr>
              <a:t>     tx_errors: 0</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HALF DUPLEX</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Gigabit should negotiate full duplex - Half means autoneg failed or one side was forced.</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RX CRC CLIMBING</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18k CRC errors received: corrupt frames arriving - bad cable, noise or that duplex mismatch.</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TX CLEAN</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Zero TX errors - our side sends fine; the fault is inbound: cable, far end or negotiation.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432</a:t>
            </a:r>
          </a:p>
        </p:txBody>
      </p:sp>
    </p:spTree>
  </p:cSld>
  <p:clrMapOvr>
    <a:masterClrMapping/>
  </p:clrMapOvr>
  <p:transition spd="fast" advClick="1">
    <p:fade/>
  </p:transition>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5.2 · HARDWARE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Hardware Issues: PoE and Transceivers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PoE budget exhausted</a:t>
            </a:r>
          </a:p>
          <a:p>
            <a:pPr algn="l">
              <a:spcAft>
                <a:spcPts val="300"/>
              </a:spcAft>
            </a:pPr>
            <a:r>
              <a:rPr sz="1200" b="0">
                <a:solidFill>
                  <a:srgbClr val="5B6372"/>
                </a:solidFill>
                <a:latin typeface="Arial"/>
              </a:rPr>
              <a:t>Every switch has a total PoE wattage; add one camera too many and the newest device simply gets no power.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PoE standard mismatch</a:t>
            </a:r>
          </a:p>
          <a:p>
            <a:pPr algn="l">
              <a:spcAft>
                <a:spcPts val="300"/>
              </a:spcAft>
            </a:pPr>
            <a:r>
              <a:rPr sz="1200" b="0">
                <a:solidFill>
                  <a:srgbClr val="5B6372"/>
                </a:solidFill>
                <a:latin typeface="Arial"/>
              </a:rPr>
              <a:t>802.3af (15.4 W), at/PoE+ (30 W), bt/PoE++ (60-90 W) - a device asking for more than the port class delivers won't boot.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Transceiver mismatch</a:t>
            </a:r>
          </a:p>
          <a:p>
            <a:pPr algn="l">
              <a:spcAft>
                <a:spcPts val="300"/>
              </a:spcAft>
            </a:pPr>
            <a:r>
              <a:rPr sz="1200" b="0">
                <a:solidFill>
                  <a:srgbClr val="5B6372"/>
                </a:solidFill>
                <a:latin typeface="Arial"/>
              </a:rPr>
              <a:t>SFP wavelength, speed and SMF/MMF type must match at BOTH ends - and some switches reject non-vendor optics.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Transceiver signal strength</a:t>
            </a:r>
          </a:p>
          <a:p>
            <a:pPr algn="l">
              <a:spcAft>
                <a:spcPts val="300"/>
              </a:spcAft>
            </a:pPr>
            <a:r>
              <a:rPr sz="1200" b="0">
                <a:solidFill>
                  <a:srgbClr val="5B6372"/>
                </a:solidFill>
                <a:latin typeface="Arial"/>
              </a:rPr>
              <a:t>Read optical RX power via DDM/DOM or a power meter: too low means dirty or bent fibre, too high can saturate the receiver.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Check the power draw</a:t>
            </a:r>
          </a:p>
          <a:p>
            <a:pPr algn="l">
              <a:spcAft>
                <a:spcPts val="300"/>
              </a:spcAft>
            </a:pPr>
            <a:r>
              <a:rPr sz="1200" b="0">
                <a:solidFill>
                  <a:srgbClr val="5B6372"/>
                </a:solidFill>
                <a:latin typeface="Arial"/>
              </a:rPr>
              <a:t>show power inline (or vendor equivalent) lists per-port draw against budget - first stop for a dead PoE device.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433</a:t>
            </a:r>
          </a:p>
        </p:txBody>
      </p:sp>
    </p:spTree>
  </p:cSld>
  <p:clrMapOvr>
    <a:masterClrMapping/>
  </p:clrMapOvr>
  <p:transition spd="fast" advClick="1">
    <p:fade/>
  </p:transition>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5.2 · SCENARIOS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Wired Connection Scenarios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Symptom</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Likely cause and first action</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No link light on NIC or switch</a:t>
            </a:r>
          </a:p>
          <a:p>
            <a:pPr>
              <a:spcAft>
                <a:spcPts val="1000"/>
              </a:spcAft>
            </a:pPr>
            <a:r>
              <a:rPr sz="1600" b="0">
                <a:solidFill>
                  <a:srgbClr val="161B26"/>
                </a:solidFill>
                <a:latin typeface="Arial"/>
              </a:rPr>
              <a:t>•  Link up but slow / errors under load</a:t>
            </a:r>
          </a:p>
          <a:p>
            <a:pPr>
              <a:spcAft>
                <a:spcPts val="1000"/>
              </a:spcAft>
            </a:pPr>
            <a:r>
              <a:rPr sz="1600" b="0">
                <a:solidFill>
                  <a:srgbClr val="161B26"/>
                </a:solidFill>
                <a:latin typeface="Arial"/>
              </a:rPr>
              <a:t>•  VoIP or video is choppy (jitter)</a:t>
            </a:r>
          </a:p>
          <a:p>
            <a:pPr>
              <a:spcAft>
                <a:spcPts val="1000"/>
              </a:spcAft>
            </a:pPr>
            <a:r>
              <a:rPr sz="1600" b="0">
                <a:solidFill>
                  <a:srgbClr val="161B26"/>
                </a:solidFill>
                <a:latin typeface="Arial"/>
              </a:rPr>
              <a:t>•  Works until someone touches the desk</a:t>
            </a:r>
          </a:p>
          <a:p>
            <a:pPr>
              <a:spcAft>
                <a:spcPts val="1000"/>
              </a:spcAft>
            </a:pPr>
            <a:r>
              <a:rPr sz="1600" b="0">
                <a:solidFill>
                  <a:srgbClr val="161B26"/>
                </a:solidFill>
                <a:latin typeface="Arial"/>
              </a:rPr>
              <a:t>•  Switch port LED never blinks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Cable, port or far end - swap one at a time</a:t>
            </a:r>
          </a:p>
          <a:p>
            <a:pPr>
              <a:spcAft>
                <a:spcPts val="1000"/>
              </a:spcAft>
            </a:pPr>
            <a:r>
              <a:rPr sz="1600" b="0">
                <a:solidFill>
                  <a:srgbClr val="161B26"/>
                </a:solidFill>
                <a:latin typeface="Arial"/>
              </a:rPr>
              <a:t>•  Cable spec below network speed - check Cat rating</a:t>
            </a:r>
          </a:p>
          <a:p>
            <a:pPr>
              <a:spcAft>
                <a:spcPts val="1000"/>
              </a:spcAft>
            </a:pPr>
            <a:r>
              <a:rPr sz="1600" b="0">
                <a:solidFill>
                  <a:srgbClr val="161B26"/>
                </a:solidFill>
                <a:latin typeface="Arial"/>
              </a:rPr>
              <a:t>•  Buffer/QoS or increase speed - measure first</a:t>
            </a:r>
          </a:p>
          <a:p>
            <a:pPr>
              <a:spcAft>
                <a:spcPts val="1000"/>
              </a:spcAft>
            </a:pPr>
            <a:r>
              <a:rPr sz="1600" b="0">
                <a:solidFill>
                  <a:srgbClr val="161B26"/>
                </a:solidFill>
                <a:latin typeface="Arial"/>
              </a:rPr>
              <a:t>•  Re-terminate - loose plug or damaged latch</a:t>
            </a:r>
          </a:p>
          <a:p>
            <a:pPr>
              <a:spcAft>
                <a:spcPts val="1000"/>
              </a:spcAft>
            </a:pPr>
            <a:r>
              <a:rPr sz="1600" b="0">
                <a:solidFill>
                  <a:srgbClr val="161B26"/>
                </a:solidFill>
                <a:latin typeface="Arial"/>
              </a:rPr>
              <a:t>•  Try another port; confirm it is not an uplink 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434</a:t>
            </a:r>
          </a:p>
        </p:txBody>
      </p:sp>
    </p:spTree>
  </p:cSld>
  <p:clrMapOvr>
    <a:masterClrMapping/>
  </p:clrMapOvr>
  <p:transition spd="fast" advClick="1">
    <p:fade/>
  </p:transition>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5.2 · SCENARIOS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The Dead Desk 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one desk, no link light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Theory: L1</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patch lead or outlet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swap lead; tone the run</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Fix</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re-terminate wall jack</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Verify + document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label run, note fix</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PATTERN</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Bottom-to-top fits single-user wired faults: cheap L1 tests first, and the toner finds which patch-panel port serves the desk.</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5.0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Layer 1/2 Diagnostics with ip and ethtool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cable and interface faults from link state, speed/duplex and error counters.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Use ip and ethtool on a Killercoda Ubuntu VM to read interface state, verify speed and duplex, hunt CRC and frame error counters, and bounce a NIC to recover the link.</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verified eth0: link state decoded, speed/duplex confirmed and every error counter read and interpreted.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ethtool, iproute2, Killercoda Ubuntu playground</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-brief link shows eth0 UP; ethtool reports Link detected: yes with matching speed/duplex, and you can explain what any non-zero error counter would mean.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436</a:t>
            </a:r>
          </a:p>
        </p:txBody>
      </p:sp>
    </p:spTree>
  </p:cSld>
  <p:clrMapOvr>
    <a:masterClrMapping/>
  </p:clrMapOvr>
  <p:transition spd="fast" advClick="1">
    <p:fade/>
  </p:transition>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ethtool</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Inspect link speed</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ethtool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Read the driver error counters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ethtool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Read kernel-level RX/TX statistics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Note how speed/duplex would be forced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cable and interface faults from link state, speed/duplex and error counters.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Layer 1/2 Diagnostics with ip and ethtool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ip -brief link shows eth0 UP; ethtool reports Link detected: yes with matching speed/duplex, and you can explain what any non-zero error counter would mean.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ethtool: command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apt update &amp;&amp; apt install -y ethtool first.</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State shows LOWERLAYERDOWN</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No carrier - in the real world check the cable/SFP; in the lab bring it up with ip link set eth0 up.</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Counters show no errors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Normal on a clean virtual NIC - the skill is knowing where CRC and frame errors would appear.</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438</a:t>
            </a:r>
          </a:p>
        </p:txBody>
      </p:sp>
    </p:spTree>
  </p:cSld>
  <p:clrMapOvr>
    <a:masterClrMapping/>
  </p:clrMapOvr>
  <p:transition spd="fast" advClick="1">
    <p:fade/>
  </p:transition>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First-Response Command-Line Kit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ping</a:t>
            </a:r>
          </a:p>
          <a:p>
            <a:pPr algn="l">
              <a:spcAft>
                <a:spcPts val="300"/>
              </a:spcAft>
            </a:pPr>
            <a:r>
              <a:rPr sz="1200" b="0">
                <a:solidFill>
                  <a:srgbClr val="5B6372"/>
                </a:solidFill>
                <a:latin typeface="Arial"/>
              </a:rPr>
              <a:t>Sends ICMP echoes to measure reachability, RTT and loss - the baseline for every path complaint.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traceroute / tracert</a:t>
            </a:r>
          </a:p>
          <a:p>
            <a:pPr algn="l">
              <a:spcAft>
                <a:spcPts val="300"/>
              </a:spcAft>
            </a:pPr>
            <a:r>
              <a:rPr sz="1200" b="0">
                <a:solidFill>
                  <a:srgbClr val="5B6372"/>
                </a:solidFill>
                <a:latin typeface="Arial"/>
              </a:rPr>
              <a:t>Linux traceroute = Windows tracert: reveals every L3 hop to the destination and the RTT to each.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pathping</a:t>
            </a:r>
          </a:p>
          <a:p>
            <a:pPr algn="l">
              <a:spcAft>
                <a:spcPts val="300"/>
              </a:spcAft>
            </a:pPr>
            <a:r>
              <a:rPr sz="1200" b="0">
                <a:solidFill>
                  <a:srgbClr val="5B6372"/>
                </a:solidFill>
                <a:latin typeface="Arial"/>
              </a:rPr>
              <a:t>Windows hybrid - traces the path, then pings each hop over time for per-hop loss statistics.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mtr</a:t>
            </a:r>
          </a:p>
          <a:p>
            <a:pPr algn="l">
              <a:spcAft>
                <a:spcPts val="300"/>
              </a:spcAft>
            </a:pPr>
            <a:r>
              <a:rPr sz="1200" b="0">
                <a:solidFill>
                  <a:srgbClr val="5B6372"/>
                </a:solidFill>
                <a:latin typeface="Arial"/>
              </a:rPr>
              <a:t>Live traceroute + ping combined; its Loss% column shows exactly where loss begins - best first tool for path issues.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nslookup / dig</a:t>
            </a:r>
          </a:p>
          <a:p>
            <a:pPr algn="l">
              <a:spcAft>
                <a:spcPts val="300"/>
              </a:spcAft>
            </a:pPr>
            <a:r>
              <a:rPr sz="1200" b="0">
                <a:solidFill>
                  <a:srgbClr val="5B6372"/>
                </a:solidFill>
                <a:latin typeface="Arial"/>
              </a:rPr>
              <a:t>Query DNS directly, choosing the server, the record type and even the full delegation trace.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Speed testers</a:t>
            </a:r>
          </a:p>
          <a:p>
            <a:pPr algn="l">
              <a:spcAft>
                <a:spcPts val="300"/>
              </a:spcAft>
            </a:pPr>
            <a:r>
              <a:rPr sz="1200" b="0">
                <a:solidFill>
                  <a:srgbClr val="5B6372"/>
                </a:solidFill>
                <a:latin typeface="Arial"/>
              </a:rPr>
              <a:t>Browser or CLI bandwidth tests verify the up/down throughput actually delivered to one machine.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439</a:t>
            </a:r>
          </a:p>
        </p:txBody>
      </p:sp>
    </p:spTree>
  </p:cSld>
  <p:clrMapOvr>
    <a:masterClrMapping/>
  </p:clrMapOvr>
  <p:transition spd="fast" advClick="1">
    <p:fade/>
  </p:transition>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traceroute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Three RTT samples per hop - and the hops that lie.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traceroute 8.8.8.8</a:t>
            </a:r>
          </a:p>
          <a:p>
            <a:pPr>
              <a:spcAft>
                <a:spcPts val="200"/>
              </a:spcAft>
            </a:pPr>
            <a:r>
              <a:rPr sz="1100">
                <a:solidFill>
                  <a:srgbClr val="9CDCFE"/>
                </a:solidFill>
                <a:latin typeface="Consolas"/>
              </a:rPr>
              <a:t> 1  10.0.0.1      0.4 ms  0.3 ms  0.3 ms</a:t>
            </a:r>
          </a:p>
          <a:p>
            <a:pPr>
              <a:spcAft>
                <a:spcPts val="200"/>
              </a:spcAft>
            </a:pPr>
            <a:r>
              <a:rPr sz="1100">
                <a:solidFill>
                  <a:srgbClr val="9CDCFE"/>
                </a:solidFill>
                <a:latin typeface="Consolas"/>
              </a:rPr>
              <a:t> 2  100.64.12.1   2.1 ms  2.4 ms  2.0 ms</a:t>
            </a:r>
          </a:p>
          <a:p>
            <a:pPr>
              <a:spcAft>
                <a:spcPts val="200"/>
              </a:spcAft>
            </a:pPr>
            <a:r>
              <a:rPr sz="1100">
                <a:solidFill>
                  <a:srgbClr val="9CDCFE"/>
                </a:solidFill>
                <a:latin typeface="Consolas"/>
              </a:rPr>
              <a:t> 3  * * *</a:t>
            </a:r>
          </a:p>
          <a:p>
            <a:pPr>
              <a:spcAft>
                <a:spcPts val="200"/>
              </a:spcAft>
            </a:pPr>
            <a:r>
              <a:rPr sz="1100">
                <a:solidFill>
                  <a:srgbClr val="9CDCFE"/>
                </a:solidFill>
                <a:latin typeface="Consolas"/>
              </a:rPr>
              <a:t> 4  72.14.204.9   8.9 ms  9.2 ms  8.8 ms</a:t>
            </a:r>
          </a:p>
          <a:p>
            <a:pPr>
              <a:spcAft>
                <a:spcPts val="200"/>
              </a:spcAft>
            </a:pPr>
            <a:r>
              <a:rPr sz="1100">
                <a:solidFill>
                  <a:srgbClr val="9CDCFE"/>
                </a:solidFill>
                <a:latin typeface="Consolas"/>
              </a:rPr>
              <a:t> 5  dns.google    9.0 ms  8.9 ms  9.1 ms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HOP = ROUTER</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Each line is one L3 hop; the three columns are three RTT samples to that router.</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 * * AT HOP 3</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That router won't answer probes - filtered, not broken: hops 4 and 5 still respond.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WHERE LATENCY JUMPS</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jump persisting to the last hop marks the slow segment; on one hop only it is rate-limiting.</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440</a:t>
            </a:r>
          </a:p>
        </p:txBody>
      </p:sp>
    </p:spTree>
  </p:cSld>
  <p:clrMapOvr>
    <a:masterClrMapping/>
  </p:clrMapOvr>
  <p:transition spd="fast" advClick="1">
    <p:fade/>
  </p:transition>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Traceroute Gotchas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 * * is usually fine</a:t>
            </a:r>
          </a:p>
          <a:p>
            <a:pPr algn="l">
              <a:spcAft>
                <a:spcPts val="300"/>
              </a:spcAft>
            </a:pPr>
            <a:r>
              <a:rPr sz="1200" b="0">
                <a:solidFill>
                  <a:srgbClr val="5B6372"/>
                </a:solidFill>
                <a:latin typeface="Arial"/>
              </a:rPr>
              <a:t>Routers deprioritise or drop probe replies - only worry when every hop after it also fails.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ICMP is deprioritised</a:t>
            </a:r>
          </a:p>
          <a:p>
            <a:pPr algn="l">
              <a:spcAft>
                <a:spcPts val="300"/>
              </a:spcAft>
            </a:pPr>
            <a:r>
              <a:rPr sz="1200" b="0">
                <a:solidFill>
                  <a:srgbClr val="5B6372"/>
                </a:solidFill>
                <a:latin typeface="Arial"/>
              </a:rPr>
              <a:t>Routers answer probes on the slow CPU path while real transit is forwarded in hardware - hop RTTs exaggerate.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TCP traceroute</a:t>
            </a:r>
          </a:p>
          <a:p>
            <a:pPr algn="l">
              <a:spcAft>
                <a:spcPts val="300"/>
              </a:spcAft>
            </a:pPr>
            <a:r>
              <a:rPr sz="1200" b="0">
                <a:solidFill>
                  <a:srgbClr val="5B6372"/>
                </a:solidFill>
                <a:latin typeface="Arial"/>
              </a:rPr>
              <a:t>traceroute -T -p 443 uses TCP SYN probes that pass firewalls blocking ICMP or UDP probes.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Windows vs Linux probes</a:t>
            </a:r>
          </a:p>
          <a:p>
            <a:pPr algn="l">
              <a:spcAft>
                <a:spcPts val="300"/>
              </a:spcAft>
            </a:pPr>
            <a:r>
              <a:rPr sz="1200" b="0">
                <a:solidFill>
                  <a:srgbClr val="5B6372"/>
                </a:solidFill>
                <a:latin typeface="Arial"/>
              </a:rPr>
              <a:t>tracert uses ICMP echoes; Linux traceroute defaults to UDP - a firewall may pass one and block the other.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Paths change mid-trace</a:t>
            </a:r>
          </a:p>
          <a:p>
            <a:pPr algn="l">
              <a:spcAft>
                <a:spcPts val="300"/>
              </a:spcAft>
            </a:pPr>
            <a:r>
              <a:rPr sz="1200" b="0">
                <a:solidFill>
                  <a:srgbClr val="5B6372"/>
                </a:solidFill>
                <a:latin typeface="Arial"/>
              </a:rPr>
              <a:t>ECMP load balancing can split probes across paths - mtr gives a steadier per-hop view.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return path is invisible</a:t>
            </a:r>
          </a:p>
          <a:p>
            <a:pPr algn="l">
              <a:spcAft>
                <a:spcPts val="300"/>
              </a:spcAft>
            </a:pPr>
            <a:r>
              <a:rPr sz="1200" b="0">
                <a:solidFill>
                  <a:srgbClr val="5B6372"/>
                </a:solidFill>
                <a:latin typeface="Arial"/>
              </a:rPr>
              <a:t>You see the outbound path only - the reply may come back a different way (asymmetric routing).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441</a:t>
            </a:r>
          </a:p>
        </p:txBody>
      </p:sp>
    </p:spTree>
  </p:cSld>
  <p:clrMapOvr>
    <a:masterClrMapping/>
  </p:clrMapOvr>
  <p:transition spd="fast" advClick="1">
    <p:fade/>
  </p:transition>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an mtr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mtr -rwc 20 sends 20 cycles and prints per-hop loss.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mtr -rwc 20 8.8.8.8</a:t>
            </a:r>
          </a:p>
          <a:p>
            <a:pPr>
              <a:spcAft>
                <a:spcPts val="200"/>
              </a:spcAft>
            </a:pPr>
            <a:r>
              <a:rPr sz="1100">
                <a:solidFill>
                  <a:srgbClr val="9CDCFE"/>
                </a:solidFill>
                <a:latin typeface="Consolas"/>
              </a:rPr>
              <a:t>HOST                Loss%   Snt   Avg  Wrst</a:t>
            </a:r>
          </a:p>
          <a:p>
            <a:pPr>
              <a:spcAft>
                <a:spcPts val="200"/>
              </a:spcAft>
            </a:pPr>
            <a:r>
              <a:rPr sz="1100">
                <a:solidFill>
                  <a:srgbClr val="9CDCFE"/>
                </a:solidFill>
                <a:latin typeface="Consolas"/>
              </a:rPr>
              <a:t>1. 10.0.0.1          0.0%    20   0.4   1.1</a:t>
            </a:r>
          </a:p>
          <a:p>
            <a:pPr>
              <a:spcAft>
                <a:spcPts val="200"/>
              </a:spcAft>
            </a:pPr>
            <a:r>
              <a:rPr sz="1100">
                <a:solidFill>
                  <a:srgbClr val="9CDCFE"/>
                </a:solidFill>
                <a:latin typeface="Consolas"/>
              </a:rPr>
              <a:t>2. isp-core-rtr     60.0%    20   2.2   3.7</a:t>
            </a:r>
          </a:p>
          <a:p>
            <a:pPr>
              <a:spcAft>
                <a:spcPts val="200"/>
              </a:spcAft>
            </a:pPr>
            <a:r>
              <a:rPr sz="1100">
                <a:solidFill>
                  <a:srgbClr val="9CDCFE"/>
                </a:solidFill>
                <a:latin typeface="Consolas"/>
              </a:rPr>
              <a:t>3. 72.14.212.1       0.0%    20   8.7  11.9</a:t>
            </a:r>
          </a:p>
          <a:p>
            <a:pPr>
              <a:spcAft>
                <a:spcPts val="200"/>
              </a:spcAft>
            </a:pPr>
            <a:r>
              <a:rPr sz="1100">
                <a:solidFill>
                  <a:srgbClr val="9CDCFE"/>
                </a:solidFill>
                <a:latin typeface="Consolas"/>
              </a:rPr>
              <a:t>4. dns.google        0.0%    20   9.0  11.4</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60% AT HOP 2</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Looks alarming - but hops 3 and 4 show 0% loss, so transit THROUGH hop 2 is fine.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RATE-LIMITING</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Hop 2 rate-limits its own ICMP replies. Real loss persists on every hop below it.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REAL LOSS</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Loss beginning at hop N and continuing to the final hop - report that segment to its owner.</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442</a:t>
            </a:r>
          </a:p>
        </p:txBody>
      </p:sp>
    </p:spTree>
  </p:cSld>
  <p:clrMapOvr>
    <a:masterClrMapping/>
  </p:clrMapOvr>
  <p:transition spd="fast" advClick="1">
    <p:fade/>
  </p:transition>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Is That Packet Loss Real?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mtr shows loss at one hop.
Does the loss persist to the final hop?</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real loss</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path drops packets from that hop onward - localise the segment and engage its owner (ISP or WAN provider) with the mtr report.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cosmetic</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That single router is rate-limiting ICMP replies while forwarding fine - transit is unaffected; do not chase it.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Only loss that continues all the way down the report is service-affecting.</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443</a:t>
            </a:r>
          </a:p>
        </p:txBody>
      </p:sp>
    </p:spTree>
  </p:cSld>
  <p:clrMapOvr>
    <a:masterClrMapping/>
  </p:clrMapOvr>
  <p:transition spd="fast" advClick="1">
    <p:fade/>
  </p:transition>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5.1 · METHOD APPLIED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The Whole Office Is Slow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all users, started 2pm</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Theory</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WAN congestion (L3)</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mtr: loss at ISP hop</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Fix / escalate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ticket with mtr report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Verify</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loss clears, RTT normal</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PATTERN</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Whole-site symptoms point at shared links - measure first, because carriers act on an mtr report, not on 'it feels slow'.</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5.0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Reachability with ping, traceroute and mtr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Localise latency and packet loss along a network path with ping, traceroute and mtr.</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Baseline RTT and loss with ping, expose every L3 hop with traceroute, combine both views in a 20-cycle mtr report, then bypass ICMP filters with a TCP traceroute on port 443.</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mtr loss report for 8.8.8.8 and a TCP traceroute that passes firewalls which block ICMP.</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iputils-ping, traceroute, mtr-tiny</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ping reports 0% loss, traceroute lists each hop with three RTT samples, and the mtr report shows 0.0% loss on the final hop.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445</a:t>
            </a:r>
          </a:p>
        </p:txBody>
      </p:sp>
    </p:spTree>
  </p:cSld>
  <p:clrMapOvr>
    <a:masterClrMapping/>
  </p:clrMapOvr>
  <p:transition spd="fast" advClick="1">
    <p:fade/>
  </p:transition>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the tools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Baseline RTT and loss with ping</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ping · step 2</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Trace the hop-by-hop path</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traceroute · step 3</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Read the Loss% column - find where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Use TCP traceroute where ICMP is</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traceroute · step 6</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Localise latency and packet loss along a network path with ping, traceroute and mtr.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Reachability with ping, traceroute and mtr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ping reports 0% loss, traceroute lists each hop with three RTT samples, and the mtr report shows 0.0% loss on the final hop.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traceroute prints * * *</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That hop drops ICMP/UDP probes - usually filtered, not broken; try traceroute -T -p 443 instead.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mtr: command not found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Install the report-mode build with apt install -y mtr-tiny.</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Loss shown on one middle hop only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ICMP rate-limiting on that router - only loss persisting to the final hop is real.</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447</a:t>
            </a:r>
          </a:p>
        </p:txBody>
      </p:sp>
    </p:spTree>
  </p:cSld>
  <p:clrMapOvr>
    <a:masterClrMapping/>
  </p:clrMapOvr>
  <p:transition spd="fast" advClick="1">
    <p:fade/>
  </p:transition>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5.3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Troubleshooting Basics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with an IP, not a name</a:t>
            </a:r>
          </a:p>
          <a:p>
            <a:pPr algn="l">
              <a:spcAft>
                <a:spcPts val="300"/>
              </a:spcAft>
            </a:pPr>
            <a:r>
              <a:rPr sz="1200" b="0">
                <a:solidFill>
                  <a:srgbClr val="5B6372"/>
                </a:solidFill>
                <a:latin typeface="Arial"/>
              </a:rPr>
              <a:t>If the site loads by IP address while the name fails, connectivity is fine - the fault is DNS.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Find the configured resolver</a:t>
            </a:r>
          </a:p>
          <a:p>
            <a:pPr algn="l">
              <a:spcAft>
                <a:spcPts val="300"/>
              </a:spcAft>
            </a:pPr>
            <a:r>
              <a:rPr sz="1200" b="0">
                <a:solidFill>
                  <a:srgbClr val="5B6372"/>
                </a:solidFill>
                <a:latin typeface="Arial"/>
              </a:rPr>
              <a:t>Linux: cat /etc/resolv.conf or resolvectl status; Windows: ipconfig /all - know WHO you are asking.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Flush the cache</a:t>
            </a:r>
          </a:p>
          <a:p>
            <a:pPr algn="l">
              <a:spcAft>
                <a:spcPts val="300"/>
              </a:spcAft>
            </a:pPr>
            <a:r>
              <a:rPr sz="1200" b="0">
                <a:solidFill>
                  <a:srgbClr val="5B6372"/>
                </a:solidFill>
                <a:latin typeface="Arial"/>
              </a:rPr>
              <a:t>ipconfig /flushdns (Windows) or resolvectl flush-caches (Linux) clears poisoned or stale answers.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Query a server directly</a:t>
            </a:r>
          </a:p>
          <a:p>
            <a:pPr algn="l">
              <a:spcAft>
                <a:spcPts val="300"/>
              </a:spcAft>
            </a:pPr>
            <a:r>
              <a:rPr sz="1200" b="0">
                <a:solidFill>
                  <a:srgbClr val="5B6372"/>
                </a:solidFill>
                <a:latin typeface="Arial"/>
              </a:rPr>
              <a:t>dig @1.1.1.1 name or nslookup name 8.8.8.8 bypasses the local resolver to isolate which side is broken.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Compare two resolvers</a:t>
            </a:r>
          </a:p>
          <a:p>
            <a:pPr algn="l">
              <a:spcAft>
                <a:spcPts val="300"/>
              </a:spcAft>
            </a:pPr>
            <a:r>
              <a:rPr sz="1200" b="0">
                <a:solidFill>
                  <a:srgbClr val="5B6372"/>
                </a:solidFill>
                <a:latin typeface="Arial"/>
              </a:rPr>
              <a:t>Same name, two servers: one NXDOMAIN and one answer convicts the failing resolver, not the domain.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Check the record, not just the name</a:t>
            </a:r>
          </a:p>
          <a:p>
            <a:pPr algn="l">
              <a:spcAft>
                <a:spcPts val="300"/>
              </a:spcAft>
            </a:pPr>
            <a:r>
              <a:rPr sz="1200" b="0">
                <a:solidFill>
                  <a:srgbClr val="5B6372"/>
                </a:solidFill>
                <a:latin typeface="Arial"/>
              </a:rPr>
              <a:t>Wrong or stale A/AAAA/CNAME records resolve 'successfully' to the wrong place - read the answer.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448</a:t>
            </a:r>
          </a:p>
        </p:txBody>
      </p:sp>
    </p:spTree>
  </p:cSld>
  <p:clrMapOvr>
    <a:masterClrMapping/>
  </p:clrMapOvr>
  <p:transition spd="fast" advClick="1">
    <p:fade/>
  </p:transition>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5.3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Decoding DNS Response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Status</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Meaning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Likely cause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NOERROR</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Query answered</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Healthy (still read the answer!)</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NXDOMAIN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Name does not exist</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Typo, expired or missing record</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SERVFAIL</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Server-side failure</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DNSSEC failure, broken zone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REFUSED</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Server will not answer</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ACL - you are not its client</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Timeout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response at all</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Wrong server IP, port 53 blocked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dig prints the status in its header line: -&gt;&gt;HEADER&lt;&lt;- opcode: QUERY, status: NXDOMAIN</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449</a:t>
            </a:r>
          </a:p>
        </p:txBody>
      </p:sp>
    </p:spTree>
  </p:cSld>
  <p:clrMapOvr>
    <a:masterClrMapping/>
  </p:clrMapOvr>
  <p:transition spd="fast" advClick="1">
    <p:fade/>
  </p:transition>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5.3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Walking the Hierarchy with dig +trace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+trace resolves from the root down, showing each delegation.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dig +trace example.com</a:t>
            </a:r>
          </a:p>
          <a:p>
            <a:pPr>
              <a:spcAft>
                <a:spcPts val="200"/>
              </a:spcAft>
            </a:pPr>
            <a:r>
              <a:rPr sz="1100">
                <a:solidFill>
                  <a:srgbClr val="9CDCFE"/>
                </a:solidFill>
                <a:latin typeface="Consolas"/>
              </a:rPr>
              <a:t>.             NS   a.root-servers.net.</a:t>
            </a:r>
          </a:p>
          <a:p>
            <a:pPr>
              <a:spcAft>
                <a:spcPts val="200"/>
              </a:spcAft>
            </a:pPr>
            <a:r>
              <a:rPr sz="1100">
                <a:solidFill>
                  <a:srgbClr val="9CDCFE"/>
                </a:solidFill>
                <a:latin typeface="Consolas"/>
              </a:rPr>
              <a:t>com.          NS   a.gtld-servers.net.</a:t>
            </a:r>
          </a:p>
          <a:p>
            <a:pPr>
              <a:spcAft>
                <a:spcPts val="200"/>
              </a:spcAft>
            </a:pPr>
            <a:r>
              <a:rPr sz="1100">
                <a:solidFill>
                  <a:srgbClr val="9CDCFE"/>
                </a:solidFill>
                <a:latin typeface="Consolas"/>
              </a:rPr>
              <a:t>example.com.  NS   a.iana-servers.net.</a:t>
            </a:r>
          </a:p>
          <a:p>
            <a:pPr>
              <a:spcAft>
                <a:spcPts val="200"/>
              </a:spcAft>
            </a:pPr>
            <a:r>
              <a:rPr sz="1100">
                <a:solidFill>
                  <a:srgbClr val="9CDCFE"/>
                </a:solidFill>
                <a:latin typeface="Consolas"/>
              </a:rPr>
              <a:t>example.com.  A    96.7.128.175</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ROOT HANDS OFF</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root servers do not know example.com - they delegate to the .com TLD servers.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TLD DELEGATES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.com servers point at the domain's authoritative servers - the zone's real home.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WHERE IT BREAKS</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last successful delegation shows which level failed - registrar, zone or record.</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450</a:t>
            </a:r>
          </a:p>
        </p:txBody>
      </p:sp>
    </p:spTree>
  </p:cSld>
  <p:clrMapOvr>
    <a:masterClrMapping/>
  </p:clrMapOvr>
  <p:transition spd="fast" advClick="1">
    <p:fade/>
  </p:transition>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5.3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Client-Side vs Server-Side DNS Faults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Client side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Server side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Wrong DNS server configured (DHCP or static)</a:t>
            </a:r>
          </a:p>
          <a:p>
            <a:pPr>
              <a:spcAft>
                <a:spcPts val="1000"/>
              </a:spcAft>
            </a:pPr>
            <a:r>
              <a:rPr sz="1600" b="0">
                <a:solidFill>
                  <a:srgbClr val="161B26"/>
                </a:solidFill>
                <a:latin typeface="Arial"/>
              </a:rPr>
              <a:t>•  Stale cache - flush and retry</a:t>
            </a:r>
          </a:p>
          <a:p>
            <a:pPr>
              <a:spcAft>
                <a:spcPts val="1000"/>
              </a:spcAft>
            </a:pPr>
            <a:r>
              <a:rPr sz="1600" b="0">
                <a:solidFill>
                  <a:srgbClr val="161B26"/>
                </a:solidFill>
                <a:latin typeface="Arial"/>
              </a:rPr>
              <a:t>•  Search suffix appending the wrong zone</a:t>
            </a:r>
          </a:p>
          <a:p>
            <a:pPr>
              <a:spcAft>
                <a:spcPts val="1000"/>
              </a:spcAft>
            </a:pPr>
            <a:r>
              <a:rPr sz="1600" b="0">
                <a:solidFill>
                  <a:srgbClr val="161B26"/>
                </a:solidFill>
                <a:latin typeface="Arial"/>
              </a:rPr>
              <a:t>•  hosts file override hijacking the name</a:t>
            </a:r>
          </a:p>
          <a:p>
            <a:pPr>
              <a:spcAft>
                <a:spcPts val="1000"/>
              </a:spcAft>
            </a:pPr>
            <a:r>
              <a:rPr sz="1600" b="0">
                <a:solidFill>
                  <a:srgbClr val="161B26"/>
                </a:solidFill>
                <a:latin typeface="Arial"/>
              </a:rPr>
              <a:t>•  VPN swapping the resolver silently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Zone expired or misloaded (SERVFAIL)</a:t>
            </a:r>
          </a:p>
          <a:p>
            <a:pPr>
              <a:spcAft>
                <a:spcPts val="1000"/>
              </a:spcAft>
            </a:pPr>
            <a:r>
              <a:rPr sz="1600" b="0">
                <a:solidFill>
                  <a:srgbClr val="161B26"/>
                </a:solidFill>
                <a:latin typeface="Arial"/>
              </a:rPr>
              <a:t>•  Missing or wrong A, AAAA or CNAME record</a:t>
            </a:r>
          </a:p>
          <a:p>
            <a:pPr>
              <a:spcAft>
                <a:spcPts val="1000"/>
              </a:spcAft>
            </a:pPr>
            <a:r>
              <a:rPr sz="1600" b="0">
                <a:solidFill>
                  <a:srgbClr val="161B26"/>
                </a:solidFill>
                <a:latin typeface="Arial"/>
              </a:rPr>
              <a:t>•  DNSSEC validation failure upstream</a:t>
            </a:r>
          </a:p>
          <a:p>
            <a:pPr>
              <a:spcAft>
                <a:spcPts val="1000"/>
              </a:spcAft>
            </a:pPr>
            <a:r>
              <a:rPr sz="1600" b="0">
                <a:solidFill>
                  <a:srgbClr val="161B26"/>
                </a:solidFill>
                <a:latin typeface="Arial"/>
              </a:rPr>
              <a:t>•  Forwarder or recursion broken</a:t>
            </a:r>
          </a:p>
          <a:p>
            <a:pPr>
              <a:spcAft>
                <a:spcPts val="1000"/>
              </a:spcAft>
            </a:pPr>
            <a:r>
              <a:rPr sz="1600" b="0">
                <a:solidFill>
                  <a:srgbClr val="161B26"/>
                </a:solidFill>
                <a:latin typeface="Arial"/>
              </a:rPr>
              <a:t>•  ACL refusing your source (REFUSED)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451</a:t>
            </a:r>
          </a:p>
        </p:txBody>
      </p:sp>
    </p:spTree>
  </p:cSld>
  <p:clrMapOvr>
    <a:masterClrMapping/>
  </p:clrMapOvr>
  <p:transition spd="fast" advClick="1">
    <p:fade/>
  </p:transition>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5.3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'The Site Is Down' - But Is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name fails, IP works</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Theory</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DNS, not the network</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dig both resolvers</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Fix</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correct resolver IP</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Verify</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name resolves; document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PATTERN</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IP-vs-name test splits the universe in one move: if the IP works, stop blaming the network and interrogate DNS.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5.0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Troubleshooting with dig and resolvectl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Isolate DNS faults by comparing resolvers, tracing delegation and reading response codes.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Identify which resolver the system really uses, compare answers from 1.1.1.1 and 8.8.8.8, walk the delegation chain with dig +trace, time a lookup and flush the systemd-resolved cache.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decoded dig +trace delegation chain plus a flushed resolver cache and the NXDOMAIN/SERVFAIL/REFUSED decode.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dnsutils (dig), systemd-resolved (resolvectl)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dig +short returns the same A record from both resolvers, +trace shows root -&gt; .com -&gt; authoritative delegation, and resolvectl statistics resets after the flush.</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453</a:t>
            </a:r>
          </a:p>
        </p:txBody>
      </p:sp>
    </p:spTree>
  </p:cSld>
  <p:clrMapOvr>
    <a:masterClrMapping/>
  </p:clrMapOvr>
  <p:transition spd="fast" advClick="1">
    <p:fade/>
  </p:transition>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dnsutils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Confirm which resolver the system is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cat · step 2</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Compare two upstream resolvers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dig · step 3</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Time a lookup to spot a slow upstream</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time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Flush the cache and confirm the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resolvectl · step 6</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Isolate DNS faults by comparing resolvers, tracing delegation and reading response codes.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Troubleshooting with dig and resolvectl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dig +short returns the same A record from both resolvers, +trace shows root -&gt; .com -&gt; authoritative delegation, and resolvectl statistics resets after the flush.</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resolv.conf points to 127.0.0.53</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Expected - systemd-resolved proxies DNS; use resolvectl status to see the real upstream.</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SERVFAIL from one resolver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Upstream or DNSSEC failure - compare against a second resolver to confirm it is server-side.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dig +trace hangs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Some networks block outbound DNS to the root servers; rerun on the Killercoda VM.</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455</a:t>
            </a:r>
          </a:p>
        </p:txBody>
      </p:sp>
    </p:spTree>
  </p:cSld>
  <p:clrMapOvr>
    <a:masterClrMapping/>
  </p:clrMapOvr>
  <p:transition spd="fast" advClick="1">
    <p:fade/>
  </p:transition>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5.3 · L2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ARP and Neighbour Discovery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ARP does</a:t>
            </a:r>
          </a:p>
          <a:p>
            <a:pPr algn="l">
              <a:spcAft>
                <a:spcPts val="300"/>
              </a:spcAft>
            </a:pPr>
            <a:r>
              <a:rPr sz="1200" b="0">
                <a:solidFill>
                  <a:srgbClr val="5B6372"/>
                </a:solidFill>
                <a:latin typeface="Arial"/>
              </a:rPr>
              <a:t>Maps an IPv4 address to a MAC so frames can be delivered on the local segment - no ARP entry, no delivery.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IPv6 uses NDP</a:t>
            </a:r>
          </a:p>
          <a:p>
            <a:pPr algn="l">
              <a:spcAft>
                <a:spcPts val="300"/>
              </a:spcAft>
            </a:pPr>
            <a:r>
              <a:rPr sz="1200" b="0">
                <a:solidFill>
                  <a:srgbClr val="5B6372"/>
                </a:solidFill>
                <a:latin typeface="Arial"/>
              </a:rPr>
              <a:t>IPv6 replaced ARP with ICMPv6 Neighbour Solicitation/Advertisement - same job, viewed with ip -6 neigh.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REACHABLE / STALE / FAILED</a:t>
            </a:r>
          </a:p>
          <a:p>
            <a:pPr algn="l">
              <a:spcAft>
                <a:spcPts val="300"/>
              </a:spcAft>
            </a:pPr>
            <a:r>
              <a:rPr sz="1200" b="0">
                <a:solidFill>
                  <a:srgbClr val="5B6372"/>
                </a:solidFill>
                <a:latin typeface="Arial"/>
              </a:rPr>
              <a:t>REACHABLE: recently confirmed. STALE: known, unconfirmed. FAILED: no answer - the neighbour is gone or blocked.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arping</a:t>
            </a:r>
          </a:p>
          <a:p>
            <a:pPr algn="l">
              <a:spcAft>
                <a:spcPts val="300"/>
              </a:spcAft>
            </a:pPr>
            <a:r>
              <a:rPr sz="1200" b="0">
                <a:solidFill>
                  <a:srgbClr val="5B6372"/>
                </a:solidFill>
                <a:latin typeface="Arial"/>
              </a:rPr>
              <a:t>Sends real ARP requests to one host - proves L2 adjacency even when ICMP ping is firewalled.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Gratuitous ARP</a:t>
            </a:r>
          </a:p>
          <a:p>
            <a:pPr algn="l">
              <a:spcAft>
                <a:spcPts val="300"/>
              </a:spcAft>
            </a:pPr>
            <a:r>
              <a:rPr sz="1200" b="0">
                <a:solidFill>
                  <a:srgbClr val="5B6372"/>
                </a:solidFill>
                <a:latin typeface="Arial"/>
              </a:rPr>
              <a:t>Unsolicited 'this IP is mine' broadcasts - normal after failover, but also the tool of ARP spoofers.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Flush to reset</a:t>
            </a:r>
          </a:p>
          <a:p>
            <a:pPr algn="l">
              <a:spcAft>
                <a:spcPts val="300"/>
              </a:spcAft>
            </a:pPr>
            <a:r>
              <a:rPr sz="1200" b="0">
                <a:solidFill>
                  <a:srgbClr val="5B6372"/>
                </a:solidFill>
                <a:latin typeface="Arial"/>
              </a:rPr>
              <a:t>ip neigh flush all (or arp -d) clears stale entries - the IP-layer equivalent of bouncing the NIC.</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456</a:t>
            </a:r>
          </a:p>
        </p:txBody>
      </p:sp>
    </p:spTree>
  </p:cSld>
  <p:clrMapOvr>
    <a:masterClrMapping/>
  </p:clrMapOvr>
  <p:transition spd="fast" advClick="1">
    <p:fade/>
  </p:transition>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5.3 · L2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Duplicate IPs and ARP Poisoning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duplicate-IP symptom</a:t>
            </a:r>
          </a:p>
          <a:p>
            <a:pPr algn="l">
              <a:spcAft>
                <a:spcPts val="300"/>
              </a:spcAft>
            </a:pPr>
            <a:r>
              <a:rPr sz="1200" b="0">
                <a:solidFill>
                  <a:srgbClr val="5B6372"/>
                </a:solidFill>
                <a:latin typeface="Arial"/>
              </a:rPr>
              <a:t>Connectivity that flip-flops - works, breaks, works - as two hosts fight over one address in peers' ARP caches.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Where duplicates come from</a:t>
            </a:r>
          </a:p>
          <a:p>
            <a:pPr algn="l">
              <a:spcAft>
                <a:spcPts val="300"/>
              </a:spcAft>
            </a:pPr>
            <a:r>
              <a:rPr sz="1200" b="0">
                <a:solidFill>
                  <a:srgbClr val="5B6372"/>
                </a:solidFill>
                <a:latin typeface="Arial"/>
              </a:rPr>
              <a:t>Static IPs inside a DHCP scope, a cloned VM, or a second DHCP server handing out the same range.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Detect with DAD</a:t>
            </a:r>
          </a:p>
          <a:p>
            <a:pPr algn="l">
              <a:spcAft>
                <a:spcPts val="300"/>
              </a:spcAft>
            </a:pPr>
            <a:r>
              <a:rPr sz="1200" b="0">
                <a:solidFill>
                  <a:srgbClr val="5B6372"/>
                </a:solidFill>
                <a:latin typeface="Arial"/>
              </a:rPr>
              <a:t>arping -D probes your own address - 'address already in use' convicts a duplicate on the segment.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Find the culprit by MAC</a:t>
            </a:r>
          </a:p>
          <a:p>
            <a:pPr algn="l">
              <a:spcAft>
                <a:spcPts val="300"/>
              </a:spcAft>
            </a:pPr>
            <a:r>
              <a:rPr sz="1200" b="0">
                <a:solidFill>
                  <a:srgbClr val="5B6372"/>
                </a:solidFill>
                <a:latin typeface="Arial"/>
              </a:rPr>
              <a:t>The ARP reply carries the offender's MAC - trace it to a switch port via the MAC address table.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ARP poisoning</a:t>
            </a:r>
          </a:p>
          <a:p>
            <a:pPr algn="l">
              <a:spcAft>
                <a:spcPts val="300"/>
              </a:spcAft>
            </a:pPr>
            <a:r>
              <a:rPr sz="1200" b="0">
                <a:solidFill>
                  <a:srgbClr val="5B6372"/>
                </a:solidFill>
                <a:latin typeface="Arial"/>
              </a:rPr>
              <a:t>An attacker answers ARP for the gateway to sit in the middle - defend with dynamic ARP inspection (DAI).</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Pin critical neighbours</a:t>
            </a:r>
          </a:p>
          <a:p>
            <a:pPr algn="l">
              <a:spcAft>
                <a:spcPts val="300"/>
              </a:spcAft>
            </a:pPr>
            <a:r>
              <a:rPr sz="1200" b="0">
                <a:solidFill>
                  <a:srgbClr val="5B6372"/>
                </a:solidFill>
                <a:latin typeface="Arial"/>
              </a:rPr>
              <a:t>A static ARP entry (ip neigh add ... ) locks the gateway or server MAC where poisoning is a real risk.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457</a:t>
            </a:r>
          </a:p>
        </p:txBody>
      </p:sp>
    </p:spTree>
  </p:cSld>
  <p:clrMapOvr>
    <a:masterClrMapping/>
  </p:clrMapOvr>
  <p:transition spd="fast" advClick="1">
    <p:fade/>
  </p:transition>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5.3 · SWITCHING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Switching Issues: Loops, VLANs, ACLs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STP loop symptoms</a:t>
            </a:r>
          </a:p>
          <a:p>
            <a:pPr algn="l">
              <a:spcAft>
                <a:spcPts val="300"/>
              </a:spcAft>
            </a:pPr>
            <a:r>
              <a:rPr sz="1200" b="0">
                <a:solidFill>
                  <a:srgbClr val="5B6372"/>
                </a:solidFill>
                <a:latin typeface="Arial"/>
              </a:rPr>
              <a:t>LED storm on every port, CPU spikes, MAC table churn, whole-segment meltdown - seconds after someone loops a cable.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loops melt networks</a:t>
            </a:r>
          </a:p>
          <a:p>
            <a:pPr algn="l">
              <a:spcAft>
                <a:spcPts val="300"/>
              </a:spcAft>
            </a:pPr>
            <a:r>
              <a:rPr sz="1200" b="0">
                <a:solidFill>
                  <a:srgbClr val="5B6372"/>
                </a:solidFill>
                <a:latin typeface="Arial"/>
              </a:rPr>
              <a:t>Ethernet frames have no TTL - a broadcast circles forever and multiplies at every switch: broadcast storm.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STP blocking surprises</a:t>
            </a:r>
          </a:p>
          <a:p>
            <a:pPr algn="l">
              <a:spcAft>
                <a:spcPts val="300"/>
              </a:spcAft>
            </a:pPr>
            <a:r>
              <a:rPr sz="1200" b="0">
                <a:solidFill>
                  <a:srgbClr val="5B6372"/>
                </a:solidFill>
                <a:latin typeface="Arial"/>
              </a:rPr>
              <a:t>A port stuck in blocking after a topology change - or a cheap unmanaged switch that silently runs no STP at all.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Incorrect VLAN assignment</a:t>
            </a:r>
          </a:p>
          <a:p>
            <a:pPr algn="l">
              <a:spcAft>
                <a:spcPts val="300"/>
              </a:spcAft>
            </a:pPr>
            <a:r>
              <a:rPr sz="1200" b="0">
                <a:solidFill>
                  <a:srgbClr val="5B6372"/>
                </a:solidFill>
                <a:latin typeface="Arial"/>
              </a:rPr>
              <a:t>Port in the wrong VLAN: link up, DHCP answers from the wrong subnet, gateway unreachable - check switchport config.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Trunk / native VLAN mismatch</a:t>
            </a:r>
          </a:p>
          <a:p>
            <a:pPr algn="l">
              <a:spcAft>
                <a:spcPts val="300"/>
              </a:spcAft>
            </a:pPr>
            <a:r>
              <a:rPr sz="1200" b="0">
                <a:solidFill>
                  <a:srgbClr val="5B6372"/>
                </a:solidFill>
                <a:latin typeface="Arial"/>
              </a:rPr>
              <a:t>Mismatched allowed-lists or native VLANs silently drop exactly one VLAN's traffic across a link.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ACLs eating traffic</a:t>
            </a:r>
          </a:p>
          <a:p>
            <a:pPr algn="l">
              <a:spcAft>
                <a:spcPts val="300"/>
              </a:spcAft>
            </a:pPr>
            <a:r>
              <a:rPr sz="1200" b="0">
                <a:solidFill>
                  <a:srgbClr val="5B6372"/>
                </a:solidFill>
                <a:latin typeface="Arial"/>
              </a:rPr>
              <a:t>'Everything works except X between two subnets' is an ACL or firewall rule until proven otherwise - check hit counters.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458</a:t>
            </a:r>
          </a:p>
        </p:txBody>
      </p:sp>
    </p:spTree>
  </p:cSld>
  <p:clrMapOvr>
    <a:masterClrMapping/>
  </p:clrMapOvr>
  <p:transition spd="fast" advClick="1">
    <p:fade/>
  </p:transition>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5.3 · SWITCHING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Layer 2 Faults: Symptom to Check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Fault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Classic symptom</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First check</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Switching loop</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Storm: all LEDs solid, LAN dead</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STP status, recent cabling</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Blocked port</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Uplink idle, path suboptimal</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spanning-tree state per port</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Wrong VLAN</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Link up, DHCP from wrong subnet</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switchport access vlan</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Trunk mismatch</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One VLAN dead across a link</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allowed / native VLAN lists</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Duplicate IP</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Flip-flop reachability</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arping -D, ARP tables</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ACL block</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One app/port pair fails, rest OK</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ACL hit counters</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Link light on + wrong behaviour = think L2: VLANs, STP, ARP - before re-crimping anything.</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459</a:t>
            </a:r>
          </a:p>
        </p:txBody>
      </p:sp>
    </p:spTree>
  </p:cSld>
  <p:clrMapOvr>
    <a:masterClrMapping/>
  </p:clrMapOvr>
  <p:transition spd="fast" advClick="1">
    <p:fade/>
  </p:transition>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5.3 · SWITCHING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New Switch, Network Meltdown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LAN dies at 9:05am</a:t>
            </a:r>
          </a:p>
        </p:txBody>
      </p:sp>
      <p:cxnSp>
        <p:nvCxnSpPr>
          <p:cNvPr id="13" name="Connector 12"/>
          <p:cNvCxnSpPr/>
          <p:nvPr/>
        </p:nvCxnSpPr>
        <p:spPr>
          <a:xfrm>
            <a:off x="2651760"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What changed?</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intern added a switch</a:t>
            </a:r>
          </a:p>
        </p:txBody>
      </p:sp>
      <p:cxnSp>
        <p:nvCxnSpPr>
          <p:cNvPr id="20" name="Connector 19"/>
          <p:cNvCxnSpPr/>
          <p:nvPr/>
        </p:nvCxnSpPr>
        <p:spPr>
          <a:xfrm>
            <a:off x="4855464"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Theory</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loop - no STP on it</a:t>
            </a:r>
          </a:p>
        </p:txBody>
      </p:sp>
      <p:cxnSp>
        <p:nvCxnSpPr>
          <p:cNvPr id="27" name="Connector 26"/>
          <p:cNvCxnSpPr/>
          <p:nvPr/>
        </p:nvCxnSpPr>
        <p:spPr>
          <a:xfrm>
            <a:off x="7059168"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 / fix</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unplug; storm stops</a:t>
            </a:r>
          </a:p>
        </p:txBody>
      </p:sp>
      <p:cxnSp>
        <p:nvCxnSpPr>
          <p:cNvPr id="34" name="Connector 33"/>
          <p:cNvCxnSpPr/>
          <p:nvPr/>
        </p:nvCxnSpPr>
        <p:spPr>
          <a:xfrm>
            <a:off x="9262872"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Prevent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BPDU guard on edge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PATTERN</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'What changed?' solved this in one question - and the preventive step (BPDU guard) is what makes step 6 more than a checkbox.</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5.0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ARP and the IPv6 Neighbour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L2 adjacency problems with ip neigh and arping, including duplicate IP detection.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View and decode neighbour states, probe the default gateway with arping, run duplicate-address detection on your own IP, pin and flush ARP entries, then inspect IPv6 neighbour discovery.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decoded neighbour table with a static entry added and flushed, plus a duplicate-IP probe of your own address.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iputils-arping, iproute2, ndisc6</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neigh shows the gateway REACHABLE after arping, DAD reports no duplicate for your IP, and the static 10.0.0.99 entry appears until the flush removes it.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461</a:t>
            </a:r>
          </a:p>
        </p:txBody>
      </p:sp>
    </p:spTree>
  </p:cSld>
  <p:clrMapOvr>
    <a:masterClrMapping/>
  </p:clrMapOvr>
  <p:transition spd="fast" advClick="1">
    <p:fade/>
  </p:transition>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arping</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Probe the default gateway directly</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arping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Run duplicate address detection on</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arping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Add a static ARP entry and verify it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Inspect IPv6 neighbour discovery</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L2 adjacency problems with ip neigh and arping, including duplicate IP detection.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ARP and the IPv6 Neighbour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ip neigh shows the gateway REACHABLE after arping, DAD reports no duplicate for your IP, and the static 10.0.0.99 entry appears until the flush removes it.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arping: Operation not permitted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ARP probes need raw sockets - run as root (Killercoda terminals already are).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All entries show STALE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Normal - STALE means known but unconfirmed; traffic or arping promotes it to REACHABLE.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DAD says address already in use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Another host claims your IP - a real duplicate-IP incident; hunt it down by its MAC address.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463</a:t>
            </a:r>
          </a:p>
        </p:txBody>
      </p:sp>
    </p:spTree>
  </p:cSld>
  <p:clrMapOvr>
    <a:masterClrMapping/>
  </p:clrMapOvr>
  <p:transition spd="fast" advClick="1">
    <p:fade/>
  </p:transition>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Protocol Analyzers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they do</a:t>
            </a:r>
          </a:p>
          <a:p>
            <a:pPr algn="l">
              <a:spcAft>
                <a:spcPts val="300"/>
              </a:spcAft>
            </a:pPr>
            <a:r>
              <a:rPr sz="1200" b="0">
                <a:solidFill>
                  <a:srgbClr val="5B6372"/>
                </a:solidFill>
                <a:latin typeface="Arial"/>
              </a:rPr>
              <a:t>Capture frames off the wire and decode every layer - the ground truth when ping and traceroute run out of answers.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Wireshark</a:t>
            </a:r>
          </a:p>
          <a:p>
            <a:pPr algn="l">
              <a:spcAft>
                <a:spcPts val="300"/>
              </a:spcAft>
            </a:pPr>
            <a:r>
              <a:rPr sz="1200" b="0">
                <a:solidFill>
                  <a:srgbClr val="5B6372"/>
                </a:solidFill>
                <a:latin typeface="Arial"/>
              </a:rPr>
              <a:t>The GUI analyzer: live capture, colour rules, stream following and per-protocol statistics.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tcpdump</a:t>
            </a:r>
          </a:p>
          <a:p>
            <a:pPr algn="l">
              <a:spcAft>
                <a:spcPts val="300"/>
              </a:spcAft>
            </a:pPr>
            <a:r>
              <a:rPr sz="1200" b="0">
                <a:solidFill>
                  <a:srgbClr val="5B6372"/>
                </a:solidFill>
                <a:latin typeface="Arial"/>
              </a:rPr>
              <a:t>The CLI capture workhorse - runs on servers and routers where no GUI exists; writes .pcap files.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tshark</a:t>
            </a:r>
          </a:p>
          <a:p>
            <a:pPr algn="l">
              <a:spcAft>
                <a:spcPts val="300"/>
              </a:spcAft>
            </a:pPr>
            <a:r>
              <a:rPr sz="1200" b="0">
                <a:solidFill>
                  <a:srgbClr val="5B6372"/>
                </a:solidFill>
                <a:latin typeface="Arial"/>
              </a:rPr>
              <a:t>Wireshark's terminal twin - the same dissectors and display filters, with scriptable field output.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Capture once, analyse anywhere</a:t>
            </a:r>
          </a:p>
          <a:p>
            <a:pPr algn="l">
              <a:spcAft>
                <a:spcPts val="300"/>
              </a:spcAft>
            </a:pPr>
            <a:r>
              <a:rPr sz="1200" b="0">
                <a:solidFill>
                  <a:srgbClr val="5B6372"/>
                </a:solidFill>
                <a:latin typeface="Arial"/>
              </a:rPr>
              <a:t>Write to .pcap with tcpdump -w, then open the same file in Wireshark, tshark or a web analyzer.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Port mirroring / TAP</a:t>
            </a:r>
          </a:p>
          <a:p>
            <a:pPr algn="l">
              <a:spcAft>
                <a:spcPts val="300"/>
              </a:spcAft>
            </a:pPr>
            <a:r>
              <a:rPr sz="1200" b="0">
                <a:solidFill>
                  <a:srgbClr val="5B6372"/>
                </a:solidFill>
                <a:latin typeface="Arial"/>
              </a:rPr>
              <a:t>To see OTHER hosts' traffic you need a SPAN/mirror port or a hardware TAP - switches don't flood unicast to you.</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464</a:t>
            </a:r>
          </a:p>
        </p:txBody>
      </p:sp>
    </p:spTree>
  </p:cSld>
  <p:clrMapOvr>
    <a:masterClrMapping/>
  </p:clrMapOvr>
  <p:transition spd="fast" advClick="1">
    <p:fade/>
  </p:transition>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Capture Filter vs Display Filter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Capture filter (BPF)</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Display filter</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Applied WHILE capturing - packets never stored</a:t>
            </a:r>
          </a:p>
          <a:p>
            <a:pPr>
              <a:spcAft>
                <a:spcPts val="1000"/>
              </a:spcAft>
            </a:pPr>
            <a:r>
              <a:rPr sz="1600" b="0">
                <a:solidFill>
                  <a:srgbClr val="161B26"/>
                </a:solidFill>
                <a:latin typeface="Arial"/>
              </a:rPr>
              <a:t>•  Syntax: 'udp port 53 and host 10.0.0.5'</a:t>
            </a:r>
          </a:p>
          <a:p>
            <a:pPr>
              <a:spcAft>
                <a:spcPts val="1000"/>
              </a:spcAft>
            </a:pPr>
            <a:r>
              <a:rPr sz="1600" b="0">
                <a:solidFill>
                  <a:srgbClr val="161B26"/>
                </a:solidFill>
                <a:latin typeface="Arial"/>
              </a:rPr>
              <a:t>•  Keeps the .pcap small on busy links</a:t>
            </a:r>
          </a:p>
          <a:p>
            <a:pPr>
              <a:spcAft>
                <a:spcPts val="1000"/>
              </a:spcAft>
            </a:pPr>
            <a:r>
              <a:rPr sz="1600" b="0">
                <a:solidFill>
                  <a:srgbClr val="161B26"/>
                </a:solidFill>
                <a:latin typeface="Arial"/>
              </a:rPr>
              <a:t>•  Cannot be undone - discarded is gone</a:t>
            </a:r>
          </a:p>
          <a:p>
            <a:pPr>
              <a:spcAft>
                <a:spcPts val="1000"/>
              </a:spcAft>
            </a:pPr>
            <a:r>
              <a:rPr sz="1600" b="0">
                <a:solidFill>
                  <a:srgbClr val="161B26"/>
                </a:solidFill>
                <a:latin typeface="Arial"/>
              </a:rPr>
              <a:t>•  Same syntax in tcpdump and Wireshark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Applied AFTER capture - hides, never deletes</a:t>
            </a:r>
          </a:p>
          <a:p>
            <a:pPr>
              <a:spcAft>
                <a:spcPts val="1000"/>
              </a:spcAft>
            </a:pPr>
            <a:r>
              <a:rPr sz="1600" b="0">
                <a:solidFill>
                  <a:srgbClr val="161B26"/>
                </a:solidFill>
                <a:latin typeface="Arial"/>
              </a:rPr>
              <a:t>•  Syntax: dns.flags.response==1</a:t>
            </a:r>
          </a:p>
          <a:p>
            <a:pPr>
              <a:spcAft>
                <a:spcPts val="1000"/>
              </a:spcAft>
            </a:pPr>
            <a:r>
              <a:rPr sz="1600" b="0">
                <a:solidFill>
                  <a:srgbClr val="161B26"/>
                </a:solidFill>
                <a:latin typeface="Arial"/>
              </a:rPr>
              <a:t>•  Change it freely while analysing</a:t>
            </a:r>
          </a:p>
          <a:p>
            <a:pPr>
              <a:spcAft>
                <a:spcPts val="1000"/>
              </a:spcAft>
            </a:pPr>
            <a:r>
              <a:rPr sz="1600" b="0">
                <a:solidFill>
                  <a:srgbClr val="161B26"/>
                </a:solidFill>
                <a:latin typeface="Arial"/>
              </a:rPr>
              <a:t>•  Wireshark GUI and tshark -Y</a:t>
            </a:r>
          </a:p>
          <a:p>
            <a:pPr>
              <a:spcAft>
                <a:spcPts val="1000"/>
              </a:spcAft>
            </a:pPr>
            <a:r>
              <a:rPr sz="1600" b="0">
                <a:solidFill>
                  <a:srgbClr val="161B26"/>
                </a:solidFill>
                <a:latin typeface="Arial"/>
              </a:rPr>
              <a:t>•  The web analyzer's search box works this way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465</a:t>
            </a:r>
          </a:p>
        </p:txBody>
      </p:sp>
    </p:spTree>
  </p:cSld>
  <p:clrMapOvr>
    <a:masterClrMapping/>
  </p:clrMapOvr>
  <p:transition spd="fast" advClick="1">
    <p:fade/>
  </p:transition>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tcpdump 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One DNS query and its reply, decoded field by field.</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tcpdump -nn -r /tmp/dns.pcap | head -4</a:t>
            </a:r>
          </a:p>
          <a:p>
            <a:pPr>
              <a:spcAft>
                <a:spcPts val="200"/>
              </a:spcAft>
            </a:pPr>
            <a:r>
              <a:rPr sz="1100">
                <a:solidFill>
                  <a:srgbClr val="9CDCFE"/>
                </a:solidFill>
                <a:latin typeface="Consolas"/>
              </a:rPr>
              <a:t>12:04:01.123 IP 10.0.0.5.53622 &gt; 1.1.1.1.53:</a:t>
            </a:r>
          </a:p>
          <a:p>
            <a:pPr>
              <a:spcAft>
                <a:spcPts val="200"/>
              </a:spcAft>
            </a:pPr>
            <a:r>
              <a:rPr sz="1100">
                <a:solidFill>
                  <a:srgbClr val="9CDCFE"/>
                </a:solidFill>
                <a:latin typeface="Consolas"/>
              </a:rPr>
              <a:t>    51291+ A? example.com. (29)</a:t>
            </a:r>
          </a:p>
          <a:p>
            <a:pPr>
              <a:spcAft>
                <a:spcPts val="200"/>
              </a:spcAft>
            </a:pPr>
            <a:r>
              <a:rPr sz="1100">
                <a:solidFill>
                  <a:srgbClr val="9CDCFE"/>
                </a:solidFill>
                <a:latin typeface="Consolas"/>
              </a:rPr>
              <a:t>12:04:01.131 IP 1.1.1.1.53 &gt; 10.0.0.5.53622:</a:t>
            </a:r>
          </a:p>
          <a:p>
            <a:pPr>
              <a:spcAft>
                <a:spcPts val="200"/>
              </a:spcAft>
            </a:pPr>
            <a:r>
              <a:rPr sz="1100">
                <a:solidFill>
                  <a:srgbClr val="9CDCFE"/>
                </a:solidFill>
                <a:latin typeface="Consolas"/>
              </a:rPr>
              <a:t>    51291 1/0/0 A 96.7.128.175 (45)</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SRC &gt; DST.PORT</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10.0.0.5 from ephemeral port 53622 to 1.1.1.1 port 53 - client to resolver.</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51291+ A?</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Transaction ID 51291, recursion desired (+), question: the A record for example.com.</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1/0/0 REPLY</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Same ID back: 1 answer, 0 authority, 0 additional - the A record, 8 ms later.</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466</a:t>
            </a:r>
          </a:p>
        </p:txBody>
      </p:sp>
    </p:spTree>
  </p:cSld>
  <p:clrMapOvr>
    <a:masterClrMapping/>
  </p:clrMapOvr>
  <p:transition spd="fast" advClick="1">
    <p:fade/>
  </p:transition>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netstat and ss: Who Is Listening?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they show</a:t>
            </a:r>
          </a:p>
          <a:p>
            <a:pPr algn="l">
              <a:spcAft>
                <a:spcPts val="300"/>
              </a:spcAft>
            </a:pPr>
            <a:r>
              <a:rPr sz="1200" b="0">
                <a:solidFill>
                  <a:srgbClr val="5B6372"/>
                </a:solidFill>
                <a:latin typeface="Arial"/>
              </a:rPr>
              <a:t>Every open port and connection on THIS host - the tool for 'is the service even listening?'.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ss replaces netstat</a:t>
            </a:r>
          </a:p>
          <a:p>
            <a:pPr algn="l">
              <a:spcAft>
                <a:spcPts val="300"/>
              </a:spcAft>
            </a:pPr>
            <a:r>
              <a:rPr sz="1200" b="0">
                <a:solidFill>
                  <a:srgbClr val="5B6372"/>
                </a:solidFill>
                <a:latin typeface="Arial"/>
              </a:rPr>
              <a:t>Modern Linux ships ss; the letters carry over: ss -tlnp = TCP listeners, numeric, with processes.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 numeric</a:t>
            </a:r>
          </a:p>
          <a:p>
            <a:pPr algn="l">
              <a:spcAft>
                <a:spcPts val="300"/>
              </a:spcAft>
            </a:pPr>
            <a:r>
              <a:rPr sz="1200" b="0">
                <a:solidFill>
                  <a:srgbClr val="5B6372"/>
                </a:solidFill>
                <a:latin typeface="Arial"/>
              </a:rPr>
              <a:t>Skip DNS and service-name lookups - faster output and no misleading resolved names.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all / -l listening</a:t>
            </a:r>
          </a:p>
          <a:p>
            <a:pPr algn="l">
              <a:spcAft>
                <a:spcPts val="300"/>
              </a:spcAft>
            </a:pPr>
            <a:r>
              <a:rPr sz="1200" b="0">
                <a:solidFill>
                  <a:srgbClr val="5B6372"/>
                </a:solidFill>
                <a:latin typeface="Arial"/>
              </a:rPr>
              <a:t>-a shows every socket including established connections; -l restricts to listening sockets.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 / -o / -b processes</a:t>
            </a:r>
          </a:p>
          <a:p>
            <a:pPr algn="l">
              <a:spcAft>
                <a:spcPts val="300"/>
              </a:spcAft>
            </a:pPr>
            <a:r>
              <a:rPr sz="1200" b="0">
                <a:solidFill>
                  <a:srgbClr val="5B6372"/>
                </a:solidFill>
                <a:latin typeface="Arial"/>
              </a:rPr>
              <a:t>Which executable and PID own each socket (netstat -b and -o on Windows, ss -p on Linux).</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 routing table</a:t>
            </a:r>
          </a:p>
          <a:p>
            <a:pPr algn="l">
              <a:spcAft>
                <a:spcPts val="300"/>
              </a:spcAft>
            </a:pPr>
            <a:r>
              <a:rPr sz="1200" b="0">
                <a:solidFill>
                  <a:srgbClr val="5B6372"/>
                </a:solidFill>
                <a:latin typeface="Arial"/>
              </a:rPr>
              <a:t>netstat -r prints the local routing table - the same data as ip route or route print.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467</a:t>
            </a:r>
          </a:p>
        </p:txBody>
      </p:sp>
    </p:spTree>
  </p:cSld>
  <p:clrMapOvr>
    <a:masterClrMapping/>
  </p:clrMapOvr>
  <p:transition spd="fast" advClick="1">
    <p:fade/>
  </p:transition>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ss -tlnp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Three listeners - and one classic bind mistake.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ss -tlnp</a:t>
            </a:r>
          </a:p>
          <a:p>
            <a:pPr>
              <a:spcAft>
                <a:spcPts val="200"/>
              </a:spcAft>
            </a:pPr>
            <a:r>
              <a:rPr sz="1100">
                <a:solidFill>
                  <a:srgbClr val="9CDCFE"/>
                </a:solidFill>
                <a:latin typeface="Consolas"/>
              </a:rPr>
              <a:t>State   Local Address:Port    Process</a:t>
            </a:r>
          </a:p>
          <a:p>
            <a:pPr>
              <a:spcAft>
                <a:spcPts val="200"/>
              </a:spcAft>
            </a:pPr>
            <a:r>
              <a:rPr sz="1100">
                <a:solidFill>
                  <a:srgbClr val="9CDCFE"/>
                </a:solidFill>
                <a:latin typeface="Consolas"/>
              </a:rPr>
              <a:t>LISTEN  0.0.0.0:22            sshd</a:t>
            </a:r>
          </a:p>
          <a:p>
            <a:pPr>
              <a:spcAft>
                <a:spcPts val="200"/>
              </a:spcAft>
            </a:pPr>
            <a:r>
              <a:rPr sz="1100">
                <a:solidFill>
                  <a:srgbClr val="9CDCFE"/>
                </a:solidFill>
                <a:latin typeface="Consolas"/>
              </a:rPr>
              <a:t>LISTEN  127.0.0.1:3306        mysqld</a:t>
            </a:r>
          </a:p>
          <a:p>
            <a:pPr>
              <a:spcAft>
                <a:spcPts val="200"/>
              </a:spcAft>
            </a:pPr>
            <a:r>
              <a:rPr sz="1100">
                <a:solidFill>
                  <a:srgbClr val="9CDCFE"/>
                </a:solidFill>
                <a:latin typeface="Consolas"/>
              </a:rPr>
              <a:t>LISTEN  [::]:443              nginx</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0.0.0.0:22</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sshd listens on every IPv4 address - reachable from the network, firewall permitting.</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127.0.0.1:3306</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MySQL bound to loopback ONLY - remote clients get 'connection refused'; that is the bug.</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[::]:443</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nginx on the IPv6 wildcard - on dual-stack hosts this usually accepts IPv4 too.</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468</a:t>
            </a:r>
          </a:p>
        </p:txBody>
      </p:sp>
    </p:spTree>
  </p:cSld>
  <p:clrMapOvr>
    <a:masterClrMapping/>
  </p:clrMapOvr>
  <p:transition spd="fast" advClick="1">
    <p:fade/>
  </p:transition>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Capture Workflow + TIS PCAP Analyzer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Filter tight, capture small</a:t>
            </a:r>
          </a:p>
          <a:p>
            <a:pPr algn="l">
              <a:spcAft>
                <a:spcPts val="300"/>
              </a:spcAft>
            </a:pPr>
            <a:r>
              <a:rPr sz="1200" b="0">
                <a:solidFill>
                  <a:srgbClr val="5B6372"/>
                </a:solidFill>
                <a:latin typeface="Arial"/>
              </a:rPr>
              <a:t>Capture with a BPF filter and -c count so the .pcap holds only the conversation you care about.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Write to .pcap</a:t>
            </a:r>
          </a:p>
          <a:p>
            <a:pPr algn="l">
              <a:spcAft>
                <a:spcPts val="300"/>
              </a:spcAft>
            </a:pPr>
            <a:r>
              <a:rPr sz="1200" b="0">
                <a:solidFill>
                  <a:srgbClr val="5B6372"/>
                </a:solidFill>
                <a:latin typeface="Arial"/>
              </a:rPr>
              <a:t>tcpdump -w capture.pcap keeps the binary packets - analysis can happen later, elsewhere, repeatedly.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First pass with tshark</a:t>
            </a:r>
          </a:p>
          <a:p>
            <a:pPr algn="l">
              <a:spcAft>
                <a:spcPts val="300"/>
              </a:spcAft>
            </a:pPr>
            <a:r>
              <a:rPr sz="1200" b="0">
                <a:solidFill>
                  <a:srgbClr val="5B6372"/>
                </a:solidFill>
                <a:latin typeface="Arial"/>
              </a:rPr>
              <a:t>Pull just the fields you need: -T fields -e dns.qry.name turns packets into a readable table.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Go graphical in the browser</a:t>
            </a:r>
          </a:p>
          <a:p>
            <a:pPr algn="l">
              <a:spcAft>
                <a:spcPts val="300"/>
              </a:spcAft>
            </a:pPr>
            <a:r>
              <a:rPr sz="1200" b="0">
                <a:solidFill>
                  <a:srgbClr val="5B6372"/>
                </a:solidFill>
                <a:latin typeface="Arial"/>
              </a:rPr>
              <a:t>The TIS PCAP Analyzer (alfredang.github.io/pcapanalyzer) opens .pcap files in-browser - no install needed.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Drill into the layers</a:t>
            </a:r>
          </a:p>
          <a:p>
            <a:pPr algn="l">
              <a:spcAft>
                <a:spcPts val="300"/>
              </a:spcAft>
            </a:pPr>
            <a:r>
              <a:rPr sz="1200" b="0">
                <a:solidFill>
                  <a:srgbClr val="5B6372"/>
                </a:solidFill>
                <a:latin typeface="Arial"/>
              </a:rPr>
              <a:t>Expand any packet to walk Ethernet -&gt; IP -&gt; UDP -&gt; DNS - the OSI model made visible.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Search like a display filter</a:t>
            </a:r>
          </a:p>
          <a:p>
            <a:pPr algn="l">
              <a:spcAft>
                <a:spcPts val="300"/>
              </a:spcAft>
            </a:pPr>
            <a:r>
              <a:rPr sz="1200" b="0">
                <a:solidFill>
                  <a:srgbClr val="5B6372"/>
                </a:solidFill>
                <a:latin typeface="Arial"/>
              </a:rPr>
              <a:t>The analyzer's filter box narrows by name or protocol - the same idea as Wireshark's -Y.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469</a:t>
            </a:r>
          </a:p>
        </p:txBody>
      </p:sp>
    </p:spTree>
  </p:cSld>
  <p:clrMapOvr>
    <a:masterClrMapping/>
  </p:clrMapOvr>
  <p:transition spd="fast" advClick="1">
    <p:fade/>
  </p:transition>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5.0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Packet Capture with tcpdump and TIS PCAP Analyzer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Capture DNS traffic to a .pcap and analyse it with tshark and the TIS PCAP Analyzer.</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Capture ten DNS packets with a BPF capture filter, dissect them with tshark display filters, then move the .pcap to your laptop and explore it graphically in the browser-based TIS PCAP Analyzer.</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dns.pcap captured with tcpdump and read three ways: tcpdump summary, tshark fields and the TIS PCAP Analyzer UI.</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tcpdump, tshark, TIS PCAP Analyzer (alfredang.github.io/pcapanalyzer)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TIS PCAP Analyzer shows your three queries with matching responses: each query leaves a high ephemeral source port for destination port 53, and query/response transaction IDs match.</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470</a:t>
            </a:r>
          </a:p>
        </p:txBody>
      </p:sp>
    </p:spTree>
  </p:cSld>
  <p:clrMapOvr>
    <a:masterClrMapping/>
  </p:clrMapOvr>
  <p:transition spd="fast" advClick="1">
    <p:fade/>
  </p:transition>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the capture tools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Generate DNS queries to fill the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for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Show only the response packets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tshark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Base64 the pcap</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base64 · step 7</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Answer the analysis questions</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9 of 9</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Capture DNS traffic to a .pcap and analyse it with tshark and the TIS PCAP Analyzer.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Packet Capture with tcpdump and TIS PCAP Analyzer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TIS PCAP Analyzer shows your three queries with matching responses: each query leaves a high ephemeral source port for destination port 53, and query/response transaction IDs match.</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Capture never reaches 10 packets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Your queries may not match the BPF filter - re-run the dig loop or loosen the filter.</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tshark asks about non-root capture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Answer No for the lab - you are reading files, not capturing as a normal user.</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Analyzer shows no packets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Re-decode the base64 on your laptop (base64 -d dns.pcap.b64 &gt; dns.pcap) and upload again.</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472</a:t>
            </a:r>
          </a:p>
        </p:txBody>
      </p:sp>
    </p:spTree>
  </p:cSld>
  <p:clrMapOvr>
    <a:masterClrMapping/>
  </p:clrMapOvr>
  <p:transition spd="fast" advClick="1">
    <p:fade/>
  </p:transition>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5.4 · MTU &amp; PMTUD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MTU: When Big Packets Vanish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MTU = biggest frame payload</a:t>
            </a:r>
          </a:p>
          <a:p>
            <a:pPr algn="l">
              <a:spcAft>
                <a:spcPts val="300"/>
              </a:spcAft>
            </a:pPr>
            <a:r>
              <a:rPr sz="1200" b="0">
                <a:solidFill>
                  <a:srgbClr val="5B6372"/>
                </a:solidFill>
                <a:latin typeface="Arial"/>
              </a:rPr>
              <a:t>Standard Ethernet carries 1500 bytes of IP packet; tunnels (VPN, GRE, PPPoE) reduce the usable size.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header maths</a:t>
            </a:r>
          </a:p>
          <a:p>
            <a:pPr algn="l">
              <a:spcAft>
                <a:spcPts val="300"/>
              </a:spcAft>
            </a:pPr>
            <a:r>
              <a:rPr sz="1200" b="0">
                <a:solidFill>
                  <a:srgbClr val="5B6372"/>
                </a:solidFill>
                <a:latin typeface="Arial"/>
              </a:rPr>
              <a:t>Payload = MTU - 20 (IP) - 8 (ICMP/UDP) or - 20 (TCP): hence the magic ping size 1472 at MTU 1500.</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DF: Don't Fragment</a:t>
            </a:r>
          </a:p>
          <a:p>
            <a:pPr algn="l">
              <a:spcAft>
                <a:spcPts val="300"/>
              </a:spcAft>
            </a:pPr>
            <a:r>
              <a:rPr sz="1200" b="0">
                <a:solidFill>
                  <a:srgbClr val="5B6372"/>
                </a:solidFill>
                <a:latin typeface="Arial"/>
              </a:rPr>
              <a:t>With DF set, an oversize packet is dropped and the router returns ICMP Type 3 Code 4: Fragmentation Needed.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Path MTU Discovery</a:t>
            </a:r>
          </a:p>
          <a:p>
            <a:pPr algn="l">
              <a:spcAft>
                <a:spcPts val="300"/>
              </a:spcAft>
            </a:pPr>
            <a:r>
              <a:rPr sz="1200" b="0">
                <a:solidFill>
                  <a:srgbClr val="5B6372"/>
                </a:solidFill>
                <a:latin typeface="Arial"/>
              </a:rPr>
              <a:t>Senders probe with DF packets and shrink until they fit - PMTUD depends entirely on those ICMP replies arriving.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Jumbo frames</a:t>
            </a:r>
          </a:p>
          <a:p>
            <a:pPr algn="l">
              <a:spcAft>
                <a:spcPts val="300"/>
              </a:spcAft>
            </a:pPr>
            <a:r>
              <a:rPr sz="1200" b="0">
                <a:solidFill>
                  <a:srgbClr val="5B6372"/>
                </a:solidFill>
                <a:latin typeface="Arial"/>
              </a:rPr>
              <a:t>9000-byte MTUs help storage and backup LANs - but EVERY device on the path must agree, or you manufacture giants.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Mismatch symptoms</a:t>
            </a:r>
          </a:p>
          <a:p>
            <a:pPr algn="l">
              <a:spcAft>
                <a:spcPts val="300"/>
              </a:spcAft>
            </a:pPr>
            <a:r>
              <a:rPr sz="1200" b="0">
                <a:solidFill>
                  <a:srgbClr val="5B6372"/>
                </a:solidFill>
                <a:latin typeface="Arial"/>
              </a:rPr>
              <a:t>Small packets sail through; anything full-size stalls - a signature no other fault quite copies.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473</a:t>
            </a:r>
          </a:p>
        </p:txBody>
      </p:sp>
    </p:spTree>
  </p:cSld>
  <p:clrMapOvr>
    <a:masterClrMapping/>
  </p:clrMapOvr>
  <p:transition spd="fast" advClick="1">
    <p:fade/>
  </p:transition>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5.4 · MTU &amp; PMTUD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Proving the MTU with DF-Bit Pings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Lab 33's probe: -M do forbids fragmentation.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ping -M do -s 1472 -c2 8.8.8.8</a:t>
            </a:r>
          </a:p>
          <a:p>
            <a:pPr>
              <a:spcAft>
                <a:spcPts val="200"/>
              </a:spcAft>
            </a:pPr>
            <a:r>
              <a:rPr sz="1100">
                <a:solidFill>
                  <a:srgbClr val="D4D4D4"/>
                </a:solidFill>
                <a:latin typeface="Consolas"/>
              </a:rPr>
              <a:t>1480 bytes from 8.8.8.8: icmp_seq=1 ttl=118</a:t>
            </a:r>
          </a:p>
          <a:p>
            <a:pPr>
              <a:spcAft>
                <a:spcPts val="200"/>
              </a:spcAft>
            </a:pPr>
            <a:r>
              <a:rPr sz="1100">
                <a:solidFill>
                  <a:srgbClr val="D4D4D4"/>
                </a:solidFill>
                <a:latin typeface="Consolas"/>
              </a:rPr>
              <a:t>1480 bytes from 8.8.8.8: icmp_seq=2 ttl=118</a:t>
            </a:r>
          </a:p>
          <a:p>
            <a:pPr>
              <a:spcAft>
                <a:spcPts val="200"/>
              </a:spcAft>
            </a:pPr>
            <a:r>
              <a:rPr sz="1100">
                <a:solidFill>
                  <a:srgbClr val="9CDCFE"/>
                </a:solidFill>
                <a:latin typeface="Consolas"/>
              </a:rPr>
              <a:t>$ ping -M do -s 1500 -c2 8.8.8.8</a:t>
            </a:r>
          </a:p>
          <a:p>
            <a:pPr>
              <a:spcAft>
                <a:spcPts val="200"/>
              </a:spcAft>
            </a:pPr>
            <a:r>
              <a:rPr sz="1100">
                <a:solidFill>
                  <a:srgbClr val="D4D4D4"/>
                </a:solidFill>
                <a:latin typeface="Consolas"/>
              </a:rPr>
              <a:t>ping: local error: message too long, mtu=1500</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1472 PASSES</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1472 payload + 8 ICMP + 20 IP = exactly 1500 - the largest ping that fits standard Ethernet.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1500 REFUSED</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With DF set the kernel won't fragment - 1500 + 28 exceeds the MTU, so the send fails locally.</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ON A REAL PATH</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mid-path bottleneck would return ICMP Type 3 Code 4 - unless a firewall eats it.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474</a:t>
            </a:r>
          </a:p>
        </p:txBody>
      </p:sp>
    </p:spTree>
  </p:cSld>
  <p:clrMapOvr>
    <a:masterClrMapping/>
  </p:clrMapOvr>
  <p:transition spd="fast" advClick="1">
    <p:fade/>
  </p:transition>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5.4 · MTU &amp; PMTUD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PMTUD Black Hole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Small pings and SSH work.
Do large transfers hang at a fixed point?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suspect MTU</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 firewall is eating the Fragmentation Needed ICMP, so senders never shrink. Test with DF pings; clamp TCP MSS on the router.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not MTU</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 size-independent fault is congestion, loss or the application - go measure with ping and mtr instead.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MSS clamping: iptables -t mangle ... --clamp-mss-to-pmtu rescues TCP through the hole.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475</a:t>
            </a:r>
          </a:p>
        </p:txBody>
      </p:sp>
    </p:spTree>
  </p:cSld>
  <p:clrMapOvr>
    <a:masterClrMapping/>
  </p:clrMapOvr>
  <p:transition spd="fast" advClick="1">
    <p:fade/>
  </p:transition>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5.4 · MTU &amp; PMTUD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Living With Broken PMTUD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classic report</a:t>
            </a:r>
          </a:p>
          <a:p>
            <a:pPr algn="l">
              <a:spcAft>
                <a:spcPts val="300"/>
              </a:spcAft>
            </a:pPr>
            <a:r>
              <a:rPr sz="1200" b="0">
                <a:solidFill>
                  <a:srgbClr val="5B6372"/>
                </a:solidFill>
                <a:latin typeface="Arial"/>
              </a:rPr>
              <a:t>'Web page starts loading then hangs' or 'SSH works, SCP stalls' - the first full-size packet is the one that dies.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ICMP gets blocked</a:t>
            </a:r>
          </a:p>
          <a:p>
            <a:pPr algn="l">
              <a:spcAft>
                <a:spcPts val="300"/>
              </a:spcAft>
            </a:pPr>
            <a:r>
              <a:rPr sz="1200" b="0">
                <a:solidFill>
                  <a:srgbClr val="5B6372"/>
                </a:solidFill>
                <a:latin typeface="Arial"/>
              </a:rPr>
              <a:t>Overzealous firewall policies drop ALL ICMP - killing the Type 3 Code 4 messages PMTUD depends 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MSS clamping</a:t>
            </a:r>
          </a:p>
          <a:p>
            <a:pPr algn="l">
              <a:spcAft>
                <a:spcPts val="300"/>
              </a:spcAft>
            </a:pPr>
            <a:r>
              <a:rPr sz="1200" b="0">
                <a:solidFill>
                  <a:srgbClr val="5B6372"/>
                </a:solidFill>
                <a:latin typeface="Arial"/>
              </a:rPr>
              <a:t>The router rewrites TCP's advertised MSS during the handshake so segments never exceed the path MTU.</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Lower the tunnel MTU</a:t>
            </a:r>
          </a:p>
          <a:p>
            <a:pPr algn="l">
              <a:spcAft>
                <a:spcPts val="300"/>
              </a:spcAft>
            </a:pPr>
            <a:r>
              <a:rPr sz="1200" b="0">
                <a:solidFill>
                  <a:srgbClr val="5B6372"/>
                </a:solidFill>
                <a:latin typeface="Arial"/>
              </a:rPr>
              <a:t>Setting VPN and tunnel interfaces to a matching MTU (e.g. 1400) prevents oversize packets at the source.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Allow the right ICMP</a:t>
            </a:r>
          </a:p>
          <a:p>
            <a:pPr algn="l">
              <a:spcAft>
                <a:spcPts val="300"/>
              </a:spcAft>
            </a:pPr>
            <a:r>
              <a:rPr sz="1200" b="0">
                <a:solidFill>
                  <a:srgbClr val="5B6372"/>
                </a:solidFill>
                <a:latin typeface="Arial"/>
              </a:rPr>
              <a:t>Permit ICMP Type 3 Code 4 - and IPv6 Packet Too Big - through firewalls; PMTUD is mandatory in IPv6.</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476</a:t>
            </a:r>
          </a:p>
        </p:txBody>
      </p:sp>
    </p:spTree>
  </p:cSld>
  <p:clrMapOvr>
    <a:masterClrMapping/>
  </p:clrMapOvr>
  <p:transition spd="fast" advClick="1">
    <p:fade/>
  </p:transition>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5.0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MTU and Path-MTU Discovery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Demonstrate MTU limits with DF-bit pings and explain PMTUD black holes and MSS clamping.</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Compute the ICMP payload maths (MTU minus 28), send Don't-Fragment pings at and over the limit, lower the interface MTU to 1400 and retest both sides of the new limit, then restore 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demonstrated 1472-byte pass / 1500-byte 'message too long' fail, repeated at MTU 1400, and a restored interface.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iputils-ping, iproute2</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1472-byte DF pings succeed at MTU 1500 and 1372-byte pings at MTU 1400, while oversize pings fail with 'message too long' showing the current mtu value.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477</a:t>
            </a:r>
          </a:p>
        </p:txBody>
      </p:sp>
    </p:spTree>
  </p:cSld>
  <p:clrMapOvr>
    <a:masterClrMapping/>
  </p:clrMapOvr>
  <p:transition spd="fast" advClick="1">
    <p:fade/>
  </p:transition>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Check the interface MTU</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Exceed the MTU with DF set and read</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ping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Lower the interface MTU to 1400</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Retest at the new limit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ping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Discuss</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Demonstrate MTU limits with DF-bit pings and explain PMTUD black holes and MSS clamping.</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MTU and Path-MTU Discovery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1472-byte DF pings succeed at MTU 1500 and 1372-byte pings at MTU 1400, while oversize pings fail with 'message too long' showing the current mtu value.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Oversize ping shows no error</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Without -M do the kernel silently fragments - the DF bit is what makes the test honest.</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1472 fails too</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tunnel/VPN lowers the effective path MTU - step the size down (1452, 1420...) until it passes.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Forgot to restore the MTU</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ip link set eth0 mtu 1500 - a lowered MTU otherwise slows every later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479</a:t>
            </a:r>
          </a:p>
        </p:txBody>
      </p:sp>
    </p:spTree>
  </p:cSld>
  <p:clrMapOvr>
    <a:masterClrMapping/>
  </p:clrMapOvr>
  <p:transition spd="fast" advClick="1">
    <p:fade/>
  </p:transition>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5.3 · ROUTING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Table Issues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Missing route</a:t>
            </a:r>
          </a:p>
          <a:p>
            <a:pPr algn="l">
              <a:spcAft>
                <a:spcPts val="300"/>
              </a:spcAft>
            </a:pPr>
            <a:r>
              <a:rPr sz="1200" b="0">
                <a:solidFill>
                  <a:srgbClr val="5B6372"/>
                </a:solidFill>
                <a:latin typeface="Arial"/>
              </a:rPr>
              <a:t>No entry covers the destination and no default exists - traffic dies with 'network unreachable'.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Wrong or missing default route</a:t>
            </a:r>
          </a:p>
          <a:p>
            <a:pPr algn="l">
              <a:spcAft>
                <a:spcPts val="300"/>
              </a:spcAft>
            </a:pPr>
            <a:r>
              <a:rPr sz="1200" b="0">
                <a:solidFill>
                  <a:srgbClr val="5B6372"/>
                </a:solidFill>
                <a:latin typeface="Arial"/>
              </a:rPr>
              <a:t>The gateway of last resort is wrong or absent: local subnets fine, everything beyond them dead.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Wrong next hop</a:t>
            </a:r>
          </a:p>
          <a:p>
            <a:pPr algn="l">
              <a:spcAft>
                <a:spcPts val="300"/>
              </a:spcAft>
            </a:pPr>
            <a:r>
              <a:rPr sz="1200" b="0">
                <a:solidFill>
                  <a:srgbClr val="5B6372"/>
                </a:solidFill>
                <a:latin typeface="Arial"/>
              </a:rPr>
              <a:t>The route exists but points at the wrong router - packets leave, replies never come, or redirects fly.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Longest prefix wins</a:t>
            </a:r>
          </a:p>
          <a:p>
            <a:pPr algn="l">
              <a:spcAft>
                <a:spcPts val="300"/>
              </a:spcAft>
            </a:pPr>
            <a:r>
              <a:rPr sz="1200" b="0">
                <a:solidFill>
                  <a:srgbClr val="5B6372"/>
                </a:solidFill>
                <a:latin typeface="Arial"/>
              </a:rPr>
              <a:t>10.99.0.0/24 beats 10.0.0.0/8 regardless of metric - the most specific route always forwards the packet.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Metric breaks ties</a:t>
            </a:r>
          </a:p>
          <a:p>
            <a:pPr algn="l">
              <a:spcAft>
                <a:spcPts val="300"/>
              </a:spcAft>
            </a:pPr>
            <a:r>
              <a:rPr sz="1200" b="0">
                <a:solidFill>
                  <a:srgbClr val="5B6372"/>
                </a:solidFill>
                <a:latin typeface="Arial"/>
              </a:rPr>
              <a:t>Between equal prefixes the lower metric wins - how floating static and backup routes stay dormant.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ip route get</a:t>
            </a:r>
          </a:p>
          <a:p>
            <a:pPr algn="l">
              <a:spcAft>
                <a:spcPts val="300"/>
              </a:spcAft>
            </a:pPr>
            <a:r>
              <a:rPr sz="1200" b="0">
                <a:solidFill>
                  <a:srgbClr val="5B6372"/>
                </a:solidFill>
                <a:latin typeface="Arial"/>
              </a:rPr>
              <a:t>Ask the kernel directly which route, interface and source IP a destination would use - no guessing.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480</a:t>
            </a:r>
          </a:p>
        </p:txBody>
      </p:sp>
    </p:spTree>
  </p:cSld>
  <p:clrMapOvr>
    <a:masterClrMapping/>
  </p:clrMapOvr>
  <p:transition spd="fast" advClick="1">
    <p:fade/>
  </p:transition>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5.3 · ROUTING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Interrogating the Routing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Lab 34's key move: make the kernel show its choice.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ip route</a:t>
            </a:r>
          </a:p>
          <a:p>
            <a:pPr>
              <a:spcAft>
                <a:spcPts val="200"/>
              </a:spcAft>
            </a:pPr>
            <a:r>
              <a:rPr sz="1100">
                <a:solidFill>
                  <a:srgbClr val="9CDCFE"/>
                </a:solidFill>
                <a:latin typeface="Consolas"/>
              </a:rPr>
              <a:t>default via 172.30.1.1 dev eth0</a:t>
            </a:r>
          </a:p>
          <a:p>
            <a:pPr>
              <a:spcAft>
                <a:spcPts val="200"/>
              </a:spcAft>
            </a:pPr>
            <a:r>
              <a:rPr sz="1100">
                <a:solidFill>
                  <a:srgbClr val="9CDCFE"/>
                </a:solidFill>
                <a:latin typeface="Consolas"/>
              </a:rPr>
              <a:t>10.99.0.0/24 via 172.30.1.1 dev eth0 metric 100</a:t>
            </a:r>
          </a:p>
          <a:p>
            <a:pPr>
              <a:spcAft>
                <a:spcPts val="200"/>
              </a:spcAft>
            </a:pPr>
            <a:r>
              <a:rPr sz="1100">
                <a:solidFill>
                  <a:srgbClr val="9CDCFE"/>
                </a:solidFill>
                <a:latin typeface="Consolas"/>
              </a:rPr>
              <a:t>172.30.1.0/24 dev eth0 src 172.30.1.2</a:t>
            </a:r>
          </a:p>
          <a:p>
            <a:pPr>
              <a:spcAft>
                <a:spcPts val="200"/>
              </a:spcAft>
            </a:pPr>
            <a:r>
              <a:rPr sz="1100">
                <a:solidFill>
                  <a:srgbClr val="9CDCFE"/>
                </a:solidFill>
                <a:latin typeface="Consolas"/>
              </a:rPr>
              <a:t>$ ip route get 10.99.0.5</a:t>
            </a:r>
          </a:p>
          <a:p>
            <a:pPr>
              <a:spcAft>
                <a:spcPts val="200"/>
              </a:spcAft>
            </a:pPr>
            <a:r>
              <a:rPr sz="1100">
                <a:solidFill>
                  <a:srgbClr val="9CDCFE"/>
                </a:solidFill>
                <a:latin typeface="Consolas"/>
              </a:rPr>
              <a:t>10.99.0.5 via 172.30.1.1 dev eth0 src 172.30.1.2</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THREE ROUTE TYPES</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default, a static /24, and a connected route the kernel added for eth0's own subnet.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ROUTE GET = PROOF</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kernel names the winning route, egress interface and source IP for that destination.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LONGEST PREFIX</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10.99.0.5 matches both the /24 and the default - the /24 wins because it is more specific.</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481</a:t>
            </a:r>
          </a:p>
        </p:txBody>
      </p:sp>
    </p:spTree>
  </p:cSld>
  <p:clrMapOvr>
    <a:masterClrMapping/>
  </p:clrMapOvr>
  <p:transition spd="fast" advClick="1">
    <p:fade/>
  </p:transition>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5.3 · ROUTING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Asymmetric Routing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it is</a:t>
            </a:r>
          </a:p>
          <a:p>
            <a:pPr algn="l">
              <a:spcAft>
                <a:spcPts val="300"/>
              </a:spcAft>
            </a:pPr>
            <a:r>
              <a:rPr sz="1200" b="0">
                <a:solidFill>
                  <a:srgbClr val="5B6372"/>
                </a:solidFill>
                <a:latin typeface="Arial"/>
              </a:rPr>
              <a:t>Traffic leaves by one path and returns by another - legal in IP, but stateful middleboxes hate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firewalls break</a:t>
            </a:r>
          </a:p>
          <a:p>
            <a:pPr algn="l">
              <a:spcAft>
                <a:spcPts val="300"/>
              </a:spcAft>
            </a:pPr>
            <a:r>
              <a:rPr sz="1200" b="0">
                <a:solidFill>
                  <a:srgbClr val="5B6372"/>
                </a:solidFill>
                <a:latin typeface="Arial"/>
              </a:rPr>
              <a:t>A stateful firewall that never saw the outbound SYN drops the returning SYN-ACK as unsolicited.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How it happens</a:t>
            </a:r>
          </a:p>
          <a:p>
            <a:pPr algn="l">
              <a:spcAft>
                <a:spcPts val="300"/>
              </a:spcAft>
            </a:pPr>
            <a:r>
              <a:rPr sz="1200" b="0">
                <a:solidFill>
                  <a:srgbClr val="5B6372"/>
                </a:solidFill>
                <a:latin typeface="Arial"/>
              </a:rPr>
              <a:t>Two exits (dual WAN, two routers, ECMP) with inconsistent metrics - or NAT on only one of the paths.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How to spot it</a:t>
            </a:r>
          </a:p>
          <a:p>
            <a:pPr algn="l">
              <a:spcAft>
                <a:spcPts val="300"/>
              </a:spcAft>
            </a:pPr>
            <a:r>
              <a:rPr sz="1200" b="0">
                <a:solidFill>
                  <a:srgbClr val="5B6372"/>
                </a:solidFill>
                <a:latin typeface="Arial"/>
              </a:rPr>
              <a:t>traceroute from BOTH ends and compare; mtr -z shows the AS path, where asymmetry jumps out.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usual fixes</a:t>
            </a:r>
          </a:p>
          <a:p>
            <a:pPr algn="l">
              <a:spcAft>
                <a:spcPts val="300"/>
              </a:spcAft>
            </a:pPr>
            <a:r>
              <a:rPr sz="1200" b="0">
                <a:solidFill>
                  <a:srgbClr val="5B6372"/>
                </a:solidFill>
                <a:latin typeface="Arial"/>
              </a:rPr>
              <a:t>Pin flows to one path with policy routing, sync firewall state, or make the metrics consistent.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482</a:t>
            </a:r>
          </a:p>
        </p:txBody>
      </p:sp>
    </p:spTree>
  </p:cSld>
  <p:clrMapOvr>
    <a:masterClrMapping/>
  </p:clrMapOvr>
  <p:transition spd="fast" advClick="1">
    <p:fade/>
  </p:transition>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5.3 ·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Addressing Faults: Symptom to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Fault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Classic symptom</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Fastest test</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Wrong default gateway</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LAN fine, nothing beyond it</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ping the gw; ip route / ipconfig</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Wrong subnet mask</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SOME hosts unreachable</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compare mask with a peer</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DHCP pool exhausted</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New hosts get 169.254.x.x</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scope stats; lease table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Duplicate IP</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Flip-flop connectivity</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arping -D your own address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Static/DHCP overlap</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Random conflicts appear</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audit static assignments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APIPA 169.254.x.x means 'I asked DHCP and nobody answered' - the client self-assigned.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483</a:t>
            </a:r>
          </a:p>
        </p:txBody>
      </p:sp>
    </p:spTree>
  </p:cSld>
  <p:clrMapOvr>
    <a:masterClrMapping/>
  </p:clrMapOvr>
  <p:transition spd="fast" advClick="1">
    <p:fade/>
  </p:transition>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5.3 · NETWORK SERVICES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DHCP Pool Exhaustion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symptom</a:t>
            </a:r>
          </a:p>
          <a:p>
            <a:pPr algn="l">
              <a:spcAft>
                <a:spcPts val="300"/>
              </a:spcAft>
            </a:pPr>
            <a:r>
              <a:rPr sz="1200" b="0">
                <a:solidFill>
                  <a:srgbClr val="5B6372"/>
                </a:solidFill>
                <a:latin typeface="Arial"/>
              </a:rPr>
              <a:t>New and returning devices fail to join; victims show APIPA 169.254.x.x self-assigned addresses.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pools run dry</a:t>
            </a:r>
          </a:p>
          <a:p>
            <a:pPr algn="l">
              <a:spcAft>
                <a:spcPts val="300"/>
              </a:spcAft>
            </a:pPr>
            <a:r>
              <a:rPr sz="1200" b="0">
                <a:solidFill>
                  <a:srgbClr val="5B6372"/>
                </a:solidFill>
                <a:latin typeface="Arial"/>
              </a:rPr>
              <a:t>A scope sized for desks meets BYOD phones and IoT - every device holds a lease whether active or not.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Long leases make it worse</a:t>
            </a:r>
          </a:p>
          <a:p>
            <a:pPr algn="l">
              <a:spcAft>
                <a:spcPts val="300"/>
              </a:spcAft>
            </a:pPr>
            <a:r>
              <a:rPr sz="1200" b="0">
                <a:solidFill>
                  <a:srgbClr val="5B6372"/>
                </a:solidFill>
                <a:latin typeface="Arial"/>
              </a:rPr>
              <a:t>8-day leases on guest Wi-Fi hold addresses for one-time visitors a week after they left.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Check scope statistics</a:t>
            </a:r>
          </a:p>
          <a:p>
            <a:pPr algn="l">
              <a:spcAft>
                <a:spcPts val="300"/>
              </a:spcAft>
            </a:pPr>
            <a:r>
              <a:rPr sz="1200" b="0">
                <a:solidFill>
                  <a:srgbClr val="5B6372"/>
                </a:solidFill>
                <a:latin typeface="Arial"/>
              </a:rPr>
              <a:t>The DHCP server shows leases used vs available - exhaustion is visible at a glance.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fixes</a:t>
            </a:r>
          </a:p>
          <a:p>
            <a:pPr algn="l">
              <a:spcAft>
                <a:spcPts val="300"/>
              </a:spcAft>
            </a:pPr>
            <a:r>
              <a:rPr sz="1200" b="0">
                <a:solidFill>
                  <a:srgbClr val="5B6372"/>
                </a:solidFill>
                <a:latin typeface="Arial"/>
              </a:rPr>
              <a:t>Shorten lease times, widen the scope, add VLANs with their own scopes, evict statics from the pool.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Rogue DHCP servers</a:t>
            </a:r>
          </a:p>
          <a:p>
            <a:pPr algn="l">
              <a:spcAft>
                <a:spcPts val="300"/>
              </a:spcAft>
            </a:pPr>
            <a:r>
              <a:rPr sz="1200" b="0">
                <a:solidFill>
                  <a:srgbClr val="5B6372"/>
                </a:solidFill>
                <a:latin typeface="Arial"/>
              </a:rPr>
              <a:t>A second, often accidental, DHCP server hands out wrong addresses - DHCP snooping on switches blocks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484</a:t>
            </a:r>
          </a:p>
        </p:txBody>
      </p:sp>
    </p:spTree>
  </p:cSld>
  <p:clrMapOvr>
    <a:masterClrMapping/>
  </p:clrMapOvr>
  <p:transition spd="fast" advClick="1">
    <p:fade/>
  </p:transition>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5.3 · ADDRESSING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Gateway and Mask Misconfigurations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Wrong gateway signature</a:t>
            </a:r>
          </a:p>
          <a:p>
            <a:pPr algn="l">
              <a:spcAft>
                <a:spcPts val="300"/>
              </a:spcAft>
            </a:pPr>
            <a:r>
              <a:rPr sz="1200" b="0">
                <a:solidFill>
                  <a:srgbClr val="5B6372"/>
                </a:solidFill>
                <a:latin typeface="Arial"/>
              </a:rPr>
              <a:t>Everything on the local subnet works; every remote destination fails - off-net traffic has nowhere to go.</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the gateway itself</a:t>
            </a:r>
          </a:p>
          <a:p>
            <a:pPr algn="l">
              <a:spcAft>
                <a:spcPts val="300"/>
              </a:spcAft>
            </a:pPr>
            <a:r>
              <a:rPr sz="1200" b="0">
                <a:solidFill>
                  <a:srgbClr val="5B6372"/>
                </a:solidFill>
                <a:latin typeface="Arial"/>
              </a:rPr>
              <a:t>ping the configured gateway IP: if that fails, check ARP for it; if it works, suspect what lies beyond.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Wrong mask signature</a:t>
            </a:r>
          </a:p>
          <a:p>
            <a:pPr algn="l">
              <a:spcAft>
                <a:spcPts val="300"/>
              </a:spcAft>
            </a:pPr>
            <a:r>
              <a:rPr sz="1200" b="0">
                <a:solidFill>
                  <a:srgbClr val="5B6372"/>
                </a:solidFill>
                <a:latin typeface="Arial"/>
              </a:rPr>
              <a:t>The strangest fault: SOME remote hosts work, some local ones don't - the boundary is drawn in the wrong place.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the mask does that</a:t>
            </a:r>
          </a:p>
          <a:p>
            <a:pPr algn="l">
              <a:spcAft>
                <a:spcPts val="300"/>
              </a:spcAft>
            </a:pPr>
            <a:r>
              <a:rPr sz="1200" b="0">
                <a:solidFill>
                  <a:srgbClr val="5B6372"/>
                </a:solidFill>
                <a:latin typeface="Arial"/>
              </a:rPr>
              <a:t>A too-wide mask claims remote hosts as 'local' (ARPed, never routed); too narrow sends local peers via the gateway.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Compare with a healthy peer</a:t>
            </a:r>
          </a:p>
          <a:p>
            <a:pPr algn="l">
              <a:spcAft>
                <a:spcPts val="300"/>
              </a:spcAft>
            </a:pPr>
            <a:r>
              <a:rPr sz="1200" b="0">
                <a:solidFill>
                  <a:srgbClr val="5B6372"/>
                </a:solidFill>
                <a:latin typeface="Arial"/>
              </a:rPr>
              <a:t>ip addr against a working neighbour finds mask and gateway typos in seconds - baselines beat theory.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Scope tells you where to look</a:t>
            </a:r>
          </a:p>
          <a:p>
            <a:pPr algn="l">
              <a:spcAft>
                <a:spcPts val="300"/>
              </a:spcAft>
            </a:pPr>
            <a:r>
              <a:rPr sz="1200" b="0">
                <a:solidFill>
                  <a:srgbClr val="5B6372"/>
                </a:solidFill>
                <a:latin typeface="Arial"/>
              </a:rPr>
              <a:t>DHCP misconfig hits everyone on the scope; a static typo hits one machine.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485</a:t>
            </a:r>
          </a:p>
        </p:txBody>
      </p:sp>
    </p:spTree>
  </p:cSld>
  <p:clrMapOvr>
    <a:masterClrMapping/>
  </p:clrMapOvr>
  <p:transition spd="fast" advClick="1">
    <p:fade/>
  </p:transition>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5.3 · ROUTING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Ping This, But Not That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10.1.x OK, 10.2.x dead</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Theory</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missing route to 10.2</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route get 10.2.0.5</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Fix</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add route via 10.1.0.2</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Verify</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ping + document route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PATTERN</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Partial reachability is routing until proven otherwise - and ip route get turns 'I think' into 'the kernel says'.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5.0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Diagnosing Routing Problems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Read and manipulate the routing table; prove which route a destination uses with ip route get.</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Print the routing table, query the kernel's route choice for two destinations, add a static route with a metric, inspect precedence and longest-prefix match, then remove the test route.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routing table with a temporary 10.99.0.0/24 static route, proven with ip route get and cleanly removed.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iproute2, traceroute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route get 10.99.0.5 switches from the default route to the new static route while it exists, and reverts to the default after ip route del.</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487</a:t>
            </a:r>
          </a:p>
        </p:txBody>
      </p:sp>
    </p:spTree>
  </p:cSld>
  <p:clrMapOvr>
    <a:masterClrMapping/>
  </p:clrMapOvr>
  <p:transition spd="fast" advClick="1">
    <p:fade/>
  </p:transition>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Print the full routing table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Add a static route via the default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Show the new route and its metric</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4</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Re-run ip route get and watch the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Remove the test route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ip · step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Read and manipulate the routing table; prove which route a destination uses with ip route get.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Diagnosing Routing Problems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ip route get 10.99.0.5 switches from the default route to the new static route while it exists, and reverts to the default after ip route del.</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RTNETLINK: file exists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route is already present - delete it first with ip route del 10.99.0.0/24.</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Route added but not used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longer prefix elsewhere wins - longest-prefix match beats metric every time.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default route at all</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Re-add it: ip route add default via &lt;gateway IP&gt; dev eth0.</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489</a:t>
            </a:r>
          </a:p>
        </p:txBody>
      </p:sp>
    </p:spTree>
  </p:cSld>
  <p:clrMapOvr>
    <a:masterClrMapping/>
  </p:clrMapOvr>
  <p:transition spd="fast" advClick="1">
    <p:fade/>
  </p:transition>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5.4 · PERFORMANCE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Latency vs Loss vs Jitter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Metric</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Hurts most</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Measure with</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Latency</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Round-trip delay</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Interactive apps, gaming</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ping RTT, mtr Avg</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Packet loss</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Frames never arrive</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TCP throughput collapse</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ping / mtr Loss%</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Jitter</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Variation in delay</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VoIP and live video</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mtr Wrst-Avg, iperf3 -u</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Bandwidth</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Path capacity</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Bulk transfer, backup</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iperf3, speed testers</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VoIP wants jitter under ~30 ms and loss under 1% - buffers trade jitter for latency.</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490</a:t>
            </a:r>
          </a:p>
        </p:txBody>
      </p:sp>
    </p:spTree>
  </p:cSld>
  <p:clrMapOvr>
    <a:masterClrMapping/>
  </p:clrMapOvr>
  <p:transition spd="fast" advClick="1">
    <p:fade/>
  </p:transition>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5.4 · PERFORMANCE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Little Loss Destroys a Lot of Throughput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TCP treats every loss as congestion and backs off - 1% loss roughly halves throughput long before a link is 'full'. This is why Lab 35's netem loss test feels so dramatic.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491</a:t>
            </a:r>
          </a:p>
        </p:txBody>
      </p:sp>
    </p:spTree>
  </p:cSld>
  <p:clrMapOvr>
    <a:masterClrMapping/>
  </p:clrMapOvr>
  <p:transition spd="fast" advClick="1">
    <p:fade/>
  </p:transition>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5.4 · PERFORMANCE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Congestion and Bottlenecks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Oversubscribed uplinks</a:t>
            </a:r>
          </a:p>
          <a:p>
            <a:pPr algn="l">
              <a:spcAft>
                <a:spcPts val="300"/>
              </a:spcAft>
            </a:pPr>
            <a:r>
              <a:rPr sz="1200" b="0">
                <a:solidFill>
                  <a:srgbClr val="5B6372"/>
                </a:solidFill>
                <a:latin typeface="Arial"/>
              </a:rPr>
              <a:t>48 access ports funnelling into one 1G uplink - fine on average, saturated at 9 a.m. sharp.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queueing signature</a:t>
            </a:r>
          </a:p>
          <a:p>
            <a:pPr algn="l">
              <a:spcAft>
                <a:spcPts val="300"/>
              </a:spcAft>
            </a:pPr>
            <a:r>
              <a:rPr sz="1200" b="0">
                <a:solidFill>
                  <a:srgbClr val="5B6372"/>
                </a:solidFill>
                <a:latin typeface="Arial"/>
              </a:rPr>
              <a:t>Latency climbs FIRST as buffers fill; loss follows when they overflow - watch the RTT trend before loss.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Duplex mismatch again</a:t>
            </a:r>
          </a:p>
          <a:p>
            <a:pPr algn="l">
              <a:spcAft>
                <a:spcPts val="300"/>
              </a:spcAft>
            </a:pPr>
            <a:r>
              <a:rPr sz="1200" b="0">
                <a:solidFill>
                  <a:srgbClr val="5B6372"/>
                </a:solidFill>
                <a:latin typeface="Arial"/>
              </a:rPr>
              <a:t>Still the classic false 'congestion': collisions and CRC errors under load on one specific link.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Find the top talkers</a:t>
            </a:r>
          </a:p>
          <a:p>
            <a:pPr algn="l">
              <a:spcAft>
                <a:spcPts val="300"/>
              </a:spcAft>
            </a:pPr>
            <a:r>
              <a:rPr sz="1200" b="0">
                <a:solidFill>
                  <a:srgbClr val="5B6372"/>
                </a:solidFill>
                <a:latin typeface="Arial"/>
              </a:rPr>
              <a:t>Interface counters, NetFlow/sFlow or a capture answer WHO is eating the link before you upgrade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Broadcast storms</a:t>
            </a:r>
          </a:p>
          <a:p>
            <a:pPr algn="l">
              <a:spcAft>
                <a:spcPts val="300"/>
              </a:spcAft>
            </a:pPr>
            <a:r>
              <a:rPr sz="1200" b="0">
                <a:solidFill>
                  <a:srgbClr val="5B6372"/>
                </a:solidFill>
                <a:latin typeface="Arial"/>
              </a:rPr>
              <a:t>A loop or a chatty protocol can consume a LAN with traffic nobody asked for - see the L2 slides.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QoS as triage</a:t>
            </a:r>
          </a:p>
          <a:p>
            <a:pPr algn="l">
              <a:spcAft>
                <a:spcPts val="300"/>
              </a:spcAft>
            </a:pPr>
            <a:r>
              <a:rPr sz="1200" b="0">
                <a:solidFill>
                  <a:srgbClr val="5B6372"/>
                </a:solidFill>
                <a:latin typeface="Arial"/>
              </a:rPr>
              <a:t>Prioritise voice and video over bulk data - it does not add capacity, it decides who suffers.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492</a:t>
            </a:r>
          </a:p>
        </p:txBody>
      </p:sp>
    </p:spTree>
  </p:cSld>
  <p:clrMapOvr>
    <a:masterClrMapping/>
  </p:clrMapOvr>
  <p:transition spd="fast" advClick="1">
    <p:fade/>
  </p:transition>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5.4 · WIRELESS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Interference and Channel Overlap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2.4 GHz: three clean channels</a:t>
            </a:r>
          </a:p>
          <a:p>
            <a:pPr algn="l">
              <a:spcAft>
                <a:spcPts val="300"/>
              </a:spcAft>
            </a:pPr>
            <a:r>
              <a:rPr sz="1200" b="0">
                <a:solidFill>
                  <a:srgbClr val="5B6372"/>
                </a:solidFill>
                <a:latin typeface="Arial"/>
              </a:rPr>
              <a:t>Only 1, 6 and 11 avoid overlap - neighbouring APs on 3 and 8 interfere with BOTH sides.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Co-channel vs adjacent</a:t>
            </a:r>
          </a:p>
          <a:p>
            <a:pPr algn="l">
              <a:spcAft>
                <a:spcPts val="300"/>
              </a:spcAft>
            </a:pPr>
            <a:r>
              <a:rPr sz="1200" b="0">
                <a:solidFill>
                  <a:srgbClr val="5B6372"/>
                </a:solidFill>
                <a:latin typeface="Arial"/>
              </a:rPr>
              <a:t>Same-channel APs politely take turns (slow); OVERLAPPING channels corrupt each other (worse).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Non-Wi-Fi offenders</a:t>
            </a:r>
          </a:p>
          <a:p>
            <a:pPr algn="l">
              <a:spcAft>
                <a:spcPts val="300"/>
              </a:spcAft>
            </a:pPr>
            <a:r>
              <a:rPr sz="1200" b="0">
                <a:solidFill>
                  <a:srgbClr val="5B6372"/>
                </a:solidFill>
                <a:latin typeface="Arial"/>
              </a:rPr>
              <a:t>Microwave ovens, wireless mice and keyboards, Bluetooth, baby monitors - all camp on 2.4 GHz.</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Escape to 5 / 6 GHz</a:t>
            </a:r>
          </a:p>
          <a:p>
            <a:pPr algn="l">
              <a:spcAft>
                <a:spcPts val="300"/>
              </a:spcAft>
            </a:pPr>
            <a:r>
              <a:rPr sz="1200" b="0">
                <a:solidFill>
                  <a:srgbClr val="5B6372"/>
                </a:solidFill>
                <a:latin typeface="Arial"/>
              </a:rPr>
              <a:t>Far more non-overlapping channels and less junk - the standing fix for a crowded 2.4 GHz office.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Survey before blaming</a:t>
            </a:r>
          </a:p>
          <a:p>
            <a:pPr algn="l">
              <a:spcAft>
                <a:spcPts val="300"/>
              </a:spcAft>
            </a:pPr>
            <a:r>
              <a:rPr sz="1200" b="0">
                <a:solidFill>
                  <a:srgbClr val="5B6372"/>
                </a:solidFill>
                <a:latin typeface="Arial"/>
              </a:rPr>
              <a:t>A Wi-Fi analyzer shows every SSID, channel and RSSI around you - pick the channel the survey supports.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Interference symptoms</a:t>
            </a:r>
          </a:p>
          <a:p>
            <a:pPr algn="l">
              <a:spcAft>
                <a:spcPts val="300"/>
              </a:spcAft>
            </a:pPr>
            <a:r>
              <a:rPr sz="1200" b="0">
                <a:solidFill>
                  <a:srgbClr val="5B6372"/>
                </a:solidFill>
                <a:latin typeface="Arial"/>
              </a:rPr>
              <a:t>Connected with strong signal yet slow and jittery - retries eat airtime before anything is 'down'.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493</a:t>
            </a:r>
          </a:p>
        </p:txBody>
      </p:sp>
    </p:spTree>
  </p:cSld>
  <p:clrMapOvr>
    <a:masterClrMapping/>
  </p:clrMapOvr>
  <p:transition spd="fast" advClick="1">
    <p:fade/>
  </p:transition>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5.4 · WIRELESS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Room to Breathe: Channels by Band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2.4 GHz offers exactly three clean channels, shared with microwaves and Bluetooth; 5 and 6 GHz offer dozens - moving bands beats fighting for channel 6.</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494</a:t>
            </a:r>
          </a:p>
        </p:txBody>
      </p:sp>
    </p:spTree>
  </p:cSld>
  <p:clrMapOvr>
    <a:masterClrMapping/>
  </p:clrMapOvr>
  <p:transition spd="fast" advClick="1">
    <p:fade/>
  </p:transition>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5.4 · WIRELESS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More Wireless Scenarios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Over capacity</a:t>
            </a:r>
          </a:p>
          <a:p>
            <a:pPr algn="l">
              <a:spcAft>
                <a:spcPts val="300"/>
              </a:spcAft>
            </a:pPr>
            <a:r>
              <a:rPr sz="1200" b="0">
                <a:solidFill>
                  <a:srgbClr val="5B6372"/>
                </a:solidFill>
                <a:latin typeface="Arial"/>
              </a:rPr>
              <a:t>Too many clients per AP: strong signal, terrible throughput - add APs or steer clients to 5/6 GHz.</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Incorrect antenna type</a:t>
            </a:r>
          </a:p>
          <a:p>
            <a:pPr algn="l">
              <a:spcAft>
                <a:spcPts val="300"/>
              </a:spcAft>
            </a:pPr>
            <a:r>
              <a:rPr sz="1200" b="0">
                <a:solidFill>
                  <a:srgbClr val="5B6372"/>
                </a:solidFill>
                <a:latin typeface="Arial"/>
              </a:rPr>
              <a:t>Omni antennas in a long corridor, or patch antennas facing the wrong way, waste the cell where users are.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Antenna placement</a:t>
            </a:r>
          </a:p>
          <a:p>
            <a:pPr algn="l">
              <a:spcAft>
                <a:spcPts val="300"/>
              </a:spcAft>
            </a:pPr>
            <a:r>
              <a:rPr sz="1200" b="0">
                <a:solidFill>
                  <a:srgbClr val="5B6372"/>
                </a:solidFill>
                <a:latin typeface="Arial"/>
              </a:rPr>
              <a:t>Placement is an art: test and retest - central, high, away from metal and water; re-survey after moving.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Cable gain loss</a:t>
            </a:r>
          </a:p>
          <a:p>
            <a:pPr algn="l">
              <a:spcAft>
                <a:spcPts val="300"/>
              </a:spcAft>
            </a:pPr>
            <a:r>
              <a:rPr sz="1200" b="0">
                <a:solidFill>
                  <a:srgbClr val="5B6372"/>
                </a:solidFill>
                <a:latin typeface="Arial"/>
              </a:rPr>
              <a:t>Every metre of antenna coax costs dB - keep antenna cables short or the gain never reaches the air.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Old standards drag the cell</a:t>
            </a:r>
          </a:p>
          <a:p>
            <a:pPr algn="l">
              <a:spcAft>
                <a:spcPts val="300"/>
              </a:spcAft>
            </a:pPr>
            <a:r>
              <a:rPr sz="1200" b="0">
                <a:solidFill>
                  <a:srgbClr val="5B6372"/>
                </a:solidFill>
                <a:latin typeface="Arial"/>
              </a:rPr>
              <a:t>Legacy 802.11b/g clients force protection modes that slow everyone - upgrade or isolate them.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Roaming problems</a:t>
            </a:r>
          </a:p>
          <a:p>
            <a:pPr algn="l">
              <a:spcAft>
                <a:spcPts val="300"/>
              </a:spcAft>
            </a:pPr>
            <a:r>
              <a:rPr sz="1200" b="0">
                <a:solidFill>
                  <a:srgbClr val="5B6372"/>
                </a:solidFill>
                <a:latin typeface="Arial"/>
              </a:rPr>
              <a:t>Sticky clients cling to a distant AP - tune min-RSSI and roaming thresholds so handoff happens.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495</a:t>
            </a:r>
          </a:p>
        </p:txBody>
      </p:sp>
    </p:spTree>
  </p:cSld>
  <p:clrMapOvr>
    <a:masterClrMapping/>
  </p:clrMapOvr>
  <p:transition spd="fast" advClick="1">
    <p:fade/>
  </p:transition>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Measuring Performance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iperf3</a:t>
            </a:r>
          </a:p>
          <a:p>
            <a:pPr algn="l">
              <a:spcAft>
                <a:spcPts val="300"/>
              </a:spcAft>
            </a:pPr>
            <a:r>
              <a:rPr sz="1200" b="0">
                <a:solidFill>
                  <a:srgbClr val="5B6372"/>
                </a:solidFill>
                <a:latin typeface="Arial"/>
              </a:rPr>
              <a:t>Client/server throughput tester - proves what the path can actually carry, TCP or UDP with loss and jitter stats.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Speed testers</a:t>
            </a:r>
          </a:p>
          <a:p>
            <a:pPr algn="l">
              <a:spcAft>
                <a:spcPts val="300"/>
              </a:spcAft>
            </a:pPr>
            <a:r>
              <a:rPr sz="1200" b="0">
                <a:solidFill>
                  <a:srgbClr val="5B6372"/>
                </a:solidFill>
                <a:latin typeface="Arial"/>
              </a:rPr>
              <a:t>Quick browser or CLI checks of real up/down rates to the internet - verify the circuit, not the marketing.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Wi-Fi analyzers</a:t>
            </a:r>
          </a:p>
          <a:p>
            <a:pPr algn="l">
              <a:spcAft>
                <a:spcPts val="300"/>
              </a:spcAft>
            </a:pPr>
            <a:r>
              <a:rPr sz="1200" b="0">
                <a:solidFill>
                  <a:srgbClr val="5B6372"/>
                </a:solidFill>
                <a:latin typeface="Arial"/>
              </a:rPr>
              <a:t>Show channels, signal strength and neighbouring networks - the survey tool behind every interference fix.</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mtr over time</a:t>
            </a:r>
          </a:p>
          <a:p>
            <a:pPr algn="l">
              <a:spcAft>
                <a:spcPts val="300"/>
              </a:spcAft>
            </a:pPr>
            <a:r>
              <a:rPr sz="1200" b="0">
                <a:solidFill>
                  <a:srgbClr val="5B6372"/>
                </a:solidFill>
                <a:latin typeface="Arial"/>
              </a:rPr>
              <a:t>A long-running mtr catches the intermittent loss and jitter that a single ping snapshot misses.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tc netem (lab)</a:t>
            </a:r>
          </a:p>
          <a:p>
            <a:pPr algn="l">
              <a:spcAft>
                <a:spcPts val="300"/>
              </a:spcAft>
            </a:pPr>
            <a:r>
              <a:rPr sz="1200" b="0">
                <a:solidFill>
                  <a:srgbClr val="5B6372"/>
                </a:solidFill>
                <a:latin typeface="Arial"/>
              </a:rPr>
              <a:t>Injects delay, jitter and loss on purpose - reproduce the customer's WAN on one VM and test the app against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Baseline everything</a:t>
            </a:r>
          </a:p>
          <a:p>
            <a:pPr algn="l">
              <a:spcAft>
                <a:spcPts val="300"/>
              </a:spcAft>
            </a:pPr>
            <a:r>
              <a:rPr sz="1200" b="0">
                <a:solidFill>
                  <a:srgbClr val="5B6372"/>
                </a:solidFill>
                <a:latin typeface="Arial"/>
              </a:rPr>
              <a:t>A measurement means little without the 'normal' to compare against - collect baselines before trouble starts.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496</a:t>
            </a:r>
          </a:p>
        </p:txBody>
      </p:sp>
    </p:spTree>
  </p:cSld>
  <p:clrMapOvr>
    <a:masterClrMapping/>
  </p:clrMapOvr>
  <p:transition spd="fast" advClick="1">
    <p:fade/>
  </p:transition>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5.0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Simulating Slow and Lossy Links with tc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Reproduce WAN latency, jitter and loss with tc netem and cap bandwidth with tbf.</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Baseline RTT, then use tc netem to inject 200 ms delay, +/-50 ms jitter and 5% loss, verifying each with ping; cap throughput at 1 Mbit/s with tbf, prove it with iperf3, then remove all shaping.</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NIC that demonstrably ran at +200 ms delay, 5% loss and a 1 Mbit/s cap - and a clean qdisc afterwards.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iproute2 (tc/netem/tbf), iperf3</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ping RTT rises by about 200 ms under netem, roughly 1 in 20 pings times out at 5% loss, and iperf3 reports about 1 Mbit/s under the tbf cap.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497</a:t>
            </a:r>
          </a:p>
        </p:txBody>
      </p:sp>
    </p:spTree>
  </p:cSld>
  <p:clrMapOvr>
    <a:masterClrMapping/>
  </p:clrMapOvr>
  <p:transition spd="fast" advClick="1">
    <p:fade/>
  </p:transition>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Baseline the RTT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ping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Add +/-50 ms of jitter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tc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Clear netem before shaping bandwidth</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tc · step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Cap bandwidth at 1 Mbit/s with a token</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tc · step 6</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Remove all shaping and confirm</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tc · step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Reproduce WAN latency, jitter and loss with tc netem and cap bandwidth with tbf.</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Simulating Slow and Lossy Links with tc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ping RTT rises by about 200 ms under netem, roughly 1 in 20 pings times out at 5% loss, and iperf3 reports about 1 Mbit/s under the tbf cap.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RTNETLINK answers: file exists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qdisc is already installed - use tc qdisc change, or delete the root qdisc first.</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RTT did not change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shaped the wrong interface - confirm the active NIC with ip -brief link.</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iperf3 connection refused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Start the server first (iperf3 -s -D), then run the client against 127.0.0.1.</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499</a:t>
            </a:r>
          </a:p>
        </p:txBody>
      </p:sp>
    </p:spTree>
  </p:cSld>
  <p:clrMapOvr>
    <a:masterClrMapping/>
  </p:clrMapOvr>
  <p:transition spd="fast" advClick="1">
    <p:fade/>
  </p:transition>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5.3 · WAN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WAN Troubleshooting Scenarios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Start at your own edge</a:t>
            </a:r>
          </a:p>
          <a:p>
            <a:pPr algn="l">
              <a:spcAft>
                <a:spcPts val="300"/>
              </a:spcAft>
            </a:pPr>
            <a:r>
              <a:rPr sz="1200" b="0">
                <a:solidFill>
                  <a:srgbClr val="5B6372"/>
                </a:solidFill>
                <a:latin typeface="Arial"/>
              </a:rPr>
              <a:t>Most WAN faults are customer-side - cables, the router, config - not the ISP; check yours before calling.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Walk to the demarc</a:t>
            </a:r>
          </a:p>
          <a:p>
            <a:pPr algn="l">
              <a:spcAft>
                <a:spcPts val="300"/>
              </a:spcAft>
            </a:pPr>
            <a:r>
              <a:rPr sz="1200" b="0">
                <a:solidFill>
                  <a:srgbClr val="5B6372"/>
                </a:solidFill>
                <a:latin typeface="Arial"/>
              </a:rPr>
              <a:t>LAN interface -&gt; router/modem LAN side -&gt; WAN side -&gt; provider: find the last healthy point.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Modem/ONT lights first</a:t>
            </a:r>
          </a:p>
          <a:p>
            <a:pPr algn="l">
              <a:spcAft>
                <a:spcPts val="300"/>
              </a:spcAft>
            </a:pPr>
            <a:r>
              <a:rPr sz="1200" b="0">
                <a:solidFill>
                  <a:srgbClr val="5B6372"/>
                </a:solidFill>
                <a:latin typeface="Arial"/>
              </a:rPr>
              <a:t>Sync and LOS LEDs on the modem or ONT tell you in seconds whether the carrier signal is even present.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around DNS</a:t>
            </a:r>
          </a:p>
          <a:p>
            <a:pPr algn="l">
              <a:spcAft>
                <a:spcPts val="300"/>
              </a:spcAft>
            </a:pPr>
            <a:r>
              <a:rPr sz="1200" b="0">
                <a:solidFill>
                  <a:srgbClr val="5B6372"/>
                </a:solidFill>
                <a:latin typeface="Arial"/>
              </a:rPr>
              <a:t>ping 8.8.8.8 vs ping google.com separates 'the WAN is down' from 'DNS is down' immediately.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Interference and environment</a:t>
            </a:r>
          </a:p>
          <a:p>
            <a:pPr algn="l">
              <a:spcAft>
                <a:spcPts val="300"/>
              </a:spcAft>
            </a:pPr>
            <a:r>
              <a:rPr sz="1200" b="0">
                <a:solidFill>
                  <a:srgbClr val="5B6372"/>
                </a:solidFill>
                <a:latin typeface="Arial"/>
              </a:rPr>
              <a:t>On DSL, coax and wireless WANs, interference is usually consumer-side - unless weather or disaster says otherwise.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Evidence for the carrier</a:t>
            </a:r>
          </a:p>
          <a:p>
            <a:pPr algn="l">
              <a:spcAft>
                <a:spcPts val="300"/>
              </a:spcAft>
            </a:pPr>
            <a:r>
              <a:rPr sz="1200" b="0">
                <a:solidFill>
                  <a:srgbClr val="5B6372"/>
                </a:solidFill>
                <a:latin typeface="Arial"/>
              </a:rPr>
              <a:t>mtr reports, timestamps, loss figures - carriers move faster when the ticket contains measurements.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500</a:t>
            </a:r>
          </a:p>
        </p:txBody>
      </p:sp>
    </p:spTree>
  </p:cSld>
  <p:clrMapOvr>
    <a:masterClrMapping/>
  </p:clrMapOvr>
  <p:transition spd="fast" advClick="1">
    <p:fade/>
  </p:transition>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Layered Service Triage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nc -zv host 443 - does TCP connect?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openssl s_client - does TLS validate?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curl -v - what HTTP status returns?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curl -w timings - which phase is slow?</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Escalate with the failing layer named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501</a:t>
            </a:r>
          </a:p>
        </p:txBody>
      </p:sp>
    </p:spTree>
  </p:cSld>
  <p:clrMapOvr>
    <a:masterClrMapping/>
  </p:clrMapOvr>
  <p:transition spd="fast" advClick="1">
    <p:fade/>
  </p:transition>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Breaking One Request Into Phases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curl -w prints a stopwatch for every stage of the request.</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curl -so /dev/null https://example.com -w \</a:t>
            </a:r>
          </a:p>
          <a:p>
            <a:pPr>
              <a:spcAft>
                <a:spcPts val="200"/>
              </a:spcAft>
            </a:pPr>
            <a:r>
              <a:rPr sz="1100">
                <a:solidFill>
                  <a:srgbClr val="9CDCFE"/>
                </a:solidFill>
                <a:latin typeface="Consolas"/>
              </a:rPr>
              <a:t>  'DNS:%{time_namelookup} TCP:%{time_connect} \</a:t>
            </a:r>
          </a:p>
          <a:p>
            <a:pPr>
              <a:spcAft>
                <a:spcPts val="200"/>
              </a:spcAft>
            </a:pPr>
            <a:r>
              <a:rPr sz="1100">
                <a:solidFill>
                  <a:srgbClr val="9CDCFE"/>
                </a:solidFill>
                <a:latin typeface="Consolas"/>
              </a:rPr>
              <a:t>   TLS:%{time_appconnect} TTFB:%{time_starttransfer}'</a:t>
            </a:r>
          </a:p>
          <a:p>
            <a:pPr>
              <a:spcAft>
                <a:spcPts val="200"/>
              </a:spcAft>
            </a:pPr>
            <a:r>
              <a:rPr sz="1100">
                <a:solidFill>
                  <a:srgbClr val="9CDCFE"/>
                </a:solidFill>
                <a:latin typeface="Consolas"/>
              </a:rPr>
              <a:t>DNS:2.104 TCP:2.121 TLS:2.189 TTFB:2.239</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DNS: 2.1 SECONDS</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Nearly the whole wait happened before any packet reached the server - the resolver is to blame.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GAPS, NOT VALUES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Read the DIFFERENCES: TCP-DNS = handshake, TLS-TCP = crypto, TTFB-TLS = server think time.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WHO TO CALL</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Slow DNS: resolver team (Lab 30). Slow TTFB: app team. Slow TCP: network path (Lab 29).</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502</a:t>
            </a:r>
          </a:p>
        </p:txBody>
      </p:sp>
    </p:spTree>
  </p:cSld>
  <p:clrMapOvr>
    <a:masterClrMapping/>
  </p:clrMapOvr>
  <p:transition spd="fast" advClick="1">
    <p:fade/>
  </p:transition>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HTTP Status Codes for Troubleshooters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Code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Meaning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Prime suspect</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200</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OK</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Nothing - move on</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301 / 302</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Redirect</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Follow it - check the target</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401 / 403</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Auth required / forbidden</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Credentials, ACLs, permissions</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404</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Not found</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URL path, deployment</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500</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Application error</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app itself - read its logs</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502/503/504</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Bad gateway/overload/timeout</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Upstream server or proxy</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Any HTTP answer at all proves DNS, routing, TCP and TLS all worked - you are at Layer 7.</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503</a:t>
            </a:r>
          </a:p>
        </p:txBody>
      </p:sp>
    </p:spTree>
  </p:cSld>
  <p:clrMapOvr>
    <a:masterClrMapping/>
  </p:clrMapOvr>
  <p:transition spd="fast" advClick="1">
    <p:fade/>
  </p:transition>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nc -zv Fork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The site is unreachable.
Does nc -zv host 443 succeed?</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go up the stack</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Routing, firewall and listener are all fine. Test TLS (openssl s_client), then HTTP (curl -v) - the fault is above L4.</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stay low</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No TCP handshake. Check DNS resolution, then the path (mtr), then firewalls, then whether anything listens (ss -tlnp).</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One command splits the whole stack in half - divide and conquer as a habit.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504</a:t>
            </a:r>
          </a:p>
        </p:txBody>
      </p:sp>
    </p:spTree>
  </p:cSld>
  <p:clrMapOvr>
    <a:masterClrMapping/>
  </p:clrMapOvr>
  <p:transition spd="fast" advClick="1">
    <p:fade/>
  </p:transition>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5.1-5.5 · SYNTHESIS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Symptom Sprint: Name the Likely Cause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Small pings OK, downloads stall</a:t>
            </a:r>
          </a:p>
          <a:p>
            <a:pPr algn="l">
              <a:spcAft>
                <a:spcPts val="300"/>
              </a:spcAft>
            </a:pPr>
            <a:r>
              <a:rPr sz="1200" b="0">
                <a:solidFill>
                  <a:srgbClr val="5B6372"/>
                </a:solidFill>
                <a:latin typeface="Arial"/>
              </a:rPr>
              <a:t>MTU / PMTUD black hole - run the DF-bit ping test, then clamp MSS (Lab 33).</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169.254.x.x on new laptops</a:t>
            </a:r>
          </a:p>
          <a:p>
            <a:pPr algn="l">
              <a:spcAft>
                <a:spcPts val="300"/>
              </a:spcAft>
            </a:pPr>
            <a:r>
              <a:rPr sz="1200" b="0">
                <a:solidFill>
                  <a:srgbClr val="5B6372"/>
                </a:solidFill>
                <a:latin typeface="Arial"/>
              </a:rPr>
              <a:t>DHCP exhausted or unreachable - check scope statistics and the lease table (Lab 34).</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Works by IP, not by name</a:t>
            </a:r>
          </a:p>
          <a:p>
            <a:pPr algn="l">
              <a:spcAft>
                <a:spcPts val="300"/>
              </a:spcAft>
            </a:pPr>
            <a:r>
              <a:rPr sz="1200" b="0">
                <a:solidFill>
                  <a:srgbClr val="5B6372"/>
                </a:solidFill>
                <a:latin typeface="Arial"/>
              </a:rPr>
              <a:t>DNS - compare resolvers with dig, flush the cache (Lab 30).</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Every LED flashing, LAN dead</a:t>
            </a:r>
          </a:p>
          <a:p>
            <a:pPr algn="l">
              <a:spcAft>
                <a:spcPts val="300"/>
              </a:spcAft>
            </a:pPr>
            <a:r>
              <a:rPr sz="1200" b="0">
                <a:solidFill>
                  <a:srgbClr val="5B6372"/>
                </a:solidFill>
                <a:latin typeface="Arial"/>
              </a:rPr>
              <a:t>Switching loop / broadcast storm - find the new cable, enable BPDU guard (Lab 31).</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One user flip-flops on/off</a:t>
            </a:r>
          </a:p>
          <a:p>
            <a:pPr algn="l">
              <a:spcAft>
                <a:spcPts val="300"/>
              </a:spcAft>
            </a:pPr>
            <a:r>
              <a:rPr sz="1200" b="0">
                <a:solidFill>
                  <a:srgbClr val="5B6372"/>
                </a:solidFill>
                <a:latin typeface="Arial"/>
              </a:rPr>
              <a:t>Duplicate IP - arping -D, then hunt the MAC (Lab 31).</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Local fine, remote all dead</a:t>
            </a:r>
          </a:p>
          <a:p>
            <a:pPr algn="l">
              <a:spcAft>
                <a:spcPts val="300"/>
              </a:spcAft>
            </a:pPr>
            <a:r>
              <a:rPr sz="1200" b="0">
                <a:solidFill>
                  <a:srgbClr val="5B6372"/>
                </a:solidFill>
                <a:latin typeface="Arial"/>
              </a:rPr>
              <a:t>Default gateway wrong or down - ping the gateway, check ip route (Lab 34).</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505</a:t>
            </a:r>
          </a:p>
        </p:txBody>
      </p:sp>
    </p:spTree>
  </p:cSld>
  <p:clrMapOvr>
    <a:masterClrMapping/>
  </p:clrMapOvr>
  <p:transition spd="fast" advClick="1">
    <p:fade/>
  </p:transition>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OBJ 5.1 · METHOD APPLIED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Capstone: 'The Website Is Down'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all users, one site</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Theory ladder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DNS? path? TLS? app?</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 in layers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dig, mtr, nc, curl</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Fix or escalate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evidence attached</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Verify + document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timings in ticket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Lab 36 runs exactly this triage - each tool eliminates a layer, so the escalation names the failing layer instead of guessing.</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5.0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Service Reachability Triage with curl, nc and openssl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Isolate a 'site is down' report to TCP, TLS, HTTP or the app using nc, openssl and curl.</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Walk the layered triage: prove the TCP handshake with nc -zv, validate the certificate chain with openssl s_client, read HTTP status codes with curl -v, then break one request into DNS/TCP/TLS/TTFB timings.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 layer-by-layer triage of example.com:443 with a timing breakdown that names the slow phase.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curl, netcat-openbsd, openssl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nc reports succeeded, openssl shows Verify return code: 0 (ok), curl returns HTTP 200, and the -w timings identify the slowest phase of the request.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507</a:t>
            </a:r>
          </a:p>
        </p:txBody>
      </p:sp>
    </p:spTree>
  </p:cSld>
  <p:clrMapOvr>
    <a:masterClrMapping/>
  </p:clrMapOvr>
  <p:transition spd="fast" advClick="1">
    <p:fade/>
  </p:transition>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Install the triage tools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apt · step 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 L6</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echo · step 3</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Check subject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7</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Test L7</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curl · step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Apply the decision tree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Isolate a 'site is down' report to TCP, TLS, HTTP or the app using nc, openssl and curl.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Service Reachability Triage with curl, nc and openssl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nc reports succeeded, openssl shows Verify return code: 0 (ok), curl returns HTTP 200, and the -w timings identify the slowest phase of the request.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nc hangs then times out</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No TCP path - fall back to Lab 29 tools: check DNS, then mtr the host, then firewalls.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Verify return code is non-zero</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Expired or untrusted certificate, or SNI mismatch - re-run with the right -servername.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HTTP 502/503/504</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TCP and TLS are fine - the fault is the app or its upstream; escalate with your evidence.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509</a:t>
            </a:r>
          </a:p>
        </p:txBody>
      </p:sp>
    </p:spTree>
  </p:cSld>
  <p:clrMapOvr>
    <a:masterClrMapping/>
  </p:clrMapOvr>
  <p:transition spd="fast" advClick="1">
    <p:fade/>
  </p:transition>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Troubleshooter's CLI, One Page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Tool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Layer</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The question it answers</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ping / mtr</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L3</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Is it reachable? Where is the loss?</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traceroute</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L3</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Which hops does the path take?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ip / arp / ip neigh</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L2-L3</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Addressing, routes, MAC neighbours</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dig / nslookup</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L7</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What does DNS actually answer?</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ss / netstat / nmap</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L4</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What is listening or open?</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tcpdump / Wireshark</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L1-L7</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What is REALLY on the wire?</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nmap scans REMOTE ports; ss lists LOCAL sockets - know which side each tool sees.</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510</a:t>
            </a:r>
          </a:p>
        </p:txBody>
      </p:sp>
    </p:spTree>
  </p:cSld>
  <p:clrMapOvr>
    <a:masterClrMapping/>
  </p:clrMapOvr>
  <p:transition spd="fast" advClick="1">
    <p:fade/>
  </p:transition>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 5.5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Hardware Kit, One Page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Cable tester</a:t>
            </a:r>
          </a:p>
          <a:p>
            <a:pPr algn="l">
              <a:spcAft>
                <a:spcPts val="300"/>
              </a:spcAft>
            </a:pPr>
            <a:r>
              <a:rPr sz="1200" b="0">
                <a:solidFill>
                  <a:srgbClr val="5B6372"/>
                </a:solidFill>
                <a:latin typeface="Arial"/>
              </a:rPr>
              <a:t>First tool on any drop: wiremap and continuity catch opens, shorts and miswires before anything else runs.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Toner and probe</a:t>
            </a:r>
          </a:p>
          <a:p>
            <a:pPr algn="l">
              <a:spcAft>
                <a:spcPts val="300"/>
              </a:spcAft>
            </a:pPr>
            <a:r>
              <a:rPr sz="1200" b="0">
                <a:solidFill>
                  <a:srgbClr val="5B6372"/>
                </a:solidFill>
                <a:latin typeface="Arial"/>
              </a:rPr>
              <a:t>The Fox &amp; Hound pair traces which patch-panel port or wall run a cable serves - no more label archaeology.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TDR / OTDR</a:t>
            </a:r>
          </a:p>
          <a:p>
            <a:pPr algn="l">
              <a:spcAft>
                <a:spcPts val="300"/>
              </a:spcAft>
            </a:pPr>
            <a:r>
              <a:rPr sz="1200" b="0">
                <a:solidFill>
                  <a:srgbClr val="5B6372"/>
                </a:solidFill>
                <a:latin typeface="Arial"/>
              </a:rPr>
              <a:t>Reports the distance to a break or bad splice on copper (TDR) or fibre (OTDR) - open the right ceiling tile.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Loopback plug</a:t>
            </a:r>
          </a:p>
          <a:p>
            <a:pPr algn="l">
              <a:spcAft>
                <a:spcPts val="300"/>
              </a:spcAft>
            </a:pPr>
            <a:r>
              <a:rPr sz="1200" b="0">
                <a:solidFill>
                  <a:srgbClr val="5B6372"/>
                </a:solidFill>
                <a:latin typeface="Arial"/>
              </a:rPr>
              <a:t>Loops TX to RX so a NIC or switch port proves itself with no far end involved.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Optical power meter</a:t>
            </a:r>
          </a:p>
          <a:p>
            <a:pPr algn="l">
              <a:spcAft>
                <a:spcPts val="300"/>
              </a:spcAft>
            </a:pPr>
            <a:r>
              <a:rPr sz="1200" b="0">
                <a:solidFill>
                  <a:srgbClr val="5B6372"/>
                </a:solidFill>
                <a:latin typeface="Arial"/>
              </a:rPr>
              <a:t>Reads received light in dBm against the link budget - the number that convicts dirty or bent fibre.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Wi-Fi analyzer</a:t>
            </a:r>
          </a:p>
          <a:p>
            <a:pPr algn="l">
              <a:spcAft>
                <a:spcPts val="300"/>
              </a:spcAft>
            </a:pPr>
            <a:r>
              <a:rPr sz="1200" b="0">
                <a:solidFill>
                  <a:srgbClr val="5B6372"/>
                </a:solidFill>
                <a:latin typeface="Arial"/>
              </a:rPr>
              <a:t>Surveys SSIDs, channels and signal strength so channel and AP-placement decisions rest on data.</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511</a:t>
            </a:r>
          </a:p>
        </p:txBody>
      </p:sp>
    </p:spTree>
  </p:cSld>
  <p:clrMapOvr>
    <a:masterClrMapping/>
  </p:clrMapOvr>
  <p:transition spd="fast" advClick="1">
    <p:fade/>
  </p:transition>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5 · 24% OF THE EXAM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5 Exam Technique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Know the 7 steps by NUMBER</a:t>
            </a:r>
          </a:p>
          <a:p>
            <a:pPr algn="l">
              <a:spcAft>
                <a:spcPts val="300"/>
              </a:spcAft>
            </a:pPr>
            <a:r>
              <a:rPr sz="1200" b="0">
                <a:solidFill>
                  <a:srgbClr val="5B6372"/>
                </a:solidFill>
                <a:latin typeface="Arial"/>
              </a:rPr>
              <a:t>Questions quote a scenario and ask 'what is the NEXT step?' - the order itself is tested.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Read the symptom's layer</a:t>
            </a:r>
          </a:p>
          <a:p>
            <a:pPr algn="l">
              <a:spcAft>
                <a:spcPts val="300"/>
              </a:spcAft>
            </a:pPr>
            <a:r>
              <a:rPr sz="1200" b="0">
                <a:solidFill>
                  <a:srgbClr val="5B6372"/>
                </a:solidFill>
                <a:latin typeface="Arial"/>
              </a:rPr>
              <a:t>Every scenario hides a layer clue: link light (L1), VLAN (L2), gateway (L3), port (L4), URL (L7).</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changed?' wins often</a:t>
            </a:r>
          </a:p>
          <a:p>
            <a:pPr algn="l">
              <a:spcAft>
                <a:spcPts val="300"/>
              </a:spcAft>
            </a:pPr>
            <a:r>
              <a:rPr sz="1200" b="0">
                <a:solidFill>
                  <a:srgbClr val="5B6372"/>
                </a:solidFill>
                <a:latin typeface="Arial"/>
              </a:rPr>
              <a:t>When a scenario mentions any recent change, the answer almost always flows from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Eliminate by scope</a:t>
            </a:r>
          </a:p>
          <a:p>
            <a:pPr algn="l">
              <a:spcAft>
                <a:spcPts val="300"/>
              </a:spcAft>
            </a:pPr>
            <a:r>
              <a:rPr sz="1200" b="0">
                <a:solidFill>
                  <a:srgbClr val="5B6372"/>
                </a:solidFill>
                <a:latin typeface="Arial"/>
              </a:rPr>
              <a:t>One user vs many, one app vs all - scope eliminates half the answer options immediately.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Match tool to question</a:t>
            </a:r>
          </a:p>
          <a:p>
            <a:pPr algn="l">
              <a:spcAft>
                <a:spcPts val="300"/>
              </a:spcAft>
            </a:pPr>
            <a:r>
              <a:rPr sz="1200" b="0">
                <a:solidFill>
                  <a:srgbClr val="5B6372"/>
                </a:solidFill>
                <a:latin typeface="Arial"/>
              </a:rPr>
              <a:t>Tool-selection questions abound: know what each CLI and hardware tool uniquely proves.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Document is a real answer</a:t>
            </a:r>
          </a:p>
          <a:p>
            <a:pPr algn="l">
              <a:spcAft>
                <a:spcPts val="300"/>
              </a:spcAft>
            </a:pPr>
            <a:r>
              <a:rPr sz="1200" b="0">
                <a:solidFill>
                  <a:srgbClr val="5B6372"/>
                </a:solidFill>
                <a:latin typeface="Arial"/>
              </a:rPr>
              <a:t>After 'verify functionality', 'document findings' IS the correct next action - don't skip it for sounding dull.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512</a:t>
            </a:r>
          </a:p>
        </p:txBody>
      </p:sp>
    </p:spTree>
  </p:cSld>
  <p:clrMapOvr>
    <a:masterClrMapping/>
  </p:clrMapOvr>
  <p:transition spd="fast" advClick="1">
    <p:fade/>
  </p:transition>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DOMAIN 5 · WRAP-UP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Measure. Don't guess.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Troubleshooting is the discipline of shrinking the possibility space with every test - the seven steps make it repeatable, the tools make it fast, the documentation makes it stick.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513</a:t>
            </a:r>
          </a:p>
        </p:txBody>
      </p:sp>
    </p:spTree>
  </p:cSld>
  <p:clrMapOvr>
    <a:masterClrMapping/>
  </p:clrMapOvr>
  <p:transition spd="fast" advClick="1">
    <p:fade/>
  </p:transition>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5.0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You can now: Diagnose cable and interface faults from link state, speed/duplex and error counters.</a:t>
            </a:r>
          </a:p>
          <a:p>
            <a:pPr>
              <a:spcAft>
                <a:spcPts val="1000"/>
              </a:spcAft>
            </a:pPr>
            <a:r>
              <a:rPr sz="1600" b="0">
                <a:solidFill>
                  <a:srgbClr val="161B26"/>
                </a:solidFill>
                <a:latin typeface="Arial"/>
              </a:rPr>
              <a:t>•  You can now: Localise latency and packet loss along a network path with ping, traceroute and mtr.</a:t>
            </a:r>
          </a:p>
          <a:p>
            <a:pPr>
              <a:spcAft>
                <a:spcPts val="1000"/>
              </a:spcAft>
            </a:pPr>
            <a:r>
              <a:rPr sz="1600" b="0">
                <a:solidFill>
                  <a:srgbClr val="161B26"/>
                </a:solidFill>
                <a:latin typeface="Arial"/>
              </a:rPr>
              <a:t>•  You can now: Isolate DNS faults by comparing resolvers, tracing delegation and reading response codes.</a:t>
            </a:r>
          </a:p>
          <a:p>
            <a:pPr>
              <a:spcAft>
                <a:spcPts val="1000"/>
              </a:spcAft>
            </a:pPr>
            <a:r>
              <a:rPr sz="1600" b="0">
                <a:solidFill>
                  <a:srgbClr val="161B26"/>
                </a:solidFill>
                <a:latin typeface="Arial"/>
              </a:rPr>
              <a:t>•  You can now: Diagnose L2 adjacency problems with ip neigh and arping, including duplicate IP detection.</a:t>
            </a:r>
          </a:p>
          <a:p>
            <a:pPr>
              <a:spcAft>
                <a:spcPts val="1000"/>
              </a:spcAft>
            </a:pPr>
            <a:r>
              <a:rPr sz="1600" b="0">
                <a:solidFill>
                  <a:srgbClr val="161B26"/>
                </a:solidFill>
                <a:latin typeface="Arial"/>
              </a:rPr>
              <a:t>•  You can now: Capture DNS traffic to a .pcap and analyse it with tshark and the TIS PCAP Analyzer.</a:t>
            </a:r>
          </a:p>
          <a:p>
            <a:pPr>
              <a:spcAft>
                <a:spcPts val="1000"/>
              </a:spcAft>
            </a:pPr>
            <a:r>
              <a:rPr sz="1600" b="0">
                <a:solidFill>
                  <a:srgbClr val="161B26"/>
                </a:solidFill>
                <a:latin typeface="Arial"/>
              </a:rPr>
              <a:t>•  You can now: Demonstrate MTU limits with DF-bit pings and explain PMTUD black holes and MSS clamping.</a:t>
            </a:r>
          </a:p>
          <a:p>
            <a:pPr>
              <a:spcAft>
                <a:spcPts val="1000"/>
              </a:spcAft>
            </a:pPr>
            <a:r>
              <a:rPr sz="1600" b="0">
                <a:solidFill>
                  <a:srgbClr val="161B26"/>
                </a:solidFill>
                <a:latin typeface="Arial"/>
              </a:rPr>
              <a:t>•  You can now: Read and manipulate the routing table; prove which route a destination uses with ip route get.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514</a:t>
            </a:r>
          </a:p>
        </p:txBody>
      </p:sp>
    </p:spTree>
  </p:cSld>
  <p:clrMapOvr>
    <a:masterClrMapping/>
  </p:clrMapOvr>
  <p:transition spd="fast" advClick="1">
    <p:fade/>
  </p:transition>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515</a:t>
            </a:r>
          </a:p>
        </p:txBody>
      </p:sp>
    </p:spTree>
  </p:cSld>
  <p:clrMapOvr>
    <a:masterClrMapping/>
  </p:clrMapOvr>
  <p:transition spd="med" advClick="1">
    <p:push dir="l"/>
  </p:transition>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LO1 · Explained networking concepts</a:t>
            </a:r>
          </a:p>
          <a:p>
            <a:pPr algn="l">
              <a:spcAft>
                <a:spcPts val="300"/>
              </a:spcAft>
            </a:pPr>
            <a:r>
              <a:rPr sz="1100" b="0">
                <a:solidFill>
                  <a:srgbClr val="5B6372"/>
                </a:solidFill>
                <a:latin typeface="Arial"/>
              </a:rPr>
              <a:t>OSI layers, appliances, cloud models, ports &amp; protocols, media, topologies and IPv4/IPv6 subnetting.</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LO2 · Implemented networks</a:t>
            </a:r>
          </a:p>
          <a:p>
            <a:pPr algn="l">
              <a:spcAft>
                <a:spcPts val="300"/>
              </a:spcAft>
            </a:pPr>
            <a:r>
              <a:rPr sz="1100" b="0">
                <a:solidFill>
                  <a:srgbClr val="5B6372"/>
                </a:solidFill>
                <a:latin typeface="Arial"/>
              </a:rPr>
              <a:t>Static &amp; dynamic routing, NAT/PAT, 802.1Q VLANs, STP, bonding, wireless design and installations.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LO3 · Operated networks</a:t>
            </a:r>
          </a:p>
          <a:p>
            <a:pPr algn="l">
              <a:spcAft>
                <a:spcPts val="300"/>
              </a:spcAft>
            </a:pPr>
            <a:r>
              <a:rPr sz="1100" b="0">
                <a:solidFill>
                  <a:srgbClr val="5B6372"/>
                </a:solidFill>
                <a:latin typeface="Arial"/>
              </a:rPr>
              <a:t>SNMP, NetFlow, syslog, NTP, DHCP/DNS services, configuration backup and disaster recovery.</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LO4 · Secured networks</a:t>
            </a:r>
          </a:p>
          <a:p>
            <a:pPr algn="l">
              <a:spcAft>
                <a:spcPts val="300"/>
              </a:spcAft>
            </a:pPr>
            <a:r>
              <a:rPr sz="1100" b="0">
                <a:solidFill>
                  <a:srgbClr val="5B6372"/>
                </a:solidFill>
                <a:latin typeface="Arial"/>
              </a:rPr>
              <a:t>Firewalls, ACLs, IDS, TLS/PKI, SSH hardening, VPNs, segmentation and attack recognition.</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LO5 · Troubleshot networks</a:t>
            </a:r>
          </a:p>
          <a:p>
            <a:pPr algn="l">
              <a:spcAft>
                <a:spcPts val="300"/>
              </a:spcAft>
            </a:pPr>
            <a:r>
              <a:rPr sz="1100" b="0">
                <a:solidFill>
                  <a:srgbClr val="5B6372"/>
                </a:solidFill>
                <a:latin typeface="Arial"/>
              </a:rPr>
              <a:t>The seven-step CompTIA methodology with the right diagnostic tool at every layer.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516</a:t>
            </a:r>
          </a:p>
        </p:txBody>
      </p:sp>
    </p:spTree>
  </p:cSld>
  <p:clrMapOvr>
    <a:masterClrMapping/>
  </p:clrMapOvr>
  <p:transition spd="fast" advClick="1">
    <p:fade/>
  </p:transition>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Preparing for the N10-009 Exam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Redo the labs</a:t>
            </a:r>
          </a:p>
          <a:p>
            <a:pPr algn="l">
              <a:spcAft>
                <a:spcPts val="300"/>
              </a:spcAft>
            </a:pPr>
            <a:r>
              <a:rPr sz="1100" b="0">
                <a:solidFill>
                  <a:srgbClr val="5B6372"/>
                </a:solidFill>
                <a:latin typeface="Arial"/>
              </a:rPr>
              <a:t>Repeat every lab from memory until the commands and workflow are automatic.</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Master subnetting</a:t>
            </a:r>
          </a:p>
          <a:p>
            <a:pPr algn="l">
              <a:spcAft>
                <a:spcPts val="300"/>
              </a:spcAft>
            </a:pPr>
            <a:r>
              <a:rPr sz="1100" b="0">
                <a:solidFill>
                  <a:srgbClr val="5B6372"/>
                </a:solidFill>
                <a:latin typeface="Arial"/>
              </a:rPr>
              <a:t>Drill CIDR/VLSM until a /26 split takes under a minute — use the TIS IP Calculator to self-check.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Memorise the ports</a:t>
            </a:r>
          </a:p>
          <a:p>
            <a:pPr algn="l">
              <a:spcAft>
                <a:spcPts val="300"/>
              </a:spcAft>
            </a:pPr>
            <a:r>
              <a:rPr sz="1100" b="0">
                <a:solidFill>
                  <a:srgbClr val="5B6372"/>
                </a:solidFill>
                <a:latin typeface="Arial"/>
              </a:rPr>
              <a:t>FTP 20/21, SSH 22, Telnet 23, SMTP 25, DNS 53, DHCP 67/68, HTTP 80, HTTPS 443, SNMP 161/162, LDAP 389, RDP 3389, SIP 5060/5061.</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 the blueprint</a:t>
            </a:r>
          </a:p>
          <a:p>
            <a:pPr algn="l">
              <a:spcAft>
                <a:spcPts val="300"/>
              </a:spcAft>
            </a:pPr>
            <a:r>
              <a:rPr sz="1100" b="0">
                <a:solidFill>
                  <a:srgbClr val="5B6372"/>
                </a:solidFill>
                <a:latin typeface="Arial"/>
              </a:rPr>
              <a:t>Revise by the five domains and their weightings — troubleshooting scenarios are the largest share.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Practice exams</a:t>
            </a:r>
          </a:p>
          <a:p>
            <a:pPr algn="l">
              <a:spcAft>
                <a:spcPts val="300"/>
              </a:spcAft>
            </a:pPr>
            <a:r>
              <a:rPr sz="1100" b="0">
                <a:solidFill>
                  <a:srgbClr val="5B6372"/>
                </a:solidFill>
                <a:latin typeface="Arial"/>
              </a:rPr>
              <a:t>Attempt timed practice exams and review every wrong answer against the objectives.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Book the exam</a:t>
            </a:r>
          </a:p>
          <a:p>
            <a:pPr algn="l">
              <a:spcAft>
                <a:spcPts val="300"/>
              </a:spcAft>
            </a:pPr>
            <a:r>
              <a:rPr sz="1100" b="0">
                <a:solidFill>
                  <a:srgbClr val="5B6372"/>
                </a:solidFill>
                <a:latin typeface="Arial"/>
              </a:rPr>
              <a:t>Schedule N10-009 at a Pearson VUE centre or online when practice scores pass 80%.</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517</a:t>
            </a:r>
          </a:p>
        </p:txBody>
      </p:sp>
    </p:spTree>
  </p:cSld>
  <p:clrMapOvr>
    <a:masterClrMapping/>
  </p:clrMapOvr>
  <p:transition spd="fast" advClick="1">
    <p:fade/>
  </p:transition>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TEST YOURSELF BEFORE THE REAL EXAM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Exam — exams.tertiaryinfotech.com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1 · Open the portal</a:t>
            </a:r>
          </a:p>
          <a:p>
            <a:pPr algn="l">
              <a:spcAft>
                <a:spcPts val="300"/>
              </a:spcAft>
            </a:pPr>
            <a:r>
              <a:rPr sz="1200" b="0">
                <a:solidFill>
                  <a:srgbClr val="5B6372"/>
                </a:solidFill>
                <a:latin typeface="Arial"/>
              </a:rPr>
              <a:t>Go to https://exams.tertiaryinfotech.com/practice-exams/comptia/comptia-network-plus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2 · Choose Network+</a:t>
            </a:r>
          </a:p>
          <a:p>
            <a:pPr algn="l">
              <a:spcAft>
                <a:spcPts val="300"/>
              </a:spcAft>
            </a:pPr>
            <a:r>
              <a:rPr sz="1200" b="0">
                <a:solidFill>
                  <a:srgbClr val="5B6372"/>
                </a:solidFill>
                <a:latin typeface="Arial"/>
              </a:rPr>
              <a:t>Select the CompTIA Network+ practice exam that matches this course.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3 · Sit it timed</a:t>
            </a:r>
          </a:p>
          <a:p>
            <a:pPr algn="l">
              <a:spcAft>
                <a:spcPts val="300"/>
              </a:spcAft>
            </a:pPr>
            <a:r>
              <a:rPr sz="1200" b="0">
                <a:solidFill>
                  <a:srgbClr val="5B6372"/>
                </a:solidFill>
                <a:latin typeface="Arial"/>
              </a:rPr>
              <a:t>Attempt the full paper under exam timing — 90 minutes, no notes.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4 · Review and repeat</a:t>
            </a:r>
          </a:p>
          <a:p>
            <a:pPr algn="l">
              <a:spcAft>
                <a:spcPts val="300"/>
              </a:spcAft>
            </a:pPr>
            <a:r>
              <a:rPr sz="1200" b="0">
                <a:solidFill>
                  <a:srgbClr val="5B6372"/>
                </a:solidFill>
                <a:latin typeface="Arial"/>
              </a:rPr>
              <a:t>Review every explanation, revisit the weak domain's labs, then re-take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518</a:t>
            </a:r>
          </a:p>
        </p:txBody>
      </p:sp>
    </p:spTree>
  </p:cSld>
  <p:clrMapOvr>
    <a:masterClrMapping/>
  </p:clrMapOvr>
  <p:transition spd="fast" advClick="1">
    <p:fade/>
  </p:transition>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CompTIA Certified Security+ Training</a:t>
            </a:r>
          </a:p>
          <a:p>
            <a:pPr algn="l">
              <a:spcAft>
                <a:spcPts val="300"/>
              </a:spcAft>
            </a:pPr>
            <a:r>
              <a:rPr sz="1300" b="0">
                <a:solidFill>
                  <a:srgbClr val="5B6372"/>
                </a:solidFill>
                <a:latin typeface="Arial"/>
              </a:rPr>
              <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CompTIA Certified PenTest+ Training</a:t>
            </a:r>
          </a:p>
          <a:p>
            <a:pPr algn="l">
              <a:spcAft>
                <a:spcPts val="300"/>
              </a:spcAft>
            </a:pPr>
            <a:r>
              <a:rPr sz="1300" b="0">
                <a:solidFill>
                  <a:srgbClr val="5B6372"/>
                </a:solidFill>
                <a:latin typeface="Arial"/>
              </a:rPr>
              <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CompTIA Certified CySA+ Cybersecurity Analyst Training</a:t>
            </a:r>
          </a:p>
          <a:p>
            <a:pPr algn="l">
              <a:spcAft>
                <a:spcPts val="300"/>
              </a:spcAft>
            </a:pPr>
            <a:r>
              <a:rPr sz="1300" b="0">
                <a:solidFill>
                  <a:srgbClr val="5B6372"/>
                </a:solidFill>
                <a:latin typeface="Arial"/>
              </a:rPr>
              <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CompTIA Certified Linux+ Training</a:t>
            </a:r>
          </a:p>
          <a:p>
            <a:pPr algn="l">
              <a:spcAft>
                <a:spcPts val="300"/>
              </a:spcAft>
            </a:pPr>
            <a:r>
              <a:rPr sz="1300" b="0">
                <a:solidFill>
                  <a:srgbClr val="5B6372"/>
                </a:solidFill>
                <a:latin typeface="Arial"/>
              </a:rPr>
              <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CompTIA Certified Cloud+ Training</a:t>
            </a:r>
          </a:p>
          <a:p>
            <a:pPr algn="l">
              <a:spcAft>
                <a:spcPts val="300"/>
              </a:spcAft>
            </a:pPr>
            <a:r>
              <a:rPr sz="1300" b="0">
                <a:solidFill>
                  <a:srgbClr val="5B6372"/>
                </a:solidFill>
                <a:latin typeface="Arial"/>
              </a:rPr>
              <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519</a:t>
            </a:r>
          </a:p>
        </p:txBody>
      </p:sp>
    </p:spTree>
  </p:cSld>
  <p:clrMapOvr>
    <a:masterClrMapping/>
  </p:clrMapOvr>
  <p:transition spd="fast" advClick="1">
    <p:fade/>
  </p:transition>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520</a:t>
            </a:r>
          </a:p>
        </p:txBody>
      </p:sp>
    </p:spTree>
  </p:cSld>
  <p:clrMapOvr>
    <a:masterClrMapping/>
  </p:clrMapOvr>
  <p:transition spd="fast" advClick="1">
    <p:fade/>
  </p:transition>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1 hour · open book · short-answer knowledge questions.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Practical Performance (PP)</a:t>
            </a:r>
          </a:p>
          <a:p>
            <a:pPr algn="l">
              <a:spcAft>
                <a:spcPts val="300"/>
              </a:spcAft>
            </a:pPr>
            <a:r>
              <a:rPr sz="1300" b="0">
                <a:solidFill>
                  <a:srgbClr val="5B6372"/>
                </a:solidFill>
                <a:latin typeface="Arial"/>
              </a:rPr>
              <a:t>90 minutes · open book · hands-on networking tasks on the lab environment.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521</a:t>
            </a:r>
          </a:p>
        </p:txBody>
      </p:sp>
    </p:spTree>
  </p:cSld>
  <p:clrMapOvr>
    <a:masterClrMapping/>
  </p:clrMapOvr>
  <p:transition spd="fast" advClick="1">
    <p:fade/>
  </p:transition>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60 + 90 min</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Summary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523</a:t>
            </a:r>
          </a:p>
        </p:txBody>
      </p:sp>
    </p:spTree>
  </p:cSld>
  <p:clrMapOvr>
    <a:masterClrMapping/>
  </p:clrMapOvr>
  <p:transition spd="fast" advClick="1">
    <p:fade/>
  </p:transition>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NETWORKING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design, implement, operate, secure and troubleshoot modern networks — and you are ready for the CompTIA Network+ (N10-009) exam.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524</a:t>
            </a:r>
          </a:p>
        </p:txBody>
      </p:sp>
    </p:spTree>
  </p:cSld>
  <p:clrMapOvr>
    <a:masterClrMapping/>
  </p:clrMapOvr>
  <p:transition spd="fast" advClick="1">
    <p:fade/>
  </p:transition>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Network+ (N10-009)  ·  TGS-2023040479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pic>
        <p:nvPicPr>
          <p:cNvPr id="40" name="Picture 39" descr="ref_login.png"/>
          <p:cNvPicPr>
            <a:picLocks noChangeAspect="1"/>
          </p:cNvPicPr>
          <p:nvPr/>
        </p:nvPicPr>
        <p:blipFill>
          <a:blip r:embed="rId2"/>
          <a:stretch>
            <a:fillRect/>
          </a:stretch>
        </p:blipFill>
        <p:spPr>
          <a:xfrm>
            <a:off x="1983345" y="1723644"/>
            <a:ext cx="8225005" cy="4091940"/>
          </a:xfrm>
          <a:prstGeom prst="rect">
            <a:avLst/>
          </a:prstGeom>
          <a:ln w="12700">
            <a:solidFill>
              <a:srgbClr val="E2E8F0"/>
            </a:solidFill>
          </a:ln>
        </p:spPr>
      </p:pic>
      <p:sp>
        <p:nvSpPr>
          <p:cNvPr id="41" name="TextBox 40"/>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